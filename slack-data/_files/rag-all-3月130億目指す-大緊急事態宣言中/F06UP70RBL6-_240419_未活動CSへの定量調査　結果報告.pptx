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1.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2.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3.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4.xml" ContentType="application/vnd.openxmlformats-officedocument.themeOverr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5.xml" ContentType="application/vnd.openxmlformats-officedocument.themeOverr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6.xml" ContentType="application/vnd.openxmlformats-officedocument.themeOverr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7.xml" ContentType="application/vnd.openxmlformats-officedocument.themeOverr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8.xml" ContentType="application/vnd.openxmlformats-officedocument.themeOverr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9.xml" ContentType="application/vnd.openxmlformats-officedocument.themeOverr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10.xml" ContentType="application/vnd.openxmlformats-officedocument.themeOverr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4"/>
  </p:sldMasterIdLst>
  <p:notesMasterIdLst>
    <p:notesMasterId r:id="rId55"/>
  </p:notesMasterIdLst>
  <p:sldIdLst>
    <p:sldId id="3245" r:id="rId5"/>
    <p:sldId id="3212" r:id="rId6"/>
    <p:sldId id="3224" r:id="rId7"/>
    <p:sldId id="3234" r:id="rId8"/>
    <p:sldId id="3225" r:id="rId9"/>
    <p:sldId id="3213" r:id="rId10"/>
    <p:sldId id="3231" r:id="rId11"/>
    <p:sldId id="3232" r:id="rId12"/>
    <p:sldId id="3221" r:id="rId13"/>
    <p:sldId id="3227" r:id="rId14"/>
    <p:sldId id="3235" r:id="rId15"/>
    <p:sldId id="3238" r:id="rId16"/>
    <p:sldId id="3243" r:id="rId17"/>
    <p:sldId id="3230" r:id="rId18"/>
    <p:sldId id="3229" r:id="rId19"/>
    <p:sldId id="3222" r:id="rId20"/>
    <p:sldId id="3228" r:id="rId21"/>
    <p:sldId id="3236" r:id="rId22"/>
    <p:sldId id="3241" r:id="rId23"/>
    <p:sldId id="3239" r:id="rId24"/>
    <p:sldId id="3240" r:id="rId25"/>
    <p:sldId id="3244" r:id="rId26"/>
    <p:sldId id="3242" r:id="rId27"/>
    <p:sldId id="3218" r:id="rId28"/>
    <p:sldId id="756" r:id="rId29"/>
    <p:sldId id="757" r:id="rId30"/>
    <p:sldId id="433" r:id="rId31"/>
    <p:sldId id="754" r:id="rId32"/>
    <p:sldId id="758" r:id="rId33"/>
    <p:sldId id="759" r:id="rId34"/>
    <p:sldId id="760" r:id="rId35"/>
    <p:sldId id="761" r:id="rId36"/>
    <p:sldId id="762" r:id="rId37"/>
    <p:sldId id="763" r:id="rId38"/>
    <p:sldId id="786" r:id="rId39"/>
    <p:sldId id="764" r:id="rId40"/>
    <p:sldId id="766" r:id="rId41"/>
    <p:sldId id="767" r:id="rId42"/>
    <p:sldId id="768" r:id="rId43"/>
    <p:sldId id="769" r:id="rId44"/>
    <p:sldId id="770" r:id="rId45"/>
    <p:sldId id="771" r:id="rId46"/>
    <p:sldId id="776" r:id="rId47"/>
    <p:sldId id="777" r:id="rId48"/>
    <p:sldId id="772" r:id="rId49"/>
    <p:sldId id="773" r:id="rId50"/>
    <p:sldId id="792" r:id="rId51"/>
    <p:sldId id="774" r:id="rId52"/>
    <p:sldId id="775" r:id="rId53"/>
    <p:sldId id="794" r:id="rId5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0E802DF8-B621-48AD-8DAA-B592D380C9BE}">
          <p14:sldIdLst>
            <p14:sldId id="3245"/>
            <p14:sldId id="3212"/>
            <p14:sldId id="3224"/>
            <p14:sldId id="3234"/>
            <p14:sldId id="3225"/>
            <p14:sldId id="3213"/>
            <p14:sldId id="3231"/>
            <p14:sldId id="3232"/>
            <p14:sldId id="3221"/>
            <p14:sldId id="3227"/>
            <p14:sldId id="3235"/>
            <p14:sldId id="3238"/>
            <p14:sldId id="3243"/>
            <p14:sldId id="3230"/>
            <p14:sldId id="3229"/>
            <p14:sldId id="3222"/>
            <p14:sldId id="3228"/>
            <p14:sldId id="3236"/>
            <p14:sldId id="3241"/>
            <p14:sldId id="3239"/>
            <p14:sldId id="3240"/>
            <p14:sldId id="3244"/>
            <p14:sldId id="3242"/>
            <p14:sldId id="3218"/>
          </p14:sldIdLst>
        </p14:section>
        <p14:section name="調査対象詳細～エントリまで" id="{4F5F9BBE-F162-41FB-B8B0-64E3D000BBE4}">
          <p14:sldIdLst>
            <p14:sldId id="756"/>
            <p14:sldId id="757"/>
            <p14:sldId id="433"/>
            <p14:sldId id="754"/>
            <p14:sldId id="758"/>
            <p14:sldId id="759"/>
            <p14:sldId id="760"/>
            <p14:sldId id="761"/>
            <p14:sldId id="762"/>
            <p14:sldId id="763"/>
            <p14:sldId id="786"/>
            <p14:sldId id="764"/>
          </p14:sldIdLst>
        </p14:section>
        <p14:section name="RAGエントリー後の未活動理由" id="{2AFECB53-6F18-4B88-AF6B-818EC7FF6A10}">
          <p14:sldIdLst>
            <p14:sldId id="766"/>
            <p14:sldId id="767"/>
            <p14:sldId id="768"/>
            <p14:sldId id="769"/>
            <p14:sldId id="770"/>
          </p14:sldIdLst>
        </p14:section>
        <p14:section name="活動化に向けたサポート" id="{95730F61-B3C7-4407-B26D-C63944551789}">
          <p14:sldIdLst>
            <p14:sldId id="771"/>
            <p14:sldId id="776"/>
            <p14:sldId id="777"/>
            <p14:sldId id="772"/>
            <p14:sldId id="773"/>
            <p14:sldId id="792"/>
            <p14:sldId id="774"/>
            <p14:sldId id="775"/>
            <p14:sldId id="79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 id="{3E32C198-15EF-5E23-4499-EBDEE494B032}" name="眞田 亜古" initials="眞田" userId="S::01027444@r.recruit.co.jp::4cf7bd0b-d15a-4bd8-b554-cedcd6023167" providerId="AD"/>
  <p188:author id="{8221499D-B65D-A839-FC3F-4F4CE2D41619}" name="原 奈実子" initials="原" userId="S::namiko_hara@r.recruit.co.jp::0b5145a6-ac67-4885-8d64-a3d91924033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E4D6"/>
    <a:srgbClr val="E2EFDA"/>
    <a:srgbClr val="D6DCE4"/>
    <a:srgbClr val="AAB5C6"/>
    <a:srgbClr val="FFFFFF"/>
    <a:srgbClr val="EFF1F5"/>
    <a:srgbClr val="E1E5EB"/>
    <a:srgbClr val="DCF2E1"/>
    <a:srgbClr val="D9D9D9"/>
    <a:srgbClr val="ADB1B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613" autoAdjust="0"/>
    <p:restoredTop sz="92371" autoAdjust="0"/>
  </p:normalViewPr>
  <p:slideViewPr>
    <p:cSldViewPr snapToGrid="0">
      <p:cViewPr varScale="1">
        <p:scale>
          <a:sx n="126" d="100"/>
          <a:sy n="126" d="100"/>
        </p:scale>
        <p:origin x="342"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oleObject" Target="file:///\\potato\R002925\&#12459;&#12473;&#12479;&#12510;&#12540;&#12458;&#12506;&#12524;&#12540;&#12471;&#12519;&#12531;&#12487;&#12470;&#12452;&#12531;&#37096;\03_&#12459;&#12473;&#12479;&#12510;&#12540;&#12456;&#12463;&#12473;&#12506;&#12522;&#12456;&#12531;&#12473;&#12464;&#12523;&#12540;&#12503;\22_CXM\04_&#26410;&#39015;&#23458;\03_&#35519;&#26619;&#32080;&#26524;\02_&#12524;&#12509;&#12540;&#12488;\&#12510;&#12463;&#12525;&#12511;&#12523;&#20316;&#26989;&#29992;\&#12373;&#12394;&#12384;\1219132_WB_&#21152;&#24037;&#24460;_GTsr.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embeddings/oleObject1.bin"/></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1.xlsx"/></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2.xlsx"/></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package" Target="../embeddings/Microsoft_Excel_Worksheet3.xlsx"/></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package" Target="../embeddings/Microsoft_Excel_Worksheet4.xlsx"/></Relationships>
</file>

<file path=ppt/charts/_rels/chart8.xml.rels><?xml version="1.0" encoding="UTF-8" standalone="yes"?>
<Relationships xmlns="http://schemas.openxmlformats.org/package/2006/relationships"><Relationship Id="rId3" Type="http://schemas.openxmlformats.org/officeDocument/2006/relationships/oleObject" Target="file:///\\potato\R002925\&#12459;&#12473;&#12479;&#12510;&#12540;&#12458;&#12506;&#12524;&#12540;&#12471;&#12519;&#12531;&#12487;&#12470;&#12452;&#12531;&#37096;\03_&#12459;&#12473;&#12479;&#12510;&#12540;&#12456;&#12463;&#12473;&#12506;&#12522;&#12456;&#12531;&#12473;&#12464;&#12523;&#12540;&#12503;\22_CXM\04_&#26410;&#39015;&#23458;\03_&#35519;&#26619;&#32080;&#26524;\02_&#12524;&#12509;&#12540;&#12488;\&#12510;&#12463;&#12525;&#12511;&#12523;&#20316;&#26989;&#29992;\&#12373;&#12394;&#12384;\1219132_WB_&#21152;&#24037;&#24460;_GTsr.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package" Target="../embeddings/Microsoft_Excel_Worksheet5.xlsx"/></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embeddings/oleObject2.bin"/></Relationships>
</file>

<file path=ppt/charts/_rels/chart11.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package" Target="../embeddings/Microsoft_Excel_Worksheet6.xlsx"/></Relationships>
</file>

<file path=ppt/charts/_rels/chart12.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165959583430408E-2"/>
          <c:y val="1.7423329213290668E-2"/>
          <c:w val="0.92572117730713999"/>
          <c:h val="0.48877179714642449"/>
        </c:manualLayout>
      </c:layout>
      <c:barChart>
        <c:barDir val="col"/>
        <c:grouping val="clustered"/>
        <c:varyColors val="0"/>
        <c:ser>
          <c:idx val="0"/>
          <c:order val="0"/>
          <c:spPr>
            <a:solidFill>
              <a:schemeClr val="accent5">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eiryo UI" panose="020B0604030504040204" pitchFamily="50" charset="-128"/>
                    <a:ea typeface="Meiryo UI" panose="020B0604030504040204" pitchFamily="50" charset="-128"/>
                    <a:cs typeface="+mn-cs"/>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'%表'!$G$226:$G$239</c:f>
              <c:strCache>
                <c:ptCount val="14"/>
                <c:pt idx="0">
                  <c:v>面談を実施する時間が確保できなかった
/スケジュールがあわなかった</c:v>
                </c:pt>
                <c:pt idx="1">
                  <c:v>時期先/転職するか明確に決めていなかったため、面談をしてよいか迷った／わからなかった</c:v>
                </c:pt>
                <c:pt idx="2">
                  <c:v>時期先/転職するか明確に決めていなかったため、まだ面談は必要ないと思った</c:v>
                </c:pt>
                <c:pt idx="3">
                  <c:v>面談をすると、必ず求人への応募や転職をしないといけないと考えていた</c:v>
                </c:pt>
                <c:pt idx="4">
                  <c:v>面談依頼の連絡が多く来ることで、面談への意欲が下がった</c:v>
                </c:pt>
                <c:pt idx="5">
                  <c:v>面談の実施方法がわからなかった</c:v>
                </c:pt>
                <c:pt idx="6">
                  <c:v>サービス登録後面談への希望がなくなった</c:v>
                </c:pt>
                <c:pt idx="7">
                  <c:v>面談を実施する形式・ツール
（オンライン・電話など）があわなかった</c:v>
                </c:pt>
                <c:pt idx="8">
                  <c:v>他サービスで面談し、
そのサービスを使おうと思った</c:v>
                </c:pt>
                <c:pt idx="9">
                  <c:v>他サービスで面談し、
面談は不要と感じた</c:v>
                </c:pt>
                <c:pt idx="10">
                  <c:v>明確な理由はない</c:v>
                </c:pt>
                <c:pt idx="11">
                  <c:v>サービスへの口コミを見て、
面談を受けるのが怖くなった</c:v>
                </c:pt>
                <c:pt idx="12">
                  <c:v>面談をする前に転職活動を終了した</c:v>
                </c:pt>
                <c:pt idx="13">
                  <c:v>その他</c:v>
                </c:pt>
              </c:strCache>
            </c:strRef>
          </c:cat>
          <c:val>
            <c:numRef>
              <c:f>'%表'!$H$226:$H$239</c:f>
              <c:numCache>
                <c:formatCode>0.0</c:formatCode>
                <c:ptCount val="14"/>
                <c:pt idx="0">
                  <c:v>43.083167874358402</c:v>
                </c:pt>
                <c:pt idx="1">
                  <c:v>29.3158812250634</c:v>
                </c:pt>
                <c:pt idx="2">
                  <c:v>24.963710463840599</c:v>
                </c:pt>
                <c:pt idx="3">
                  <c:v>21.178597120032901</c:v>
                </c:pt>
                <c:pt idx="4">
                  <c:v>19.660345737586798</c:v>
                </c:pt>
                <c:pt idx="5">
                  <c:v>11.6490033743362</c:v>
                </c:pt>
                <c:pt idx="6">
                  <c:v>10.984911001316499</c:v>
                </c:pt>
                <c:pt idx="7">
                  <c:v>6.70925305618906</c:v>
                </c:pt>
                <c:pt idx="8">
                  <c:v>6.6236819847400001</c:v>
                </c:pt>
                <c:pt idx="9">
                  <c:v>6.5578480033954598</c:v>
                </c:pt>
                <c:pt idx="10">
                  <c:v>3.5343562139283899</c:v>
                </c:pt>
                <c:pt idx="11">
                  <c:v>1.74221653126363</c:v>
                </c:pt>
                <c:pt idx="12">
                  <c:v>1.74221653126363</c:v>
                </c:pt>
                <c:pt idx="13">
                  <c:v>10.1936861187163</c:v>
                </c:pt>
              </c:numCache>
            </c:numRef>
          </c:val>
          <c:extLst>
            <c:ext xmlns:c16="http://schemas.microsoft.com/office/drawing/2014/chart" uri="{C3380CC4-5D6E-409C-BE32-E72D297353CC}">
              <c16:uniqueId val="{00000000-1D9B-4E9F-9B05-B35F8FC457B6}"/>
            </c:ext>
          </c:extLst>
        </c:ser>
        <c:dLbls>
          <c:dLblPos val="inEnd"/>
          <c:showLegendKey val="0"/>
          <c:showVal val="1"/>
          <c:showCatName val="0"/>
          <c:showSerName val="0"/>
          <c:showPercent val="0"/>
          <c:showBubbleSize val="0"/>
        </c:dLbls>
        <c:gapWidth val="182"/>
        <c:axId val="854153864"/>
        <c:axId val="854155664"/>
      </c:barChart>
      <c:catAx>
        <c:axId val="854153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vert="eaVert" wrap="square" anchor="ctr" anchorCtr="1"/>
          <a:lstStyle/>
          <a:p>
            <a:pPr>
              <a:defRPr sz="7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crossAx val="854155664"/>
        <c:crosses val="autoZero"/>
        <c:auto val="1"/>
        <c:lblAlgn val="ctr"/>
        <c:lblOffset val="100"/>
        <c:noMultiLvlLbl val="0"/>
      </c:catAx>
      <c:valAx>
        <c:axId val="854155664"/>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crossAx val="854153864"/>
        <c:crosses val="autoZero"/>
        <c:crossBetween val="between"/>
      </c:valAx>
      <c:spPr>
        <a:noFill/>
        <a:ln>
          <a:noFill/>
        </a:ln>
        <a:effectLst/>
      </c:spPr>
    </c:plotArea>
    <c:plotVisOnly val="1"/>
    <c:dispBlanksAs val="gap"/>
    <c:showDLblsOverMax val="0"/>
  </c:chart>
  <c:spPr>
    <a:noFill/>
    <a:ln>
      <a:noFill/>
    </a:ln>
    <a:effectLst/>
  </c:spPr>
  <c:txPr>
    <a:bodyPr/>
    <a:lstStyle/>
    <a:p>
      <a:pPr>
        <a:defRPr sz="1000">
          <a:latin typeface="Meiryo UI" panose="020B0604030504040204" pitchFamily="50" charset="-128"/>
          <a:ea typeface="Meiryo UI" panose="020B0604030504040204" pitchFamily="50" charset="-128"/>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9624890638670166E-2"/>
          <c:y val="1.7785026048361265E-2"/>
          <c:w val="0.73338116919997753"/>
          <c:h val="0.53899532007745388"/>
        </c:manualLayout>
      </c:layout>
      <c:barChart>
        <c:barDir val="col"/>
        <c:grouping val="clustered"/>
        <c:varyColors val="0"/>
        <c:ser>
          <c:idx val="1"/>
          <c:order val="1"/>
          <c:tx>
            <c:v>面談希望あり＞面談実施なし</c:v>
          </c:tx>
          <c:spPr>
            <a:solidFill>
              <a:srgbClr val="51BD69">
                <a:lumMod val="40000"/>
                <a:lumOff val="60000"/>
              </a:srgbClr>
            </a:solidFill>
            <a:ln>
              <a:noFill/>
            </a:ln>
            <a:effectLst/>
          </c:spPr>
          <c:invertIfNegative val="0"/>
          <c:dPt>
            <c:idx val="1"/>
            <c:invertIfNegative val="0"/>
            <c:bubble3D val="0"/>
            <c:spPr>
              <a:solidFill>
                <a:srgbClr val="51BD69">
                  <a:lumMod val="40000"/>
                  <a:lumOff val="60000"/>
                </a:srgbClr>
              </a:solidFill>
              <a:ln>
                <a:solidFill>
                  <a:srgbClr val="FF6400"/>
                </a:solidFill>
              </a:ln>
              <a:effectLst/>
            </c:spPr>
            <c:extLst>
              <c:ext xmlns:c16="http://schemas.microsoft.com/office/drawing/2014/chart" uri="{C3380CC4-5D6E-409C-BE32-E72D297353CC}">
                <c16:uniqueId val="{00000003-FA70-4007-AD81-A06098F8ECBE}"/>
              </c:ext>
            </c:extLst>
          </c:dPt>
          <c:dPt>
            <c:idx val="4"/>
            <c:invertIfNegative val="0"/>
            <c:bubble3D val="0"/>
            <c:spPr>
              <a:solidFill>
                <a:srgbClr val="51BD69">
                  <a:lumMod val="40000"/>
                  <a:lumOff val="60000"/>
                </a:srgbClr>
              </a:solidFill>
              <a:ln>
                <a:solidFill>
                  <a:srgbClr val="FF6400"/>
                </a:solidFill>
              </a:ln>
              <a:effectLst/>
            </c:spPr>
            <c:extLst>
              <c:ext xmlns:c16="http://schemas.microsoft.com/office/drawing/2014/chart" uri="{C3380CC4-5D6E-409C-BE32-E72D297353CC}">
                <c16:uniqueId val="{00000004-FA70-4007-AD81-A06098F8ECBE}"/>
              </c:ext>
            </c:extLst>
          </c:dPt>
          <c:dPt>
            <c:idx val="16"/>
            <c:invertIfNegative val="0"/>
            <c:bubble3D val="0"/>
            <c:spPr>
              <a:solidFill>
                <a:srgbClr val="51BD69">
                  <a:lumMod val="40000"/>
                  <a:lumOff val="60000"/>
                </a:srgbClr>
              </a:solidFill>
              <a:ln>
                <a:solidFill>
                  <a:srgbClr val="FF6400"/>
                </a:solidFill>
              </a:ln>
              <a:effectLst/>
            </c:spPr>
            <c:extLst>
              <c:ext xmlns:c16="http://schemas.microsoft.com/office/drawing/2014/chart" uri="{C3380CC4-5D6E-409C-BE32-E72D297353CC}">
                <c16:uniqueId val="{00000002-FA70-4007-AD81-A06098F8ECBE}"/>
              </c:ext>
            </c:extLst>
          </c:dPt>
          <c:dLbls>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lumMod val="75000"/>
                        <a:lumOff val="25000"/>
                      </a:schemeClr>
                    </a:solidFill>
                    <a:latin typeface="Meiryo UI" panose="020B0604030504040204" pitchFamily="50" charset="-128"/>
                    <a:ea typeface="Meiryo UI" panose="020B0604030504040204" pitchFamily="50" charset="-128"/>
                    <a:cs typeface="+mn-cs"/>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'1(Q12)'!$G$24:$Z$24</c:f>
              <c:strCache>
                <c:ptCount val="20"/>
                <c:pt idx="0">
                  <c:v>転職活動に対する、専門的（業界）なアドバイス</c:v>
                </c:pt>
                <c:pt idx="1">
                  <c:v>転職活動に対する、専門的（職種）なアドバイス</c:v>
                </c:pt>
                <c:pt idx="2">
                  <c:v>転職市場全般のトレンド・求める人材などの情報共有</c:v>
                </c:pt>
                <c:pt idx="3">
                  <c:v>志望業界のトレンド・求める人材などの情報共有</c:v>
                </c:pt>
                <c:pt idx="4">
                  <c:v>志望職種のトレンド・求める人材などの情報共有</c:v>
                </c:pt>
                <c:pt idx="5">
                  <c:v>志望企業の求人状況・求める人材などの情報共有</c:v>
                </c:pt>
                <c:pt idx="6">
                  <c:v>転職市場における自分の市場価値の確認</c:v>
                </c:pt>
                <c:pt idx="7">
                  <c:v>これまでのキャリアの棚卸し</c:v>
                </c:pt>
                <c:pt idx="8">
                  <c:v>キャリアプランについてのアドバイス・相談</c:v>
                </c:pt>
                <c:pt idx="9">
                  <c:v>転職活動全般の進め方に関する説明・フォロー</c:v>
                </c:pt>
                <c:pt idx="10">
                  <c:v>応募書類の添削・アドバイス</c:v>
                </c:pt>
                <c:pt idx="11">
                  <c:v>面接対策・面接へのアドバイス</c:v>
                </c:pt>
                <c:pt idx="12">
                  <c:v>CAが親身に相談にのってくれる</c:v>
                </c:pt>
                <c:pt idx="13">
                  <c:v>CAが迅速に対応してくれる</c:v>
                </c:pt>
                <c:pt idx="14">
                  <c:v>CAが意見・要望にあわせて柔軟に対応してくれる</c:v>
                </c:pt>
                <c:pt idx="15">
                  <c:v>CAのマナーがよく、快適に・気兼ねなく相談できる</c:v>
                </c:pt>
                <c:pt idx="16">
                  <c:v>希望条件に沿った求人の紹介</c:v>
                </c:pt>
                <c:pt idx="17">
                  <c:v>希望条件外も含めた、おすすめの求人の紹介</c:v>
                </c:pt>
                <c:pt idx="18">
                  <c:v>その他</c:v>
                </c:pt>
                <c:pt idx="19">
                  <c:v>特に期待することはなかった</c:v>
                </c:pt>
              </c:strCache>
            </c:strRef>
          </c:cat>
          <c:val>
            <c:numRef>
              <c:f>'1(Q12)'!$G$27:$Z$27</c:f>
              <c:numCache>
                <c:formatCode>0%</c:formatCode>
                <c:ptCount val="20"/>
                <c:pt idx="0">
                  <c:v>0.27698480081899135</c:v>
                </c:pt>
                <c:pt idx="1">
                  <c:v>0.37806595129166432</c:v>
                </c:pt>
                <c:pt idx="2">
                  <c:v>0.21632999575588172</c:v>
                </c:pt>
                <c:pt idx="3">
                  <c:v>0.19149481313125458</c:v>
                </c:pt>
                <c:pt idx="4">
                  <c:v>0.25659992262553194</c:v>
                </c:pt>
                <c:pt idx="5">
                  <c:v>0.20419067437409172</c:v>
                </c:pt>
                <c:pt idx="6">
                  <c:v>0.26685607171962689</c:v>
                </c:pt>
                <c:pt idx="7">
                  <c:v>0.26685607171962689</c:v>
                </c:pt>
                <c:pt idx="8">
                  <c:v>0.34667346206953625</c:v>
                </c:pt>
                <c:pt idx="9">
                  <c:v>0.20437295388833732</c:v>
                </c:pt>
                <c:pt idx="10">
                  <c:v>0.36235520740800842</c:v>
                </c:pt>
                <c:pt idx="11">
                  <c:v>0.3221111415126931</c:v>
                </c:pt>
                <c:pt idx="12">
                  <c:v>0.36509409041019553</c:v>
                </c:pt>
                <c:pt idx="13">
                  <c:v>0.25117432638115356</c:v>
                </c:pt>
                <c:pt idx="14">
                  <c:v>0.35026805578621428</c:v>
                </c:pt>
                <c:pt idx="15">
                  <c:v>0.30394005383307393</c:v>
                </c:pt>
                <c:pt idx="16">
                  <c:v>0.59043477113870046</c:v>
                </c:pt>
                <c:pt idx="17">
                  <c:v>0.27435270616431257</c:v>
                </c:pt>
                <c:pt idx="18">
                  <c:v>0</c:v>
                </c:pt>
                <c:pt idx="19">
                  <c:v>3.3132909196291485E-2</c:v>
                </c:pt>
              </c:numCache>
            </c:numRef>
          </c:val>
          <c:extLst>
            <c:ext xmlns:c16="http://schemas.microsoft.com/office/drawing/2014/chart" uri="{C3380CC4-5D6E-409C-BE32-E72D297353CC}">
              <c16:uniqueId val="{00000000-FA70-4007-AD81-A06098F8ECBE}"/>
            </c:ext>
          </c:extLst>
        </c:ser>
        <c:dLbls>
          <c:showLegendKey val="0"/>
          <c:showVal val="0"/>
          <c:showCatName val="0"/>
          <c:showSerName val="0"/>
          <c:showPercent val="0"/>
          <c:showBubbleSize val="0"/>
        </c:dLbls>
        <c:gapWidth val="219"/>
        <c:axId val="591024928"/>
        <c:axId val="591025648"/>
      </c:barChart>
      <c:lineChart>
        <c:grouping val="standard"/>
        <c:varyColors val="0"/>
        <c:ser>
          <c:idx val="0"/>
          <c:order val="0"/>
          <c:tx>
            <c:v>面談希望あり＞面談実施あり</c:v>
          </c:tx>
          <c:spPr>
            <a:ln w="28575" cap="rnd">
              <a:solidFill>
                <a:schemeClr val="accent1"/>
              </a:solidFill>
              <a:round/>
            </a:ln>
            <a:effectLst/>
          </c:spPr>
          <c:marker>
            <c:symbol val="none"/>
          </c:marker>
          <c:cat>
            <c:strRef>
              <c:f>'1(Q12)'!$G$24:$Z$24</c:f>
              <c:strCache>
                <c:ptCount val="20"/>
                <c:pt idx="0">
                  <c:v>転職活動に対する、専門的（業界）なアドバイス</c:v>
                </c:pt>
                <c:pt idx="1">
                  <c:v>転職活動に対する、専門的（職種）なアドバイス</c:v>
                </c:pt>
                <c:pt idx="2">
                  <c:v>転職市場全般のトレンド・求める人材などの情報共有</c:v>
                </c:pt>
                <c:pt idx="3">
                  <c:v>志望業界のトレンド・求める人材などの情報共有</c:v>
                </c:pt>
                <c:pt idx="4">
                  <c:v>志望職種のトレンド・求める人材などの情報共有</c:v>
                </c:pt>
                <c:pt idx="5">
                  <c:v>志望企業の求人状況・求める人材などの情報共有</c:v>
                </c:pt>
                <c:pt idx="6">
                  <c:v>転職市場における自分の市場価値の確認</c:v>
                </c:pt>
                <c:pt idx="7">
                  <c:v>これまでのキャリアの棚卸し</c:v>
                </c:pt>
                <c:pt idx="8">
                  <c:v>キャリアプランについてのアドバイス・相談</c:v>
                </c:pt>
                <c:pt idx="9">
                  <c:v>転職活動全般の進め方に関する説明・フォロー</c:v>
                </c:pt>
                <c:pt idx="10">
                  <c:v>応募書類の添削・アドバイス</c:v>
                </c:pt>
                <c:pt idx="11">
                  <c:v>面接対策・面接へのアドバイス</c:v>
                </c:pt>
                <c:pt idx="12">
                  <c:v>CAが親身に相談にのってくれる</c:v>
                </c:pt>
                <c:pt idx="13">
                  <c:v>CAが迅速に対応してくれる</c:v>
                </c:pt>
                <c:pt idx="14">
                  <c:v>CAが意見・要望にあわせて柔軟に対応してくれる</c:v>
                </c:pt>
                <c:pt idx="15">
                  <c:v>CAのマナーがよく、快適に・気兼ねなく相談できる</c:v>
                </c:pt>
                <c:pt idx="16">
                  <c:v>希望条件に沿った求人の紹介</c:v>
                </c:pt>
                <c:pt idx="17">
                  <c:v>希望条件外も含めた、おすすめの求人の紹介</c:v>
                </c:pt>
                <c:pt idx="18">
                  <c:v>その他</c:v>
                </c:pt>
                <c:pt idx="19">
                  <c:v>特に期待することはなかった</c:v>
                </c:pt>
              </c:strCache>
            </c:strRef>
          </c:cat>
          <c:val>
            <c:numRef>
              <c:f>'1(Q12)'!$G$26:$Z$26</c:f>
              <c:numCache>
                <c:formatCode>0%</c:formatCode>
                <c:ptCount val="20"/>
                <c:pt idx="0">
                  <c:v>0.32038778426079512</c:v>
                </c:pt>
                <c:pt idx="1">
                  <c:v>0.30494192187956415</c:v>
                </c:pt>
                <c:pt idx="2">
                  <c:v>0.26987489852796848</c:v>
                </c:pt>
                <c:pt idx="3">
                  <c:v>0.16518120613017986</c:v>
                </c:pt>
                <c:pt idx="4">
                  <c:v>0.18070630912334909</c:v>
                </c:pt>
                <c:pt idx="5">
                  <c:v>0.23086042149143296</c:v>
                </c:pt>
                <c:pt idx="6">
                  <c:v>0.39100878071668216</c:v>
                </c:pt>
                <c:pt idx="7">
                  <c:v>0.29996400434064818</c:v>
                </c:pt>
                <c:pt idx="8">
                  <c:v>0.40365446653049103</c:v>
                </c:pt>
                <c:pt idx="9">
                  <c:v>0.35305283675415883</c:v>
                </c:pt>
                <c:pt idx="10">
                  <c:v>0.4720656284708647</c:v>
                </c:pt>
                <c:pt idx="11">
                  <c:v>0.42488934031586406</c:v>
                </c:pt>
                <c:pt idx="12">
                  <c:v>0.46989987225637825</c:v>
                </c:pt>
                <c:pt idx="13">
                  <c:v>0.32603029919806625</c:v>
                </c:pt>
                <c:pt idx="14">
                  <c:v>0.41720729728531497</c:v>
                </c:pt>
                <c:pt idx="15">
                  <c:v>0.38555476449006065</c:v>
                </c:pt>
                <c:pt idx="16">
                  <c:v>0.55395270474391145</c:v>
                </c:pt>
                <c:pt idx="17">
                  <c:v>0.30704237050586042</c:v>
                </c:pt>
                <c:pt idx="18">
                  <c:v>8.0444857955050703E-3</c:v>
                </c:pt>
                <c:pt idx="19">
                  <c:v>2.0997311508204778E-2</c:v>
                </c:pt>
              </c:numCache>
            </c:numRef>
          </c:val>
          <c:smooth val="0"/>
          <c:extLst>
            <c:ext xmlns:c16="http://schemas.microsoft.com/office/drawing/2014/chart" uri="{C3380CC4-5D6E-409C-BE32-E72D297353CC}">
              <c16:uniqueId val="{00000001-FA70-4007-AD81-A06098F8ECBE}"/>
            </c:ext>
          </c:extLst>
        </c:ser>
        <c:dLbls>
          <c:showLegendKey val="0"/>
          <c:showVal val="0"/>
          <c:showCatName val="0"/>
          <c:showSerName val="0"/>
          <c:showPercent val="0"/>
          <c:showBubbleSize val="0"/>
        </c:dLbls>
        <c:marker val="1"/>
        <c:smooth val="0"/>
        <c:axId val="591024928"/>
        <c:axId val="591025648"/>
      </c:lineChart>
      <c:catAx>
        <c:axId val="5910249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vert="eaVert" wrap="square" anchor="ctr" anchorCtr="1"/>
          <a:lstStyle/>
          <a:p>
            <a:pPr>
              <a:defRPr sz="7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crossAx val="591025648"/>
        <c:crosses val="autoZero"/>
        <c:auto val="1"/>
        <c:lblAlgn val="ctr"/>
        <c:lblOffset val="100"/>
        <c:noMultiLvlLbl val="0"/>
      </c:catAx>
      <c:valAx>
        <c:axId val="59102564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crossAx val="591024928"/>
        <c:crosses val="autoZero"/>
        <c:crossBetween val="between"/>
      </c:valAx>
      <c:spPr>
        <a:noFill/>
        <a:ln>
          <a:noFill/>
        </a:ln>
        <a:effectLst/>
      </c:spPr>
    </c:plotArea>
    <c:legend>
      <c:legendPos val="b"/>
      <c:layout>
        <c:manualLayout>
          <c:xMode val="edge"/>
          <c:yMode val="edge"/>
          <c:x val="0.20885188865857196"/>
          <c:y val="9.1458446156883921E-2"/>
          <c:w val="0.46449158255114376"/>
          <c:h val="5.0177580184160041E-2"/>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eiryo UI" panose="020B0604030504040204" pitchFamily="50" charset="-128"/>
          <a:ea typeface="Meiryo UI" panose="020B0604030504040204" pitchFamily="50" charset="-128"/>
        </a:defRPr>
      </a:pPr>
      <a:endParaRPr lang="ja-JP"/>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3645591615467196E-2"/>
          <c:y val="4.3742614221801493E-2"/>
          <c:w val="0.83430036913196937"/>
          <c:h val="0.49753365867098837"/>
        </c:manualLayout>
      </c:layout>
      <c:barChart>
        <c:barDir val="col"/>
        <c:grouping val="clustered"/>
        <c:varyColors val="0"/>
        <c:ser>
          <c:idx val="1"/>
          <c:order val="1"/>
          <c:tx>
            <c:v>面談希望あり＞面談実施なし</c:v>
          </c:tx>
          <c:spPr>
            <a:solidFill>
              <a:srgbClr val="51BD69">
                <a:lumMod val="40000"/>
                <a:lumOff val="60000"/>
              </a:srgb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eiryo UI" panose="020B0604030504040204" pitchFamily="50" charset="-128"/>
                    <a:ea typeface="Meiryo UI" panose="020B0604030504040204" pitchFamily="50" charset="-128"/>
                    <a:cs typeface="+mn-cs"/>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'[1219132_20240404_2235_Cross_n1]1(Q17)'!$G$24:$O$24</c:f>
              <c:strCache>
                <c:ptCount val="9"/>
                <c:pt idx="0">
                  <c:v>転職活動を進めるか迷っているとき</c:v>
                </c:pt>
                <c:pt idx="1">
                  <c:v>求人を探すとき</c:v>
                </c:pt>
                <c:pt idx="2">
                  <c:v>応募する求人を決めるとき</c:v>
                </c:pt>
                <c:pt idx="3">
                  <c:v>応募書類を作成するとき</c:v>
                </c:pt>
                <c:pt idx="4">
                  <c:v>応募書類を添削してほしいとき</c:v>
                </c:pt>
                <c:pt idx="5">
                  <c:v>選考が上手く進まないとき</c:v>
                </c:pt>
                <c:pt idx="6">
                  <c:v>面接対策をしてほしいとき</c:v>
                </c:pt>
                <c:pt idx="7">
                  <c:v>内定がでたとき</c:v>
                </c:pt>
                <c:pt idx="8">
                  <c:v>相談したくなったタイミングはない</c:v>
                </c:pt>
              </c:strCache>
            </c:strRef>
          </c:cat>
          <c:val>
            <c:numRef>
              <c:f>'[1219132_20240404_2235_Cross_n1]1(Q17)'!$G$28:$O$28</c:f>
              <c:numCache>
                <c:formatCode>0%</c:formatCode>
                <c:ptCount val="9"/>
                <c:pt idx="0">
                  <c:v>0.41399236207765511</c:v>
                </c:pt>
                <c:pt idx="1">
                  <c:v>0.60548717520890971</c:v>
                </c:pt>
                <c:pt idx="2">
                  <c:v>0.30848407838862768</c:v>
                </c:pt>
                <c:pt idx="3">
                  <c:v>0.28516294629193573</c:v>
                </c:pt>
                <c:pt idx="4">
                  <c:v>0.35323076866703718</c:v>
                </c:pt>
                <c:pt idx="5">
                  <c:v>0.23151250958034189</c:v>
                </c:pt>
                <c:pt idx="6">
                  <c:v>0.21497505352738003</c:v>
                </c:pt>
                <c:pt idx="7">
                  <c:v>1.6566454598145743E-2</c:v>
                </c:pt>
                <c:pt idx="8">
                  <c:v>0.10934987849915404</c:v>
                </c:pt>
              </c:numCache>
            </c:numRef>
          </c:val>
          <c:extLst>
            <c:ext xmlns:c16="http://schemas.microsoft.com/office/drawing/2014/chart" uri="{C3380CC4-5D6E-409C-BE32-E72D297353CC}">
              <c16:uniqueId val="{00000000-9BA2-4F5F-937D-7E80B88F6197}"/>
            </c:ext>
          </c:extLst>
        </c:ser>
        <c:dLbls>
          <c:showLegendKey val="0"/>
          <c:showVal val="0"/>
          <c:showCatName val="0"/>
          <c:showSerName val="0"/>
          <c:showPercent val="0"/>
          <c:showBubbleSize val="0"/>
        </c:dLbls>
        <c:gapWidth val="219"/>
        <c:axId val="937482928"/>
        <c:axId val="937487968"/>
      </c:barChart>
      <c:lineChart>
        <c:grouping val="standard"/>
        <c:varyColors val="0"/>
        <c:ser>
          <c:idx val="0"/>
          <c:order val="0"/>
          <c:tx>
            <c:v>全体</c:v>
          </c:tx>
          <c:spPr>
            <a:ln w="28575" cap="rnd">
              <a:solidFill>
                <a:schemeClr val="accent1"/>
              </a:solidFill>
              <a:round/>
            </a:ln>
            <a:effectLst/>
          </c:spPr>
          <c:marker>
            <c:symbol val="none"/>
          </c:marker>
          <c:cat>
            <c:strRef>
              <c:f>'[1219132_20240404_2235_Cross_n1]1(Q17)'!$G$24:$O$24</c:f>
              <c:strCache>
                <c:ptCount val="9"/>
                <c:pt idx="0">
                  <c:v>転職活動を進めるか迷っているとき</c:v>
                </c:pt>
                <c:pt idx="1">
                  <c:v>求人を探すとき</c:v>
                </c:pt>
                <c:pt idx="2">
                  <c:v>応募する求人を決めるとき</c:v>
                </c:pt>
                <c:pt idx="3">
                  <c:v>応募書類を作成するとき</c:v>
                </c:pt>
                <c:pt idx="4">
                  <c:v>応募書類を添削してほしいとき</c:v>
                </c:pt>
                <c:pt idx="5">
                  <c:v>選考が上手く進まないとき</c:v>
                </c:pt>
                <c:pt idx="6">
                  <c:v>面接対策をしてほしいとき</c:v>
                </c:pt>
                <c:pt idx="7">
                  <c:v>内定がでたとき</c:v>
                </c:pt>
                <c:pt idx="8">
                  <c:v>相談したくなったタイミングはない</c:v>
                </c:pt>
              </c:strCache>
            </c:strRef>
          </c:cat>
          <c:val>
            <c:numRef>
              <c:f>'[1219132_20240404_2235_Cross_n1]1(Q17)'!$G$25:$O$25</c:f>
              <c:numCache>
                <c:formatCode>0%</c:formatCode>
                <c:ptCount val="9"/>
                <c:pt idx="0">
                  <c:v>0.30283717619953049</c:v>
                </c:pt>
                <c:pt idx="1">
                  <c:v>0.43340228001917946</c:v>
                </c:pt>
                <c:pt idx="2">
                  <c:v>0.24810808938655321</c:v>
                </c:pt>
                <c:pt idx="3">
                  <c:v>0.26609020311580511</c:v>
                </c:pt>
                <c:pt idx="4">
                  <c:v>0.29678763042726924</c:v>
                </c:pt>
                <c:pt idx="5">
                  <c:v>0.25487406457827533</c:v>
                </c:pt>
                <c:pt idx="6">
                  <c:v>0.22449774271793205</c:v>
                </c:pt>
                <c:pt idx="7">
                  <c:v>6.0070677367621152E-2</c:v>
                </c:pt>
                <c:pt idx="8">
                  <c:v>0.16122955064771252</c:v>
                </c:pt>
              </c:numCache>
            </c:numRef>
          </c:val>
          <c:smooth val="0"/>
          <c:extLst>
            <c:ext xmlns:c16="http://schemas.microsoft.com/office/drawing/2014/chart" uri="{C3380CC4-5D6E-409C-BE32-E72D297353CC}">
              <c16:uniqueId val="{00000001-9BA2-4F5F-937D-7E80B88F6197}"/>
            </c:ext>
          </c:extLst>
        </c:ser>
        <c:dLbls>
          <c:showLegendKey val="0"/>
          <c:showVal val="0"/>
          <c:showCatName val="0"/>
          <c:showSerName val="0"/>
          <c:showPercent val="0"/>
          <c:showBubbleSize val="0"/>
        </c:dLbls>
        <c:marker val="1"/>
        <c:smooth val="0"/>
        <c:axId val="937482928"/>
        <c:axId val="937487968"/>
      </c:lineChart>
      <c:catAx>
        <c:axId val="9374829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vert="eaVert" wrap="square" anchor="ctr" anchorCtr="1"/>
          <a:lstStyle/>
          <a:p>
            <a:pPr>
              <a:defRPr sz="7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crossAx val="937487968"/>
        <c:crosses val="autoZero"/>
        <c:auto val="1"/>
        <c:lblAlgn val="ctr"/>
        <c:lblOffset val="100"/>
        <c:noMultiLvlLbl val="0"/>
      </c:catAx>
      <c:valAx>
        <c:axId val="93748796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crossAx val="937482928"/>
        <c:crosses val="autoZero"/>
        <c:crossBetween val="between"/>
      </c:valAx>
      <c:spPr>
        <a:noFill/>
        <a:ln>
          <a:noFill/>
        </a:ln>
        <a:effectLst/>
      </c:spPr>
    </c:plotArea>
    <c:legend>
      <c:legendPos val="b"/>
      <c:layout>
        <c:manualLayout>
          <c:xMode val="edge"/>
          <c:yMode val="edge"/>
          <c:x val="0.59400990906501683"/>
          <c:y val="9.5955224328389543E-2"/>
          <c:w val="0.31456071411330111"/>
          <c:h val="0.14639460303926363"/>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eiryo UI" panose="020B0604030504040204" pitchFamily="50" charset="-128"/>
          <a:ea typeface="Meiryo UI" panose="020B0604030504040204" pitchFamily="50" charset="-128"/>
        </a:defRPr>
      </a:pPr>
      <a:endParaRPr lang="ja-JP"/>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7135671307474849E-2"/>
          <c:y val="3.621286528788191E-2"/>
          <c:w val="0.75598955421606251"/>
          <c:h val="0.55055636548947284"/>
        </c:manualLayout>
      </c:layout>
      <c:barChart>
        <c:barDir val="col"/>
        <c:grouping val="clustered"/>
        <c:varyColors val="0"/>
        <c:ser>
          <c:idx val="1"/>
          <c:order val="1"/>
          <c:tx>
            <c:v>面談希望あり＞面談実施なし</c:v>
          </c:tx>
          <c:spPr>
            <a:solidFill>
              <a:srgbClr val="51BD69">
                <a:lumMod val="40000"/>
                <a:lumOff val="60000"/>
              </a:srgbClr>
            </a:solidFill>
            <a:ln>
              <a:noFill/>
            </a:ln>
            <a:effectLst/>
          </c:spPr>
          <c:invertIfNegative val="0"/>
          <c:dPt>
            <c:idx val="5"/>
            <c:invertIfNegative val="0"/>
            <c:bubble3D val="0"/>
            <c:spPr>
              <a:solidFill>
                <a:srgbClr val="51BD69">
                  <a:lumMod val="40000"/>
                  <a:lumOff val="60000"/>
                </a:srgbClr>
              </a:solidFill>
              <a:ln>
                <a:solidFill>
                  <a:srgbClr val="FF0000"/>
                </a:solidFill>
              </a:ln>
              <a:effectLst/>
            </c:spPr>
            <c:extLst>
              <c:ext xmlns:c16="http://schemas.microsoft.com/office/drawing/2014/chart" uri="{C3380CC4-5D6E-409C-BE32-E72D297353CC}">
                <c16:uniqueId val="{00000003-5907-40BF-934E-AFD25CA3031C}"/>
              </c:ext>
            </c:extLst>
          </c:dPt>
          <c:dPt>
            <c:idx val="7"/>
            <c:invertIfNegative val="0"/>
            <c:bubble3D val="0"/>
            <c:spPr>
              <a:solidFill>
                <a:srgbClr val="51BD69">
                  <a:lumMod val="40000"/>
                  <a:lumOff val="60000"/>
                </a:srgbClr>
              </a:solidFill>
              <a:ln>
                <a:solidFill>
                  <a:srgbClr val="FF0000"/>
                </a:solidFill>
              </a:ln>
              <a:effectLst/>
            </c:spPr>
            <c:extLst>
              <c:ext xmlns:c16="http://schemas.microsoft.com/office/drawing/2014/chart" uri="{C3380CC4-5D6E-409C-BE32-E72D297353CC}">
                <c16:uniqueId val="{00000004-5907-40BF-934E-AFD25CA3031C}"/>
              </c:ext>
            </c:extLst>
          </c:dPt>
          <c:dPt>
            <c:idx val="9"/>
            <c:invertIfNegative val="0"/>
            <c:bubble3D val="0"/>
            <c:spPr>
              <a:solidFill>
                <a:srgbClr val="51BD69">
                  <a:lumMod val="40000"/>
                  <a:lumOff val="60000"/>
                </a:srgbClr>
              </a:solidFill>
              <a:ln>
                <a:solidFill>
                  <a:srgbClr val="FF0000"/>
                </a:solidFill>
              </a:ln>
              <a:effectLst/>
            </c:spPr>
            <c:extLst>
              <c:ext xmlns:c16="http://schemas.microsoft.com/office/drawing/2014/chart" uri="{C3380CC4-5D6E-409C-BE32-E72D297353CC}">
                <c16:uniqueId val="{00000002-5907-40BF-934E-AFD25CA3031C}"/>
              </c:ext>
            </c:extLst>
          </c:dPt>
          <c:dLbls>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lumMod val="75000"/>
                        <a:lumOff val="25000"/>
                      </a:schemeClr>
                    </a:solidFill>
                    <a:latin typeface="Meiryo UI" panose="020B0604030504040204" pitchFamily="50" charset="-128"/>
                    <a:ea typeface="Meiryo UI" panose="020B0604030504040204" pitchFamily="50" charset="-128"/>
                    <a:cs typeface="+mn-cs"/>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'2(Q19S1)'!$G$24:$R$24</c:f>
              <c:strCache>
                <c:ptCount val="12"/>
                <c:pt idx="0">
                  <c:v>面談でしか共有されない求人情報</c:v>
                </c:pt>
                <c:pt idx="1">
                  <c:v>面談でしか共有されない企業情報</c:v>
                </c:pt>
                <c:pt idx="2">
                  <c:v>興味のある企業の現場担当者と接点を得られる</c:v>
                </c:pt>
                <c:pt idx="3">
                  <c:v>自分の強み・特性がわかる</c:v>
                </c:pt>
                <c:pt idx="4">
                  <c:v>自分の市場価値がわかる</c:v>
                </c:pt>
                <c:pt idx="5">
                  <c:v>類似CSの転職先例を知ることができる</c:v>
                </c:pt>
                <c:pt idx="6">
                  <c:v>副業サービスの紹介</c:v>
                </c:pt>
                <c:pt idx="7">
                  <c:v>資格取得やスキルアップのためのサポート</c:v>
                </c:pt>
                <c:pt idx="8">
                  <c:v>複数のCAからの多角的・迅速なサポート</c:v>
                </c:pt>
                <c:pt idx="9">
                  <c:v>CAからの求人提案</c:v>
                </c:pt>
                <c:pt idx="10">
                  <c:v>その他</c:v>
                </c:pt>
                <c:pt idx="11">
                  <c:v>当てはまるサポートはない</c:v>
                </c:pt>
              </c:strCache>
            </c:strRef>
          </c:cat>
          <c:val>
            <c:numRef>
              <c:f>'2(Q19S1)'!$G$28:$R$28</c:f>
              <c:numCache>
                <c:formatCode>0%</c:formatCode>
                <c:ptCount val="12"/>
                <c:pt idx="0">
                  <c:v>0.42289043137239957</c:v>
                </c:pt>
                <c:pt idx="1">
                  <c:v>0.41462170334591802</c:v>
                </c:pt>
                <c:pt idx="2">
                  <c:v>0.33483331154119</c:v>
                </c:pt>
                <c:pt idx="3">
                  <c:v>0.43301647071224242</c:v>
                </c:pt>
                <c:pt idx="4">
                  <c:v>0.3870344193040498</c:v>
                </c:pt>
                <c:pt idx="5">
                  <c:v>0.41550641260559151</c:v>
                </c:pt>
                <c:pt idx="6">
                  <c:v>0.10042281065922715</c:v>
                </c:pt>
                <c:pt idx="7">
                  <c:v>0.26387018762399078</c:v>
                </c:pt>
                <c:pt idx="8">
                  <c:v>0.20150396113189931</c:v>
                </c:pt>
                <c:pt idx="9">
                  <c:v>0.48799867843752576</c:v>
                </c:pt>
                <c:pt idx="10">
                  <c:v>1.7422165312636299E-2</c:v>
                </c:pt>
                <c:pt idx="11">
                  <c:v>3.5842793653295277E-2</c:v>
                </c:pt>
              </c:numCache>
            </c:numRef>
          </c:val>
          <c:extLst>
            <c:ext xmlns:c16="http://schemas.microsoft.com/office/drawing/2014/chart" uri="{C3380CC4-5D6E-409C-BE32-E72D297353CC}">
              <c16:uniqueId val="{00000000-5907-40BF-934E-AFD25CA3031C}"/>
            </c:ext>
          </c:extLst>
        </c:ser>
        <c:dLbls>
          <c:showLegendKey val="0"/>
          <c:showVal val="0"/>
          <c:showCatName val="0"/>
          <c:showSerName val="0"/>
          <c:showPercent val="0"/>
          <c:showBubbleSize val="0"/>
        </c:dLbls>
        <c:gapWidth val="219"/>
        <c:axId val="681946136"/>
        <c:axId val="681948296"/>
      </c:barChart>
      <c:lineChart>
        <c:grouping val="standard"/>
        <c:varyColors val="0"/>
        <c:ser>
          <c:idx val="0"/>
          <c:order val="0"/>
          <c:tx>
            <c:v>全体</c:v>
          </c:tx>
          <c:spPr>
            <a:ln w="28575" cap="rnd">
              <a:solidFill>
                <a:schemeClr val="accent1"/>
              </a:solidFill>
              <a:round/>
            </a:ln>
            <a:effectLst/>
          </c:spPr>
          <c:marker>
            <c:symbol val="none"/>
          </c:marker>
          <c:cat>
            <c:strRef>
              <c:f>'2(Q19S1)'!$G$24:$R$24</c:f>
              <c:strCache>
                <c:ptCount val="12"/>
                <c:pt idx="0">
                  <c:v>面談でしか共有されない求人情報</c:v>
                </c:pt>
                <c:pt idx="1">
                  <c:v>面談でしか共有されない企業情報</c:v>
                </c:pt>
                <c:pt idx="2">
                  <c:v>興味のある企業の現場担当者と接点を得られる</c:v>
                </c:pt>
                <c:pt idx="3">
                  <c:v>自分の強み・特性がわかる</c:v>
                </c:pt>
                <c:pt idx="4">
                  <c:v>自分の市場価値がわかる</c:v>
                </c:pt>
                <c:pt idx="5">
                  <c:v>類似CSの転職先例を知ることができる</c:v>
                </c:pt>
                <c:pt idx="6">
                  <c:v>副業サービスの紹介</c:v>
                </c:pt>
                <c:pt idx="7">
                  <c:v>資格取得やスキルアップのためのサポート</c:v>
                </c:pt>
                <c:pt idx="8">
                  <c:v>複数のCAからの多角的・迅速なサポート</c:v>
                </c:pt>
                <c:pt idx="9">
                  <c:v>CAからの求人提案</c:v>
                </c:pt>
                <c:pt idx="10">
                  <c:v>その他</c:v>
                </c:pt>
                <c:pt idx="11">
                  <c:v>当てはまるサポートはない</c:v>
                </c:pt>
              </c:strCache>
            </c:strRef>
          </c:cat>
          <c:val>
            <c:numRef>
              <c:f>'2(Q19S1)'!$G$25:$R$25</c:f>
              <c:numCache>
                <c:formatCode>0%</c:formatCode>
                <c:ptCount val="12"/>
                <c:pt idx="0">
                  <c:v>0.49219642468862501</c:v>
                </c:pt>
                <c:pt idx="1">
                  <c:v>0.43018419371353844</c:v>
                </c:pt>
                <c:pt idx="2">
                  <c:v>0.29441031033470255</c:v>
                </c:pt>
                <c:pt idx="3">
                  <c:v>0.42648852822489741</c:v>
                </c:pt>
                <c:pt idx="4">
                  <c:v>0.40973670900714421</c:v>
                </c:pt>
                <c:pt idx="5">
                  <c:v>0.3761420841406154</c:v>
                </c:pt>
                <c:pt idx="6">
                  <c:v>0.10804171294165961</c:v>
                </c:pt>
                <c:pt idx="7">
                  <c:v>0.18504491012156027</c:v>
                </c:pt>
                <c:pt idx="8">
                  <c:v>0.18670064305244358</c:v>
                </c:pt>
                <c:pt idx="9">
                  <c:v>0.37845159586052562</c:v>
                </c:pt>
                <c:pt idx="10">
                  <c:v>6.9845583822973076E-3</c:v>
                </c:pt>
                <c:pt idx="11">
                  <c:v>6.9980691593750963E-2</c:v>
                </c:pt>
              </c:numCache>
            </c:numRef>
          </c:val>
          <c:smooth val="0"/>
          <c:extLst>
            <c:ext xmlns:c16="http://schemas.microsoft.com/office/drawing/2014/chart" uri="{C3380CC4-5D6E-409C-BE32-E72D297353CC}">
              <c16:uniqueId val="{00000001-5907-40BF-934E-AFD25CA3031C}"/>
            </c:ext>
          </c:extLst>
        </c:ser>
        <c:dLbls>
          <c:showLegendKey val="0"/>
          <c:showVal val="0"/>
          <c:showCatName val="0"/>
          <c:showSerName val="0"/>
          <c:showPercent val="0"/>
          <c:showBubbleSize val="0"/>
        </c:dLbls>
        <c:marker val="1"/>
        <c:smooth val="0"/>
        <c:axId val="681946136"/>
        <c:axId val="681948296"/>
      </c:lineChart>
      <c:catAx>
        <c:axId val="6819461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vert="eaVert" wrap="square" anchor="ctr" anchorCtr="1"/>
          <a:lstStyle/>
          <a:p>
            <a:pPr>
              <a:defRPr sz="7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crossAx val="681948296"/>
        <c:crosses val="autoZero"/>
        <c:auto val="1"/>
        <c:lblAlgn val="ctr"/>
        <c:lblOffset val="100"/>
        <c:noMultiLvlLbl val="0"/>
      </c:catAx>
      <c:valAx>
        <c:axId val="68194829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crossAx val="681946136"/>
        <c:crosses val="autoZero"/>
        <c:crossBetween val="between"/>
      </c:valAx>
      <c:spPr>
        <a:noFill/>
        <a:ln>
          <a:noFill/>
        </a:ln>
        <a:effectLst/>
      </c:spPr>
    </c:plotArea>
    <c:legend>
      <c:legendPos val="b"/>
      <c:layout>
        <c:manualLayout>
          <c:xMode val="edge"/>
          <c:yMode val="edge"/>
          <c:x val="0.16038616237462927"/>
          <c:y val="6.362082772550022E-2"/>
          <c:w val="0.54761988737956913"/>
          <c:h val="6.185644145721611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eiryo UI" panose="020B0604030504040204" pitchFamily="50" charset="-128"/>
          <a:ea typeface="Meiryo UI" panose="020B0604030504040204" pitchFamily="50" charset="-128"/>
        </a:defRPr>
      </a:pPr>
      <a:endParaRPr lang="ja-JP"/>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8129178650716382E-2"/>
          <c:y val="3.3703761069526252E-2"/>
          <c:w val="0.79405279639525927"/>
          <c:h val="0.46718455137326542"/>
        </c:manualLayout>
      </c:layout>
      <c:barChart>
        <c:barDir val="col"/>
        <c:grouping val="clustered"/>
        <c:varyColors val="0"/>
        <c:ser>
          <c:idx val="1"/>
          <c:order val="1"/>
          <c:tx>
            <c:v>面談希望あり＞面談実施なし</c:v>
          </c:tx>
          <c:spPr>
            <a:solidFill>
              <a:srgbClr val="51BD69">
                <a:lumMod val="40000"/>
                <a:lumOff val="60000"/>
              </a:srgbClr>
            </a:solidFill>
            <a:ln>
              <a:noFill/>
            </a:ln>
            <a:effectLst/>
          </c:spPr>
          <c:invertIfNegative val="0"/>
          <c:dPt>
            <c:idx val="1"/>
            <c:invertIfNegative val="0"/>
            <c:bubble3D val="0"/>
            <c:spPr>
              <a:solidFill>
                <a:srgbClr val="51BD69">
                  <a:lumMod val="40000"/>
                  <a:lumOff val="60000"/>
                </a:srgbClr>
              </a:solidFill>
              <a:ln>
                <a:solidFill>
                  <a:srgbClr val="FF0000"/>
                </a:solidFill>
              </a:ln>
              <a:effectLst/>
            </c:spPr>
            <c:extLst>
              <c:ext xmlns:c16="http://schemas.microsoft.com/office/drawing/2014/chart" uri="{C3380CC4-5D6E-409C-BE32-E72D297353CC}">
                <c16:uniqueId val="{00000007-5C55-4F63-8B69-75012DAFB92A}"/>
              </c:ext>
            </c:extLst>
          </c:dPt>
          <c:dPt>
            <c:idx val="3"/>
            <c:invertIfNegative val="0"/>
            <c:bubble3D val="0"/>
            <c:spPr>
              <a:solidFill>
                <a:srgbClr val="51BD69">
                  <a:lumMod val="40000"/>
                  <a:lumOff val="60000"/>
                </a:srgbClr>
              </a:solidFill>
              <a:ln>
                <a:solidFill>
                  <a:srgbClr val="FF0000"/>
                </a:solidFill>
              </a:ln>
              <a:effectLst/>
            </c:spPr>
            <c:extLst>
              <c:ext xmlns:c16="http://schemas.microsoft.com/office/drawing/2014/chart" uri="{C3380CC4-5D6E-409C-BE32-E72D297353CC}">
                <c16:uniqueId val="{00000006-5C55-4F63-8B69-75012DAFB92A}"/>
              </c:ext>
            </c:extLst>
          </c:dPt>
          <c:dPt>
            <c:idx val="5"/>
            <c:invertIfNegative val="0"/>
            <c:bubble3D val="0"/>
            <c:spPr>
              <a:solidFill>
                <a:srgbClr val="51BD69">
                  <a:lumMod val="40000"/>
                  <a:lumOff val="60000"/>
                </a:srgbClr>
              </a:solidFill>
              <a:ln>
                <a:solidFill>
                  <a:srgbClr val="FF0000"/>
                </a:solidFill>
              </a:ln>
              <a:effectLst/>
            </c:spPr>
            <c:extLst>
              <c:ext xmlns:c16="http://schemas.microsoft.com/office/drawing/2014/chart" uri="{C3380CC4-5D6E-409C-BE32-E72D297353CC}">
                <c16:uniqueId val="{00000005-5C55-4F63-8B69-75012DAFB92A}"/>
              </c:ext>
            </c:extLst>
          </c:dPt>
          <c:dLbls>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lumMod val="75000"/>
                        <a:lumOff val="25000"/>
                      </a:schemeClr>
                    </a:solidFill>
                    <a:latin typeface="Meiryo UI" panose="020B0604030504040204" pitchFamily="50" charset="-128"/>
                    <a:ea typeface="Meiryo UI" panose="020B0604030504040204" pitchFamily="50" charset="-128"/>
                    <a:cs typeface="+mn-cs"/>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'3(Q20S1)'!$G$24:$P$24</c:f>
              <c:strCache>
                <c:ptCount val="10"/>
                <c:pt idx="0">
                  <c:v>【CA】非公開求人が定期的に案内される</c:v>
                </c:pt>
                <c:pt idx="1">
                  <c:v>【CA】自分の大まかな合格可能性を相談できる</c:v>
                </c:pt>
                <c:pt idx="2">
                  <c:v>【CA】過去同じ企業に内定した求職者の傾向案内</c:v>
                </c:pt>
                <c:pt idx="3">
                  <c:v>【CA】応募書類の添削・アドバイス</c:v>
                </c:pt>
                <c:pt idx="4">
                  <c:v>【CA】面接対策・面接アドバイス</c:v>
                </c:pt>
                <c:pt idx="5">
                  <c:v>【システム】非公開求人が定期的に共有される</c:v>
                </c:pt>
                <c:pt idx="6">
                  <c:v>【システム】自分の大まかな合格可能性が共有される</c:v>
                </c:pt>
                <c:pt idx="7">
                  <c:v>【システム】過去同じ企業に内定した求職者の傾向共有</c:v>
                </c:pt>
                <c:pt idx="8">
                  <c:v>その他</c:v>
                </c:pt>
                <c:pt idx="9">
                  <c:v>当てはまるサポートはない</c:v>
                </c:pt>
              </c:strCache>
            </c:strRef>
          </c:cat>
          <c:val>
            <c:numRef>
              <c:f>'3(Q20S1)'!$G$28:$P$28</c:f>
              <c:numCache>
                <c:formatCode>0%</c:formatCode>
                <c:ptCount val="10"/>
                <c:pt idx="0">
                  <c:v>0.38000374216687294</c:v>
                </c:pt>
                <c:pt idx="1">
                  <c:v>0.46343635788068138</c:v>
                </c:pt>
                <c:pt idx="2">
                  <c:v>0.34581775135504655</c:v>
                </c:pt>
                <c:pt idx="3">
                  <c:v>0.45094369486926017</c:v>
                </c:pt>
                <c:pt idx="4">
                  <c:v>0.3938313137628327</c:v>
                </c:pt>
                <c:pt idx="5">
                  <c:v>0.49724000851769512</c:v>
                </c:pt>
                <c:pt idx="6">
                  <c:v>0.35273153715302524</c:v>
                </c:pt>
                <c:pt idx="7">
                  <c:v>0.3931578825625886</c:v>
                </c:pt>
                <c:pt idx="8">
                  <c:v>0</c:v>
                </c:pt>
                <c:pt idx="9">
                  <c:v>6.0178744763911073E-2</c:v>
                </c:pt>
              </c:numCache>
            </c:numRef>
          </c:val>
          <c:extLst>
            <c:ext xmlns:c16="http://schemas.microsoft.com/office/drawing/2014/chart" uri="{C3380CC4-5D6E-409C-BE32-E72D297353CC}">
              <c16:uniqueId val="{00000000-5C55-4F63-8B69-75012DAFB92A}"/>
            </c:ext>
          </c:extLst>
        </c:ser>
        <c:dLbls>
          <c:showLegendKey val="0"/>
          <c:showVal val="0"/>
          <c:showCatName val="0"/>
          <c:showSerName val="0"/>
          <c:showPercent val="0"/>
          <c:showBubbleSize val="0"/>
        </c:dLbls>
        <c:gapWidth val="219"/>
        <c:axId val="940392784"/>
        <c:axId val="940387744"/>
      </c:barChart>
      <c:lineChart>
        <c:grouping val="standard"/>
        <c:varyColors val="0"/>
        <c:ser>
          <c:idx val="0"/>
          <c:order val="0"/>
          <c:tx>
            <c:v>全体</c:v>
          </c:tx>
          <c:spPr>
            <a:ln w="28575" cap="rnd">
              <a:solidFill>
                <a:schemeClr val="accent1"/>
              </a:solidFill>
              <a:round/>
            </a:ln>
            <a:effectLst/>
          </c:spPr>
          <c:marker>
            <c:symbol val="none"/>
          </c:marker>
          <c:cat>
            <c:strRef>
              <c:f>'3(Q20S1)'!$G$24:$P$24</c:f>
              <c:strCache>
                <c:ptCount val="10"/>
                <c:pt idx="0">
                  <c:v>【CA】非公開求人が定期的に案内される</c:v>
                </c:pt>
                <c:pt idx="1">
                  <c:v>【CA】自分の大まかな合格可能性を相談できる</c:v>
                </c:pt>
                <c:pt idx="2">
                  <c:v>【CA】過去同じ企業に内定した求職者の傾向案内</c:v>
                </c:pt>
                <c:pt idx="3">
                  <c:v>【CA】応募書類の添削・アドバイス</c:v>
                </c:pt>
                <c:pt idx="4">
                  <c:v>【CA】面接対策・面接アドバイス</c:v>
                </c:pt>
                <c:pt idx="5">
                  <c:v>【システム】非公開求人が定期的に共有される</c:v>
                </c:pt>
                <c:pt idx="6">
                  <c:v>【システム】自分の大まかな合格可能性が共有される</c:v>
                </c:pt>
                <c:pt idx="7">
                  <c:v>【システム】過去同じ企業に内定した求職者の傾向共有</c:v>
                </c:pt>
                <c:pt idx="8">
                  <c:v>その他</c:v>
                </c:pt>
                <c:pt idx="9">
                  <c:v>当てはまるサポートはない</c:v>
                </c:pt>
              </c:strCache>
            </c:strRef>
          </c:cat>
          <c:val>
            <c:numRef>
              <c:f>'3(Q20S1)'!$G$25:$P$25</c:f>
              <c:numCache>
                <c:formatCode>0%</c:formatCode>
                <c:ptCount val="10"/>
                <c:pt idx="0">
                  <c:v>0.38807857398349677</c:v>
                </c:pt>
                <c:pt idx="1">
                  <c:v>0.37691449793722437</c:v>
                </c:pt>
                <c:pt idx="2">
                  <c:v>0.29022386478120193</c:v>
                </c:pt>
                <c:pt idx="3">
                  <c:v>0.34549307273635577</c:v>
                </c:pt>
                <c:pt idx="4">
                  <c:v>0.32393584387817309</c:v>
                </c:pt>
                <c:pt idx="5">
                  <c:v>0.4004234976244872</c:v>
                </c:pt>
                <c:pt idx="6">
                  <c:v>0.34857215263661534</c:v>
                </c:pt>
                <c:pt idx="7">
                  <c:v>0.36484689654644231</c:v>
                </c:pt>
                <c:pt idx="8">
                  <c:v>1.2008218394125129E-3</c:v>
                </c:pt>
                <c:pt idx="9">
                  <c:v>5.7859432348358018E-2</c:v>
                </c:pt>
              </c:numCache>
            </c:numRef>
          </c:val>
          <c:smooth val="0"/>
          <c:extLst>
            <c:ext xmlns:c16="http://schemas.microsoft.com/office/drawing/2014/chart" uri="{C3380CC4-5D6E-409C-BE32-E72D297353CC}">
              <c16:uniqueId val="{00000001-5C55-4F63-8B69-75012DAFB92A}"/>
            </c:ext>
          </c:extLst>
        </c:ser>
        <c:dLbls>
          <c:showLegendKey val="0"/>
          <c:showVal val="0"/>
          <c:showCatName val="0"/>
          <c:showSerName val="0"/>
          <c:showPercent val="0"/>
          <c:showBubbleSize val="0"/>
        </c:dLbls>
        <c:marker val="1"/>
        <c:smooth val="0"/>
        <c:axId val="940392784"/>
        <c:axId val="940387744"/>
      </c:lineChart>
      <c:catAx>
        <c:axId val="940392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vert="eaVert" wrap="square" anchor="ctr" anchorCtr="1"/>
          <a:lstStyle/>
          <a:p>
            <a:pPr>
              <a:defRPr sz="7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crossAx val="940387744"/>
        <c:crosses val="autoZero"/>
        <c:auto val="1"/>
        <c:lblAlgn val="ctr"/>
        <c:lblOffset val="100"/>
        <c:noMultiLvlLbl val="0"/>
      </c:catAx>
      <c:valAx>
        <c:axId val="940387744"/>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crossAx val="940392784"/>
        <c:crosses val="autoZero"/>
        <c:crossBetween val="between"/>
      </c:valAx>
      <c:spPr>
        <a:noFill/>
        <a:ln>
          <a:noFill/>
        </a:ln>
        <a:effectLst/>
      </c:spPr>
    </c:plotArea>
    <c:legend>
      <c:legendPos val="b"/>
      <c:layout>
        <c:manualLayout>
          <c:xMode val="edge"/>
          <c:yMode val="edge"/>
          <c:x val="0.21682177243396009"/>
          <c:y val="4.0108538429571475E-2"/>
          <c:w val="0.43681174317867505"/>
          <c:h val="5.3054593337704931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eiryo UI" panose="020B0604030504040204" pitchFamily="50" charset="-128"/>
          <a:ea typeface="Meiryo UI" panose="020B0604030504040204" pitchFamily="50" charset="-128"/>
        </a:defRPr>
      </a:pPr>
      <a:endParaRPr lang="ja-JP"/>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4655228587507383E-2"/>
          <c:y val="3.8982135477822859E-2"/>
          <c:w val="0.78917040669822891"/>
          <c:h val="0.50224809945707838"/>
        </c:manualLayout>
      </c:layout>
      <c:barChart>
        <c:barDir val="col"/>
        <c:grouping val="clustered"/>
        <c:varyColors val="0"/>
        <c:ser>
          <c:idx val="1"/>
          <c:order val="1"/>
          <c:tx>
            <c:strRef>
              <c:f>'1(Q12)'!$D$29</c:f>
              <c:strCache>
                <c:ptCount val="1"/>
                <c:pt idx="0">
                  <c:v>面談あり応募なし</c:v>
                </c:pt>
              </c:strCache>
            </c:strRef>
          </c:tx>
          <c:spPr>
            <a:solidFill>
              <a:srgbClr val="51BD69">
                <a:lumMod val="40000"/>
                <a:lumOff val="60000"/>
              </a:srgbClr>
            </a:solidFill>
            <a:ln>
              <a:noFill/>
            </a:ln>
            <a:effectLst/>
          </c:spPr>
          <c:invertIfNegative val="0"/>
          <c:dPt>
            <c:idx val="6"/>
            <c:invertIfNegative val="0"/>
            <c:bubble3D val="0"/>
            <c:spPr>
              <a:solidFill>
                <a:srgbClr val="51BD69">
                  <a:lumMod val="40000"/>
                  <a:lumOff val="60000"/>
                </a:srgbClr>
              </a:solidFill>
              <a:ln>
                <a:solidFill>
                  <a:srgbClr val="FF6400"/>
                </a:solidFill>
              </a:ln>
              <a:effectLst/>
            </c:spPr>
            <c:extLst>
              <c:ext xmlns:c16="http://schemas.microsoft.com/office/drawing/2014/chart" uri="{C3380CC4-5D6E-409C-BE32-E72D297353CC}">
                <c16:uniqueId val="{00000002-4717-43F8-A279-11DF08E1F2D4}"/>
              </c:ext>
            </c:extLst>
          </c:dPt>
          <c:dPt>
            <c:idx val="8"/>
            <c:invertIfNegative val="0"/>
            <c:bubble3D val="0"/>
            <c:spPr>
              <a:solidFill>
                <a:srgbClr val="51BD69">
                  <a:lumMod val="40000"/>
                  <a:lumOff val="60000"/>
                </a:srgbClr>
              </a:solidFill>
              <a:ln>
                <a:solidFill>
                  <a:srgbClr val="FF6400"/>
                </a:solidFill>
              </a:ln>
              <a:effectLst/>
            </c:spPr>
            <c:extLst>
              <c:ext xmlns:c16="http://schemas.microsoft.com/office/drawing/2014/chart" uri="{C3380CC4-5D6E-409C-BE32-E72D297353CC}">
                <c16:uniqueId val="{00000003-4717-43F8-A279-11DF08E1F2D4}"/>
              </c:ext>
            </c:extLst>
          </c:dPt>
          <c:dPt>
            <c:idx val="12"/>
            <c:invertIfNegative val="0"/>
            <c:bubble3D val="0"/>
            <c:spPr>
              <a:solidFill>
                <a:srgbClr val="51BD69">
                  <a:lumMod val="40000"/>
                  <a:lumOff val="60000"/>
                </a:srgbClr>
              </a:solidFill>
              <a:ln>
                <a:solidFill>
                  <a:srgbClr val="FF6400"/>
                </a:solidFill>
              </a:ln>
              <a:effectLst/>
            </c:spPr>
            <c:extLst>
              <c:ext xmlns:c16="http://schemas.microsoft.com/office/drawing/2014/chart" uri="{C3380CC4-5D6E-409C-BE32-E72D297353CC}">
                <c16:uniqueId val="{00000004-4717-43F8-A279-11DF08E1F2D4}"/>
              </c:ext>
            </c:extLst>
          </c:dPt>
          <c:dPt>
            <c:idx val="14"/>
            <c:invertIfNegative val="0"/>
            <c:bubble3D val="0"/>
            <c:spPr>
              <a:solidFill>
                <a:srgbClr val="51BD69">
                  <a:lumMod val="40000"/>
                  <a:lumOff val="60000"/>
                </a:srgbClr>
              </a:solidFill>
              <a:ln>
                <a:solidFill>
                  <a:srgbClr val="FF6400"/>
                </a:solidFill>
              </a:ln>
              <a:effectLst/>
            </c:spPr>
            <c:extLst>
              <c:ext xmlns:c16="http://schemas.microsoft.com/office/drawing/2014/chart" uri="{C3380CC4-5D6E-409C-BE32-E72D297353CC}">
                <c16:uniqueId val="{00000005-4717-43F8-A279-11DF08E1F2D4}"/>
              </c:ext>
            </c:extLst>
          </c:dPt>
          <c:dLbls>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lumMod val="75000"/>
                        <a:lumOff val="25000"/>
                      </a:schemeClr>
                    </a:solidFill>
                    <a:latin typeface="Meiryo UI" panose="020B0604030504040204" pitchFamily="50" charset="-128"/>
                    <a:ea typeface="Meiryo UI" panose="020B0604030504040204" pitchFamily="50" charset="-128"/>
                    <a:cs typeface="+mn-cs"/>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'1(Q12)'!$G$29:$Z$29</c:f>
              <c:numCache>
                <c:formatCode>0%</c:formatCode>
                <c:ptCount val="20"/>
                <c:pt idx="0">
                  <c:v>0.25935284492690108</c:v>
                </c:pt>
                <c:pt idx="1">
                  <c:v>0.26531404720904445</c:v>
                </c:pt>
                <c:pt idx="2">
                  <c:v>0.22880350689099943</c:v>
                </c:pt>
                <c:pt idx="3">
                  <c:v>8.775805898877051E-2</c:v>
                </c:pt>
                <c:pt idx="4">
                  <c:v>0.13330849795860195</c:v>
                </c:pt>
                <c:pt idx="5">
                  <c:v>0.20037375414419245</c:v>
                </c:pt>
                <c:pt idx="6">
                  <c:v>0.45144251295942395</c:v>
                </c:pt>
                <c:pt idx="7">
                  <c:v>0.25386444159808191</c:v>
                </c:pt>
                <c:pt idx="8">
                  <c:v>0.44587352945842029</c:v>
                </c:pt>
                <c:pt idx="9">
                  <c:v>0.26523884486850324</c:v>
                </c:pt>
                <c:pt idx="10">
                  <c:v>0.33491624142787813</c:v>
                </c:pt>
                <c:pt idx="11">
                  <c:v>0.24976806645998259</c:v>
                </c:pt>
                <c:pt idx="12">
                  <c:v>0.51965580046627047</c:v>
                </c:pt>
                <c:pt idx="13">
                  <c:v>0.22387299539350883</c:v>
                </c:pt>
                <c:pt idx="14">
                  <c:v>0.46636615519990204</c:v>
                </c:pt>
                <c:pt idx="15">
                  <c:v>0.31517491552069271</c:v>
                </c:pt>
                <c:pt idx="16">
                  <c:v>0.54918294702789527</c:v>
                </c:pt>
                <c:pt idx="17">
                  <c:v>0.23468638535386829</c:v>
                </c:pt>
                <c:pt idx="18">
                  <c:v>1.8633176429080998E-2</c:v>
                </c:pt>
                <c:pt idx="19">
                  <c:v>3.3634277363010688E-2</c:v>
                </c:pt>
              </c:numCache>
            </c:numRef>
          </c:val>
          <c:extLst>
            <c:ext xmlns:c16="http://schemas.microsoft.com/office/drawing/2014/chart" uri="{C3380CC4-5D6E-409C-BE32-E72D297353CC}">
              <c16:uniqueId val="{00000000-4717-43F8-A279-11DF08E1F2D4}"/>
            </c:ext>
          </c:extLst>
        </c:ser>
        <c:dLbls>
          <c:showLegendKey val="0"/>
          <c:showVal val="0"/>
          <c:showCatName val="0"/>
          <c:showSerName val="0"/>
          <c:showPercent val="0"/>
          <c:showBubbleSize val="0"/>
        </c:dLbls>
        <c:gapWidth val="150"/>
        <c:axId val="591024928"/>
        <c:axId val="591025648"/>
      </c:barChart>
      <c:lineChart>
        <c:grouping val="standard"/>
        <c:varyColors val="0"/>
        <c:ser>
          <c:idx val="0"/>
          <c:order val="0"/>
          <c:tx>
            <c:v>面談希望あり＞面談実施あり</c:v>
          </c:tx>
          <c:spPr>
            <a:ln w="28575" cap="rnd">
              <a:solidFill>
                <a:schemeClr val="accent1"/>
              </a:solidFill>
              <a:round/>
            </a:ln>
            <a:effectLst/>
          </c:spPr>
          <c:marker>
            <c:symbol val="none"/>
          </c:marker>
          <c:cat>
            <c:strRef>
              <c:f>'1(Q12)'!$G$24:$Z$24</c:f>
              <c:strCache>
                <c:ptCount val="20"/>
                <c:pt idx="0">
                  <c:v>転職活動に対する、専門的（業界）なアドバイス</c:v>
                </c:pt>
                <c:pt idx="1">
                  <c:v>転職活動に対する、専門的（職種）なアドバイス</c:v>
                </c:pt>
                <c:pt idx="2">
                  <c:v>転職市場全般のトレンド・求める人材などの情報共有</c:v>
                </c:pt>
                <c:pt idx="3">
                  <c:v>志望業界のトレンド・求める人材などの情報共有</c:v>
                </c:pt>
                <c:pt idx="4">
                  <c:v>志望職種のトレンド・求める人材などの情報共有</c:v>
                </c:pt>
                <c:pt idx="5">
                  <c:v>志望企業の求人状況・求める人材などの情報共有</c:v>
                </c:pt>
                <c:pt idx="6">
                  <c:v>転職市場における自分の市場価値の確認</c:v>
                </c:pt>
                <c:pt idx="7">
                  <c:v>これまでのキャリアの棚卸し</c:v>
                </c:pt>
                <c:pt idx="8">
                  <c:v>キャリアプランについてのアドバイス・相談</c:v>
                </c:pt>
                <c:pt idx="9">
                  <c:v>転職活動全般の進め方に関する説明・フォロー</c:v>
                </c:pt>
                <c:pt idx="10">
                  <c:v>応募書類の添削・アドバイス</c:v>
                </c:pt>
                <c:pt idx="11">
                  <c:v>面接対策・面接へのアドバイス</c:v>
                </c:pt>
                <c:pt idx="12">
                  <c:v>CAが親身に相談にのってくれる</c:v>
                </c:pt>
                <c:pt idx="13">
                  <c:v>CAが迅速に対応してくれる</c:v>
                </c:pt>
                <c:pt idx="14">
                  <c:v>CAが意見・要望にあわせて柔軟に対応してくれる</c:v>
                </c:pt>
                <c:pt idx="15">
                  <c:v>CAのマナーがよく、快適に・気兼ねなく相談できる</c:v>
                </c:pt>
                <c:pt idx="16">
                  <c:v>希望条件に沿った求人の紹介</c:v>
                </c:pt>
                <c:pt idx="17">
                  <c:v>希望条件外も含めた、おすすめの求人の紹介</c:v>
                </c:pt>
                <c:pt idx="18">
                  <c:v>その他</c:v>
                </c:pt>
                <c:pt idx="19">
                  <c:v>特に期待することはなかった</c:v>
                </c:pt>
              </c:strCache>
            </c:strRef>
          </c:cat>
          <c:val>
            <c:numRef>
              <c:f>'1(Q12)'!$G$26:$Z$26</c:f>
              <c:numCache>
                <c:formatCode>0%</c:formatCode>
                <c:ptCount val="20"/>
                <c:pt idx="0">
                  <c:v>0.32038778426079512</c:v>
                </c:pt>
                <c:pt idx="1">
                  <c:v>0.30494192187956415</c:v>
                </c:pt>
                <c:pt idx="2">
                  <c:v>0.26987489852796848</c:v>
                </c:pt>
                <c:pt idx="3">
                  <c:v>0.16518120613017986</c:v>
                </c:pt>
                <c:pt idx="4">
                  <c:v>0.18070630912334909</c:v>
                </c:pt>
                <c:pt idx="5">
                  <c:v>0.23086042149143296</c:v>
                </c:pt>
                <c:pt idx="6">
                  <c:v>0.39100878071668216</c:v>
                </c:pt>
                <c:pt idx="7">
                  <c:v>0.29996400434064818</c:v>
                </c:pt>
                <c:pt idx="8">
                  <c:v>0.40365446653049103</c:v>
                </c:pt>
                <c:pt idx="9">
                  <c:v>0.35305283675415883</c:v>
                </c:pt>
                <c:pt idx="10">
                  <c:v>0.4720656284708647</c:v>
                </c:pt>
                <c:pt idx="11">
                  <c:v>0.42488934031586406</c:v>
                </c:pt>
                <c:pt idx="12">
                  <c:v>0.46989987225637825</c:v>
                </c:pt>
                <c:pt idx="13">
                  <c:v>0.32603029919806625</c:v>
                </c:pt>
                <c:pt idx="14">
                  <c:v>0.41720729728531497</c:v>
                </c:pt>
                <c:pt idx="15">
                  <c:v>0.38555476449006065</c:v>
                </c:pt>
                <c:pt idx="16">
                  <c:v>0.55395270474391145</c:v>
                </c:pt>
                <c:pt idx="17">
                  <c:v>0.30704237050586042</c:v>
                </c:pt>
                <c:pt idx="18">
                  <c:v>8.0444857955050703E-3</c:v>
                </c:pt>
                <c:pt idx="19">
                  <c:v>2.0997311508204778E-2</c:v>
                </c:pt>
              </c:numCache>
            </c:numRef>
          </c:val>
          <c:smooth val="0"/>
          <c:extLst>
            <c:ext xmlns:c16="http://schemas.microsoft.com/office/drawing/2014/chart" uri="{C3380CC4-5D6E-409C-BE32-E72D297353CC}">
              <c16:uniqueId val="{00000001-4717-43F8-A279-11DF08E1F2D4}"/>
            </c:ext>
          </c:extLst>
        </c:ser>
        <c:dLbls>
          <c:showLegendKey val="0"/>
          <c:showVal val="0"/>
          <c:showCatName val="0"/>
          <c:showSerName val="0"/>
          <c:showPercent val="0"/>
          <c:showBubbleSize val="0"/>
        </c:dLbls>
        <c:marker val="1"/>
        <c:smooth val="0"/>
        <c:axId val="591024928"/>
        <c:axId val="591025648"/>
      </c:lineChart>
      <c:catAx>
        <c:axId val="5910249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vert="eaVert" wrap="square" anchor="ctr" anchorCtr="1"/>
          <a:lstStyle/>
          <a:p>
            <a:pPr>
              <a:defRPr sz="7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crossAx val="591025648"/>
        <c:crosses val="autoZero"/>
        <c:auto val="1"/>
        <c:lblAlgn val="ctr"/>
        <c:lblOffset val="100"/>
        <c:noMultiLvlLbl val="0"/>
      </c:catAx>
      <c:valAx>
        <c:axId val="59102564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crossAx val="591024928"/>
        <c:crosses val="autoZero"/>
        <c:crossBetween val="between"/>
      </c:valAx>
      <c:spPr>
        <a:noFill/>
        <a:ln>
          <a:noFill/>
        </a:ln>
        <a:effectLst/>
      </c:spPr>
    </c:plotArea>
    <c:legend>
      <c:legendPos val="b"/>
      <c:layout>
        <c:manualLayout>
          <c:xMode val="edge"/>
          <c:yMode val="edge"/>
          <c:x val="0.10280132131326941"/>
          <c:y val="8.1058195242539169E-2"/>
          <c:w val="0.46537688452758169"/>
          <c:h val="4.6483480363610614E-2"/>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eiryo UI" panose="020B0604030504040204" pitchFamily="50" charset="-128"/>
          <a:ea typeface="Meiryo UI" panose="020B0604030504040204" pitchFamily="50" charset="-128"/>
        </a:defRPr>
      </a:pPr>
      <a:endParaRPr lang="ja-JP"/>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34115947758021E-2"/>
          <c:y val="2.7775877892707568E-2"/>
          <c:w val="0.82016608153075155"/>
          <c:h val="0.44078286381091103"/>
        </c:manualLayout>
      </c:layout>
      <c:barChart>
        <c:barDir val="col"/>
        <c:grouping val="clustered"/>
        <c:varyColors val="0"/>
        <c:ser>
          <c:idx val="0"/>
          <c:order val="0"/>
          <c:spPr>
            <a:solidFill>
              <a:srgbClr val="51BD69">
                <a:lumMod val="40000"/>
                <a:lumOff val="60000"/>
              </a:srgb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lumMod val="75000"/>
                        <a:lumOff val="25000"/>
                      </a:schemeClr>
                    </a:solidFill>
                    <a:latin typeface="Meiryo UI" panose="020B0604030504040204" pitchFamily="50" charset="-128"/>
                    <a:ea typeface="Meiryo UI" panose="020B0604030504040204" pitchFamily="50" charset="-128"/>
                    <a:cs typeface="+mn-cs"/>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'%表'!$G$249:$G$271</c:f>
              <c:strCache>
                <c:ptCount val="23"/>
                <c:pt idx="0">
                  <c:v>転職活動を始めるかどうか気持ちが固まっていなかった</c:v>
                </c:pt>
                <c:pt idx="1">
                  <c:v>CAから提案された転職活動のスケジュールが合わなかった</c:v>
                </c:pt>
                <c:pt idx="2">
                  <c:v>応募書類を作成する時間がなかった</c:v>
                </c:pt>
                <c:pt idx="3">
                  <c:v>紹介された求人の職種があわなかった</c:v>
                </c:pt>
                <c:pt idx="4">
                  <c:v>紹介された求人の業務内容があわなかった</c:v>
                </c:pt>
                <c:pt idx="5">
                  <c:v>応募に向けて求人を選ぶ時間がなかった</c:v>
                </c:pt>
                <c:pt idx="6">
                  <c:v>面談後に転職への意欲が下がった</c:v>
                </c:pt>
                <c:pt idx="7">
                  <c:v>CAが意見・要望にあわせて柔軟に対応してくれなかった</c:v>
                </c:pt>
                <c:pt idx="8">
                  <c:v>CAが親身に相談にのってくれなかった</c:v>
                </c:pt>
                <c:pt idx="9">
                  <c:v>紹介された求人の業界があわなかった</c:v>
                </c:pt>
                <c:pt idx="10">
                  <c:v>他サービスをメインで使っていた</c:v>
                </c:pt>
                <c:pt idx="11">
                  <c:v>面談で提案された情報やアドバイスが的確でなかった</c:v>
                </c:pt>
                <c:pt idx="12">
                  <c:v>求人紹介以外、CAのフォローが少なかった</c:v>
                </c:pt>
                <c:pt idx="13">
                  <c:v>システムやアプリが使いづらかった</c:v>
                </c:pt>
                <c:pt idx="14">
                  <c:v>紹介された求人の勤務地があわなかった</c:v>
                </c:pt>
                <c:pt idx="15">
                  <c:v>CAのマナーが悪く、快適に・気兼ねなく相談できなかった</c:v>
                </c:pt>
                <c:pt idx="16">
                  <c:v>紹介された求人の量が少なかった</c:v>
                </c:pt>
                <c:pt idx="17">
                  <c:v>紹介された求人の福利厚生があわなかった</c:v>
                </c:pt>
                <c:pt idx="18">
                  <c:v>CAが迅速に対応してくれなかった</c:v>
                </c:pt>
                <c:pt idx="19">
                  <c:v>紹介された求人の年収帯があわなかった</c:v>
                </c:pt>
                <c:pt idx="20">
                  <c:v>紹介された求人が他サービスや企業のHP応募できた</c:v>
                </c:pt>
                <c:pt idx="21">
                  <c:v>その他</c:v>
                </c:pt>
                <c:pt idx="22">
                  <c:v>明確な理由はない</c:v>
                </c:pt>
              </c:strCache>
            </c:strRef>
          </c:cat>
          <c:val>
            <c:numRef>
              <c:f>'%表'!$H$249:$H$271</c:f>
              <c:numCache>
                <c:formatCode>0.0</c:formatCode>
                <c:ptCount val="23"/>
                <c:pt idx="0">
                  <c:v>32.3541838157456</c:v>
                </c:pt>
                <c:pt idx="1">
                  <c:v>18.659588687206</c:v>
                </c:pt>
                <c:pt idx="2">
                  <c:v>17.8311800760391</c:v>
                </c:pt>
                <c:pt idx="3">
                  <c:v>16.7975722459175</c:v>
                </c:pt>
                <c:pt idx="4">
                  <c:v>16.386859165779001</c:v>
                </c:pt>
                <c:pt idx="5">
                  <c:v>15.372054352789901</c:v>
                </c:pt>
                <c:pt idx="6">
                  <c:v>12.2414527826057</c:v>
                </c:pt>
                <c:pt idx="7">
                  <c:v>11.878245233090601</c:v>
                </c:pt>
                <c:pt idx="8">
                  <c:v>10.686091289244199</c:v>
                </c:pt>
                <c:pt idx="9">
                  <c:v>7.9190094164485201</c:v>
                </c:pt>
                <c:pt idx="10">
                  <c:v>6.9594560034280404</c:v>
                </c:pt>
                <c:pt idx="11">
                  <c:v>6.9124882559689196</c:v>
                </c:pt>
                <c:pt idx="12">
                  <c:v>5.4593459100350703</c:v>
                </c:pt>
                <c:pt idx="13">
                  <c:v>5.09613836051994</c:v>
                </c:pt>
                <c:pt idx="14">
                  <c:v>4.8635378296940299</c:v>
                </c:pt>
                <c:pt idx="15">
                  <c:v>3.9592358166420998</c:v>
                </c:pt>
                <c:pt idx="16">
                  <c:v>3.5960282671269699</c:v>
                </c:pt>
                <c:pt idx="17">
                  <c:v>1.5001100933929701</c:v>
                </c:pt>
                <c:pt idx="18">
                  <c:v>0.95955341302048003</c:v>
                </c:pt>
                <c:pt idx="19">
                  <c:v>0.95955341302048003</c:v>
                </c:pt>
                <c:pt idx="20">
                  <c:v>0</c:v>
                </c:pt>
                <c:pt idx="21">
                  <c:v>12.1942593998556</c:v>
                </c:pt>
                <c:pt idx="22">
                  <c:v>7.0900630221172598</c:v>
                </c:pt>
              </c:numCache>
            </c:numRef>
          </c:val>
          <c:extLst>
            <c:ext xmlns:c16="http://schemas.microsoft.com/office/drawing/2014/chart" uri="{C3380CC4-5D6E-409C-BE32-E72D297353CC}">
              <c16:uniqueId val="{00000000-345A-4A47-A85C-054B2E50597A}"/>
            </c:ext>
          </c:extLst>
        </c:ser>
        <c:dLbls>
          <c:showLegendKey val="0"/>
          <c:showVal val="0"/>
          <c:showCatName val="0"/>
          <c:showSerName val="0"/>
          <c:showPercent val="0"/>
          <c:showBubbleSize val="0"/>
        </c:dLbls>
        <c:gapWidth val="219"/>
        <c:overlap val="-27"/>
        <c:axId val="834106888"/>
        <c:axId val="834105088"/>
      </c:barChart>
      <c:catAx>
        <c:axId val="8341068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vert="eaVert" wrap="square" anchor="ctr" anchorCtr="1"/>
          <a:lstStyle/>
          <a:p>
            <a:pPr>
              <a:defRPr sz="7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crossAx val="834105088"/>
        <c:crosses val="autoZero"/>
        <c:auto val="1"/>
        <c:lblAlgn val="ctr"/>
        <c:lblOffset val="100"/>
        <c:noMultiLvlLbl val="0"/>
      </c:catAx>
      <c:valAx>
        <c:axId val="834105088"/>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crossAx val="834106888"/>
        <c:crosses val="autoZero"/>
        <c:crossBetween val="between"/>
      </c:valAx>
      <c:spPr>
        <a:noFill/>
        <a:ln>
          <a:noFill/>
        </a:ln>
        <a:effectLst/>
      </c:spPr>
    </c:plotArea>
    <c:plotVisOnly val="1"/>
    <c:dispBlanksAs val="gap"/>
    <c:showDLblsOverMax val="0"/>
  </c:chart>
  <c:spPr>
    <a:noFill/>
    <a:ln>
      <a:noFill/>
    </a:ln>
    <a:effectLst/>
  </c:spPr>
  <c:txPr>
    <a:bodyPr/>
    <a:lstStyle/>
    <a:p>
      <a:pPr>
        <a:defRPr>
          <a:latin typeface="Meiryo UI" panose="020B0604030504040204" pitchFamily="50" charset="-128"/>
          <a:ea typeface="Meiryo UI" panose="020B0604030504040204" pitchFamily="50" charset="-128"/>
        </a:defRPr>
      </a:pPr>
      <a:endParaRPr lang="ja-JP"/>
    </a:p>
  </c:txPr>
  <c:externalData r:id="rId4">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7255110851652927E-2"/>
          <c:y val="3.4767497153582273E-2"/>
          <c:w val="0.86803044065523161"/>
          <c:h val="0.47889666108388562"/>
        </c:manualLayout>
      </c:layout>
      <c:barChart>
        <c:barDir val="col"/>
        <c:grouping val="clustered"/>
        <c:varyColors val="0"/>
        <c:ser>
          <c:idx val="0"/>
          <c:order val="0"/>
          <c:spPr>
            <a:solidFill>
              <a:schemeClr val="accent5">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eiryo UI" panose="020B0604030504040204" pitchFamily="50" charset="-128"/>
                    <a:ea typeface="Meiryo UI" panose="020B0604030504040204" pitchFamily="50" charset="-128"/>
                    <a:cs typeface="+mn-cs"/>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'%表'!$G$281:$G$294</c:f>
              <c:strCache>
                <c:ptCount val="14"/>
                <c:pt idx="0">
                  <c:v>自分のペースで転職活動を進めたいと思っていた</c:v>
                </c:pt>
                <c:pt idx="1">
                  <c:v>時期先/未定だと考えていた</c:v>
                </c:pt>
                <c:pt idx="2">
                  <c:v>情報収集目的で登録をした</c:v>
                </c:pt>
                <c:pt idx="3">
                  <c:v>時期先/転職するか明確に決めていなかったため、面談は必要ないと思った</c:v>
                </c:pt>
                <c:pt idx="4">
                  <c:v>転職するかは明確に決めていなかった</c:v>
                </c:pt>
                <c:pt idx="5">
                  <c:v>時期先/転職するか明確に決めていなかったため、面談をしてよいのか迷った／わからなかった</c:v>
                </c:pt>
                <c:pt idx="6">
                  <c:v>面談をすると、必ず求人への応募や転職をしないといけないと考えていた</c:v>
                </c:pt>
                <c:pt idx="7">
                  <c:v>過去実施したキャリアアドバイザーとの面談で満足度が低かった</c:v>
                </c:pt>
                <c:pt idx="8">
                  <c:v>他のサービスで面談を実施し、自分には面談は不要と感じた</c:v>
                </c:pt>
                <c:pt idx="9">
                  <c:v>過去実施したキャリアアドバイザーとの面談時に、紹介された求人の満足度が低かった</c:v>
                </c:pt>
                <c:pt idx="10">
                  <c:v>他のサービスで面談を実施しようと考えていた</c:v>
                </c:pt>
                <c:pt idx="11">
                  <c:v>サービスへの口コミを見て、面談を受けるのが怖くなった</c:v>
                </c:pt>
                <c:pt idx="12">
                  <c:v>その他</c:v>
                </c:pt>
                <c:pt idx="13">
                  <c:v>明確な理由はない</c:v>
                </c:pt>
              </c:strCache>
            </c:strRef>
          </c:cat>
          <c:val>
            <c:numRef>
              <c:f>'%表'!$H$281:$H$294</c:f>
              <c:numCache>
                <c:formatCode>0.0</c:formatCode>
                <c:ptCount val="14"/>
                <c:pt idx="0">
                  <c:v>55.825236833521899</c:v>
                </c:pt>
                <c:pt idx="1">
                  <c:v>45.495841107382397</c:v>
                </c:pt>
                <c:pt idx="2">
                  <c:v>44.167122895721803</c:v>
                </c:pt>
                <c:pt idx="3">
                  <c:v>34.225651438839797</c:v>
                </c:pt>
                <c:pt idx="4">
                  <c:v>33.653402232445103</c:v>
                </c:pt>
                <c:pt idx="5">
                  <c:v>24.603875873060801</c:v>
                </c:pt>
                <c:pt idx="6">
                  <c:v>16.971207235270199</c:v>
                </c:pt>
                <c:pt idx="7">
                  <c:v>9.9208919608181905</c:v>
                </c:pt>
                <c:pt idx="8">
                  <c:v>7.48201561716923</c:v>
                </c:pt>
                <c:pt idx="9">
                  <c:v>5.8582247658404603</c:v>
                </c:pt>
                <c:pt idx="10">
                  <c:v>5.7224037082191304</c:v>
                </c:pt>
                <c:pt idx="11">
                  <c:v>2.98963705117569</c:v>
                </c:pt>
                <c:pt idx="12">
                  <c:v>2.5620214096460101</c:v>
                </c:pt>
                <c:pt idx="13">
                  <c:v>0.23586082924506299</c:v>
                </c:pt>
              </c:numCache>
            </c:numRef>
          </c:val>
          <c:extLst>
            <c:ext xmlns:c16="http://schemas.microsoft.com/office/drawing/2014/chart" uri="{C3380CC4-5D6E-409C-BE32-E72D297353CC}">
              <c16:uniqueId val="{00000000-A0F6-46E4-AB35-B1775A97A873}"/>
            </c:ext>
          </c:extLst>
        </c:ser>
        <c:dLbls>
          <c:showLegendKey val="0"/>
          <c:showVal val="0"/>
          <c:showCatName val="0"/>
          <c:showSerName val="0"/>
          <c:showPercent val="0"/>
          <c:showBubbleSize val="0"/>
        </c:dLbls>
        <c:gapWidth val="219"/>
        <c:overlap val="-27"/>
        <c:axId val="778341880"/>
        <c:axId val="778334320"/>
      </c:barChart>
      <c:catAx>
        <c:axId val="7783418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vert="eaVert" wrap="square" anchor="ctr" anchorCtr="1"/>
          <a:lstStyle/>
          <a:p>
            <a:pPr>
              <a:defRPr sz="7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crossAx val="778334320"/>
        <c:crosses val="autoZero"/>
        <c:auto val="1"/>
        <c:lblAlgn val="ctr"/>
        <c:lblOffset val="100"/>
        <c:noMultiLvlLbl val="0"/>
      </c:catAx>
      <c:valAx>
        <c:axId val="778334320"/>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crossAx val="778341880"/>
        <c:crosses val="autoZero"/>
        <c:crossBetween val="between"/>
      </c:valAx>
      <c:spPr>
        <a:noFill/>
        <a:ln>
          <a:noFill/>
        </a:ln>
        <a:effectLst/>
      </c:spPr>
    </c:plotArea>
    <c:plotVisOnly val="1"/>
    <c:dispBlanksAs val="gap"/>
    <c:showDLblsOverMax val="0"/>
  </c:chart>
  <c:spPr>
    <a:noFill/>
    <a:ln>
      <a:noFill/>
    </a:ln>
    <a:effectLst/>
  </c:spPr>
  <c:txPr>
    <a:bodyPr/>
    <a:lstStyle/>
    <a:p>
      <a:pPr>
        <a:defRPr>
          <a:latin typeface="Meiryo UI" panose="020B0604030504040204" pitchFamily="50" charset="-128"/>
          <a:ea typeface="Meiryo UI" panose="020B0604030504040204" pitchFamily="50" charset="-128"/>
        </a:defRPr>
      </a:pPr>
      <a:endParaRPr lang="ja-JP"/>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4535777175926715E-2"/>
          <c:y val="1.8748556588551051E-2"/>
          <c:w val="0.8975754734533099"/>
          <c:h val="0.49747071359229922"/>
        </c:manualLayout>
      </c:layout>
      <c:barChart>
        <c:barDir val="col"/>
        <c:grouping val="clustered"/>
        <c:varyColors val="0"/>
        <c:ser>
          <c:idx val="0"/>
          <c:order val="0"/>
          <c:spPr>
            <a:solidFill>
              <a:srgbClr val="51BD69">
                <a:lumMod val="40000"/>
                <a:lumOff val="60000"/>
              </a:srgbClr>
            </a:solidFill>
            <a:ln>
              <a:noFill/>
            </a:ln>
            <a:effectLst/>
          </c:spPr>
          <c:invertIfNegative val="0"/>
          <c:dPt>
            <c:idx val="0"/>
            <c:invertIfNegative val="0"/>
            <c:bubble3D val="0"/>
            <c:spPr>
              <a:solidFill>
                <a:srgbClr val="51BD69">
                  <a:lumMod val="40000"/>
                  <a:lumOff val="60000"/>
                </a:srgbClr>
              </a:solidFill>
              <a:ln>
                <a:solidFill>
                  <a:srgbClr val="FF0000"/>
                </a:solidFill>
              </a:ln>
              <a:effectLst/>
            </c:spPr>
            <c:extLst>
              <c:ext xmlns:c16="http://schemas.microsoft.com/office/drawing/2014/chart" uri="{C3380CC4-5D6E-409C-BE32-E72D297353CC}">
                <c16:uniqueId val="{00000001-96D9-437F-95F9-7E4BE5CDB9B9}"/>
              </c:ext>
            </c:extLst>
          </c:dPt>
          <c:dPt>
            <c:idx val="1"/>
            <c:invertIfNegative val="0"/>
            <c:bubble3D val="0"/>
            <c:spPr>
              <a:solidFill>
                <a:srgbClr val="51BD69">
                  <a:lumMod val="40000"/>
                  <a:lumOff val="60000"/>
                </a:srgbClr>
              </a:solidFill>
              <a:ln>
                <a:solidFill>
                  <a:srgbClr val="FF0000"/>
                </a:solidFill>
              </a:ln>
              <a:effectLst/>
            </c:spPr>
            <c:extLst>
              <c:ext xmlns:c16="http://schemas.microsoft.com/office/drawing/2014/chart" uri="{C3380CC4-5D6E-409C-BE32-E72D297353CC}">
                <c16:uniqueId val="{00000002-96D9-437F-95F9-7E4BE5CDB9B9}"/>
              </c:ext>
            </c:extLst>
          </c:dPt>
          <c:dLbls>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Meiryo UI" panose="020B0604030504040204" pitchFamily="50" charset="-128"/>
                    <a:ea typeface="Meiryo UI" panose="020B0604030504040204" pitchFamily="50" charset="-128"/>
                    <a:cs typeface="+mn-cs"/>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'%表'!$G$304:$G$318</c:f>
              <c:strCache>
                <c:ptCount val="15"/>
                <c:pt idx="0">
                  <c:v>気になる求人はあったが、応募に踏み切れなかった</c:v>
                </c:pt>
                <c:pt idx="1">
                  <c:v>希望する求人が見つからなかった</c:v>
                </c:pt>
                <c:pt idx="2">
                  <c:v>気になる求人はあったが、応募したいとまでは思わなかった</c:v>
                </c:pt>
                <c:pt idx="3">
                  <c:v>明確な理由はない</c:v>
                </c:pt>
                <c:pt idx="4">
                  <c:v>紹介された求人の勤務地が自分にあわなかった</c:v>
                </c:pt>
                <c:pt idx="5">
                  <c:v>紹介された求人の年収帯が自分にあわなかった</c:v>
                </c:pt>
                <c:pt idx="6">
                  <c:v>紹介された求人の量が少なかった</c:v>
                </c:pt>
                <c:pt idx="7">
                  <c:v>紹介された求人の職種が自分にあわなかった</c:v>
                </c:pt>
                <c:pt idx="8">
                  <c:v>システムやアプリが使いづらかった</c:v>
                </c:pt>
                <c:pt idx="9">
                  <c:v>気になる求人はあったが、他サービスや企業のHP応募できた</c:v>
                </c:pt>
                <c:pt idx="10">
                  <c:v>紹介された求人の業務内容が自分にあわなかった</c:v>
                </c:pt>
                <c:pt idx="11">
                  <c:v>紹介された求人の業界が自分にあわなかった</c:v>
                </c:pt>
                <c:pt idx="12">
                  <c:v>紹介された求人の福利厚生が自分にあわなかった</c:v>
                </c:pt>
                <c:pt idx="13">
                  <c:v>希望する求人の件数がすくなかった</c:v>
                </c:pt>
                <c:pt idx="14">
                  <c:v>その他</c:v>
                </c:pt>
              </c:strCache>
            </c:strRef>
          </c:cat>
          <c:val>
            <c:numRef>
              <c:f>'%表'!$H$304:$H$318</c:f>
              <c:numCache>
                <c:formatCode>0.0</c:formatCode>
                <c:ptCount val="15"/>
                <c:pt idx="0">
                  <c:v>32.999718856043998</c:v>
                </c:pt>
                <c:pt idx="1">
                  <c:v>22.455108202949798</c:v>
                </c:pt>
                <c:pt idx="2">
                  <c:v>16.392485965862399</c:v>
                </c:pt>
                <c:pt idx="3">
                  <c:v>13.8978329618377</c:v>
                </c:pt>
                <c:pt idx="4">
                  <c:v>9.0607050108400795</c:v>
                </c:pt>
                <c:pt idx="5">
                  <c:v>8.8310126307566694</c:v>
                </c:pt>
                <c:pt idx="6">
                  <c:v>7.0973931827381103</c:v>
                </c:pt>
                <c:pt idx="7">
                  <c:v>6.4596695839594096</c:v>
                </c:pt>
                <c:pt idx="8">
                  <c:v>5.7718049534148497</c:v>
                </c:pt>
                <c:pt idx="9">
                  <c:v>5.5249925815421799</c:v>
                </c:pt>
                <c:pt idx="10">
                  <c:v>4.8032916710966296</c:v>
                </c:pt>
                <c:pt idx="11">
                  <c:v>2.9975718372382998</c:v>
                </c:pt>
                <c:pt idx="12">
                  <c:v>1.80571983385833</c:v>
                </c:pt>
                <c:pt idx="13">
                  <c:v>1.3255128672679199</c:v>
                </c:pt>
                <c:pt idx="14">
                  <c:v>16.591957076524899</c:v>
                </c:pt>
              </c:numCache>
            </c:numRef>
          </c:val>
          <c:extLst>
            <c:ext xmlns:c16="http://schemas.microsoft.com/office/drawing/2014/chart" uri="{C3380CC4-5D6E-409C-BE32-E72D297353CC}">
              <c16:uniqueId val="{00000000-96D9-437F-95F9-7E4BE5CDB9B9}"/>
            </c:ext>
          </c:extLst>
        </c:ser>
        <c:dLbls>
          <c:showLegendKey val="0"/>
          <c:showVal val="0"/>
          <c:showCatName val="0"/>
          <c:showSerName val="0"/>
          <c:showPercent val="0"/>
          <c:showBubbleSize val="0"/>
        </c:dLbls>
        <c:gapWidth val="219"/>
        <c:overlap val="-27"/>
        <c:axId val="798408208"/>
        <c:axId val="798410008"/>
      </c:barChart>
      <c:catAx>
        <c:axId val="798408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vert="eaVert" wrap="square" anchor="ctr" anchorCtr="1"/>
          <a:lstStyle/>
          <a:p>
            <a:pPr>
              <a:defRPr sz="7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crossAx val="798410008"/>
        <c:crosses val="autoZero"/>
        <c:auto val="1"/>
        <c:lblAlgn val="ctr"/>
        <c:lblOffset val="100"/>
        <c:noMultiLvlLbl val="0"/>
      </c:catAx>
      <c:valAx>
        <c:axId val="798410008"/>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crossAx val="79840820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eiryo UI" panose="020B0604030504040204" pitchFamily="50" charset="-128"/>
          <a:ea typeface="Meiryo UI" panose="020B0604030504040204" pitchFamily="50" charset="-128"/>
        </a:defRPr>
      </a:pPr>
      <a:endParaRPr lang="ja-JP"/>
    </a:p>
  </c:txPr>
  <c:externalData r:id="rId4">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315862634193977"/>
          <c:y val="3.8090740487267002E-2"/>
          <c:w val="0.81688730480342142"/>
          <c:h val="0.56528924504883704"/>
        </c:manualLayout>
      </c:layout>
      <c:barChart>
        <c:barDir val="col"/>
        <c:grouping val="clustered"/>
        <c:varyColors val="0"/>
        <c:ser>
          <c:idx val="1"/>
          <c:order val="1"/>
          <c:tx>
            <c:v>面談希望なし</c:v>
          </c:tx>
          <c:spPr>
            <a:solidFill>
              <a:srgbClr val="51BD69">
                <a:lumMod val="40000"/>
                <a:lumOff val="60000"/>
              </a:srgb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eiryo UI" panose="020B0604030504040204" pitchFamily="50" charset="-128"/>
                    <a:ea typeface="Meiryo UI" panose="020B0604030504040204" pitchFamily="50" charset="-128"/>
                    <a:cs typeface="+mn-cs"/>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'[1219132_20240404_2235_Cross_n1]1(Q17)'!$G$24:$O$24</c:f>
              <c:strCache>
                <c:ptCount val="9"/>
                <c:pt idx="0">
                  <c:v>転職活動を進めるか迷っているとき</c:v>
                </c:pt>
                <c:pt idx="1">
                  <c:v>求人を探すとき</c:v>
                </c:pt>
                <c:pt idx="2">
                  <c:v>応募する求人を決めるとき</c:v>
                </c:pt>
                <c:pt idx="3">
                  <c:v>応募書類を作成するとき</c:v>
                </c:pt>
                <c:pt idx="4">
                  <c:v>応募書類を添削してほしいとき</c:v>
                </c:pt>
                <c:pt idx="5">
                  <c:v>選考が上手く進まないとき</c:v>
                </c:pt>
                <c:pt idx="6">
                  <c:v>面接対策をしてほしいとき</c:v>
                </c:pt>
                <c:pt idx="7">
                  <c:v>内定がでたとき</c:v>
                </c:pt>
                <c:pt idx="8">
                  <c:v>相談したくなったタイミングはない</c:v>
                </c:pt>
              </c:strCache>
            </c:strRef>
          </c:cat>
          <c:val>
            <c:numRef>
              <c:f>'[1219132_20240404_2235_Cross_n1]1(Q17)'!$G$31:$O$31</c:f>
              <c:numCache>
                <c:formatCode>0%</c:formatCode>
                <c:ptCount val="9"/>
                <c:pt idx="0">
                  <c:v>0.24294069449675254</c:v>
                </c:pt>
                <c:pt idx="1">
                  <c:v>0.34639646362013643</c:v>
                </c:pt>
                <c:pt idx="2">
                  <c:v>0.20368435243696231</c:v>
                </c:pt>
                <c:pt idx="3">
                  <c:v>0.228492649772957</c:v>
                </c:pt>
                <c:pt idx="4">
                  <c:v>0.26253448925441003</c:v>
                </c:pt>
                <c:pt idx="5">
                  <c:v>0.24344518151958741</c:v>
                </c:pt>
                <c:pt idx="6">
                  <c:v>0.20824722521427994</c:v>
                </c:pt>
                <c:pt idx="7">
                  <c:v>7.0331479129450106E-2</c:v>
                </c:pt>
                <c:pt idx="8">
                  <c:v>0.2025352400603749</c:v>
                </c:pt>
              </c:numCache>
            </c:numRef>
          </c:val>
          <c:extLst>
            <c:ext xmlns:c16="http://schemas.microsoft.com/office/drawing/2014/chart" uri="{C3380CC4-5D6E-409C-BE32-E72D297353CC}">
              <c16:uniqueId val="{00000000-63C5-4734-9288-8F90831E46E7}"/>
            </c:ext>
          </c:extLst>
        </c:ser>
        <c:dLbls>
          <c:showLegendKey val="0"/>
          <c:showVal val="0"/>
          <c:showCatName val="0"/>
          <c:showSerName val="0"/>
          <c:showPercent val="0"/>
          <c:showBubbleSize val="0"/>
        </c:dLbls>
        <c:gapWidth val="219"/>
        <c:axId val="937482928"/>
        <c:axId val="937487968"/>
      </c:barChart>
      <c:lineChart>
        <c:grouping val="standard"/>
        <c:varyColors val="0"/>
        <c:ser>
          <c:idx val="0"/>
          <c:order val="0"/>
          <c:tx>
            <c:v>全体</c:v>
          </c:tx>
          <c:spPr>
            <a:ln w="28575" cap="rnd">
              <a:solidFill>
                <a:schemeClr val="accent1"/>
              </a:solidFill>
              <a:round/>
            </a:ln>
            <a:effectLst/>
          </c:spPr>
          <c:marker>
            <c:symbol val="none"/>
          </c:marker>
          <c:cat>
            <c:strRef>
              <c:f>'[1219132_20240404_2235_Cross_n1]1(Q17)'!$G$24:$O$24</c:f>
              <c:strCache>
                <c:ptCount val="9"/>
                <c:pt idx="0">
                  <c:v>転職活動を進めるか迷っているとき</c:v>
                </c:pt>
                <c:pt idx="1">
                  <c:v>求人を探すとき</c:v>
                </c:pt>
                <c:pt idx="2">
                  <c:v>応募する求人を決めるとき</c:v>
                </c:pt>
                <c:pt idx="3">
                  <c:v>応募書類を作成するとき</c:v>
                </c:pt>
                <c:pt idx="4">
                  <c:v>応募書類を添削してほしいとき</c:v>
                </c:pt>
                <c:pt idx="5">
                  <c:v>選考が上手く進まないとき</c:v>
                </c:pt>
                <c:pt idx="6">
                  <c:v>面接対策をしてほしいとき</c:v>
                </c:pt>
                <c:pt idx="7">
                  <c:v>内定がでたとき</c:v>
                </c:pt>
                <c:pt idx="8">
                  <c:v>相談したくなったタイミングはない</c:v>
                </c:pt>
              </c:strCache>
            </c:strRef>
          </c:cat>
          <c:val>
            <c:numRef>
              <c:f>'[1219132_20240404_2235_Cross_n1]1(Q17)'!$G$25:$O$25</c:f>
              <c:numCache>
                <c:formatCode>0%</c:formatCode>
                <c:ptCount val="9"/>
                <c:pt idx="0">
                  <c:v>0.30283717619953049</c:v>
                </c:pt>
                <c:pt idx="1">
                  <c:v>0.43340228001917946</c:v>
                </c:pt>
                <c:pt idx="2">
                  <c:v>0.24810808938655321</c:v>
                </c:pt>
                <c:pt idx="3">
                  <c:v>0.26609020311580511</c:v>
                </c:pt>
                <c:pt idx="4">
                  <c:v>0.29678763042726924</c:v>
                </c:pt>
                <c:pt idx="5">
                  <c:v>0.25487406457827533</c:v>
                </c:pt>
                <c:pt idx="6">
                  <c:v>0.22449774271793205</c:v>
                </c:pt>
                <c:pt idx="7">
                  <c:v>6.0070677367621152E-2</c:v>
                </c:pt>
                <c:pt idx="8">
                  <c:v>0.16122955064771252</c:v>
                </c:pt>
              </c:numCache>
            </c:numRef>
          </c:val>
          <c:smooth val="0"/>
          <c:extLst>
            <c:ext xmlns:c16="http://schemas.microsoft.com/office/drawing/2014/chart" uri="{C3380CC4-5D6E-409C-BE32-E72D297353CC}">
              <c16:uniqueId val="{00000001-63C5-4734-9288-8F90831E46E7}"/>
            </c:ext>
          </c:extLst>
        </c:ser>
        <c:dLbls>
          <c:showLegendKey val="0"/>
          <c:showVal val="0"/>
          <c:showCatName val="0"/>
          <c:showSerName val="0"/>
          <c:showPercent val="0"/>
          <c:showBubbleSize val="0"/>
        </c:dLbls>
        <c:marker val="1"/>
        <c:smooth val="0"/>
        <c:axId val="937482928"/>
        <c:axId val="937487968"/>
      </c:lineChart>
      <c:catAx>
        <c:axId val="9374829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vert="eaVert" wrap="square" anchor="ctr" anchorCtr="1"/>
          <a:lstStyle/>
          <a:p>
            <a:pPr>
              <a:defRPr sz="7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crossAx val="937487968"/>
        <c:crosses val="autoZero"/>
        <c:auto val="1"/>
        <c:lblAlgn val="ctr"/>
        <c:lblOffset val="100"/>
        <c:noMultiLvlLbl val="0"/>
      </c:catAx>
      <c:valAx>
        <c:axId val="93748796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crossAx val="937482928"/>
        <c:crosses val="autoZero"/>
        <c:crossBetween val="between"/>
      </c:valAx>
      <c:spPr>
        <a:noFill/>
        <a:ln>
          <a:noFill/>
        </a:ln>
        <a:effectLst/>
      </c:spPr>
    </c:plotArea>
    <c:legend>
      <c:legendPos val="b"/>
      <c:layout>
        <c:manualLayout>
          <c:xMode val="edge"/>
          <c:yMode val="edge"/>
          <c:x val="0.6698454258245633"/>
          <c:y val="0.10429190725451046"/>
          <c:w val="0.27032829336525299"/>
          <c:h val="0.14999299261252311"/>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eiryo UI" panose="020B0604030504040204" pitchFamily="50" charset="-128"/>
          <a:ea typeface="Meiryo UI" panose="020B0604030504040204" pitchFamily="50" charset="-128"/>
        </a:defRPr>
      </a:pPr>
      <a:endParaRPr lang="ja-JP"/>
    </a:p>
  </c:txPr>
  <c:externalData r:id="rId4">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2582297803664185E-2"/>
          <c:y val="2.9903288441298047E-2"/>
          <c:w val="0.72880687430587343"/>
          <c:h val="0.5689796399297008"/>
        </c:manualLayout>
      </c:layout>
      <c:barChart>
        <c:barDir val="col"/>
        <c:grouping val="clustered"/>
        <c:varyColors val="0"/>
        <c:ser>
          <c:idx val="1"/>
          <c:order val="1"/>
          <c:tx>
            <c:v>面談希望なし</c:v>
          </c:tx>
          <c:spPr>
            <a:solidFill>
              <a:srgbClr val="51BD69">
                <a:lumMod val="40000"/>
                <a:lumOff val="60000"/>
              </a:srgbClr>
            </a:solidFill>
            <a:ln>
              <a:noFill/>
            </a:ln>
            <a:effectLst/>
          </c:spPr>
          <c:invertIfNegative val="0"/>
          <c:dPt>
            <c:idx val="0"/>
            <c:invertIfNegative val="0"/>
            <c:bubble3D val="0"/>
            <c:spPr>
              <a:solidFill>
                <a:srgbClr val="51BD69">
                  <a:lumMod val="40000"/>
                  <a:lumOff val="60000"/>
                </a:srgbClr>
              </a:solidFill>
              <a:ln>
                <a:solidFill>
                  <a:srgbClr val="FF0000"/>
                </a:solidFill>
              </a:ln>
              <a:effectLst/>
            </c:spPr>
            <c:extLst>
              <c:ext xmlns:c16="http://schemas.microsoft.com/office/drawing/2014/chart" uri="{C3380CC4-5D6E-409C-BE32-E72D297353CC}">
                <c16:uniqueId val="{00000002-7DE9-4963-AEA8-B0DBFDE78FB7}"/>
              </c:ext>
            </c:extLst>
          </c:dPt>
          <c:dLbls>
            <c:spPr>
              <a:no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lumMod val="75000"/>
                        <a:lumOff val="25000"/>
                      </a:schemeClr>
                    </a:solidFill>
                    <a:latin typeface="Meiryo UI" panose="020B0604030504040204" pitchFamily="50" charset="-128"/>
                    <a:ea typeface="Meiryo UI" panose="020B0604030504040204" pitchFamily="50" charset="-128"/>
                    <a:cs typeface="+mn-cs"/>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'2(Q19S1)'!$G$24:$R$24</c:f>
              <c:strCache>
                <c:ptCount val="12"/>
                <c:pt idx="0">
                  <c:v>面談でしか共有されない求人情報</c:v>
                </c:pt>
                <c:pt idx="1">
                  <c:v>面談でしか共有されない企業情報</c:v>
                </c:pt>
                <c:pt idx="2">
                  <c:v>興味のある企業の現場担当者と接点を持てる</c:v>
                </c:pt>
                <c:pt idx="3">
                  <c:v>自分の強み・特性がわかる</c:v>
                </c:pt>
                <c:pt idx="4">
                  <c:v>自分の市場価値がわかる</c:v>
                </c:pt>
                <c:pt idx="5">
                  <c:v>類似CSの転職先例を知ることができる</c:v>
                </c:pt>
                <c:pt idx="6">
                  <c:v>副業サービスの紹介</c:v>
                </c:pt>
                <c:pt idx="7">
                  <c:v>資格取得やスキルアップのためのサポート</c:v>
                </c:pt>
                <c:pt idx="8">
                  <c:v>複数のCAからの多角的・迅速なサポート</c:v>
                </c:pt>
                <c:pt idx="9">
                  <c:v>CAからの求人提案</c:v>
                </c:pt>
                <c:pt idx="10">
                  <c:v>その他</c:v>
                </c:pt>
                <c:pt idx="11">
                  <c:v>当てはまるサポートはない</c:v>
                </c:pt>
              </c:strCache>
            </c:strRef>
          </c:cat>
          <c:val>
            <c:numRef>
              <c:f>'2(Q19S1)'!$G$32:$R$32</c:f>
              <c:numCache>
                <c:formatCode>0%</c:formatCode>
                <c:ptCount val="12"/>
                <c:pt idx="0">
                  <c:v>0.53333700931457007</c:v>
                </c:pt>
                <c:pt idx="1">
                  <c:v>0.43441465101770876</c:v>
                </c:pt>
                <c:pt idx="2">
                  <c:v>0.26583385843917884</c:v>
                </c:pt>
                <c:pt idx="3">
                  <c:v>0.38263877904818944</c:v>
                </c:pt>
                <c:pt idx="4">
                  <c:v>0.39052798826478136</c:v>
                </c:pt>
                <c:pt idx="5">
                  <c:v>0.33259475702749319</c:v>
                </c:pt>
                <c:pt idx="6">
                  <c:v>9.8653481783083169E-2</c:v>
                </c:pt>
                <c:pt idx="7">
                  <c:v>0.13229459189072179</c:v>
                </c:pt>
                <c:pt idx="8">
                  <c:v>0.15160368180424103</c:v>
                </c:pt>
                <c:pt idx="9">
                  <c:v>0.33293527020597852</c:v>
                </c:pt>
                <c:pt idx="10">
                  <c:v>0</c:v>
                </c:pt>
                <c:pt idx="11">
                  <c:v>9.5445437845473879E-2</c:v>
                </c:pt>
              </c:numCache>
            </c:numRef>
          </c:val>
          <c:extLst>
            <c:ext xmlns:c16="http://schemas.microsoft.com/office/drawing/2014/chart" uri="{C3380CC4-5D6E-409C-BE32-E72D297353CC}">
              <c16:uniqueId val="{00000000-7DE9-4963-AEA8-B0DBFDE78FB7}"/>
            </c:ext>
          </c:extLst>
        </c:ser>
        <c:dLbls>
          <c:showLegendKey val="0"/>
          <c:showVal val="0"/>
          <c:showCatName val="0"/>
          <c:showSerName val="0"/>
          <c:showPercent val="0"/>
          <c:showBubbleSize val="0"/>
        </c:dLbls>
        <c:gapWidth val="219"/>
        <c:axId val="681946136"/>
        <c:axId val="681948296"/>
      </c:barChart>
      <c:lineChart>
        <c:grouping val="standard"/>
        <c:varyColors val="0"/>
        <c:ser>
          <c:idx val="0"/>
          <c:order val="0"/>
          <c:tx>
            <c:v>全体</c:v>
          </c:tx>
          <c:spPr>
            <a:ln w="28575" cap="rnd">
              <a:solidFill>
                <a:schemeClr val="accent1"/>
              </a:solidFill>
              <a:round/>
            </a:ln>
            <a:effectLst/>
          </c:spPr>
          <c:marker>
            <c:symbol val="none"/>
          </c:marker>
          <c:cat>
            <c:strRef>
              <c:f>'2(Q19S1)'!$G$24:$R$24</c:f>
              <c:strCache>
                <c:ptCount val="12"/>
                <c:pt idx="0">
                  <c:v>面談でしか共有されない求人情報</c:v>
                </c:pt>
                <c:pt idx="1">
                  <c:v>面談でしか共有されない企業情報</c:v>
                </c:pt>
                <c:pt idx="2">
                  <c:v>興味のある企業の現場担当者と接点を持てる</c:v>
                </c:pt>
                <c:pt idx="3">
                  <c:v>自分の強み・特性がわかる</c:v>
                </c:pt>
                <c:pt idx="4">
                  <c:v>自分の市場価値がわかる</c:v>
                </c:pt>
                <c:pt idx="5">
                  <c:v>類似CSの転職先例を知ることができる</c:v>
                </c:pt>
                <c:pt idx="6">
                  <c:v>副業サービスの紹介</c:v>
                </c:pt>
                <c:pt idx="7">
                  <c:v>資格取得やスキルアップのためのサポート</c:v>
                </c:pt>
                <c:pt idx="8">
                  <c:v>複数のCAからの多角的・迅速なサポート</c:v>
                </c:pt>
                <c:pt idx="9">
                  <c:v>CAからの求人提案</c:v>
                </c:pt>
                <c:pt idx="10">
                  <c:v>その他</c:v>
                </c:pt>
                <c:pt idx="11">
                  <c:v>当てはまるサポートはない</c:v>
                </c:pt>
              </c:strCache>
            </c:strRef>
          </c:cat>
          <c:val>
            <c:numRef>
              <c:f>'2(Q19S1)'!$G$25:$R$25</c:f>
              <c:numCache>
                <c:formatCode>0%</c:formatCode>
                <c:ptCount val="12"/>
                <c:pt idx="0">
                  <c:v>0.49219642468862501</c:v>
                </c:pt>
                <c:pt idx="1">
                  <c:v>0.43018419371353844</c:v>
                </c:pt>
                <c:pt idx="2">
                  <c:v>0.29441031033470255</c:v>
                </c:pt>
                <c:pt idx="3">
                  <c:v>0.42648852822489741</c:v>
                </c:pt>
                <c:pt idx="4">
                  <c:v>0.40973670900714421</c:v>
                </c:pt>
                <c:pt idx="5">
                  <c:v>0.3761420841406154</c:v>
                </c:pt>
                <c:pt idx="6">
                  <c:v>0.10804171294165961</c:v>
                </c:pt>
                <c:pt idx="7">
                  <c:v>0.18504491012156027</c:v>
                </c:pt>
                <c:pt idx="8">
                  <c:v>0.18670064305244358</c:v>
                </c:pt>
                <c:pt idx="9">
                  <c:v>0.37845159586052562</c:v>
                </c:pt>
                <c:pt idx="10">
                  <c:v>6.9845583822973076E-3</c:v>
                </c:pt>
                <c:pt idx="11">
                  <c:v>6.9980691593750963E-2</c:v>
                </c:pt>
              </c:numCache>
            </c:numRef>
          </c:val>
          <c:smooth val="0"/>
          <c:extLst>
            <c:ext xmlns:c16="http://schemas.microsoft.com/office/drawing/2014/chart" uri="{C3380CC4-5D6E-409C-BE32-E72D297353CC}">
              <c16:uniqueId val="{00000001-7DE9-4963-AEA8-B0DBFDE78FB7}"/>
            </c:ext>
          </c:extLst>
        </c:ser>
        <c:dLbls>
          <c:showLegendKey val="0"/>
          <c:showVal val="0"/>
          <c:showCatName val="0"/>
          <c:showSerName val="0"/>
          <c:showPercent val="0"/>
          <c:showBubbleSize val="0"/>
        </c:dLbls>
        <c:marker val="1"/>
        <c:smooth val="0"/>
        <c:axId val="681946136"/>
        <c:axId val="681948296"/>
      </c:lineChart>
      <c:catAx>
        <c:axId val="6819461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vert="eaVert" wrap="square" anchor="ctr" anchorCtr="1"/>
          <a:lstStyle/>
          <a:p>
            <a:pPr>
              <a:defRPr sz="7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crossAx val="681948296"/>
        <c:crosses val="autoZero"/>
        <c:auto val="1"/>
        <c:lblAlgn val="ctr"/>
        <c:lblOffset val="100"/>
        <c:noMultiLvlLbl val="0"/>
      </c:catAx>
      <c:valAx>
        <c:axId val="68194829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crossAx val="681946136"/>
        <c:crosses val="autoZero"/>
        <c:crossBetween val="between"/>
      </c:valAx>
      <c:spPr>
        <a:noFill/>
        <a:ln>
          <a:noFill/>
        </a:ln>
        <a:effectLst/>
      </c:spPr>
    </c:plotArea>
    <c:legend>
      <c:legendPos val="b"/>
      <c:layout>
        <c:manualLayout>
          <c:xMode val="edge"/>
          <c:yMode val="edge"/>
          <c:x val="0.26746535251507003"/>
          <c:y val="6.5126104102961574E-2"/>
          <c:w val="0.35996776281890369"/>
          <c:h val="4.7072099889398505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eiryo UI" panose="020B0604030504040204" pitchFamily="50" charset="-128"/>
          <a:ea typeface="Meiryo UI" panose="020B0604030504040204" pitchFamily="50" charset="-128"/>
        </a:defRPr>
      </a:pPr>
      <a:endParaRPr lang="ja-JP"/>
    </a:p>
  </c:txPr>
  <c:externalData r:id="rId4">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1291205286773032E-2"/>
          <c:y val="3.1170734406600252E-2"/>
          <c:w val="0.79987077945687612"/>
          <c:h val="0.48328165389921962"/>
        </c:manualLayout>
      </c:layout>
      <c:barChart>
        <c:barDir val="col"/>
        <c:grouping val="clustered"/>
        <c:varyColors val="0"/>
        <c:ser>
          <c:idx val="1"/>
          <c:order val="1"/>
          <c:tx>
            <c:v>面談希望なし</c:v>
          </c:tx>
          <c:spPr>
            <a:solidFill>
              <a:srgbClr val="51BD69">
                <a:lumMod val="40000"/>
                <a:lumOff val="60000"/>
              </a:srgbClr>
            </a:solidFill>
            <a:ln>
              <a:noFill/>
            </a:ln>
            <a:effectLst/>
          </c:spPr>
          <c:invertIfNegative val="0"/>
          <c:dPt>
            <c:idx val="0"/>
            <c:invertIfNegative val="0"/>
            <c:bubble3D val="0"/>
            <c:spPr>
              <a:solidFill>
                <a:srgbClr val="51BD69">
                  <a:lumMod val="40000"/>
                  <a:lumOff val="60000"/>
                </a:srgbClr>
              </a:solidFill>
              <a:ln>
                <a:solidFill>
                  <a:srgbClr val="FF0000"/>
                </a:solidFill>
              </a:ln>
              <a:effectLst/>
            </c:spPr>
            <c:extLst>
              <c:ext xmlns:c16="http://schemas.microsoft.com/office/drawing/2014/chart" uri="{C3380CC4-5D6E-409C-BE32-E72D297353CC}">
                <c16:uniqueId val="{00000003-ED6B-4E7E-BFD1-85FF32C72434}"/>
              </c:ext>
            </c:extLst>
          </c:dPt>
          <c:dPt>
            <c:idx val="5"/>
            <c:invertIfNegative val="0"/>
            <c:bubble3D val="0"/>
            <c:spPr>
              <a:solidFill>
                <a:srgbClr val="51BD69">
                  <a:lumMod val="40000"/>
                  <a:lumOff val="60000"/>
                </a:srgbClr>
              </a:solidFill>
              <a:ln>
                <a:noFill/>
              </a:ln>
              <a:effectLst/>
            </c:spPr>
            <c:extLst>
              <c:ext xmlns:c16="http://schemas.microsoft.com/office/drawing/2014/chart" uri="{C3380CC4-5D6E-409C-BE32-E72D297353CC}">
                <c16:uniqueId val="{00000002-ED6B-4E7E-BFD1-85FF32C72434}"/>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eiryo UI" panose="020B0604030504040204" pitchFamily="50" charset="-128"/>
                    <a:ea typeface="Meiryo UI" panose="020B0604030504040204" pitchFamily="50" charset="-128"/>
                    <a:cs typeface="+mn-cs"/>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'3(Q20S1)'!$G$24:$P$24</c:f>
              <c:strCache>
                <c:ptCount val="10"/>
                <c:pt idx="0">
                  <c:v>【CA】非公開求人が定期的に案内される</c:v>
                </c:pt>
                <c:pt idx="1">
                  <c:v>【CA】自分の大まかな合格可能性を相談できる</c:v>
                </c:pt>
                <c:pt idx="2">
                  <c:v>【CA】過去同じ企業に内定した求職者の傾向案内</c:v>
                </c:pt>
                <c:pt idx="3">
                  <c:v>【CA】応募書類の添削・アドバイス</c:v>
                </c:pt>
                <c:pt idx="4">
                  <c:v>【CA】面接対策・面接アドバイス</c:v>
                </c:pt>
                <c:pt idx="5">
                  <c:v>【システム】非公開求人が定期的に共有される</c:v>
                </c:pt>
                <c:pt idx="6">
                  <c:v>【システム】自分の大まかな合格可能性が共有される</c:v>
                </c:pt>
                <c:pt idx="7">
                  <c:v>【システム】過去同じ企業に内定した求職者の傾向共有</c:v>
                </c:pt>
                <c:pt idx="8">
                  <c:v>その他</c:v>
                </c:pt>
                <c:pt idx="9">
                  <c:v>当てはまるサポートはない</c:v>
                </c:pt>
              </c:strCache>
            </c:strRef>
          </c:cat>
          <c:val>
            <c:numRef>
              <c:f>'3(Q20S1)'!$G$32:$P$32</c:f>
              <c:numCache>
                <c:formatCode>0%</c:formatCode>
                <c:ptCount val="10"/>
                <c:pt idx="0">
                  <c:v>0.39226039717039579</c:v>
                </c:pt>
                <c:pt idx="1">
                  <c:v>0.31287708508555467</c:v>
                </c:pt>
                <c:pt idx="2">
                  <c:v>0.24890272747836456</c:v>
                </c:pt>
                <c:pt idx="3">
                  <c:v>0.25674933314350823</c:v>
                </c:pt>
                <c:pt idx="4">
                  <c:v>0.26186439893296826</c:v>
                </c:pt>
                <c:pt idx="5">
                  <c:v>0.3505774836936274</c:v>
                </c:pt>
                <c:pt idx="6">
                  <c:v>0.30507011386152449</c:v>
                </c:pt>
                <c:pt idx="7">
                  <c:v>0.33542473077415297</c:v>
                </c:pt>
                <c:pt idx="8">
                  <c:v>0</c:v>
                </c:pt>
                <c:pt idx="9">
                  <c:v>6.3217278907058416E-2</c:v>
                </c:pt>
              </c:numCache>
            </c:numRef>
          </c:val>
          <c:extLst>
            <c:ext xmlns:c16="http://schemas.microsoft.com/office/drawing/2014/chart" uri="{C3380CC4-5D6E-409C-BE32-E72D297353CC}">
              <c16:uniqueId val="{00000000-ED6B-4E7E-BFD1-85FF32C72434}"/>
            </c:ext>
          </c:extLst>
        </c:ser>
        <c:dLbls>
          <c:showLegendKey val="0"/>
          <c:showVal val="0"/>
          <c:showCatName val="0"/>
          <c:showSerName val="0"/>
          <c:showPercent val="0"/>
          <c:showBubbleSize val="0"/>
        </c:dLbls>
        <c:gapWidth val="219"/>
        <c:axId val="940392784"/>
        <c:axId val="940387744"/>
      </c:barChart>
      <c:lineChart>
        <c:grouping val="standard"/>
        <c:varyColors val="0"/>
        <c:ser>
          <c:idx val="0"/>
          <c:order val="0"/>
          <c:tx>
            <c:v>全体</c:v>
          </c:tx>
          <c:spPr>
            <a:ln w="28575" cap="rnd">
              <a:solidFill>
                <a:schemeClr val="accent1"/>
              </a:solidFill>
              <a:round/>
            </a:ln>
            <a:effectLst/>
          </c:spPr>
          <c:marker>
            <c:symbol val="none"/>
          </c:marker>
          <c:cat>
            <c:strRef>
              <c:f>'3(Q20S1)'!$G$24:$P$24</c:f>
              <c:strCache>
                <c:ptCount val="10"/>
                <c:pt idx="0">
                  <c:v>【CA】非公開求人が定期的に案内される</c:v>
                </c:pt>
                <c:pt idx="1">
                  <c:v>【CA】自分の大まかな合格可能性を相談できる</c:v>
                </c:pt>
                <c:pt idx="2">
                  <c:v>【CA】過去同じ企業に内定した求職者の傾向案内</c:v>
                </c:pt>
                <c:pt idx="3">
                  <c:v>【CA】応募書類の添削・アドバイス</c:v>
                </c:pt>
                <c:pt idx="4">
                  <c:v>【CA】面接対策・面接アドバイス</c:v>
                </c:pt>
                <c:pt idx="5">
                  <c:v>【システム】非公開求人が定期的に共有される</c:v>
                </c:pt>
                <c:pt idx="6">
                  <c:v>【システム】自分の大まかな合格可能性が共有される</c:v>
                </c:pt>
                <c:pt idx="7">
                  <c:v>【システム】過去同じ企業に内定した求職者の傾向共有</c:v>
                </c:pt>
                <c:pt idx="8">
                  <c:v>その他</c:v>
                </c:pt>
                <c:pt idx="9">
                  <c:v>当てはまるサポートはない</c:v>
                </c:pt>
              </c:strCache>
            </c:strRef>
          </c:cat>
          <c:val>
            <c:numRef>
              <c:f>'3(Q20S1)'!$G$25:$P$25</c:f>
              <c:numCache>
                <c:formatCode>0%</c:formatCode>
                <c:ptCount val="10"/>
                <c:pt idx="0">
                  <c:v>0.38807857398349677</c:v>
                </c:pt>
                <c:pt idx="1">
                  <c:v>0.37691449793722437</c:v>
                </c:pt>
                <c:pt idx="2">
                  <c:v>0.29022386478120193</c:v>
                </c:pt>
                <c:pt idx="3">
                  <c:v>0.34549307273635577</c:v>
                </c:pt>
                <c:pt idx="4">
                  <c:v>0.32393584387817309</c:v>
                </c:pt>
                <c:pt idx="5">
                  <c:v>0.4004234976244872</c:v>
                </c:pt>
                <c:pt idx="6">
                  <c:v>0.34857215263661534</c:v>
                </c:pt>
                <c:pt idx="7">
                  <c:v>0.36484689654644231</c:v>
                </c:pt>
                <c:pt idx="8">
                  <c:v>1.2008218394125129E-3</c:v>
                </c:pt>
                <c:pt idx="9">
                  <c:v>5.7859432348358018E-2</c:v>
                </c:pt>
              </c:numCache>
            </c:numRef>
          </c:val>
          <c:smooth val="0"/>
          <c:extLst>
            <c:ext xmlns:c16="http://schemas.microsoft.com/office/drawing/2014/chart" uri="{C3380CC4-5D6E-409C-BE32-E72D297353CC}">
              <c16:uniqueId val="{00000001-ED6B-4E7E-BFD1-85FF32C72434}"/>
            </c:ext>
          </c:extLst>
        </c:ser>
        <c:dLbls>
          <c:showLegendKey val="0"/>
          <c:showVal val="0"/>
          <c:showCatName val="0"/>
          <c:showSerName val="0"/>
          <c:showPercent val="0"/>
          <c:showBubbleSize val="0"/>
        </c:dLbls>
        <c:marker val="1"/>
        <c:smooth val="0"/>
        <c:axId val="940392784"/>
        <c:axId val="940387744"/>
      </c:lineChart>
      <c:catAx>
        <c:axId val="940392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vert="eaVert" wrap="square" anchor="ctr" anchorCtr="1"/>
          <a:lstStyle/>
          <a:p>
            <a:pPr>
              <a:defRPr sz="7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crossAx val="940387744"/>
        <c:crosses val="autoZero"/>
        <c:auto val="1"/>
        <c:lblAlgn val="ctr"/>
        <c:lblOffset val="100"/>
        <c:noMultiLvlLbl val="0"/>
      </c:catAx>
      <c:valAx>
        <c:axId val="940387744"/>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crossAx val="940392784"/>
        <c:crosses val="autoZero"/>
        <c:crossBetween val="between"/>
      </c:valAx>
      <c:spPr>
        <a:noFill/>
        <a:ln>
          <a:noFill/>
        </a:ln>
        <a:effectLst/>
      </c:spPr>
    </c:plotArea>
    <c:legend>
      <c:legendPos val="b"/>
      <c:layout>
        <c:manualLayout>
          <c:xMode val="edge"/>
          <c:yMode val="edge"/>
          <c:x val="0.33159030639323966"/>
          <c:y val="3.7539370626246862E-2"/>
          <c:w val="0.27718620389142279"/>
          <c:h val="4.9067243105845731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eiryo UI" panose="020B0604030504040204" pitchFamily="50" charset="-128"/>
              <a:ea typeface="Meiryo UI" panose="020B0604030504040204" pitchFamily="50" charset="-128"/>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eiryo UI" panose="020B0604030504040204" pitchFamily="50" charset="-128"/>
          <a:ea typeface="Meiryo UI" panose="020B0604030504040204" pitchFamily="50" charset="-128"/>
        </a:defRPr>
      </a:pPr>
      <a:endParaRPr lang="ja-JP"/>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943E09-7070-8F48-A473-6593B1A49C1A}" type="datetimeFigureOut">
              <a:rPr kumimoji="1" lang="ja-JP" altLang="en-US" smtClean="0"/>
              <a:t>2024/4/16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A4E167-2632-1247-BE4E-C349B23F88B7}" type="slidenum">
              <a:rPr kumimoji="1" lang="ja-JP" altLang="en-US" smtClean="0"/>
              <a:t>‹#›</a:t>
            </a:fld>
            <a:endParaRPr kumimoji="1" lang="ja-JP" altLang="en-US"/>
          </a:p>
        </p:txBody>
      </p:sp>
    </p:spTree>
    <p:extLst>
      <p:ext uri="{BB962C8B-B14F-4D97-AF65-F5344CB8AC3E}">
        <p14:creationId xmlns:p14="http://schemas.microsoft.com/office/powerpoint/2010/main" val="26563520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05A4E167-2632-1247-BE4E-C349B23F88B7}" type="slidenum">
              <a:rPr kumimoji="1" lang="ja-JP" altLang="en-US" smtClean="0"/>
              <a:t>4</a:t>
            </a:fld>
            <a:endParaRPr kumimoji="1" lang="ja-JP" altLang="en-US"/>
          </a:p>
        </p:txBody>
      </p:sp>
    </p:spTree>
    <p:extLst>
      <p:ext uri="{BB962C8B-B14F-4D97-AF65-F5344CB8AC3E}">
        <p14:creationId xmlns:p14="http://schemas.microsoft.com/office/powerpoint/2010/main" val="10780429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起案書FMT_部長会">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5705ED1E-569A-56F0-3775-0C2BEA4BE471}"/>
              </a:ext>
            </a:extLst>
          </p:cNvPr>
          <p:cNvSpPr/>
          <p:nvPr userDrawn="1"/>
        </p:nvSpPr>
        <p:spPr>
          <a:xfrm>
            <a:off x="62306" y="704127"/>
            <a:ext cx="222828" cy="414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件名</a:t>
            </a:r>
          </a:p>
        </p:txBody>
      </p:sp>
      <p:sp>
        <p:nvSpPr>
          <p:cNvPr id="6" name="正方形/長方形 5">
            <a:extLst>
              <a:ext uri="{FF2B5EF4-FFF2-40B4-BE49-F238E27FC236}">
                <a16:creationId xmlns:a16="http://schemas.microsoft.com/office/drawing/2014/main" id="{63B52FEE-C11B-7C30-F27F-A050014EC50B}"/>
              </a:ext>
            </a:extLst>
          </p:cNvPr>
          <p:cNvSpPr/>
          <p:nvPr userDrawn="1"/>
        </p:nvSpPr>
        <p:spPr>
          <a:xfrm>
            <a:off x="62305" y="1118865"/>
            <a:ext cx="222828" cy="436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日程</a:t>
            </a:r>
          </a:p>
        </p:txBody>
      </p:sp>
      <p:sp>
        <p:nvSpPr>
          <p:cNvPr id="7" name="正方形/長方形 6">
            <a:extLst>
              <a:ext uri="{FF2B5EF4-FFF2-40B4-BE49-F238E27FC236}">
                <a16:creationId xmlns:a16="http://schemas.microsoft.com/office/drawing/2014/main" id="{D808BE90-363B-4E37-1FEB-16BFB5EE67E7}"/>
              </a:ext>
            </a:extLst>
          </p:cNvPr>
          <p:cNvSpPr/>
          <p:nvPr userDrawn="1"/>
        </p:nvSpPr>
        <p:spPr>
          <a:xfrm>
            <a:off x="62305" y="1555628"/>
            <a:ext cx="223200" cy="51034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起案内容</a:t>
            </a:r>
          </a:p>
        </p:txBody>
      </p:sp>
      <p:sp>
        <p:nvSpPr>
          <p:cNvPr id="8" name="正方形/長方形 7">
            <a:extLst>
              <a:ext uri="{FF2B5EF4-FFF2-40B4-BE49-F238E27FC236}">
                <a16:creationId xmlns:a16="http://schemas.microsoft.com/office/drawing/2014/main" id="{E9983FAA-77AE-CFFC-BEB8-35967B71216F}"/>
              </a:ext>
            </a:extLst>
          </p:cNvPr>
          <p:cNvSpPr/>
          <p:nvPr userDrawn="1"/>
        </p:nvSpPr>
        <p:spPr>
          <a:xfrm>
            <a:off x="7624054" y="702155"/>
            <a:ext cx="234000" cy="85347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起案者</a:t>
            </a:r>
          </a:p>
        </p:txBody>
      </p:sp>
      <p:sp>
        <p:nvSpPr>
          <p:cNvPr id="9" name="正方形/長方形 8">
            <a:extLst>
              <a:ext uri="{FF2B5EF4-FFF2-40B4-BE49-F238E27FC236}">
                <a16:creationId xmlns:a16="http://schemas.microsoft.com/office/drawing/2014/main" id="{8B00F2D7-1D6A-13D3-C248-4E9BB39D800F}"/>
              </a:ext>
            </a:extLst>
          </p:cNvPr>
          <p:cNvSpPr/>
          <p:nvPr userDrawn="1"/>
        </p:nvSpPr>
        <p:spPr>
          <a:xfrm>
            <a:off x="7624052" y="3744577"/>
            <a:ext cx="234001" cy="14743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論点（議論ポイント）</a:t>
            </a:r>
          </a:p>
        </p:txBody>
      </p:sp>
      <p:sp>
        <p:nvSpPr>
          <p:cNvPr id="10" name="正方形/長方形 9">
            <a:extLst>
              <a:ext uri="{FF2B5EF4-FFF2-40B4-BE49-F238E27FC236}">
                <a16:creationId xmlns:a16="http://schemas.microsoft.com/office/drawing/2014/main" id="{A9BFF385-4595-2911-AFAB-0DA7980B9D60}"/>
              </a:ext>
            </a:extLst>
          </p:cNvPr>
          <p:cNvSpPr/>
          <p:nvPr userDrawn="1"/>
        </p:nvSpPr>
        <p:spPr>
          <a:xfrm>
            <a:off x="7624053" y="5219113"/>
            <a:ext cx="234000" cy="144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今後のスケジュール</a:t>
            </a:r>
          </a:p>
        </p:txBody>
      </p:sp>
      <p:sp>
        <p:nvSpPr>
          <p:cNvPr id="11" name="正方形/長方形 10">
            <a:extLst>
              <a:ext uri="{FF2B5EF4-FFF2-40B4-BE49-F238E27FC236}">
                <a16:creationId xmlns:a16="http://schemas.microsoft.com/office/drawing/2014/main" id="{ECF944C6-5E48-E597-1253-6FCC3FF03A3F}"/>
              </a:ext>
            </a:extLst>
          </p:cNvPr>
          <p:cNvSpPr/>
          <p:nvPr userDrawn="1"/>
        </p:nvSpPr>
        <p:spPr>
          <a:xfrm>
            <a:off x="283489" y="704127"/>
            <a:ext cx="7340563" cy="414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DCB347E8-415E-AC16-8C7D-F5F5797595E2}"/>
              </a:ext>
            </a:extLst>
          </p:cNvPr>
          <p:cNvSpPr/>
          <p:nvPr userDrawn="1"/>
        </p:nvSpPr>
        <p:spPr>
          <a:xfrm>
            <a:off x="7858053" y="704127"/>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文責</a:t>
            </a:r>
            <a:r>
              <a:rPr kumimoji="1" lang="en-US" altLang="ja-JP" sz="1100">
                <a:solidFill>
                  <a:schemeClr val="tx1"/>
                </a:solidFill>
                <a:latin typeface="メイリオ" panose="020B0604030504040204" pitchFamily="50" charset="-128"/>
                <a:ea typeface="メイリオ" panose="020B0604030504040204" pitchFamily="50" charset="-128"/>
              </a:rPr>
              <a:t>※</a:t>
            </a:r>
            <a:r>
              <a:rPr kumimoji="1" lang="ja-JP" altLang="en-US" sz="1100">
                <a:solidFill>
                  <a:schemeClr val="tx1"/>
                </a:solidFill>
                <a:latin typeface="メイリオ" panose="020B0604030504040204" pitchFamily="50" charset="-128"/>
                <a:ea typeface="メイリオ" panose="020B0604030504040204" pitchFamily="50" charset="-128"/>
              </a:rPr>
              <a:t>部長以上</a:t>
            </a:r>
          </a:p>
        </p:txBody>
      </p:sp>
      <p:sp>
        <p:nvSpPr>
          <p:cNvPr id="13" name="正方形/長方形 12">
            <a:extLst>
              <a:ext uri="{FF2B5EF4-FFF2-40B4-BE49-F238E27FC236}">
                <a16:creationId xmlns:a16="http://schemas.microsoft.com/office/drawing/2014/main" id="{C6EF1E9E-FF3E-905D-C0E5-DD7C3EA5D32F}"/>
              </a:ext>
            </a:extLst>
          </p:cNvPr>
          <p:cNvSpPr/>
          <p:nvPr userDrawn="1"/>
        </p:nvSpPr>
        <p:spPr>
          <a:xfrm>
            <a:off x="7858053" y="917161"/>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発表者</a:t>
            </a:r>
          </a:p>
        </p:txBody>
      </p:sp>
      <p:sp>
        <p:nvSpPr>
          <p:cNvPr id="14" name="正方形/長方形 13">
            <a:extLst>
              <a:ext uri="{FF2B5EF4-FFF2-40B4-BE49-F238E27FC236}">
                <a16:creationId xmlns:a16="http://schemas.microsoft.com/office/drawing/2014/main" id="{4DB35B2E-4A65-5076-BD4C-C3BBE8DC516E}"/>
              </a:ext>
            </a:extLst>
          </p:cNvPr>
          <p:cNvSpPr/>
          <p:nvPr userDrawn="1"/>
        </p:nvSpPr>
        <p:spPr>
          <a:xfrm>
            <a:off x="7858053" y="1130195"/>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陪席者</a:t>
            </a:r>
          </a:p>
        </p:txBody>
      </p:sp>
      <p:sp>
        <p:nvSpPr>
          <p:cNvPr id="15" name="正方形/長方形 14">
            <a:extLst>
              <a:ext uri="{FF2B5EF4-FFF2-40B4-BE49-F238E27FC236}">
                <a16:creationId xmlns:a16="http://schemas.microsoft.com/office/drawing/2014/main" id="{4F216FF4-6227-2140-589C-7AA8C53BCEE2}"/>
              </a:ext>
            </a:extLst>
          </p:cNvPr>
          <p:cNvSpPr/>
          <p:nvPr userDrawn="1"/>
        </p:nvSpPr>
        <p:spPr>
          <a:xfrm>
            <a:off x="7858053" y="1343229"/>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起案担当窓口</a:t>
            </a:r>
          </a:p>
        </p:txBody>
      </p:sp>
      <p:sp>
        <p:nvSpPr>
          <p:cNvPr id="16" name="正方形/長方形 15">
            <a:extLst>
              <a:ext uri="{FF2B5EF4-FFF2-40B4-BE49-F238E27FC236}">
                <a16:creationId xmlns:a16="http://schemas.microsoft.com/office/drawing/2014/main" id="{337D660E-D5AB-46FE-4D45-C90A348A3FEE}"/>
              </a:ext>
            </a:extLst>
          </p:cNvPr>
          <p:cNvSpPr/>
          <p:nvPr userDrawn="1"/>
        </p:nvSpPr>
        <p:spPr>
          <a:xfrm>
            <a:off x="2006285" y="1118125"/>
            <a:ext cx="463771" cy="436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開示</a:t>
            </a:r>
            <a:endParaRPr kumimoji="1" lang="en-US" altLang="ja-JP" sz="1100">
              <a:solidFill>
                <a:schemeClr val="tx1"/>
              </a:solidFill>
              <a:latin typeface="メイリオ" panose="020B0604030504040204" pitchFamily="50" charset="-128"/>
              <a:ea typeface="メイリオ" panose="020B0604030504040204" pitchFamily="50" charset="-128"/>
            </a:endParaRPr>
          </a:p>
          <a:p>
            <a:pPr algn="ctr"/>
            <a:r>
              <a:rPr kumimoji="1" lang="ja-JP" altLang="en-US" sz="1100">
                <a:solidFill>
                  <a:schemeClr val="tx1"/>
                </a:solidFill>
                <a:latin typeface="メイリオ" panose="020B0604030504040204" pitchFamily="50" charset="-128"/>
                <a:ea typeface="メイリオ" panose="020B0604030504040204" pitchFamily="50" charset="-128"/>
              </a:rPr>
              <a:t>範囲</a:t>
            </a:r>
          </a:p>
        </p:txBody>
      </p:sp>
      <p:sp>
        <p:nvSpPr>
          <p:cNvPr id="17" name="正方形/長方形 16">
            <a:extLst>
              <a:ext uri="{FF2B5EF4-FFF2-40B4-BE49-F238E27FC236}">
                <a16:creationId xmlns:a16="http://schemas.microsoft.com/office/drawing/2014/main" id="{B64F9CBC-9433-7C9C-E374-51B6BA855469}"/>
              </a:ext>
            </a:extLst>
          </p:cNvPr>
          <p:cNvSpPr/>
          <p:nvPr userDrawn="1"/>
        </p:nvSpPr>
        <p:spPr>
          <a:xfrm>
            <a:off x="2470056" y="1118865"/>
            <a:ext cx="5153996" cy="436763"/>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0A493309-159E-F30D-A9D3-6075B245F18B}"/>
              </a:ext>
            </a:extLst>
          </p:cNvPr>
          <p:cNvSpPr/>
          <p:nvPr userDrawn="1"/>
        </p:nvSpPr>
        <p:spPr>
          <a:xfrm>
            <a:off x="285505" y="1555629"/>
            <a:ext cx="7338547" cy="51034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67E2EEA4-88E2-88EB-1267-03AEC263458E}"/>
              </a:ext>
            </a:extLst>
          </p:cNvPr>
          <p:cNvSpPr/>
          <p:nvPr userDrawn="1"/>
        </p:nvSpPr>
        <p:spPr>
          <a:xfrm>
            <a:off x="7858053" y="3744577"/>
            <a:ext cx="4271640" cy="14743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20" name="正方形/長方形 19">
            <a:extLst>
              <a:ext uri="{FF2B5EF4-FFF2-40B4-BE49-F238E27FC236}">
                <a16:creationId xmlns:a16="http://schemas.microsoft.com/office/drawing/2014/main" id="{A33CE0E9-E512-79DE-C156-FA467DBD3E52}"/>
              </a:ext>
            </a:extLst>
          </p:cNvPr>
          <p:cNvSpPr/>
          <p:nvPr userDrawn="1"/>
        </p:nvSpPr>
        <p:spPr>
          <a:xfrm>
            <a:off x="7858053" y="5219125"/>
            <a:ext cx="4271639" cy="144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985C0C59-5DF9-7B50-1407-59FE5EA29238}"/>
              </a:ext>
            </a:extLst>
          </p:cNvPr>
          <p:cNvSpPr/>
          <p:nvPr userDrawn="1"/>
        </p:nvSpPr>
        <p:spPr>
          <a:xfrm>
            <a:off x="9234996" y="702156"/>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E3A81267-4D66-6420-AE1C-95866EC39D9E}"/>
              </a:ext>
            </a:extLst>
          </p:cNvPr>
          <p:cNvSpPr/>
          <p:nvPr userDrawn="1"/>
        </p:nvSpPr>
        <p:spPr>
          <a:xfrm>
            <a:off x="9234996" y="915847"/>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45F49DF3-60C9-F69A-D318-3C4F7BB5DC1A}"/>
              </a:ext>
            </a:extLst>
          </p:cNvPr>
          <p:cNvSpPr/>
          <p:nvPr userDrawn="1"/>
        </p:nvSpPr>
        <p:spPr>
          <a:xfrm>
            <a:off x="9234996" y="1129538"/>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E897E7CA-C774-D2DD-3A9C-5EB9838557E0}"/>
              </a:ext>
            </a:extLst>
          </p:cNvPr>
          <p:cNvSpPr/>
          <p:nvPr userDrawn="1"/>
        </p:nvSpPr>
        <p:spPr>
          <a:xfrm>
            <a:off x="9234996" y="1343229"/>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AD9DE1C1-8CD9-3622-8A8F-335B7667F507}"/>
              </a:ext>
            </a:extLst>
          </p:cNvPr>
          <p:cNvSpPr/>
          <p:nvPr userDrawn="1"/>
        </p:nvSpPr>
        <p:spPr>
          <a:xfrm>
            <a:off x="283490" y="1118865"/>
            <a:ext cx="1722795" cy="436763"/>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1B33EAD7-7786-0EBC-7805-1F6221AC6184}"/>
              </a:ext>
            </a:extLst>
          </p:cNvPr>
          <p:cNvSpPr/>
          <p:nvPr userDrawn="1"/>
        </p:nvSpPr>
        <p:spPr>
          <a:xfrm>
            <a:off x="2480222" y="1224536"/>
            <a:ext cx="792000"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部長以上</a:t>
            </a:r>
          </a:p>
        </p:txBody>
      </p:sp>
      <p:sp>
        <p:nvSpPr>
          <p:cNvPr id="28" name="正方形/長方形 27">
            <a:extLst>
              <a:ext uri="{FF2B5EF4-FFF2-40B4-BE49-F238E27FC236}">
                <a16:creationId xmlns:a16="http://schemas.microsoft.com/office/drawing/2014/main" id="{451D4C64-C166-DE1B-55D2-E8CCFE9BBDF4}"/>
              </a:ext>
            </a:extLst>
          </p:cNvPr>
          <p:cNvSpPr/>
          <p:nvPr userDrawn="1"/>
        </p:nvSpPr>
        <p:spPr>
          <a:xfrm>
            <a:off x="3205277" y="1224536"/>
            <a:ext cx="792000"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a:solidFill>
                  <a:schemeClr val="tx1"/>
                </a:solidFill>
                <a:latin typeface="メイリオ" panose="020B0604030504040204" pitchFamily="50" charset="-128"/>
                <a:ea typeface="メイリオ" panose="020B0604030504040204" pitchFamily="50" charset="-128"/>
              </a:rPr>
              <a:t>GM</a:t>
            </a:r>
            <a:r>
              <a:rPr kumimoji="1" lang="ja-JP" altLang="en-US" sz="1100">
                <a:solidFill>
                  <a:schemeClr val="tx1"/>
                </a:solidFill>
                <a:latin typeface="メイリオ" panose="020B0604030504040204" pitchFamily="50" charset="-128"/>
                <a:ea typeface="メイリオ" panose="020B0604030504040204" pitchFamily="50" charset="-128"/>
              </a:rPr>
              <a:t>以上</a:t>
            </a:r>
          </a:p>
        </p:txBody>
      </p:sp>
      <p:sp>
        <p:nvSpPr>
          <p:cNvPr id="29" name="正方形/長方形 28">
            <a:extLst>
              <a:ext uri="{FF2B5EF4-FFF2-40B4-BE49-F238E27FC236}">
                <a16:creationId xmlns:a16="http://schemas.microsoft.com/office/drawing/2014/main" id="{28EAFF33-F691-B459-D0B9-D3E66638BEDE}"/>
              </a:ext>
            </a:extLst>
          </p:cNvPr>
          <p:cNvSpPr/>
          <p:nvPr userDrawn="1"/>
        </p:nvSpPr>
        <p:spPr>
          <a:xfrm>
            <a:off x="3930331" y="1224536"/>
            <a:ext cx="932443"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メンバー迄</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C83666F6-7F62-46F4-7685-7F053DC6B1CD}"/>
              </a:ext>
            </a:extLst>
          </p:cNvPr>
          <p:cNvSpPr/>
          <p:nvPr userDrawn="1"/>
        </p:nvSpPr>
        <p:spPr>
          <a:xfrm>
            <a:off x="1714418" y="399311"/>
            <a:ext cx="686213" cy="243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種別</a:t>
            </a:r>
          </a:p>
        </p:txBody>
      </p:sp>
      <p:sp>
        <p:nvSpPr>
          <p:cNvPr id="32" name="正方形/長方形 31">
            <a:extLst>
              <a:ext uri="{FF2B5EF4-FFF2-40B4-BE49-F238E27FC236}">
                <a16:creationId xmlns:a16="http://schemas.microsoft.com/office/drawing/2014/main" id="{AC404D1A-DBA8-A542-2968-0D94C877BA4C}"/>
              </a:ext>
            </a:extLst>
          </p:cNvPr>
          <p:cNvSpPr/>
          <p:nvPr userDrawn="1"/>
        </p:nvSpPr>
        <p:spPr>
          <a:xfrm>
            <a:off x="2424896"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決議</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B78292BB-C77C-EEBB-0FFC-1AEB354589BE}"/>
              </a:ext>
            </a:extLst>
          </p:cNvPr>
          <p:cNvSpPr/>
          <p:nvPr userDrawn="1"/>
        </p:nvSpPr>
        <p:spPr>
          <a:xfrm>
            <a:off x="3956621" y="430993"/>
            <a:ext cx="1044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資料のみ決議</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4" name="正方形/長方形 33">
            <a:extLst>
              <a:ext uri="{FF2B5EF4-FFF2-40B4-BE49-F238E27FC236}">
                <a16:creationId xmlns:a16="http://schemas.microsoft.com/office/drawing/2014/main" id="{E94931A3-6763-F50F-317A-FA091039DB14}"/>
              </a:ext>
            </a:extLst>
          </p:cNvPr>
          <p:cNvSpPr/>
          <p:nvPr userDrawn="1"/>
        </p:nvSpPr>
        <p:spPr>
          <a:xfrm>
            <a:off x="2935471"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審議</a:t>
            </a:r>
          </a:p>
        </p:txBody>
      </p:sp>
      <p:sp>
        <p:nvSpPr>
          <p:cNvPr id="35" name="正方形/長方形 34">
            <a:extLst>
              <a:ext uri="{FF2B5EF4-FFF2-40B4-BE49-F238E27FC236}">
                <a16:creationId xmlns:a16="http://schemas.microsoft.com/office/drawing/2014/main" id="{9700AD76-ABF4-0B6B-342E-1A8326335643}"/>
              </a:ext>
            </a:extLst>
          </p:cNvPr>
          <p:cNvSpPr/>
          <p:nvPr userDrawn="1"/>
        </p:nvSpPr>
        <p:spPr>
          <a:xfrm>
            <a:off x="5043197" y="430993"/>
            <a:ext cx="1044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資料のみ報告</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F5E8A16A-A809-F056-702E-212A993B356A}"/>
              </a:ext>
            </a:extLst>
          </p:cNvPr>
          <p:cNvSpPr/>
          <p:nvPr userDrawn="1"/>
        </p:nvSpPr>
        <p:spPr>
          <a:xfrm>
            <a:off x="3446046"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報告</a:t>
            </a:r>
          </a:p>
        </p:txBody>
      </p:sp>
      <p:sp>
        <p:nvSpPr>
          <p:cNvPr id="37" name="正方形/長方形 36">
            <a:extLst>
              <a:ext uri="{FF2B5EF4-FFF2-40B4-BE49-F238E27FC236}">
                <a16:creationId xmlns:a16="http://schemas.microsoft.com/office/drawing/2014/main" id="{310A3D09-D418-C4C0-C802-45659A152647}"/>
              </a:ext>
            </a:extLst>
          </p:cNvPr>
          <p:cNvSpPr/>
          <p:nvPr userDrawn="1"/>
        </p:nvSpPr>
        <p:spPr>
          <a:xfrm>
            <a:off x="4651638" y="96529"/>
            <a:ext cx="2304000" cy="26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ja-JP" altLang="en-US" sz="1100" b="1">
                <a:solidFill>
                  <a:schemeClr val="tx1"/>
                </a:solidFill>
                <a:latin typeface="メイリオ" panose="020B0604030504040204" pitchFamily="50" charset="-128"/>
                <a:ea typeface="メイリオ" panose="020B0604030504040204" pitchFamily="50" charset="-128"/>
              </a:rPr>
              <a:t>カスタマーサービス統括部</a:t>
            </a:r>
            <a:r>
              <a:rPr kumimoji="1" lang="ja-JP" altLang="en-US" sz="1100" b="1">
                <a:solidFill>
                  <a:schemeClr val="tx1"/>
                </a:solidFill>
                <a:latin typeface="メイリオ" panose="020B0604030504040204" pitchFamily="50" charset="-128"/>
                <a:ea typeface="メイリオ" panose="020B0604030504040204" pitchFamily="50" charset="-128"/>
              </a:rPr>
              <a:t>部長会</a:t>
            </a:r>
          </a:p>
        </p:txBody>
      </p:sp>
      <p:sp>
        <p:nvSpPr>
          <p:cNvPr id="38" name="正方形/長方形 37">
            <a:extLst>
              <a:ext uri="{FF2B5EF4-FFF2-40B4-BE49-F238E27FC236}">
                <a16:creationId xmlns:a16="http://schemas.microsoft.com/office/drawing/2014/main" id="{8EFE8264-A5B9-6DFD-CEC4-7DE7778F92C0}"/>
              </a:ext>
            </a:extLst>
          </p:cNvPr>
          <p:cNvSpPr/>
          <p:nvPr userDrawn="1"/>
        </p:nvSpPr>
        <p:spPr>
          <a:xfrm>
            <a:off x="7037582" y="96529"/>
            <a:ext cx="1872000" cy="26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ja-JP" altLang="en-US" sz="1100" b="1" dirty="0">
                <a:solidFill>
                  <a:schemeClr val="tx1"/>
                </a:solidFill>
                <a:latin typeface="メイリオ" panose="020B0604030504040204" pitchFamily="50" charset="-128"/>
                <a:ea typeface="メイリオ" panose="020B0604030504040204" pitchFamily="50" charset="-128"/>
              </a:rPr>
              <a:t>ハイキャリア統括部</a:t>
            </a:r>
            <a:r>
              <a:rPr kumimoji="1" lang="ja-JP" altLang="en-US" sz="1100" b="1" dirty="0">
                <a:solidFill>
                  <a:schemeClr val="tx1"/>
                </a:solidFill>
                <a:latin typeface="メイリオ" panose="020B0604030504040204" pitchFamily="50" charset="-128"/>
                <a:ea typeface="メイリオ" panose="020B0604030504040204" pitchFamily="50" charset="-128"/>
              </a:rPr>
              <a:t>部長会</a:t>
            </a:r>
          </a:p>
        </p:txBody>
      </p:sp>
      <p:sp>
        <p:nvSpPr>
          <p:cNvPr id="39" name="正方形/長方形 38">
            <a:extLst>
              <a:ext uri="{FF2B5EF4-FFF2-40B4-BE49-F238E27FC236}">
                <a16:creationId xmlns:a16="http://schemas.microsoft.com/office/drawing/2014/main" id="{A4F7FD3A-814A-76E7-0B8E-DB4A5FF63D7A}"/>
              </a:ext>
            </a:extLst>
          </p:cNvPr>
          <p:cNvSpPr/>
          <p:nvPr userDrawn="1"/>
        </p:nvSpPr>
        <p:spPr>
          <a:xfrm>
            <a:off x="2121694" y="96529"/>
            <a:ext cx="2448000" cy="26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kumimoji="1" lang="ja-JP" altLang="en-US" sz="1100" b="1">
                <a:solidFill>
                  <a:schemeClr val="tx1"/>
                </a:solidFill>
                <a:latin typeface="メイリオ" panose="020B0604030504040204" pitchFamily="50" charset="-128"/>
                <a:ea typeface="メイリオ" panose="020B0604030504040204" pitchFamily="50" charset="-128"/>
              </a:rPr>
              <a:t>クライアントサービス統括部部長会</a:t>
            </a:r>
          </a:p>
        </p:txBody>
      </p:sp>
      <p:sp>
        <p:nvSpPr>
          <p:cNvPr id="40" name="正方形/長方形 39">
            <a:extLst>
              <a:ext uri="{FF2B5EF4-FFF2-40B4-BE49-F238E27FC236}">
                <a16:creationId xmlns:a16="http://schemas.microsoft.com/office/drawing/2014/main" id="{384A1C3B-AB2D-88A6-E5DF-7D79C0436BA2}"/>
              </a:ext>
            </a:extLst>
          </p:cNvPr>
          <p:cNvSpPr/>
          <p:nvPr userDrawn="1"/>
        </p:nvSpPr>
        <p:spPr>
          <a:xfrm>
            <a:off x="8991526" y="96529"/>
            <a:ext cx="890085" cy="26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ja-JP" altLang="en-US" sz="1100" b="1">
                <a:solidFill>
                  <a:schemeClr val="tx1"/>
                </a:solidFill>
                <a:latin typeface="メイリオ" panose="020B0604030504040204" pitchFamily="50" charset="-128"/>
                <a:ea typeface="メイリオ" panose="020B0604030504040204" pitchFamily="50" charset="-128"/>
              </a:rPr>
              <a:t>直下</a:t>
            </a:r>
            <a:r>
              <a:rPr kumimoji="1" lang="ja-JP" altLang="en-US" sz="1100" b="1">
                <a:solidFill>
                  <a:schemeClr val="tx1"/>
                </a:solidFill>
                <a:latin typeface="メイリオ" panose="020B0604030504040204" pitchFamily="50" charset="-128"/>
                <a:ea typeface="メイリオ" panose="020B0604030504040204" pitchFamily="50" charset="-128"/>
              </a:rPr>
              <a:t>部長会</a:t>
            </a:r>
          </a:p>
        </p:txBody>
      </p:sp>
      <p:sp>
        <p:nvSpPr>
          <p:cNvPr id="41" name="正方形/長方形 40">
            <a:extLst>
              <a:ext uri="{FF2B5EF4-FFF2-40B4-BE49-F238E27FC236}">
                <a16:creationId xmlns:a16="http://schemas.microsoft.com/office/drawing/2014/main" id="{E632A358-7C77-8101-BAD5-7EC29DEACF5B}"/>
              </a:ext>
            </a:extLst>
          </p:cNvPr>
          <p:cNvSpPr/>
          <p:nvPr userDrawn="1"/>
        </p:nvSpPr>
        <p:spPr>
          <a:xfrm>
            <a:off x="183875" y="208722"/>
            <a:ext cx="1323134" cy="4022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メイリオ" panose="020B0604030504040204" pitchFamily="50" charset="-128"/>
                <a:ea typeface="メイリオ" panose="020B0604030504040204" pitchFamily="50" charset="-128"/>
              </a:rPr>
              <a:t>起案書</a:t>
            </a:r>
          </a:p>
        </p:txBody>
      </p:sp>
      <p:sp>
        <p:nvSpPr>
          <p:cNvPr id="43" name="正方形/長方形 42">
            <a:extLst>
              <a:ext uri="{FF2B5EF4-FFF2-40B4-BE49-F238E27FC236}">
                <a16:creationId xmlns:a16="http://schemas.microsoft.com/office/drawing/2014/main" id="{44A96332-81EC-630F-45DA-E43C18C15194}"/>
              </a:ext>
            </a:extLst>
          </p:cNvPr>
          <p:cNvSpPr/>
          <p:nvPr userDrawn="1"/>
        </p:nvSpPr>
        <p:spPr>
          <a:xfrm>
            <a:off x="7624052" y="1560373"/>
            <a:ext cx="234001" cy="21839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起案背景・目的</a:t>
            </a:r>
          </a:p>
        </p:txBody>
      </p:sp>
      <p:sp>
        <p:nvSpPr>
          <p:cNvPr id="44" name="正方形/長方形 43">
            <a:extLst>
              <a:ext uri="{FF2B5EF4-FFF2-40B4-BE49-F238E27FC236}">
                <a16:creationId xmlns:a16="http://schemas.microsoft.com/office/drawing/2014/main" id="{A9F4546B-ED96-C581-5837-655003E985D2}"/>
              </a:ext>
            </a:extLst>
          </p:cNvPr>
          <p:cNvSpPr/>
          <p:nvPr userDrawn="1"/>
        </p:nvSpPr>
        <p:spPr>
          <a:xfrm>
            <a:off x="7858053" y="1560373"/>
            <a:ext cx="4271640" cy="21839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45" name="正方形/長方形 44">
            <a:extLst>
              <a:ext uri="{FF2B5EF4-FFF2-40B4-BE49-F238E27FC236}">
                <a16:creationId xmlns:a16="http://schemas.microsoft.com/office/drawing/2014/main" id="{E4F8E750-187B-1EC9-4CD3-5A731C3C81BF}"/>
              </a:ext>
            </a:extLst>
          </p:cNvPr>
          <p:cNvSpPr/>
          <p:nvPr userDrawn="1"/>
        </p:nvSpPr>
        <p:spPr>
          <a:xfrm>
            <a:off x="9963555" y="96529"/>
            <a:ext cx="2016000" cy="26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ja-JP" altLang="en-US" sz="1100" b="1">
                <a:solidFill>
                  <a:schemeClr val="tx1"/>
                </a:solidFill>
                <a:latin typeface="メイリオ" panose="020B0604030504040204" pitchFamily="50" charset="-128"/>
                <a:ea typeface="メイリオ" panose="020B0604030504040204" pitchFamily="50" charset="-128"/>
              </a:rPr>
              <a:t>ソリューション統括部</a:t>
            </a:r>
            <a:r>
              <a:rPr kumimoji="1" lang="ja-JP" altLang="en-US" sz="1100" b="1">
                <a:solidFill>
                  <a:schemeClr val="tx1"/>
                </a:solidFill>
                <a:latin typeface="メイリオ" panose="020B0604030504040204" pitchFamily="50" charset="-128"/>
                <a:ea typeface="メイリオ" panose="020B0604030504040204" pitchFamily="50" charset="-128"/>
              </a:rPr>
              <a:t>部長会</a:t>
            </a:r>
          </a:p>
        </p:txBody>
      </p:sp>
      <p:sp>
        <p:nvSpPr>
          <p:cNvPr id="46" name="テキスト ボックス 45">
            <a:extLst>
              <a:ext uri="{FF2B5EF4-FFF2-40B4-BE49-F238E27FC236}">
                <a16:creationId xmlns:a16="http://schemas.microsoft.com/office/drawing/2014/main" id="{6A7C5E47-1DE1-F209-7347-5A99C4F1AB93}"/>
              </a:ext>
            </a:extLst>
          </p:cNvPr>
          <p:cNvSpPr txBox="1"/>
          <p:nvPr userDrawn="1"/>
        </p:nvSpPr>
        <p:spPr>
          <a:xfrm>
            <a:off x="9963557" y="486535"/>
            <a:ext cx="2228444" cy="246221"/>
          </a:xfrm>
          <a:prstGeom prst="rect">
            <a:avLst/>
          </a:prstGeom>
          <a:noFill/>
        </p:spPr>
        <p:txBody>
          <a:bodyPr wrap="square" rtlCol="0">
            <a:spAutoFit/>
          </a:bodyPr>
          <a:lstStyle/>
          <a:p>
            <a:r>
              <a:rPr kumimoji="1" lang="ja-JP" altLang="en-US" sz="1000" b="1">
                <a:solidFill>
                  <a:srgbClr val="FF0000"/>
                </a:solidFill>
                <a:latin typeface="メイリオ" panose="020B0604030504040204" pitchFamily="50" charset="-128"/>
                <a:ea typeface="メイリオ" panose="020B0604030504040204" pitchFamily="50" charset="-128"/>
              </a:rPr>
              <a:t>フォントサイズは</a:t>
            </a:r>
            <a:r>
              <a:rPr kumimoji="1" lang="en-US" altLang="ja-JP" sz="1000" b="1">
                <a:solidFill>
                  <a:srgbClr val="FF0000"/>
                </a:solidFill>
                <a:latin typeface="メイリオ" panose="020B0604030504040204" pitchFamily="50" charset="-128"/>
                <a:ea typeface="メイリオ" panose="020B0604030504040204" pitchFamily="50" charset="-128"/>
              </a:rPr>
              <a:t>【Min10】</a:t>
            </a:r>
            <a:r>
              <a:rPr kumimoji="1" lang="ja-JP" altLang="en-US" sz="1000" b="1">
                <a:solidFill>
                  <a:srgbClr val="FF0000"/>
                </a:solidFill>
                <a:latin typeface="メイリオ" panose="020B0604030504040204" pitchFamily="50" charset="-128"/>
                <a:ea typeface="メイリオ" panose="020B0604030504040204" pitchFamily="50" charset="-128"/>
              </a:rPr>
              <a:t>厳守</a:t>
            </a:r>
          </a:p>
        </p:txBody>
      </p:sp>
      <p:sp>
        <p:nvSpPr>
          <p:cNvPr id="3" name="フッター プレースホルダー 7">
            <a:extLst>
              <a:ext uri="{FF2B5EF4-FFF2-40B4-BE49-F238E27FC236}">
                <a16:creationId xmlns:a16="http://schemas.microsoft.com/office/drawing/2014/main" id="{157BC63A-6030-DFA6-809A-0F701917939A}"/>
              </a:ext>
            </a:extLst>
          </p:cNvPr>
          <p:cNvSpPr>
            <a:spLocks noGrp="1"/>
          </p:cNvSpPr>
          <p:nvPr>
            <p:ph type="ftr" sz="quarter" idx="3"/>
          </p:nvPr>
        </p:nvSpPr>
        <p:spPr>
          <a:xfrm>
            <a:off x="4038600" y="6548434"/>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Tree>
    <p:extLst>
      <p:ext uri="{BB962C8B-B14F-4D97-AF65-F5344CB8AC3E}">
        <p14:creationId xmlns:p14="http://schemas.microsoft.com/office/powerpoint/2010/main" val="1223797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起案書FMT_営戦">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5705ED1E-569A-56F0-3775-0C2BEA4BE471}"/>
              </a:ext>
            </a:extLst>
          </p:cNvPr>
          <p:cNvSpPr/>
          <p:nvPr userDrawn="1"/>
        </p:nvSpPr>
        <p:spPr>
          <a:xfrm>
            <a:off x="62306" y="704127"/>
            <a:ext cx="222828" cy="414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件名</a:t>
            </a:r>
          </a:p>
        </p:txBody>
      </p:sp>
      <p:sp>
        <p:nvSpPr>
          <p:cNvPr id="6" name="正方形/長方形 5">
            <a:extLst>
              <a:ext uri="{FF2B5EF4-FFF2-40B4-BE49-F238E27FC236}">
                <a16:creationId xmlns:a16="http://schemas.microsoft.com/office/drawing/2014/main" id="{63B52FEE-C11B-7C30-F27F-A050014EC50B}"/>
              </a:ext>
            </a:extLst>
          </p:cNvPr>
          <p:cNvSpPr/>
          <p:nvPr userDrawn="1"/>
        </p:nvSpPr>
        <p:spPr>
          <a:xfrm>
            <a:off x="62305" y="1118865"/>
            <a:ext cx="222828" cy="436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日程</a:t>
            </a:r>
          </a:p>
        </p:txBody>
      </p:sp>
      <p:sp>
        <p:nvSpPr>
          <p:cNvPr id="7" name="正方形/長方形 6">
            <a:extLst>
              <a:ext uri="{FF2B5EF4-FFF2-40B4-BE49-F238E27FC236}">
                <a16:creationId xmlns:a16="http://schemas.microsoft.com/office/drawing/2014/main" id="{D808BE90-363B-4E37-1FEB-16BFB5EE67E7}"/>
              </a:ext>
            </a:extLst>
          </p:cNvPr>
          <p:cNvSpPr/>
          <p:nvPr userDrawn="1"/>
        </p:nvSpPr>
        <p:spPr>
          <a:xfrm>
            <a:off x="62305" y="1555628"/>
            <a:ext cx="223200" cy="51034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起案内容</a:t>
            </a:r>
          </a:p>
        </p:txBody>
      </p:sp>
      <p:sp>
        <p:nvSpPr>
          <p:cNvPr id="8" name="正方形/長方形 7">
            <a:extLst>
              <a:ext uri="{FF2B5EF4-FFF2-40B4-BE49-F238E27FC236}">
                <a16:creationId xmlns:a16="http://schemas.microsoft.com/office/drawing/2014/main" id="{E9983FAA-77AE-CFFC-BEB8-35967B71216F}"/>
              </a:ext>
            </a:extLst>
          </p:cNvPr>
          <p:cNvSpPr/>
          <p:nvPr userDrawn="1"/>
        </p:nvSpPr>
        <p:spPr>
          <a:xfrm>
            <a:off x="7624054" y="702155"/>
            <a:ext cx="234000" cy="85347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起案者</a:t>
            </a:r>
          </a:p>
        </p:txBody>
      </p:sp>
      <p:sp>
        <p:nvSpPr>
          <p:cNvPr id="9" name="正方形/長方形 8">
            <a:extLst>
              <a:ext uri="{FF2B5EF4-FFF2-40B4-BE49-F238E27FC236}">
                <a16:creationId xmlns:a16="http://schemas.microsoft.com/office/drawing/2014/main" id="{8B00F2D7-1D6A-13D3-C248-4E9BB39D800F}"/>
              </a:ext>
            </a:extLst>
          </p:cNvPr>
          <p:cNvSpPr/>
          <p:nvPr userDrawn="1"/>
        </p:nvSpPr>
        <p:spPr>
          <a:xfrm>
            <a:off x="7624052" y="3744577"/>
            <a:ext cx="234001" cy="14743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論点（議論ポイント）</a:t>
            </a:r>
          </a:p>
        </p:txBody>
      </p:sp>
      <p:sp>
        <p:nvSpPr>
          <p:cNvPr id="10" name="正方形/長方形 9">
            <a:extLst>
              <a:ext uri="{FF2B5EF4-FFF2-40B4-BE49-F238E27FC236}">
                <a16:creationId xmlns:a16="http://schemas.microsoft.com/office/drawing/2014/main" id="{A9BFF385-4595-2911-AFAB-0DA7980B9D60}"/>
              </a:ext>
            </a:extLst>
          </p:cNvPr>
          <p:cNvSpPr/>
          <p:nvPr userDrawn="1"/>
        </p:nvSpPr>
        <p:spPr>
          <a:xfrm>
            <a:off x="7624053" y="5219113"/>
            <a:ext cx="234000" cy="144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今後のスケジュール</a:t>
            </a:r>
          </a:p>
        </p:txBody>
      </p:sp>
      <p:sp>
        <p:nvSpPr>
          <p:cNvPr id="11" name="正方形/長方形 10">
            <a:extLst>
              <a:ext uri="{FF2B5EF4-FFF2-40B4-BE49-F238E27FC236}">
                <a16:creationId xmlns:a16="http://schemas.microsoft.com/office/drawing/2014/main" id="{ECF944C6-5E48-E597-1253-6FCC3FF03A3F}"/>
              </a:ext>
            </a:extLst>
          </p:cNvPr>
          <p:cNvSpPr/>
          <p:nvPr userDrawn="1"/>
        </p:nvSpPr>
        <p:spPr>
          <a:xfrm>
            <a:off x="283489" y="704127"/>
            <a:ext cx="7340563" cy="414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DCB347E8-415E-AC16-8C7D-F5F5797595E2}"/>
              </a:ext>
            </a:extLst>
          </p:cNvPr>
          <p:cNvSpPr/>
          <p:nvPr userDrawn="1"/>
        </p:nvSpPr>
        <p:spPr>
          <a:xfrm>
            <a:off x="7858053" y="704127"/>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文責</a:t>
            </a:r>
            <a:r>
              <a:rPr kumimoji="1" lang="en-US" altLang="ja-JP" sz="1100">
                <a:solidFill>
                  <a:schemeClr val="tx1"/>
                </a:solidFill>
                <a:latin typeface="メイリオ" panose="020B0604030504040204" pitchFamily="50" charset="-128"/>
                <a:ea typeface="メイリオ" panose="020B0604030504040204" pitchFamily="50" charset="-128"/>
              </a:rPr>
              <a:t>※</a:t>
            </a:r>
            <a:r>
              <a:rPr kumimoji="1" lang="ja-JP" altLang="en-US" sz="1100">
                <a:solidFill>
                  <a:schemeClr val="tx1"/>
                </a:solidFill>
                <a:latin typeface="メイリオ" panose="020B0604030504040204" pitchFamily="50" charset="-128"/>
                <a:ea typeface="メイリオ" panose="020B0604030504040204" pitchFamily="50" charset="-128"/>
              </a:rPr>
              <a:t>部長以上</a:t>
            </a:r>
          </a:p>
        </p:txBody>
      </p:sp>
      <p:sp>
        <p:nvSpPr>
          <p:cNvPr id="13" name="正方形/長方形 12">
            <a:extLst>
              <a:ext uri="{FF2B5EF4-FFF2-40B4-BE49-F238E27FC236}">
                <a16:creationId xmlns:a16="http://schemas.microsoft.com/office/drawing/2014/main" id="{C6EF1E9E-FF3E-905D-C0E5-DD7C3EA5D32F}"/>
              </a:ext>
            </a:extLst>
          </p:cNvPr>
          <p:cNvSpPr/>
          <p:nvPr userDrawn="1"/>
        </p:nvSpPr>
        <p:spPr>
          <a:xfrm>
            <a:off x="7858053" y="917161"/>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発表者</a:t>
            </a:r>
            <a:r>
              <a:rPr kumimoji="1" lang="en-US" altLang="ja-JP" sz="1100">
                <a:solidFill>
                  <a:schemeClr val="tx1"/>
                </a:solidFill>
                <a:latin typeface="メイリオ" panose="020B0604030504040204" pitchFamily="50" charset="-128"/>
                <a:ea typeface="メイリオ" panose="020B0604030504040204" pitchFamily="50" charset="-128"/>
              </a:rPr>
              <a:t>※GM</a:t>
            </a:r>
            <a:r>
              <a:rPr kumimoji="1" lang="ja-JP" altLang="en-US" sz="1100">
                <a:solidFill>
                  <a:schemeClr val="tx1"/>
                </a:solidFill>
                <a:latin typeface="メイリオ" panose="020B0604030504040204" pitchFamily="50" charset="-128"/>
                <a:ea typeface="メイリオ" panose="020B0604030504040204" pitchFamily="50" charset="-128"/>
              </a:rPr>
              <a:t>以上</a:t>
            </a:r>
          </a:p>
        </p:txBody>
      </p:sp>
      <p:sp>
        <p:nvSpPr>
          <p:cNvPr id="14" name="正方形/長方形 13">
            <a:extLst>
              <a:ext uri="{FF2B5EF4-FFF2-40B4-BE49-F238E27FC236}">
                <a16:creationId xmlns:a16="http://schemas.microsoft.com/office/drawing/2014/main" id="{4DB35B2E-4A65-5076-BD4C-C3BBE8DC516E}"/>
              </a:ext>
            </a:extLst>
          </p:cNvPr>
          <p:cNvSpPr/>
          <p:nvPr userDrawn="1"/>
        </p:nvSpPr>
        <p:spPr>
          <a:xfrm>
            <a:off x="7858053" y="1130195"/>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陪席者</a:t>
            </a:r>
          </a:p>
        </p:txBody>
      </p:sp>
      <p:sp>
        <p:nvSpPr>
          <p:cNvPr id="15" name="正方形/長方形 14">
            <a:extLst>
              <a:ext uri="{FF2B5EF4-FFF2-40B4-BE49-F238E27FC236}">
                <a16:creationId xmlns:a16="http://schemas.microsoft.com/office/drawing/2014/main" id="{4F216FF4-6227-2140-589C-7AA8C53BCEE2}"/>
              </a:ext>
            </a:extLst>
          </p:cNvPr>
          <p:cNvSpPr/>
          <p:nvPr userDrawn="1"/>
        </p:nvSpPr>
        <p:spPr>
          <a:xfrm>
            <a:off x="7858053" y="1343229"/>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起案担当窓口</a:t>
            </a:r>
          </a:p>
        </p:txBody>
      </p:sp>
      <p:sp>
        <p:nvSpPr>
          <p:cNvPr id="16" name="正方形/長方形 15">
            <a:extLst>
              <a:ext uri="{FF2B5EF4-FFF2-40B4-BE49-F238E27FC236}">
                <a16:creationId xmlns:a16="http://schemas.microsoft.com/office/drawing/2014/main" id="{337D660E-D5AB-46FE-4D45-C90A348A3FEE}"/>
              </a:ext>
            </a:extLst>
          </p:cNvPr>
          <p:cNvSpPr/>
          <p:nvPr userDrawn="1"/>
        </p:nvSpPr>
        <p:spPr>
          <a:xfrm>
            <a:off x="2006285" y="1118125"/>
            <a:ext cx="463771" cy="436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開示</a:t>
            </a:r>
            <a:endParaRPr kumimoji="1" lang="en-US" altLang="ja-JP" sz="1100">
              <a:solidFill>
                <a:schemeClr val="tx1"/>
              </a:solidFill>
              <a:latin typeface="メイリオ" panose="020B0604030504040204" pitchFamily="50" charset="-128"/>
              <a:ea typeface="メイリオ" panose="020B0604030504040204" pitchFamily="50" charset="-128"/>
            </a:endParaRPr>
          </a:p>
          <a:p>
            <a:pPr algn="ctr"/>
            <a:r>
              <a:rPr kumimoji="1" lang="ja-JP" altLang="en-US" sz="1100">
                <a:solidFill>
                  <a:schemeClr val="tx1"/>
                </a:solidFill>
                <a:latin typeface="メイリオ" panose="020B0604030504040204" pitchFamily="50" charset="-128"/>
                <a:ea typeface="メイリオ" panose="020B0604030504040204" pitchFamily="50" charset="-128"/>
              </a:rPr>
              <a:t>範囲</a:t>
            </a:r>
          </a:p>
        </p:txBody>
      </p:sp>
      <p:sp>
        <p:nvSpPr>
          <p:cNvPr id="17" name="正方形/長方形 16">
            <a:extLst>
              <a:ext uri="{FF2B5EF4-FFF2-40B4-BE49-F238E27FC236}">
                <a16:creationId xmlns:a16="http://schemas.microsoft.com/office/drawing/2014/main" id="{B64F9CBC-9433-7C9C-E374-51B6BA855469}"/>
              </a:ext>
            </a:extLst>
          </p:cNvPr>
          <p:cNvSpPr/>
          <p:nvPr userDrawn="1"/>
        </p:nvSpPr>
        <p:spPr>
          <a:xfrm>
            <a:off x="2470056" y="1118865"/>
            <a:ext cx="5153996" cy="436763"/>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0A493309-159E-F30D-A9D3-6075B245F18B}"/>
              </a:ext>
            </a:extLst>
          </p:cNvPr>
          <p:cNvSpPr/>
          <p:nvPr userDrawn="1"/>
        </p:nvSpPr>
        <p:spPr>
          <a:xfrm>
            <a:off x="285505" y="1555629"/>
            <a:ext cx="7338547" cy="51034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67E2EEA4-88E2-88EB-1267-03AEC263458E}"/>
              </a:ext>
            </a:extLst>
          </p:cNvPr>
          <p:cNvSpPr/>
          <p:nvPr userDrawn="1"/>
        </p:nvSpPr>
        <p:spPr>
          <a:xfrm>
            <a:off x="7858053" y="3744577"/>
            <a:ext cx="4271640" cy="14743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20" name="正方形/長方形 19">
            <a:extLst>
              <a:ext uri="{FF2B5EF4-FFF2-40B4-BE49-F238E27FC236}">
                <a16:creationId xmlns:a16="http://schemas.microsoft.com/office/drawing/2014/main" id="{A33CE0E9-E512-79DE-C156-FA467DBD3E52}"/>
              </a:ext>
            </a:extLst>
          </p:cNvPr>
          <p:cNvSpPr/>
          <p:nvPr userDrawn="1"/>
        </p:nvSpPr>
        <p:spPr>
          <a:xfrm>
            <a:off x="7858053" y="5219125"/>
            <a:ext cx="4271639" cy="144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985C0C59-5DF9-7B50-1407-59FE5EA29238}"/>
              </a:ext>
            </a:extLst>
          </p:cNvPr>
          <p:cNvSpPr/>
          <p:nvPr userDrawn="1"/>
        </p:nvSpPr>
        <p:spPr>
          <a:xfrm>
            <a:off x="9234996" y="702156"/>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E3A81267-4D66-6420-AE1C-95866EC39D9E}"/>
              </a:ext>
            </a:extLst>
          </p:cNvPr>
          <p:cNvSpPr/>
          <p:nvPr userDrawn="1"/>
        </p:nvSpPr>
        <p:spPr>
          <a:xfrm>
            <a:off x="9234996" y="915847"/>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45F49DF3-60C9-F69A-D318-3C4F7BB5DC1A}"/>
              </a:ext>
            </a:extLst>
          </p:cNvPr>
          <p:cNvSpPr/>
          <p:nvPr userDrawn="1"/>
        </p:nvSpPr>
        <p:spPr>
          <a:xfrm>
            <a:off x="9234996" y="1129538"/>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E897E7CA-C774-D2DD-3A9C-5EB9838557E0}"/>
              </a:ext>
            </a:extLst>
          </p:cNvPr>
          <p:cNvSpPr/>
          <p:nvPr userDrawn="1"/>
        </p:nvSpPr>
        <p:spPr>
          <a:xfrm>
            <a:off x="9234996" y="1343229"/>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AD9DE1C1-8CD9-3622-8A8F-335B7667F507}"/>
              </a:ext>
            </a:extLst>
          </p:cNvPr>
          <p:cNvSpPr/>
          <p:nvPr userDrawn="1"/>
        </p:nvSpPr>
        <p:spPr>
          <a:xfrm>
            <a:off x="283490" y="1118865"/>
            <a:ext cx="1722795" cy="436763"/>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45419D19-512A-55EF-9462-558F410D575D}"/>
              </a:ext>
            </a:extLst>
          </p:cNvPr>
          <p:cNvSpPr/>
          <p:nvPr userDrawn="1"/>
        </p:nvSpPr>
        <p:spPr>
          <a:xfrm>
            <a:off x="2480222" y="1224536"/>
            <a:ext cx="670074"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a:solidFill>
                  <a:schemeClr val="tx1"/>
                </a:solidFill>
                <a:latin typeface="メイリオ" panose="020B0604030504040204" pitchFamily="50" charset="-128"/>
                <a:ea typeface="メイリオ" panose="020B0604030504040204" pitchFamily="50" charset="-128"/>
              </a:rPr>
              <a:t>FB</a:t>
            </a:r>
            <a:r>
              <a:rPr kumimoji="1" lang="ja-JP" altLang="en-US" sz="1100">
                <a:solidFill>
                  <a:schemeClr val="tx1"/>
                </a:solidFill>
                <a:latin typeface="メイリオ" panose="020B0604030504040204" pitchFamily="50" charset="-128"/>
                <a:ea typeface="メイリオ" panose="020B0604030504040204" pitchFamily="50" charset="-128"/>
              </a:rPr>
              <a:t>不要</a:t>
            </a:r>
          </a:p>
        </p:txBody>
      </p:sp>
      <p:sp>
        <p:nvSpPr>
          <p:cNvPr id="27" name="正方形/長方形 26">
            <a:extLst>
              <a:ext uri="{FF2B5EF4-FFF2-40B4-BE49-F238E27FC236}">
                <a16:creationId xmlns:a16="http://schemas.microsoft.com/office/drawing/2014/main" id="{1B33EAD7-7786-0EBC-7805-1F6221AC6184}"/>
              </a:ext>
            </a:extLst>
          </p:cNvPr>
          <p:cNvSpPr/>
          <p:nvPr userDrawn="1"/>
        </p:nvSpPr>
        <p:spPr>
          <a:xfrm>
            <a:off x="3116293" y="1224536"/>
            <a:ext cx="792000"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部長以上</a:t>
            </a:r>
          </a:p>
        </p:txBody>
      </p:sp>
      <p:sp>
        <p:nvSpPr>
          <p:cNvPr id="28" name="正方形/長方形 27">
            <a:extLst>
              <a:ext uri="{FF2B5EF4-FFF2-40B4-BE49-F238E27FC236}">
                <a16:creationId xmlns:a16="http://schemas.microsoft.com/office/drawing/2014/main" id="{451D4C64-C166-DE1B-55D2-E8CCFE9BBDF4}"/>
              </a:ext>
            </a:extLst>
          </p:cNvPr>
          <p:cNvSpPr/>
          <p:nvPr userDrawn="1"/>
        </p:nvSpPr>
        <p:spPr>
          <a:xfrm>
            <a:off x="3874290" y="1224536"/>
            <a:ext cx="792000"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a:solidFill>
                  <a:schemeClr val="tx1"/>
                </a:solidFill>
                <a:latin typeface="メイリオ" panose="020B0604030504040204" pitchFamily="50" charset="-128"/>
                <a:ea typeface="メイリオ" panose="020B0604030504040204" pitchFamily="50" charset="-128"/>
              </a:rPr>
              <a:t>GM</a:t>
            </a:r>
            <a:r>
              <a:rPr kumimoji="1" lang="ja-JP" altLang="en-US" sz="1100">
                <a:solidFill>
                  <a:schemeClr val="tx1"/>
                </a:solidFill>
                <a:latin typeface="メイリオ" panose="020B0604030504040204" pitchFamily="50" charset="-128"/>
                <a:ea typeface="メイリオ" panose="020B0604030504040204" pitchFamily="50" charset="-128"/>
              </a:rPr>
              <a:t>以上</a:t>
            </a:r>
          </a:p>
        </p:txBody>
      </p:sp>
      <p:sp>
        <p:nvSpPr>
          <p:cNvPr id="29" name="正方形/長方形 28">
            <a:extLst>
              <a:ext uri="{FF2B5EF4-FFF2-40B4-BE49-F238E27FC236}">
                <a16:creationId xmlns:a16="http://schemas.microsoft.com/office/drawing/2014/main" id="{28EAFF33-F691-B459-D0B9-D3E66638BEDE}"/>
              </a:ext>
            </a:extLst>
          </p:cNvPr>
          <p:cNvSpPr/>
          <p:nvPr userDrawn="1"/>
        </p:nvSpPr>
        <p:spPr>
          <a:xfrm>
            <a:off x="4632287" y="1224536"/>
            <a:ext cx="932443"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メンバー迄</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C83666F6-7F62-46F4-7685-7F053DC6B1CD}"/>
              </a:ext>
            </a:extLst>
          </p:cNvPr>
          <p:cNvSpPr/>
          <p:nvPr userDrawn="1"/>
        </p:nvSpPr>
        <p:spPr>
          <a:xfrm>
            <a:off x="1714418" y="399311"/>
            <a:ext cx="686213" cy="243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種別</a:t>
            </a:r>
          </a:p>
        </p:txBody>
      </p:sp>
      <p:sp>
        <p:nvSpPr>
          <p:cNvPr id="41" name="正方形/長方形 40">
            <a:extLst>
              <a:ext uri="{FF2B5EF4-FFF2-40B4-BE49-F238E27FC236}">
                <a16:creationId xmlns:a16="http://schemas.microsoft.com/office/drawing/2014/main" id="{E632A358-7C77-8101-BAD5-7EC29DEACF5B}"/>
              </a:ext>
            </a:extLst>
          </p:cNvPr>
          <p:cNvSpPr/>
          <p:nvPr userDrawn="1"/>
        </p:nvSpPr>
        <p:spPr>
          <a:xfrm>
            <a:off x="183875" y="208722"/>
            <a:ext cx="1323134" cy="4022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メイリオ" panose="020B0604030504040204" pitchFamily="50" charset="-128"/>
                <a:ea typeface="メイリオ" panose="020B0604030504040204" pitchFamily="50" charset="-128"/>
              </a:rPr>
              <a:t>起案書</a:t>
            </a:r>
          </a:p>
        </p:txBody>
      </p:sp>
      <p:sp>
        <p:nvSpPr>
          <p:cNvPr id="43" name="正方形/長方形 42">
            <a:extLst>
              <a:ext uri="{FF2B5EF4-FFF2-40B4-BE49-F238E27FC236}">
                <a16:creationId xmlns:a16="http://schemas.microsoft.com/office/drawing/2014/main" id="{44A96332-81EC-630F-45DA-E43C18C15194}"/>
              </a:ext>
            </a:extLst>
          </p:cNvPr>
          <p:cNvSpPr/>
          <p:nvPr userDrawn="1"/>
        </p:nvSpPr>
        <p:spPr>
          <a:xfrm>
            <a:off x="7624052" y="1560373"/>
            <a:ext cx="234001" cy="21839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起案背景・目的</a:t>
            </a:r>
          </a:p>
        </p:txBody>
      </p:sp>
      <p:sp>
        <p:nvSpPr>
          <p:cNvPr id="44" name="正方形/長方形 43">
            <a:extLst>
              <a:ext uri="{FF2B5EF4-FFF2-40B4-BE49-F238E27FC236}">
                <a16:creationId xmlns:a16="http://schemas.microsoft.com/office/drawing/2014/main" id="{A9F4546B-ED96-C581-5837-655003E985D2}"/>
              </a:ext>
            </a:extLst>
          </p:cNvPr>
          <p:cNvSpPr/>
          <p:nvPr userDrawn="1"/>
        </p:nvSpPr>
        <p:spPr>
          <a:xfrm>
            <a:off x="7858053" y="1560373"/>
            <a:ext cx="4271640" cy="21839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6A7C5E47-1DE1-F209-7347-5A99C4F1AB93}"/>
              </a:ext>
            </a:extLst>
          </p:cNvPr>
          <p:cNvSpPr txBox="1"/>
          <p:nvPr userDrawn="1"/>
        </p:nvSpPr>
        <p:spPr>
          <a:xfrm>
            <a:off x="9963557" y="486535"/>
            <a:ext cx="2228444" cy="246221"/>
          </a:xfrm>
          <a:prstGeom prst="rect">
            <a:avLst/>
          </a:prstGeom>
          <a:noFill/>
        </p:spPr>
        <p:txBody>
          <a:bodyPr wrap="square" rtlCol="0">
            <a:spAutoFit/>
          </a:bodyPr>
          <a:lstStyle/>
          <a:p>
            <a:r>
              <a:rPr kumimoji="1" lang="ja-JP" altLang="en-US" sz="1000" b="1">
                <a:solidFill>
                  <a:srgbClr val="FF0000"/>
                </a:solidFill>
                <a:latin typeface="メイリオ" panose="020B0604030504040204" pitchFamily="50" charset="-128"/>
                <a:ea typeface="メイリオ" panose="020B0604030504040204" pitchFamily="50" charset="-128"/>
              </a:rPr>
              <a:t>フォントサイズは</a:t>
            </a:r>
            <a:r>
              <a:rPr kumimoji="1" lang="en-US" altLang="ja-JP" sz="1000" b="1">
                <a:solidFill>
                  <a:srgbClr val="FF0000"/>
                </a:solidFill>
                <a:latin typeface="メイリオ" panose="020B0604030504040204" pitchFamily="50" charset="-128"/>
                <a:ea typeface="メイリオ" panose="020B0604030504040204" pitchFamily="50" charset="-128"/>
              </a:rPr>
              <a:t>【Min10】</a:t>
            </a:r>
            <a:r>
              <a:rPr kumimoji="1" lang="ja-JP" altLang="en-US" sz="1000" b="1">
                <a:solidFill>
                  <a:srgbClr val="FF0000"/>
                </a:solidFill>
                <a:latin typeface="メイリオ" panose="020B0604030504040204" pitchFamily="50" charset="-128"/>
                <a:ea typeface="メイリオ" panose="020B0604030504040204" pitchFamily="50" charset="-128"/>
              </a:rPr>
              <a:t>厳守</a:t>
            </a:r>
          </a:p>
        </p:txBody>
      </p:sp>
      <p:sp>
        <p:nvSpPr>
          <p:cNvPr id="2" name="正方形/長方形 1">
            <a:extLst>
              <a:ext uri="{FF2B5EF4-FFF2-40B4-BE49-F238E27FC236}">
                <a16:creationId xmlns:a16="http://schemas.microsoft.com/office/drawing/2014/main" id="{812B928C-13CA-A5CB-4EE4-9425C9F5DA34}"/>
              </a:ext>
            </a:extLst>
          </p:cNvPr>
          <p:cNvSpPr/>
          <p:nvPr userDrawn="1"/>
        </p:nvSpPr>
        <p:spPr>
          <a:xfrm>
            <a:off x="10808531" y="110605"/>
            <a:ext cx="1188000" cy="2887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ja-JP" altLang="en-US" sz="1100" b="1">
                <a:solidFill>
                  <a:schemeClr val="tx1"/>
                </a:solidFill>
                <a:latin typeface="メイリオ" panose="020B0604030504040204" pitchFamily="50" charset="-128"/>
                <a:ea typeface="メイリオ" panose="020B0604030504040204" pitchFamily="50" charset="-128"/>
              </a:rPr>
              <a:t>領域営業戦略会</a:t>
            </a:r>
            <a:endParaRPr kumimoji="1" lang="ja-JP" altLang="en-US" sz="1100" b="1">
              <a:solidFill>
                <a:schemeClr val="tx1"/>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8AB5D38F-2B46-5CF9-6B98-0976F159A269}"/>
              </a:ext>
            </a:extLst>
          </p:cNvPr>
          <p:cNvSpPr/>
          <p:nvPr userDrawn="1"/>
        </p:nvSpPr>
        <p:spPr>
          <a:xfrm>
            <a:off x="2424896"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決議</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7" name="正方形/長方形 36">
            <a:extLst>
              <a:ext uri="{FF2B5EF4-FFF2-40B4-BE49-F238E27FC236}">
                <a16:creationId xmlns:a16="http://schemas.microsoft.com/office/drawing/2014/main" id="{AA012D9E-614C-FCB2-FDF4-1523CBFBCDF9}"/>
              </a:ext>
            </a:extLst>
          </p:cNvPr>
          <p:cNvSpPr/>
          <p:nvPr userDrawn="1"/>
        </p:nvSpPr>
        <p:spPr>
          <a:xfrm>
            <a:off x="3956621" y="430993"/>
            <a:ext cx="1044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資料のみ決議</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8" name="正方形/長方形 37">
            <a:extLst>
              <a:ext uri="{FF2B5EF4-FFF2-40B4-BE49-F238E27FC236}">
                <a16:creationId xmlns:a16="http://schemas.microsoft.com/office/drawing/2014/main" id="{A1F52A2C-1FFB-434D-8F54-52FE66DD2411}"/>
              </a:ext>
            </a:extLst>
          </p:cNvPr>
          <p:cNvSpPr/>
          <p:nvPr userDrawn="1"/>
        </p:nvSpPr>
        <p:spPr>
          <a:xfrm>
            <a:off x="2935471"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審議</a:t>
            </a:r>
          </a:p>
        </p:txBody>
      </p:sp>
      <p:sp>
        <p:nvSpPr>
          <p:cNvPr id="39" name="正方形/長方形 38">
            <a:extLst>
              <a:ext uri="{FF2B5EF4-FFF2-40B4-BE49-F238E27FC236}">
                <a16:creationId xmlns:a16="http://schemas.microsoft.com/office/drawing/2014/main" id="{00EBF710-D6A8-B008-B765-C4F491C72C6A}"/>
              </a:ext>
            </a:extLst>
          </p:cNvPr>
          <p:cNvSpPr/>
          <p:nvPr userDrawn="1"/>
        </p:nvSpPr>
        <p:spPr>
          <a:xfrm>
            <a:off x="5043197" y="430993"/>
            <a:ext cx="1044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資料のみ報告</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40" name="正方形/長方形 39">
            <a:extLst>
              <a:ext uri="{FF2B5EF4-FFF2-40B4-BE49-F238E27FC236}">
                <a16:creationId xmlns:a16="http://schemas.microsoft.com/office/drawing/2014/main" id="{A829538A-4C7D-B69D-1CD9-4085E3BAA7CD}"/>
              </a:ext>
            </a:extLst>
          </p:cNvPr>
          <p:cNvSpPr/>
          <p:nvPr userDrawn="1"/>
        </p:nvSpPr>
        <p:spPr>
          <a:xfrm>
            <a:off x="3446046"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報告</a:t>
            </a:r>
          </a:p>
        </p:txBody>
      </p:sp>
      <p:sp>
        <p:nvSpPr>
          <p:cNvPr id="32" name="フッター プレースホルダー 7">
            <a:extLst>
              <a:ext uri="{FF2B5EF4-FFF2-40B4-BE49-F238E27FC236}">
                <a16:creationId xmlns:a16="http://schemas.microsoft.com/office/drawing/2014/main" id="{0B304F28-6F11-2D91-098A-2E7FEE635E57}"/>
              </a:ext>
            </a:extLst>
          </p:cNvPr>
          <p:cNvSpPr>
            <a:spLocks noGrp="1"/>
          </p:cNvSpPr>
          <p:nvPr>
            <p:ph type="ftr" sz="quarter" idx="3"/>
          </p:nvPr>
        </p:nvSpPr>
        <p:spPr>
          <a:xfrm>
            <a:off x="4038600" y="6548434"/>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Tree>
    <p:extLst>
      <p:ext uri="{BB962C8B-B14F-4D97-AF65-F5344CB8AC3E}">
        <p14:creationId xmlns:p14="http://schemas.microsoft.com/office/powerpoint/2010/main" val="4086577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起案書FMT_領戦">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5705ED1E-569A-56F0-3775-0C2BEA4BE471}"/>
              </a:ext>
            </a:extLst>
          </p:cNvPr>
          <p:cNvSpPr/>
          <p:nvPr userDrawn="1"/>
        </p:nvSpPr>
        <p:spPr>
          <a:xfrm>
            <a:off x="62306" y="704127"/>
            <a:ext cx="222828" cy="414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件名</a:t>
            </a:r>
          </a:p>
        </p:txBody>
      </p:sp>
      <p:sp>
        <p:nvSpPr>
          <p:cNvPr id="6" name="正方形/長方形 5">
            <a:extLst>
              <a:ext uri="{FF2B5EF4-FFF2-40B4-BE49-F238E27FC236}">
                <a16:creationId xmlns:a16="http://schemas.microsoft.com/office/drawing/2014/main" id="{63B52FEE-C11B-7C30-F27F-A050014EC50B}"/>
              </a:ext>
            </a:extLst>
          </p:cNvPr>
          <p:cNvSpPr/>
          <p:nvPr userDrawn="1"/>
        </p:nvSpPr>
        <p:spPr>
          <a:xfrm>
            <a:off x="62305" y="1118865"/>
            <a:ext cx="222828" cy="436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日程</a:t>
            </a:r>
          </a:p>
        </p:txBody>
      </p:sp>
      <p:sp>
        <p:nvSpPr>
          <p:cNvPr id="7" name="正方形/長方形 6">
            <a:extLst>
              <a:ext uri="{FF2B5EF4-FFF2-40B4-BE49-F238E27FC236}">
                <a16:creationId xmlns:a16="http://schemas.microsoft.com/office/drawing/2014/main" id="{D808BE90-363B-4E37-1FEB-16BFB5EE67E7}"/>
              </a:ext>
            </a:extLst>
          </p:cNvPr>
          <p:cNvSpPr/>
          <p:nvPr userDrawn="1"/>
        </p:nvSpPr>
        <p:spPr>
          <a:xfrm>
            <a:off x="62305" y="1555628"/>
            <a:ext cx="223200" cy="51034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起案内容</a:t>
            </a:r>
          </a:p>
        </p:txBody>
      </p:sp>
      <p:sp>
        <p:nvSpPr>
          <p:cNvPr id="8" name="正方形/長方形 7">
            <a:extLst>
              <a:ext uri="{FF2B5EF4-FFF2-40B4-BE49-F238E27FC236}">
                <a16:creationId xmlns:a16="http://schemas.microsoft.com/office/drawing/2014/main" id="{E9983FAA-77AE-CFFC-BEB8-35967B71216F}"/>
              </a:ext>
            </a:extLst>
          </p:cNvPr>
          <p:cNvSpPr/>
          <p:nvPr userDrawn="1"/>
        </p:nvSpPr>
        <p:spPr>
          <a:xfrm>
            <a:off x="7624054" y="702155"/>
            <a:ext cx="234000" cy="85347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起案者</a:t>
            </a:r>
          </a:p>
        </p:txBody>
      </p:sp>
      <p:sp>
        <p:nvSpPr>
          <p:cNvPr id="9" name="正方形/長方形 8">
            <a:extLst>
              <a:ext uri="{FF2B5EF4-FFF2-40B4-BE49-F238E27FC236}">
                <a16:creationId xmlns:a16="http://schemas.microsoft.com/office/drawing/2014/main" id="{8B00F2D7-1D6A-13D3-C248-4E9BB39D800F}"/>
              </a:ext>
            </a:extLst>
          </p:cNvPr>
          <p:cNvSpPr/>
          <p:nvPr userDrawn="1"/>
        </p:nvSpPr>
        <p:spPr>
          <a:xfrm>
            <a:off x="7624052" y="3744577"/>
            <a:ext cx="234001" cy="14743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論点（議論ポイント）</a:t>
            </a:r>
          </a:p>
        </p:txBody>
      </p:sp>
      <p:sp>
        <p:nvSpPr>
          <p:cNvPr id="10" name="正方形/長方形 9">
            <a:extLst>
              <a:ext uri="{FF2B5EF4-FFF2-40B4-BE49-F238E27FC236}">
                <a16:creationId xmlns:a16="http://schemas.microsoft.com/office/drawing/2014/main" id="{A9BFF385-4595-2911-AFAB-0DA7980B9D60}"/>
              </a:ext>
            </a:extLst>
          </p:cNvPr>
          <p:cNvSpPr/>
          <p:nvPr userDrawn="1"/>
        </p:nvSpPr>
        <p:spPr>
          <a:xfrm>
            <a:off x="7624053" y="5219113"/>
            <a:ext cx="234000" cy="144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今後のスケジュール</a:t>
            </a:r>
          </a:p>
        </p:txBody>
      </p:sp>
      <p:sp>
        <p:nvSpPr>
          <p:cNvPr id="11" name="正方形/長方形 10">
            <a:extLst>
              <a:ext uri="{FF2B5EF4-FFF2-40B4-BE49-F238E27FC236}">
                <a16:creationId xmlns:a16="http://schemas.microsoft.com/office/drawing/2014/main" id="{ECF944C6-5E48-E597-1253-6FCC3FF03A3F}"/>
              </a:ext>
            </a:extLst>
          </p:cNvPr>
          <p:cNvSpPr/>
          <p:nvPr userDrawn="1"/>
        </p:nvSpPr>
        <p:spPr>
          <a:xfrm>
            <a:off x="283489" y="704127"/>
            <a:ext cx="7340563" cy="414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DCB347E8-415E-AC16-8C7D-F5F5797595E2}"/>
              </a:ext>
            </a:extLst>
          </p:cNvPr>
          <p:cNvSpPr/>
          <p:nvPr userDrawn="1"/>
        </p:nvSpPr>
        <p:spPr>
          <a:xfrm>
            <a:off x="7858053" y="704127"/>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文責</a:t>
            </a:r>
            <a:r>
              <a:rPr kumimoji="1" lang="en-US" altLang="ja-JP" sz="1100">
                <a:solidFill>
                  <a:schemeClr val="tx1"/>
                </a:solidFill>
                <a:latin typeface="メイリオ" panose="020B0604030504040204" pitchFamily="50" charset="-128"/>
                <a:ea typeface="メイリオ" panose="020B0604030504040204" pitchFamily="50" charset="-128"/>
              </a:rPr>
              <a:t>※</a:t>
            </a:r>
            <a:r>
              <a:rPr kumimoji="1" lang="ja-JP" altLang="en-US" sz="1100">
                <a:solidFill>
                  <a:schemeClr val="tx1"/>
                </a:solidFill>
                <a:latin typeface="メイリオ" panose="020B0604030504040204" pitchFamily="50" charset="-128"/>
                <a:ea typeface="メイリオ" panose="020B0604030504040204" pitchFamily="50" charset="-128"/>
              </a:rPr>
              <a:t>部長以上</a:t>
            </a:r>
          </a:p>
        </p:txBody>
      </p:sp>
      <p:sp>
        <p:nvSpPr>
          <p:cNvPr id="13" name="正方形/長方形 12">
            <a:extLst>
              <a:ext uri="{FF2B5EF4-FFF2-40B4-BE49-F238E27FC236}">
                <a16:creationId xmlns:a16="http://schemas.microsoft.com/office/drawing/2014/main" id="{C6EF1E9E-FF3E-905D-C0E5-DD7C3EA5D32F}"/>
              </a:ext>
            </a:extLst>
          </p:cNvPr>
          <p:cNvSpPr/>
          <p:nvPr userDrawn="1"/>
        </p:nvSpPr>
        <p:spPr>
          <a:xfrm>
            <a:off x="7858053" y="917161"/>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発表者</a:t>
            </a:r>
            <a:r>
              <a:rPr kumimoji="1" lang="en-US" altLang="ja-JP" sz="1100">
                <a:solidFill>
                  <a:schemeClr val="tx1"/>
                </a:solidFill>
                <a:latin typeface="メイリオ" panose="020B0604030504040204" pitchFamily="50" charset="-128"/>
                <a:ea typeface="メイリオ" panose="020B0604030504040204" pitchFamily="50" charset="-128"/>
              </a:rPr>
              <a:t>※GM</a:t>
            </a:r>
            <a:r>
              <a:rPr kumimoji="1" lang="ja-JP" altLang="en-US" sz="1100">
                <a:solidFill>
                  <a:schemeClr val="tx1"/>
                </a:solidFill>
                <a:latin typeface="メイリオ" panose="020B0604030504040204" pitchFamily="50" charset="-128"/>
                <a:ea typeface="メイリオ" panose="020B0604030504040204" pitchFamily="50" charset="-128"/>
              </a:rPr>
              <a:t>以上</a:t>
            </a:r>
          </a:p>
        </p:txBody>
      </p:sp>
      <p:sp>
        <p:nvSpPr>
          <p:cNvPr id="14" name="正方形/長方形 13">
            <a:extLst>
              <a:ext uri="{FF2B5EF4-FFF2-40B4-BE49-F238E27FC236}">
                <a16:creationId xmlns:a16="http://schemas.microsoft.com/office/drawing/2014/main" id="{4DB35B2E-4A65-5076-BD4C-C3BBE8DC516E}"/>
              </a:ext>
            </a:extLst>
          </p:cNvPr>
          <p:cNvSpPr/>
          <p:nvPr userDrawn="1"/>
        </p:nvSpPr>
        <p:spPr>
          <a:xfrm>
            <a:off x="7858053" y="1130195"/>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陪席者</a:t>
            </a:r>
          </a:p>
        </p:txBody>
      </p:sp>
      <p:sp>
        <p:nvSpPr>
          <p:cNvPr id="15" name="正方形/長方形 14">
            <a:extLst>
              <a:ext uri="{FF2B5EF4-FFF2-40B4-BE49-F238E27FC236}">
                <a16:creationId xmlns:a16="http://schemas.microsoft.com/office/drawing/2014/main" id="{4F216FF4-6227-2140-589C-7AA8C53BCEE2}"/>
              </a:ext>
            </a:extLst>
          </p:cNvPr>
          <p:cNvSpPr/>
          <p:nvPr userDrawn="1"/>
        </p:nvSpPr>
        <p:spPr>
          <a:xfrm>
            <a:off x="7858053" y="1343229"/>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起案担当窓口</a:t>
            </a:r>
          </a:p>
        </p:txBody>
      </p:sp>
      <p:sp>
        <p:nvSpPr>
          <p:cNvPr id="16" name="正方形/長方形 15">
            <a:extLst>
              <a:ext uri="{FF2B5EF4-FFF2-40B4-BE49-F238E27FC236}">
                <a16:creationId xmlns:a16="http://schemas.microsoft.com/office/drawing/2014/main" id="{337D660E-D5AB-46FE-4D45-C90A348A3FEE}"/>
              </a:ext>
            </a:extLst>
          </p:cNvPr>
          <p:cNvSpPr/>
          <p:nvPr userDrawn="1"/>
        </p:nvSpPr>
        <p:spPr>
          <a:xfrm>
            <a:off x="2006285" y="1118125"/>
            <a:ext cx="463771" cy="436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開示</a:t>
            </a:r>
            <a:endParaRPr kumimoji="1" lang="en-US" altLang="ja-JP" sz="1100">
              <a:solidFill>
                <a:schemeClr val="tx1"/>
              </a:solidFill>
              <a:latin typeface="メイリオ" panose="020B0604030504040204" pitchFamily="50" charset="-128"/>
              <a:ea typeface="メイリオ" panose="020B0604030504040204" pitchFamily="50" charset="-128"/>
            </a:endParaRPr>
          </a:p>
          <a:p>
            <a:pPr algn="ctr"/>
            <a:r>
              <a:rPr kumimoji="1" lang="ja-JP" altLang="en-US" sz="1100">
                <a:solidFill>
                  <a:schemeClr val="tx1"/>
                </a:solidFill>
                <a:latin typeface="メイリオ" panose="020B0604030504040204" pitchFamily="50" charset="-128"/>
                <a:ea typeface="メイリオ" panose="020B0604030504040204" pitchFamily="50" charset="-128"/>
              </a:rPr>
              <a:t>範囲</a:t>
            </a:r>
          </a:p>
        </p:txBody>
      </p:sp>
      <p:sp>
        <p:nvSpPr>
          <p:cNvPr id="17" name="正方形/長方形 16">
            <a:extLst>
              <a:ext uri="{FF2B5EF4-FFF2-40B4-BE49-F238E27FC236}">
                <a16:creationId xmlns:a16="http://schemas.microsoft.com/office/drawing/2014/main" id="{B64F9CBC-9433-7C9C-E374-51B6BA855469}"/>
              </a:ext>
            </a:extLst>
          </p:cNvPr>
          <p:cNvSpPr/>
          <p:nvPr userDrawn="1"/>
        </p:nvSpPr>
        <p:spPr>
          <a:xfrm>
            <a:off x="2470056" y="1118865"/>
            <a:ext cx="5153996" cy="436763"/>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0A493309-159E-F30D-A9D3-6075B245F18B}"/>
              </a:ext>
            </a:extLst>
          </p:cNvPr>
          <p:cNvSpPr/>
          <p:nvPr userDrawn="1"/>
        </p:nvSpPr>
        <p:spPr>
          <a:xfrm>
            <a:off x="285505" y="1555629"/>
            <a:ext cx="7338547" cy="51034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67E2EEA4-88E2-88EB-1267-03AEC263458E}"/>
              </a:ext>
            </a:extLst>
          </p:cNvPr>
          <p:cNvSpPr/>
          <p:nvPr userDrawn="1"/>
        </p:nvSpPr>
        <p:spPr>
          <a:xfrm>
            <a:off x="7858053" y="3744577"/>
            <a:ext cx="4271640" cy="14743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20" name="正方形/長方形 19">
            <a:extLst>
              <a:ext uri="{FF2B5EF4-FFF2-40B4-BE49-F238E27FC236}">
                <a16:creationId xmlns:a16="http://schemas.microsoft.com/office/drawing/2014/main" id="{A33CE0E9-E512-79DE-C156-FA467DBD3E52}"/>
              </a:ext>
            </a:extLst>
          </p:cNvPr>
          <p:cNvSpPr/>
          <p:nvPr userDrawn="1"/>
        </p:nvSpPr>
        <p:spPr>
          <a:xfrm>
            <a:off x="7858053" y="5219125"/>
            <a:ext cx="4271639" cy="144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985C0C59-5DF9-7B50-1407-59FE5EA29238}"/>
              </a:ext>
            </a:extLst>
          </p:cNvPr>
          <p:cNvSpPr/>
          <p:nvPr userDrawn="1"/>
        </p:nvSpPr>
        <p:spPr>
          <a:xfrm>
            <a:off x="9234996" y="702156"/>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E3A81267-4D66-6420-AE1C-95866EC39D9E}"/>
              </a:ext>
            </a:extLst>
          </p:cNvPr>
          <p:cNvSpPr/>
          <p:nvPr userDrawn="1"/>
        </p:nvSpPr>
        <p:spPr>
          <a:xfrm>
            <a:off x="9234996" y="915847"/>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45F49DF3-60C9-F69A-D318-3C4F7BB5DC1A}"/>
              </a:ext>
            </a:extLst>
          </p:cNvPr>
          <p:cNvSpPr/>
          <p:nvPr userDrawn="1"/>
        </p:nvSpPr>
        <p:spPr>
          <a:xfrm>
            <a:off x="9234996" y="1129538"/>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E897E7CA-C774-D2DD-3A9C-5EB9838557E0}"/>
              </a:ext>
            </a:extLst>
          </p:cNvPr>
          <p:cNvSpPr/>
          <p:nvPr userDrawn="1"/>
        </p:nvSpPr>
        <p:spPr>
          <a:xfrm>
            <a:off x="9234996" y="1343229"/>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AD9DE1C1-8CD9-3622-8A8F-335B7667F507}"/>
              </a:ext>
            </a:extLst>
          </p:cNvPr>
          <p:cNvSpPr/>
          <p:nvPr userDrawn="1"/>
        </p:nvSpPr>
        <p:spPr>
          <a:xfrm>
            <a:off x="283490" y="1118865"/>
            <a:ext cx="1722795" cy="436763"/>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45419D19-512A-55EF-9462-558F410D575D}"/>
              </a:ext>
            </a:extLst>
          </p:cNvPr>
          <p:cNvSpPr/>
          <p:nvPr userDrawn="1"/>
        </p:nvSpPr>
        <p:spPr>
          <a:xfrm>
            <a:off x="2480222" y="1224536"/>
            <a:ext cx="670074"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a:solidFill>
                  <a:schemeClr val="tx1"/>
                </a:solidFill>
                <a:latin typeface="メイリオ" panose="020B0604030504040204" pitchFamily="50" charset="-128"/>
                <a:ea typeface="メイリオ" panose="020B0604030504040204" pitchFamily="50" charset="-128"/>
              </a:rPr>
              <a:t>FB</a:t>
            </a:r>
            <a:r>
              <a:rPr kumimoji="1" lang="ja-JP" altLang="en-US" sz="1100">
                <a:solidFill>
                  <a:schemeClr val="tx1"/>
                </a:solidFill>
                <a:latin typeface="メイリオ" panose="020B0604030504040204" pitchFamily="50" charset="-128"/>
                <a:ea typeface="メイリオ" panose="020B0604030504040204" pitchFamily="50" charset="-128"/>
              </a:rPr>
              <a:t>不要</a:t>
            </a:r>
          </a:p>
        </p:txBody>
      </p:sp>
      <p:sp>
        <p:nvSpPr>
          <p:cNvPr id="27" name="正方形/長方形 26">
            <a:extLst>
              <a:ext uri="{FF2B5EF4-FFF2-40B4-BE49-F238E27FC236}">
                <a16:creationId xmlns:a16="http://schemas.microsoft.com/office/drawing/2014/main" id="{1B33EAD7-7786-0EBC-7805-1F6221AC6184}"/>
              </a:ext>
            </a:extLst>
          </p:cNvPr>
          <p:cNvSpPr/>
          <p:nvPr userDrawn="1"/>
        </p:nvSpPr>
        <p:spPr>
          <a:xfrm>
            <a:off x="4261326" y="1224536"/>
            <a:ext cx="792000"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部長以上</a:t>
            </a:r>
          </a:p>
        </p:txBody>
      </p:sp>
      <p:sp>
        <p:nvSpPr>
          <p:cNvPr id="28" name="正方形/長方形 27">
            <a:extLst>
              <a:ext uri="{FF2B5EF4-FFF2-40B4-BE49-F238E27FC236}">
                <a16:creationId xmlns:a16="http://schemas.microsoft.com/office/drawing/2014/main" id="{451D4C64-C166-DE1B-55D2-E8CCFE9BBDF4}"/>
              </a:ext>
            </a:extLst>
          </p:cNvPr>
          <p:cNvSpPr/>
          <p:nvPr userDrawn="1"/>
        </p:nvSpPr>
        <p:spPr>
          <a:xfrm>
            <a:off x="5014841" y="1224536"/>
            <a:ext cx="792000"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a:solidFill>
                  <a:schemeClr val="tx1"/>
                </a:solidFill>
                <a:latin typeface="メイリオ" panose="020B0604030504040204" pitchFamily="50" charset="-128"/>
                <a:ea typeface="メイリオ" panose="020B0604030504040204" pitchFamily="50" charset="-128"/>
              </a:rPr>
              <a:t>GM</a:t>
            </a:r>
            <a:r>
              <a:rPr kumimoji="1" lang="ja-JP" altLang="en-US" sz="1100">
                <a:solidFill>
                  <a:schemeClr val="tx1"/>
                </a:solidFill>
                <a:latin typeface="メイリオ" panose="020B0604030504040204" pitchFamily="50" charset="-128"/>
                <a:ea typeface="メイリオ" panose="020B0604030504040204" pitchFamily="50" charset="-128"/>
              </a:rPr>
              <a:t>以上</a:t>
            </a:r>
          </a:p>
        </p:txBody>
      </p:sp>
      <p:sp>
        <p:nvSpPr>
          <p:cNvPr id="29" name="正方形/長方形 28">
            <a:extLst>
              <a:ext uri="{FF2B5EF4-FFF2-40B4-BE49-F238E27FC236}">
                <a16:creationId xmlns:a16="http://schemas.microsoft.com/office/drawing/2014/main" id="{28EAFF33-F691-B459-D0B9-D3E66638BEDE}"/>
              </a:ext>
            </a:extLst>
          </p:cNvPr>
          <p:cNvSpPr/>
          <p:nvPr userDrawn="1"/>
        </p:nvSpPr>
        <p:spPr>
          <a:xfrm>
            <a:off x="5768357" y="1224536"/>
            <a:ext cx="932443"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メンバー迄</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C83666F6-7F62-46F4-7685-7F053DC6B1CD}"/>
              </a:ext>
            </a:extLst>
          </p:cNvPr>
          <p:cNvSpPr/>
          <p:nvPr userDrawn="1"/>
        </p:nvSpPr>
        <p:spPr>
          <a:xfrm>
            <a:off x="1714418" y="399311"/>
            <a:ext cx="686213" cy="243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種別</a:t>
            </a:r>
          </a:p>
        </p:txBody>
      </p:sp>
      <p:sp>
        <p:nvSpPr>
          <p:cNvPr id="41" name="正方形/長方形 40">
            <a:extLst>
              <a:ext uri="{FF2B5EF4-FFF2-40B4-BE49-F238E27FC236}">
                <a16:creationId xmlns:a16="http://schemas.microsoft.com/office/drawing/2014/main" id="{E632A358-7C77-8101-BAD5-7EC29DEACF5B}"/>
              </a:ext>
            </a:extLst>
          </p:cNvPr>
          <p:cNvSpPr/>
          <p:nvPr userDrawn="1"/>
        </p:nvSpPr>
        <p:spPr>
          <a:xfrm>
            <a:off x="183875" y="208722"/>
            <a:ext cx="1323134" cy="4022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メイリオ" panose="020B0604030504040204" pitchFamily="50" charset="-128"/>
                <a:ea typeface="メイリオ" panose="020B0604030504040204" pitchFamily="50" charset="-128"/>
              </a:rPr>
              <a:t>起案書</a:t>
            </a:r>
          </a:p>
        </p:txBody>
      </p:sp>
      <p:sp>
        <p:nvSpPr>
          <p:cNvPr id="43" name="正方形/長方形 42">
            <a:extLst>
              <a:ext uri="{FF2B5EF4-FFF2-40B4-BE49-F238E27FC236}">
                <a16:creationId xmlns:a16="http://schemas.microsoft.com/office/drawing/2014/main" id="{44A96332-81EC-630F-45DA-E43C18C15194}"/>
              </a:ext>
            </a:extLst>
          </p:cNvPr>
          <p:cNvSpPr/>
          <p:nvPr userDrawn="1"/>
        </p:nvSpPr>
        <p:spPr>
          <a:xfrm>
            <a:off x="7624052" y="1560373"/>
            <a:ext cx="234001" cy="21839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起案背景・目的</a:t>
            </a:r>
          </a:p>
        </p:txBody>
      </p:sp>
      <p:sp>
        <p:nvSpPr>
          <p:cNvPr id="44" name="正方形/長方形 43">
            <a:extLst>
              <a:ext uri="{FF2B5EF4-FFF2-40B4-BE49-F238E27FC236}">
                <a16:creationId xmlns:a16="http://schemas.microsoft.com/office/drawing/2014/main" id="{A9F4546B-ED96-C581-5837-655003E985D2}"/>
              </a:ext>
            </a:extLst>
          </p:cNvPr>
          <p:cNvSpPr/>
          <p:nvPr userDrawn="1"/>
        </p:nvSpPr>
        <p:spPr>
          <a:xfrm>
            <a:off x="7858053" y="1560373"/>
            <a:ext cx="4271640" cy="21839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6A7C5E47-1DE1-F209-7347-5A99C4F1AB93}"/>
              </a:ext>
            </a:extLst>
          </p:cNvPr>
          <p:cNvSpPr txBox="1"/>
          <p:nvPr userDrawn="1"/>
        </p:nvSpPr>
        <p:spPr>
          <a:xfrm>
            <a:off x="9963557" y="486535"/>
            <a:ext cx="2228444" cy="246221"/>
          </a:xfrm>
          <a:prstGeom prst="rect">
            <a:avLst/>
          </a:prstGeom>
          <a:noFill/>
        </p:spPr>
        <p:txBody>
          <a:bodyPr wrap="square" rtlCol="0">
            <a:spAutoFit/>
          </a:bodyPr>
          <a:lstStyle/>
          <a:p>
            <a:r>
              <a:rPr kumimoji="1" lang="ja-JP" altLang="en-US" sz="1000" b="1">
                <a:solidFill>
                  <a:srgbClr val="FF0000"/>
                </a:solidFill>
                <a:latin typeface="メイリオ" panose="020B0604030504040204" pitchFamily="50" charset="-128"/>
                <a:ea typeface="メイリオ" panose="020B0604030504040204" pitchFamily="50" charset="-128"/>
              </a:rPr>
              <a:t>フォントサイズは</a:t>
            </a:r>
            <a:r>
              <a:rPr kumimoji="1" lang="en-US" altLang="ja-JP" sz="1000" b="1">
                <a:solidFill>
                  <a:srgbClr val="FF0000"/>
                </a:solidFill>
                <a:latin typeface="メイリオ" panose="020B0604030504040204" pitchFamily="50" charset="-128"/>
                <a:ea typeface="メイリオ" panose="020B0604030504040204" pitchFamily="50" charset="-128"/>
              </a:rPr>
              <a:t>【Min10】</a:t>
            </a:r>
            <a:r>
              <a:rPr kumimoji="1" lang="ja-JP" altLang="en-US" sz="1000" b="1">
                <a:solidFill>
                  <a:srgbClr val="FF0000"/>
                </a:solidFill>
                <a:latin typeface="メイリオ" panose="020B0604030504040204" pitchFamily="50" charset="-128"/>
                <a:ea typeface="メイリオ" panose="020B0604030504040204" pitchFamily="50" charset="-128"/>
              </a:rPr>
              <a:t>厳守</a:t>
            </a:r>
          </a:p>
        </p:txBody>
      </p:sp>
      <p:sp>
        <p:nvSpPr>
          <p:cNvPr id="30" name="正方形/長方形 29">
            <a:extLst>
              <a:ext uri="{FF2B5EF4-FFF2-40B4-BE49-F238E27FC236}">
                <a16:creationId xmlns:a16="http://schemas.microsoft.com/office/drawing/2014/main" id="{3EEA7373-BC88-A861-C39B-30D3F6AF2B04}"/>
              </a:ext>
            </a:extLst>
          </p:cNvPr>
          <p:cNvSpPr/>
          <p:nvPr userDrawn="1"/>
        </p:nvSpPr>
        <p:spPr>
          <a:xfrm>
            <a:off x="10268531" y="110605"/>
            <a:ext cx="1728000" cy="2887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kumimoji="1" lang="ja-JP" altLang="en-US" sz="1100" b="1">
                <a:solidFill>
                  <a:schemeClr val="tx1"/>
                </a:solidFill>
                <a:latin typeface="メイリオ" panose="020B0604030504040204" pitchFamily="50" charset="-128"/>
                <a:ea typeface="メイリオ" panose="020B0604030504040204" pitchFamily="50" charset="-128"/>
              </a:rPr>
              <a:t>領域戦略会</a:t>
            </a:r>
            <a:r>
              <a:rPr kumimoji="1" lang="en-US" altLang="ja-JP" sz="1100" b="1">
                <a:solidFill>
                  <a:schemeClr val="tx1"/>
                </a:solidFill>
                <a:latin typeface="メイリオ" panose="020B0604030504040204" pitchFamily="50" charset="-128"/>
                <a:ea typeface="メイリオ" panose="020B0604030504040204" pitchFamily="50" charset="-128"/>
              </a:rPr>
              <a:t>(</a:t>
            </a:r>
            <a:r>
              <a:rPr kumimoji="1" lang="ja-JP" altLang="en-US" sz="1100" b="1">
                <a:solidFill>
                  <a:schemeClr val="tx1"/>
                </a:solidFill>
                <a:latin typeface="メイリオ" panose="020B0604030504040204" pitchFamily="50" charset="-128"/>
                <a:ea typeface="メイリオ" panose="020B0604030504040204" pitchFamily="50" charset="-128"/>
              </a:rPr>
              <a:t>戦略・計画</a:t>
            </a:r>
            <a:r>
              <a:rPr kumimoji="1" lang="en-US" altLang="ja-JP" sz="1100" b="1">
                <a:solidFill>
                  <a:schemeClr val="tx1"/>
                </a:solidFill>
                <a:latin typeface="メイリオ" panose="020B0604030504040204" pitchFamily="50" charset="-128"/>
                <a:ea typeface="メイリオ" panose="020B0604030504040204" pitchFamily="50" charset="-128"/>
              </a:rPr>
              <a:t>)</a:t>
            </a:r>
            <a:endParaRPr kumimoji="1" lang="ja-JP" altLang="en-US" sz="1100" b="1">
              <a:solidFill>
                <a:schemeClr val="tx1"/>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8AB5D38F-2B46-5CF9-6B98-0976F159A269}"/>
              </a:ext>
            </a:extLst>
          </p:cNvPr>
          <p:cNvSpPr/>
          <p:nvPr userDrawn="1"/>
        </p:nvSpPr>
        <p:spPr>
          <a:xfrm>
            <a:off x="2424896"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決議</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7" name="正方形/長方形 36">
            <a:extLst>
              <a:ext uri="{FF2B5EF4-FFF2-40B4-BE49-F238E27FC236}">
                <a16:creationId xmlns:a16="http://schemas.microsoft.com/office/drawing/2014/main" id="{AA012D9E-614C-FCB2-FDF4-1523CBFBCDF9}"/>
              </a:ext>
            </a:extLst>
          </p:cNvPr>
          <p:cNvSpPr/>
          <p:nvPr userDrawn="1"/>
        </p:nvSpPr>
        <p:spPr>
          <a:xfrm>
            <a:off x="3956621" y="430993"/>
            <a:ext cx="1044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資料のみ決議</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8" name="正方形/長方形 37">
            <a:extLst>
              <a:ext uri="{FF2B5EF4-FFF2-40B4-BE49-F238E27FC236}">
                <a16:creationId xmlns:a16="http://schemas.microsoft.com/office/drawing/2014/main" id="{A1F52A2C-1FFB-434D-8F54-52FE66DD2411}"/>
              </a:ext>
            </a:extLst>
          </p:cNvPr>
          <p:cNvSpPr/>
          <p:nvPr userDrawn="1"/>
        </p:nvSpPr>
        <p:spPr>
          <a:xfrm>
            <a:off x="2935471"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審議</a:t>
            </a:r>
          </a:p>
        </p:txBody>
      </p:sp>
      <p:sp>
        <p:nvSpPr>
          <p:cNvPr id="39" name="正方形/長方形 38">
            <a:extLst>
              <a:ext uri="{FF2B5EF4-FFF2-40B4-BE49-F238E27FC236}">
                <a16:creationId xmlns:a16="http://schemas.microsoft.com/office/drawing/2014/main" id="{00EBF710-D6A8-B008-B765-C4F491C72C6A}"/>
              </a:ext>
            </a:extLst>
          </p:cNvPr>
          <p:cNvSpPr/>
          <p:nvPr userDrawn="1"/>
        </p:nvSpPr>
        <p:spPr>
          <a:xfrm>
            <a:off x="5043197" y="430993"/>
            <a:ext cx="1044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資料のみ報告</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40" name="正方形/長方形 39">
            <a:extLst>
              <a:ext uri="{FF2B5EF4-FFF2-40B4-BE49-F238E27FC236}">
                <a16:creationId xmlns:a16="http://schemas.microsoft.com/office/drawing/2014/main" id="{A829538A-4C7D-B69D-1CD9-4085E3BAA7CD}"/>
              </a:ext>
            </a:extLst>
          </p:cNvPr>
          <p:cNvSpPr/>
          <p:nvPr userDrawn="1"/>
        </p:nvSpPr>
        <p:spPr>
          <a:xfrm>
            <a:off x="3446046"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報告</a:t>
            </a:r>
          </a:p>
        </p:txBody>
      </p:sp>
      <p:sp>
        <p:nvSpPr>
          <p:cNvPr id="42" name="正方形/長方形 41">
            <a:extLst>
              <a:ext uri="{FF2B5EF4-FFF2-40B4-BE49-F238E27FC236}">
                <a16:creationId xmlns:a16="http://schemas.microsoft.com/office/drawing/2014/main" id="{B05F8769-1E62-0C4D-6351-F36D3EC57E7C}"/>
              </a:ext>
            </a:extLst>
          </p:cNvPr>
          <p:cNvSpPr/>
          <p:nvPr userDrawn="1"/>
        </p:nvSpPr>
        <p:spPr>
          <a:xfrm>
            <a:off x="3111811" y="1224536"/>
            <a:ext cx="1188000"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統括部長以上</a:t>
            </a:r>
          </a:p>
        </p:txBody>
      </p:sp>
      <p:sp>
        <p:nvSpPr>
          <p:cNvPr id="32" name="フッター プレースホルダー 7">
            <a:extLst>
              <a:ext uri="{FF2B5EF4-FFF2-40B4-BE49-F238E27FC236}">
                <a16:creationId xmlns:a16="http://schemas.microsoft.com/office/drawing/2014/main" id="{0B304F28-6F11-2D91-098A-2E7FEE635E57}"/>
              </a:ext>
            </a:extLst>
          </p:cNvPr>
          <p:cNvSpPr>
            <a:spLocks noGrp="1"/>
          </p:cNvSpPr>
          <p:nvPr>
            <p:ph type="ftr" sz="quarter" idx="3"/>
          </p:nvPr>
        </p:nvSpPr>
        <p:spPr>
          <a:xfrm>
            <a:off x="4038600" y="6548434"/>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Tree>
    <p:extLst>
      <p:ext uri="{BB962C8B-B14F-4D97-AF65-F5344CB8AC3E}">
        <p14:creationId xmlns:p14="http://schemas.microsoft.com/office/powerpoint/2010/main" val="942083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コンテンツ_1カラム">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863999"/>
            <a:ext cx="11447462" cy="4824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9">
            <a:extLst>
              <a:ext uri="{FF2B5EF4-FFF2-40B4-BE49-F238E27FC236}">
                <a16:creationId xmlns:a16="http://schemas.microsoft.com/office/drawing/2014/main" id="{1B79DA71-214B-8E78-513A-679C033B9CFD}"/>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
        <p:nvSpPr>
          <p:cNvPr id="10" name="フッター プレースホルダー 7">
            <a:extLst>
              <a:ext uri="{FF2B5EF4-FFF2-40B4-BE49-F238E27FC236}">
                <a16:creationId xmlns:a16="http://schemas.microsoft.com/office/drawing/2014/main" id="{1BF5882D-4DDC-8125-937E-6786E4A6C57C}"/>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11" name="スライド番号プレースホルダー 8">
            <a:extLst>
              <a:ext uri="{FF2B5EF4-FFF2-40B4-BE49-F238E27FC236}">
                <a16:creationId xmlns:a16="http://schemas.microsoft.com/office/drawing/2014/main" id="{0696E47F-D7F9-AE7B-0710-10E75C234EBB}"/>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Tree>
    <p:extLst>
      <p:ext uri="{BB962C8B-B14F-4D97-AF65-F5344CB8AC3E}">
        <p14:creationId xmlns:p14="http://schemas.microsoft.com/office/powerpoint/2010/main" val="26391413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コンテンツ_2カラム">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863999"/>
            <a:ext cx="5544000" cy="4824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2" name="コンテンツ プレースホルダー 2">
            <a:extLst>
              <a:ext uri="{FF2B5EF4-FFF2-40B4-BE49-F238E27FC236}">
                <a16:creationId xmlns:a16="http://schemas.microsoft.com/office/drawing/2014/main" id="{26407B70-4857-AC66-381E-615EF0A74FE7}"/>
              </a:ext>
            </a:extLst>
          </p:cNvPr>
          <p:cNvSpPr>
            <a:spLocks noGrp="1"/>
          </p:cNvSpPr>
          <p:nvPr>
            <p:ph sz="quarter" idx="15" hasCustomPrompt="1"/>
          </p:nvPr>
        </p:nvSpPr>
        <p:spPr>
          <a:xfrm>
            <a:off x="6262399" y="863999"/>
            <a:ext cx="5544000" cy="4824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12" name="テキスト プレースホルダー 9">
            <a:extLst>
              <a:ext uri="{FF2B5EF4-FFF2-40B4-BE49-F238E27FC236}">
                <a16:creationId xmlns:a16="http://schemas.microsoft.com/office/drawing/2014/main" id="{A99BB804-9BC2-1997-62C4-E0FD020C769A}"/>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
        <p:nvSpPr>
          <p:cNvPr id="5" name="フッター プレースホルダー 7">
            <a:extLst>
              <a:ext uri="{FF2B5EF4-FFF2-40B4-BE49-F238E27FC236}">
                <a16:creationId xmlns:a16="http://schemas.microsoft.com/office/drawing/2014/main" id="{FD12583F-17BD-122E-069B-61E4F807528A}"/>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CFF2E6F3-F95B-E765-5B0C-45866F216125}"/>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Tree>
    <p:extLst>
      <p:ext uri="{BB962C8B-B14F-4D97-AF65-F5344CB8AC3E}">
        <p14:creationId xmlns:p14="http://schemas.microsoft.com/office/powerpoint/2010/main" val="41131881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コンテンツ_3カラム">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863999"/>
            <a:ext cx="3600000" cy="4752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9" name="コンテンツ プレースホルダー 2">
            <a:extLst>
              <a:ext uri="{FF2B5EF4-FFF2-40B4-BE49-F238E27FC236}">
                <a16:creationId xmlns:a16="http://schemas.microsoft.com/office/drawing/2014/main" id="{AEA2E90D-7DBF-A346-42AD-2A7868E1E8BF}"/>
              </a:ext>
            </a:extLst>
          </p:cNvPr>
          <p:cNvSpPr>
            <a:spLocks noGrp="1"/>
          </p:cNvSpPr>
          <p:nvPr>
            <p:ph sz="quarter" idx="15" hasCustomPrompt="1"/>
          </p:nvPr>
        </p:nvSpPr>
        <p:spPr>
          <a:xfrm>
            <a:off x="4284000" y="863999"/>
            <a:ext cx="3600000" cy="4752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10" name="コンテンツ プレースホルダー 2">
            <a:extLst>
              <a:ext uri="{FF2B5EF4-FFF2-40B4-BE49-F238E27FC236}">
                <a16:creationId xmlns:a16="http://schemas.microsoft.com/office/drawing/2014/main" id="{89FFF393-0F16-2A7B-D94F-78658838AA06}"/>
              </a:ext>
            </a:extLst>
          </p:cNvPr>
          <p:cNvSpPr>
            <a:spLocks noGrp="1"/>
          </p:cNvSpPr>
          <p:nvPr>
            <p:ph sz="quarter" idx="16" hasCustomPrompt="1"/>
          </p:nvPr>
        </p:nvSpPr>
        <p:spPr>
          <a:xfrm>
            <a:off x="8208000" y="863999"/>
            <a:ext cx="3600000" cy="4752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14" name="テキスト プレースホルダー 9">
            <a:extLst>
              <a:ext uri="{FF2B5EF4-FFF2-40B4-BE49-F238E27FC236}">
                <a16:creationId xmlns:a16="http://schemas.microsoft.com/office/drawing/2014/main" id="{8E596397-9540-F4AB-17D9-E08AAB3BE9C8}"/>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Meiryo" panose="020B0604030504040204" pitchFamily="34" charset="-128"/>
                <a:ea typeface="Meiryo" panose="020B0604030504040204" pitchFamily="34" charset="-128"/>
              </a:defRPr>
            </a:lvl1pPr>
          </a:lstStyle>
          <a:p>
            <a:pPr lvl="0"/>
            <a:r>
              <a:rPr kumimoji="1" lang="ja-JP" altLang="en-US"/>
              <a:t>タイトルを入力</a:t>
            </a:r>
          </a:p>
        </p:txBody>
      </p:sp>
      <p:sp>
        <p:nvSpPr>
          <p:cNvPr id="4" name="フッター プレースホルダー 7">
            <a:extLst>
              <a:ext uri="{FF2B5EF4-FFF2-40B4-BE49-F238E27FC236}">
                <a16:creationId xmlns:a16="http://schemas.microsoft.com/office/drawing/2014/main" id="{290620CE-502E-21AC-F387-741FE77327DA}"/>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5" name="スライド番号プレースホルダー 8">
            <a:extLst>
              <a:ext uri="{FF2B5EF4-FFF2-40B4-BE49-F238E27FC236}">
                <a16:creationId xmlns:a16="http://schemas.microsoft.com/office/drawing/2014/main" id="{7D55CCBC-2073-F9C4-3B52-C9B48DC458A2}"/>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Tree>
    <p:extLst>
      <p:ext uri="{BB962C8B-B14F-4D97-AF65-F5344CB8AC3E}">
        <p14:creationId xmlns:p14="http://schemas.microsoft.com/office/powerpoint/2010/main" val="15301973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コンテンツ_2行">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863999"/>
            <a:ext cx="11447462" cy="2196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2" name="コンテンツ プレースホルダー 2">
            <a:extLst>
              <a:ext uri="{FF2B5EF4-FFF2-40B4-BE49-F238E27FC236}">
                <a16:creationId xmlns:a16="http://schemas.microsoft.com/office/drawing/2014/main" id="{E3998644-1180-AFE7-65A2-5BF7DCB4E902}"/>
              </a:ext>
            </a:extLst>
          </p:cNvPr>
          <p:cNvSpPr>
            <a:spLocks noGrp="1"/>
          </p:cNvSpPr>
          <p:nvPr>
            <p:ph sz="quarter" idx="15" hasCustomPrompt="1"/>
          </p:nvPr>
        </p:nvSpPr>
        <p:spPr>
          <a:xfrm>
            <a:off x="360000" y="3420000"/>
            <a:ext cx="11447462" cy="2196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42B81BFB-8194-C954-A7F6-907B71A2B421}"/>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4E753DAF-B9F1-B60A-116C-DD8BD6819FA0}"/>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9" name="テキスト プレースホルダー 9">
            <a:extLst>
              <a:ext uri="{FF2B5EF4-FFF2-40B4-BE49-F238E27FC236}">
                <a16:creationId xmlns:a16="http://schemas.microsoft.com/office/drawing/2014/main" id="{A072AF67-6B51-411D-BE5D-D3FE0BF10FD2}"/>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Meiryo" panose="020B0604030504040204" pitchFamily="34" charset="-128"/>
                <a:ea typeface="Meiryo" panose="020B0604030504040204" pitchFamily="34" charset="-128"/>
              </a:defRPr>
            </a:lvl1pPr>
          </a:lstStyle>
          <a:p>
            <a:pPr lvl="0"/>
            <a:r>
              <a:rPr kumimoji="1" lang="ja-JP" altLang="en-US"/>
              <a:t>タイトルを入力</a:t>
            </a:r>
          </a:p>
        </p:txBody>
      </p:sp>
    </p:spTree>
    <p:extLst>
      <p:ext uri="{BB962C8B-B14F-4D97-AF65-F5344CB8AC3E}">
        <p14:creationId xmlns:p14="http://schemas.microsoft.com/office/powerpoint/2010/main" val="3074005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コンテンツ_3行">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864000"/>
            <a:ext cx="11447462" cy="1475999"/>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9" name="コンテンツ プレースホルダー 2">
            <a:extLst>
              <a:ext uri="{FF2B5EF4-FFF2-40B4-BE49-F238E27FC236}">
                <a16:creationId xmlns:a16="http://schemas.microsoft.com/office/drawing/2014/main" id="{1ABA03F6-6045-70F7-CDC2-6CE6819DF448}"/>
              </a:ext>
            </a:extLst>
          </p:cNvPr>
          <p:cNvSpPr>
            <a:spLocks noGrp="1"/>
          </p:cNvSpPr>
          <p:nvPr>
            <p:ph sz="quarter" idx="15" hasCustomPrompt="1"/>
          </p:nvPr>
        </p:nvSpPr>
        <p:spPr>
          <a:xfrm>
            <a:off x="360363" y="2558726"/>
            <a:ext cx="11447462" cy="1475999"/>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10" name="コンテンツ プレースホルダー 2">
            <a:extLst>
              <a:ext uri="{FF2B5EF4-FFF2-40B4-BE49-F238E27FC236}">
                <a16:creationId xmlns:a16="http://schemas.microsoft.com/office/drawing/2014/main" id="{1AC31A9C-4ABE-9FA1-3859-F52F3954F008}"/>
              </a:ext>
            </a:extLst>
          </p:cNvPr>
          <p:cNvSpPr>
            <a:spLocks noGrp="1"/>
          </p:cNvSpPr>
          <p:nvPr>
            <p:ph sz="quarter" idx="16" hasCustomPrompt="1"/>
          </p:nvPr>
        </p:nvSpPr>
        <p:spPr>
          <a:xfrm>
            <a:off x="360363" y="4281161"/>
            <a:ext cx="11447462" cy="1475999"/>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2" name="テキスト ボックス 1">
            <a:extLst>
              <a:ext uri="{FF2B5EF4-FFF2-40B4-BE49-F238E27FC236}">
                <a16:creationId xmlns:a16="http://schemas.microsoft.com/office/drawing/2014/main" id="{68401441-2D33-D885-1746-E00CD7887FF5}"/>
              </a:ext>
            </a:extLst>
          </p:cNvPr>
          <p:cNvSpPr txBox="1"/>
          <p:nvPr userDrawn="1"/>
        </p:nvSpPr>
        <p:spPr>
          <a:xfrm>
            <a:off x="2881745" y="6151418"/>
            <a:ext cx="0" cy="0"/>
          </a:xfrm>
          <a:prstGeom prst="rect">
            <a:avLst/>
          </a:prstGeom>
          <a:noFill/>
        </p:spPr>
        <p:txBody>
          <a:bodyPr wrap="none" lIns="108000" rIns="90000" rtlCol="0">
            <a:normAutofit fontScale="25000" lnSpcReduction="20000"/>
          </a:bodyPr>
          <a:lstStyle/>
          <a:p>
            <a:pPr algn="l"/>
            <a:endParaRPr kumimoji="1" lang="ja-JP" altLang="en-US" b="0" i="0">
              <a:solidFill>
                <a:schemeClr val="bg1"/>
              </a:solidFill>
              <a:ea typeface="Meiryo" panose="020B0604030504040204" pitchFamily="34" charset="-128"/>
            </a:endParaRPr>
          </a:p>
        </p:txBody>
      </p:sp>
      <p:sp>
        <p:nvSpPr>
          <p:cNvPr id="4" name="フッター プレースホルダー 7">
            <a:extLst>
              <a:ext uri="{FF2B5EF4-FFF2-40B4-BE49-F238E27FC236}">
                <a16:creationId xmlns:a16="http://schemas.microsoft.com/office/drawing/2014/main" id="{DDB7B6FC-EF1B-FA30-9341-598243B5E343}"/>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5" name="スライド番号プレースホルダー 8">
            <a:extLst>
              <a:ext uri="{FF2B5EF4-FFF2-40B4-BE49-F238E27FC236}">
                <a16:creationId xmlns:a16="http://schemas.microsoft.com/office/drawing/2014/main" id="{BFA9BBEB-00A7-CE86-9CBA-893C4B1DEC12}"/>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11" name="テキスト プレースホルダー 9">
            <a:extLst>
              <a:ext uri="{FF2B5EF4-FFF2-40B4-BE49-F238E27FC236}">
                <a16:creationId xmlns:a16="http://schemas.microsoft.com/office/drawing/2014/main" id="{D3CE861F-6D80-4315-BABD-3584B337C1D5}"/>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25268352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コンテンツ_2カラム_2行">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863999"/>
            <a:ext cx="5544000" cy="2196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2" name="コンテンツ プレースホルダー 2">
            <a:extLst>
              <a:ext uri="{FF2B5EF4-FFF2-40B4-BE49-F238E27FC236}">
                <a16:creationId xmlns:a16="http://schemas.microsoft.com/office/drawing/2014/main" id="{E3998644-1180-AFE7-65A2-5BF7DCB4E902}"/>
              </a:ext>
            </a:extLst>
          </p:cNvPr>
          <p:cNvSpPr>
            <a:spLocks noGrp="1"/>
          </p:cNvSpPr>
          <p:nvPr>
            <p:ph sz="quarter" idx="15" hasCustomPrompt="1"/>
          </p:nvPr>
        </p:nvSpPr>
        <p:spPr>
          <a:xfrm>
            <a:off x="360000" y="3384000"/>
            <a:ext cx="5544000" cy="2196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9" name="コンテンツ プレースホルダー 2">
            <a:extLst>
              <a:ext uri="{FF2B5EF4-FFF2-40B4-BE49-F238E27FC236}">
                <a16:creationId xmlns:a16="http://schemas.microsoft.com/office/drawing/2014/main" id="{45CE943F-8DFF-0A0E-09CA-3014B00BB782}"/>
              </a:ext>
            </a:extLst>
          </p:cNvPr>
          <p:cNvSpPr>
            <a:spLocks noGrp="1"/>
          </p:cNvSpPr>
          <p:nvPr>
            <p:ph sz="quarter" idx="16" hasCustomPrompt="1"/>
          </p:nvPr>
        </p:nvSpPr>
        <p:spPr>
          <a:xfrm>
            <a:off x="6264000" y="863999"/>
            <a:ext cx="5544000" cy="2196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10" name="コンテンツ プレースホルダー 2">
            <a:extLst>
              <a:ext uri="{FF2B5EF4-FFF2-40B4-BE49-F238E27FC236}">
                <a16:creationId xmlns:a16="http://schemas.microsoft.com/office/drawing/2014/main" id="{8724A2F7-9CFF-029A-187B-653B8B43E89F}"/>
              </a:ext>
            </a:extLst>
          </p:cNvPr>
          <p:cNvSpPr>
            <a:spLocks noGrp="1"/>
          </p:cNvSpPr>
          <p:nvPr>
            <p:ph sz="quarter" idx="17" hasCustomPrompt="1"/>
          </p:nvPr>
        </p:nvSpPr>
        <p:spPr>
          <a:xfrm>
            <a:off x="6264000" y="3384000"/>
            <a:ext cx="5544000" cy="2196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フッター プレースホルダー 7">
            <a:extLst>
              <a:ext uri="{FF2B5EF4-FFF2-40B4-BE49-F238E27FC236}">
                <a16:creationId xmlns:a16="http://schemas.microsoft.com/office/drawing/2014/main" id="{8D4EF0B7-5077-BDEA-AECF-39F8ABC163D0}"/>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5" name="スライド番号プレースホルダー 8">
            <a:extLst>
              <a:ext uri="{FF2B5EF4-FFF2-40B4-BE49-F238E27FC236}">
                <a16:creationId xmlns:a16="http://schemas.microsoft.com/office/drawing/2014/main" id="{4FD1865E-3171-7354-567F-2E1FF319CCF9}"/>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11" name="テキスト プレースホルダー 9">
            <a:extLst>
              <a:ext uri="{FF2B5EF4-FFF2-40B4-BE49-F238E27FC236}">
                <a16:creationId xmlns:a16="http://schemas.microsoft.com/office/drawing/2014/main" id="{96E1C8D1-5071-4DBF-88E0-F97DA7D3D8F3}"/>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31144187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ンテンツ_見出しあり_1カラム ">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2" y="1692000"/>
            <a:ext cx="11447461"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4000"/>
            <a:ext cx="11447462" cy="547842"/>
          </a:xfrm>
          <a:prstGeom prst="rect">
            <a:avLst/>
          </a:prstGeom>
        </p:spPr>
        <p:txBody>
          <a:bodyPr>
            <a:spAutoFit/>
          </a:bodyPr>
          <a:lstStyle>
            <a:lvl1pPr marL="0" indent="0">
              <a:spcBef>
                <a:spcPts val="0"/>
              </a:spcBef>
              <a:buNone/>
              <a:defRPr sz="3200" b="1" i="0" baseline="0">
                <a:ea typeface="Meiryo" panose="020B0604030504040204" pitchFamily="34" charset="-128"/>
              </a:defRPr>
            </a:lvl1pPr>
          </a:lstStyle>
          <a:p>
            <a:pPr lvl="0"/>
            <a:r>
              <a:rPr kumimoji="1" lang="ja-JP" altLang="en-US"/>
              <a:t>見出しを入力</a:t>
            </a:r>
          </a:p>
        </p:txBody>
      </p:sp>
      <p:sp>
        <p:nvSpPr>
          <p:cNvPr id="5" name="フッター プレースホルダー 7">
            <a:extLst>
              <a:ext uri="{FF2B5EF4-FFF2-40B4-BE49-F238E27FC236}">
                <a16:creationId xmlns:a16="http://schemas.microsoft.com/office/drawing/2014/main" id="{CDA97645-8913-6C6D-283D-BD33B7E34635}"/>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D44D7DF7-EA7C-A83B-9E29-DB8F0DB9EB2E}"/>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9" name="テキスト プレースホルダー 9">
            <a:extLst>
              <a:ext uri="{FF2B5EF4-FFF2-40B4-BE49-F238E27FC236}">
                <a16:creationId xmlns:a16="http://schemas.microsoft.com/office/drawing/2014/main" id="{BBB5D11A-3124-4235-98BB-2D5AB0564A7C}"/>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12261830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コンテンツ_見出しあり_2カラム01">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1692000"/>
            <a:ext cx="5544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4000"/>
            <a:ext cx="11447462" cy="547842"/>
          </a:xfrm>
          <a:prstGeom prst="rect">
            <a:avLst/>
          </a:prstGeom>
        </p:spPr>
        <p:txBody>
          <a:bodyPr>
            <a:spAutoFit/>
          </a:bodyPr>
          <a:lstStyle>
            <a:lvl1pPr marL="0" indent="0">
              <a:spcBef>
                <a:spcPts val="0"/>
              </a:spcBef>
              <a:buNone/>
              <a:defRPr sz="3200" b="1" i="0" baseline="0">
                <a:ea typeface="Meiryo" panose="020B0604030504040204" pitchFamily="34" charset="-128"/>
              </a:defRPr>
            </a:lvl1pPr>
          </a:lstStyle>
          <a:p>
            <a:pPr lvl="0"/>
            <a:r>
              <a:rPr kumimoji="1" lang="ja-JP" altLang="en-US"/>
              <a:t>見出しを入力</a:t>
            </a:r>
          </a:p>
        </p:txBody>
      </p:sp>
      <p:sp>
        <p:nvSpPr>
          <p:cNvPr id="9" name="コンテンツ プレースホルダー 2">
            <a:extLst>
              <a:ext uri="{FF2B5EF4-FFF2-40B4-BE49-F238E27FC236}">
                <a16:creationId xmlns:a16="http://schemas.microsoft.com/office/drawing/2014/main" id="{68B00E7D-7FDE-BFC2-C9D1-B41581E75D15}"/>
              </a:ext>
            </a:extLst>
          </p:cNvPr>
          <p:cNvSpPr>
            <a:spLocks noGrp="1"/>
          </p:cNvSpPr>
          <p:nvPr>
            <p:ph sz="quarter" idx="16" hasCustomPrompt="1"/>
          </p:nvPr>
        </p:nvSpPr>
        <p:spPr>
          <a:xfrm>
            <a:off x="6264000" y="1692000"/>
            <a:ext cx="5544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18F571CF-776F-D33C-60DF-9D62AEF5093F}"/>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CDC5C967-D209-1408-5A95-22C3C19ECB93}"/>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10" name="テキスト プレースホルダー 9">
            <a:extLst>
              <a:ext uri="{FF2B5EF4-FFF2-40B4-BE49-F238E27FC236}">
                <a16:creationId xmlns:a16="http://schemas.microsoft.com/office/drawing/2014/main" id="{D87CFB1D-3866-4F1D-8342-4B956E8DA4F4}"/>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30337039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コンテンツ_見出しあり_2カラム02">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1692000"/>
            <a:ext cx="3600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4000"/>
            <a:ext cx="11447462" cy="547842"/>
          </a:xfrm>
          <a:prstGeom prst="rect">
            <a:avLst/>
          </a:prstGeom>
        </p:spPr>
        <p:txBody>
          <a:bodyPr>
            <a:spAutoFit/>
          </a:bodyPr>
          <a:lstStyle>
            <a:lvl1pPr marL="0" indent="0">
              <a:spcBef>
                <a:spcPts val="0"/>
              </a:spcBef>
              <a:buNone/>
              <a:defRPr sz="3200" b="1" i="0" baseline="0">
                <a:ea typeface="Meiryo" panose="020B0604030504040204" pitchFamily="34" charset="-128"/>
              </a:defRPr>
            </a:lvl1pPr>
          </a:lstStyle>
          <a:p>
            <a:pPr lvl="0"/>
            <a:r>
              <a:rPr kumimoji="1" lang="ja-JP" altLang="en-US"/>
              <a:t>見出しを入力</a:t>
            </a:r>
          </a:p>
        </p:txBody>
      </p:sp>
      <p:sp>
        <p:nvSpPr>
          <p:cNvPr id="9" name="コンテンツ プレースホルダー 2">
            <a:extLst>
              <a:ext uri="{FF2B5EF4-FFF2-40B4-BE49-F238E27FC236}">
                <a16:creationId xmlns:a16="http://schemas.microsoft.com/office/drawing/2014/main" id="{68B00E7D-7FDE-BFC2-C9D1-B41581E75D15}"/>
              </a:ext>
            </a:extLst>
          </p:cNvPr>
          <p:cNvSpPr>
            <a:spLocks noGrp="1"/>
          </p:cNvSpPr>
          <p:nvPr>
            <p:ph sz="quarter" idx="16" hasCustomPrompt="1"/>
          </p:nvPr>
        </p:nvSpPr>
        <p:spPr>
          <a:xfrm>
            <a:off x="4319825" y="1692000"/>
            <a:ext cx="7488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63611234-EB9D-B56A-5F01-7C8152864B16}"/>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9D144814-90D9-7C84-E600-BD7FD16C9265}"/>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10" name="テキスト プレースホルダー 9">
            <a:extLst>
              <a:ext uri="{FF2B5EF4-FFF2-40B4-BE49-F238E27FC236}">
                <a16:creationId xmlns:a16="http://schemas.microsoft.com/office/drawing/2014/main" id="{758B078F-9213-4F19-A73C-38D9EF14C919}"/>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11474956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コンテンツ_見出しあり_2カラム03">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1692000"/>
            <a:ext cx="7488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4000"/>
            <a:ext cx="11447462" cy="547842"/>
          </a:xfrm>
          <a:prstGeom prst="rect">
            <a:avLst/>
          </a:prstGeom>
        </p:spPr>
        <p:txBody>
          <a:bodyPr>
            <a:spAutoFit/>
          </a:bodyPr>
          <a:lstStyle>
            <a:lvl1pPr marL="0" indent="0">
              <a:spcBef>
                <a:spcPts val="0"/>
              </a:spcBef>
              <a:buNone/>
              <a:defRPr sz="3200" b="1" i="0" baseline="0">
                <a:ea typeface="Meiryo" panose="020B0604030504040204" pitchFamily="34" charset="-128"/>
              </a:defRPr>
            </a:lvl1pPr>
          </a:lstStyle>
          <a:p>
            <a:pPr lvl="0"/>
            <a:r>
              <a:rPr kumimoji="1" lang="ja-JP" altLang="en-US"/>
              <a:t>見出しを入力</a:t>
            </a:r>
          </a:p>
        </p:txBody>
      </p:sp>
      <p:sp>
        <p:nvSpPr>
          <p:cNvPr id="9" name="コンテンツ プレースホルダー 2">
            <a:extLst>
              <a:ext uri="{FF2B5EF4-FFF2-40B4-BE49-F238E27FC236}">
                <a16:creationId xmlns:a16="http://schemas.microsoft.com/office/drawing/2014/main" id="{68B00E7D-7FDE-BFC2-C9D1-B41581E75D15}"/>
              </a:ext>
            </a:extLst>
          </p:cNvPr>
          <p:cNvSpPr>
            <a:spLocks noGrp="1"/>
          </p:cNvSpPr>
          <p:nvPr>
            <p:ph sz="quarter" idx="16" hasCustomPrompt="1"/>
          </p:nvPr>
        </p:nvSpPr>
        <p:spPr>
          <a:xfrm>
            <a:off x="8207825" y="1692000"/>
            <a:ext cx="3600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7C4402CE-25DD-3FC3-E601-3727FE754F22}"/>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07845088-9B7B-57D7-B32C-F8E1902E5FCA}"/>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10" name="テキスト プレースホルダー 9">
            <a:extLst>
              <a:ext uri="{FF2B5EF4-FFF2-40B4-BE49-F238E27FC236}">
                <a16:creationId xmlns:a16="http://schemas.microsoft.com/office/drawing/2014/main" id="{CECBF70E-0046-4715-AFB8-41FA1FB7C5C3}"/>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38576826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コンテンツ_見出しあり_ 3カラム ">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1692000"/>
            <a:ext cx="3600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4000"/>
            <a:ext cx="11447462" cy="547842"/>
          </a:xfrm>
          <a:prstGeom prst="rect">
            <a:avLst/>
          </a:prstGeom>
        </p:spPr>
        <p:txBody>
          <a:bodyPr>
            <a:spAutoFit/>
          </a:bodyPr>
          <a:lstStyle>
            <a:lvl1pPr marL="0" indent="0">
              <a:spcBef>
                <a:spcPts val="0"/>
              </a:spcBef>
              <a:buNone/>
              <a:defRPr sz="3200" b="1" i="0" baseline="0">
                <a:ea typeface="Meiryo" panose="020B0604030504040204" pitchFamily="34" charset="-128"/>
              </a:defRPr>
            </a:lvl1pPr>
          </a:lstStyle>
          <a:p>
            <a:pPr lvl="0"/>
            <a:r>
              <a:rPr kumimoji="1" lang="ja-JP" altLang="en-US"/>
              <a:t>見出しを入力</a:t>
            </a:r>
          </a:p>
        </p:txBody>
      </p:sp>
      <p:sp>
        <p:nvSpPr>
          <p:cNvPr id="2" name="コンテンツ プレースホルダー 2">
            <a:extLst>
              <a:ext uri="{FF2B5EF4-FFF2-40B4-BE49-F238E27FC236}">
                <a16:creationId xmlns:a16="http://schemas.microsoft.com/office/drawing/2014/main" id="{B9846B45-83F1-7D89-9CE3-C6FD5641CB78}"/>
              </a:ext>
            </a:extLst>
          </p:cNvPr>
          <p:cNvSpPr>
            <a:spLocks noGrp="1"/>
          </p:cNvSpPr>
          <p:nvPr>
            <p:ph sz="quarter" idx="16" hasCustomPrompt="1"/>
          </p:nvPr>
        </p:nvSpPr>
        <p:spPr>
          <a:xfrm>
            <a:off x="4284000" y="1692000"/>
            <a:ext cx="3600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11" name="コンテンツ プレースホルダー 2">
            <a:extLst>
              <a:ext uri="{FF2B5EF4-FFF2-40B4-BE49-F238E27FC236}">
                <a16:creationId xmlns:a16="http://schemas.microsoft.com/office/drawing/2014/main" id="{F7EEDEDE-E0C5-1F47-F066-39ED01855F8B}"/>
              </a:ext>
            </a:extLst>
          </p:cNvPr>
          <p:cNvSpPr>
            <a:spLocks noGrp="1"/>
          </p:cNvSpPr>
          <p:nvPr>
            <p:ph sz="quarter" idx="17" hasCustomPrompt="1"/>
          </p:nvPr>
        </p:nvSpPr>
        <p:spPr>
          <a:xfrm>
            <a:off x="8208000" y="1692000"/>
            <a:ext cx="3600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1A73DCEB-293D-923B-1386-CD85DE44A744}"/>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5475FC91-1306-A4B8-27CC-185F1F14A3B7}"/>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10" name="テキスト プレースホルダー 9">
            <a:extLst>
              <a:ext uri="{FF2B5EF4-FFF2-40B4-BE49-F238E27FC236}">
                <a16:creationId xmlns:a16="http://schemas.microsoft.com/office/drawing/2014/main" id="{83C22AC4-D8AF-46CB-8ADF-11563B5B2D5A}"/>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35241091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コンテンツ_説明あり_1カラム">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2087997"/>
            <a:ext cx="11447462"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3999"/>
            <a:ext cx="11448000" cy="1008000"/>
          </a:xfrm>
          <a:prstGeom prst="rect">
            <a:avLst/>
          </a:prstGeom>
        </p:spPr>
        <p:txBody>
          <a:bodyPr lIns="0" tIns="0" rIns="0" bIns="0">
            <a:normAutofit/>
          </a:bodyPr>
          <a:lstStyle>
            <a:lvl1pPr marL="0" indent="0">
              <a:lnSpc>
                <a:spcPct val="130000"/>
              </a:lnSpc>
              <a:spcBef>
                <a:spcPts val="0"/>
              </a:spcBef>
              <a:buNone/>
              <a:defRPr sz="1600" b="0" i="0" baseline="0">
                <a:solidFill>
                  <a:schemeClr val="tx1"/>
                </a:solidFill>
                <a:latin typeface="+mn-ea"/>
                <a:ea typeface="+mn-ea"/>
              </a:defRPr>
            </a:lvl1pPr>
          </a:lstStyle>
          <a:p>
            <a:pPr lvl="0"/>
            <a:r>
              <a:rPr kumimoji="1" lang="ja-JP" altLang="en-US"/>
              <a:t>説明を入力</a:t>
            </a:r>
          </a:p>
        </p:txBody>
      </p:sp>
      <p:sp>
        <p:nvSpPr>
          <p:cNvPr id="5" name="フッター プレースホルダー 7">
            <a:extLst>
              <a:ext uri="{FF2B5EF4-FFF2-40B4-BE49-F238E27FC236}">
                <a16:creationId xmlns:a16="http://schemas.microsoft.com/office/drawing/2014/main" id="{36B75912-F5F1-3B8A-084B-B238AD1D137A}"/>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2A578B6F-A124-1509-FD93-A3A371D8D8BF}"/>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9" name="テキスト プレースホルダー 9">
            <a:extLst>
              <a:ext uri="{FF2B5EF4-FFF2-40B4-BE49-F238E27FC236}">
                <a16:creationId xmlns:a16="http://schemas.microsoft.com/office/drawing/2014/main" id="{AA64B4C2-46FA-44C6-A055-09C80C5078F7}"/>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3904059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コンテンツ_説明あり_2カラム01">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2087997"/>
            <a:ext cx="5544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3999"/>
            <a:ext cx="11448000" cy="1008000"/>
          </a:xfrm>
          <a:prstGeom prst="rect">
            <a:avLst/>
          </a:prstGeom>
        </p:spPr>
        <p:txBody>
          <a:bodyPr lIns="0" tIns="0" rIns="0" bIns="0">
            <a:normAutofit/>
          </a:bodyPr>
          <a:lstStyle>
            <a:lvl1pPr marL="0" indent="0">
              <a:lnSpc>
                <a:spcPct val="130000"/>
              </a:lnSpc>
              <a:spcBef>
                <a:spcPts val="0"/>
              </a:spcBef>
              <a:buNone/>
              <a:defRPr sz="1600" b="0" i="0" baseline="0">
                <a:solidFill>
                  <a:schemeClr val="tx1"/>
                </a:solidFill>
                <a:latin typeface="+mn-ea"/>
                <a:ea typeface="+mn-ea"/>
              </a:defRPr>
            </a:lvl1pPr>
          </a:lstStyle>
          <a:p>
            <a:pPr lvl="0"/>
            <a:r>
              <a:rPr kumimoji="1" lang="ja-JP" altLang="en-US"/>
              <a:t>説明を入力</a:t>
            </a:r>
          </a:p>
        </p:txBody>
      </p:sp>
      <p:sp>
        <p:nvSpPr>
          <p:cNvPr id="2" name="コンテンツ プレースホルダー 2">
            <a:extLst>
              <a:ext uri="{FF2B5EF4-FFF2-40B4-BE49-F238E27FC236}">
                <a16:creationId xmlns:a16="http://schemas.microsoft.com/office/drawing/2014/main" id="{94EA3134-36CB-E0F1-E740-48F4D9481919}"/>
              </a:ext>
            </a:extLst>
          </p:cNvPr>
          <p:cNvSpPr>
            <a:spLocks noGrp="1"/>
          </p:cNvSpPr>
          <p:nvPr>
            <p:ph sz="quarter" idx="16" hasCustomPrompt="1"/>
          </p:nvPr>
        </p:nvSpPr>
        <p:spPr>
          <a:xfrm>
            <a:off x="6264000" y="2087997"/>
            <a:ext cx="5544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3CADBBA8-7E19-30C9-9E6C-C3949286BE63}"/>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A94A05EF-C40C-BB3E-283F-281D00E18458}"/>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9" name="テキスト プレースホルダー 9">
            <a:extLst>
              <a:ext uri="{FF2B5EF4-FFF2-40B4-BE49-F238E27FC236}">
                <a16:creationId xmlns:a16="http://schemas.microsoft.com/office/drawing/2014/main" id="{E2C4F9F7-7C4D-4339-AA1E-152F25FAA95E}"/>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27805528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コンテンツ_説明あり_2カラム02">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2087997"/>
            <a:ext cx="3600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3999"/>
            <a:ext cx="11448000" cy="1008000"/>
          </a:xfrm>
          <a:prstGeom prst="rect">
            <a:avLst/>
          </a:prstGeom>
        </p:spPr>
        <p:txBody>
          <a:bodyPr lIns="0" tIns="0" rIns="0" bIns="0">
            <a:normAutofit/>
          </a:bodyPr>
          <a:lstStyle>
            <a:lvl1pPr marL="0" indent="0">
              <a:lnSpc>
                <a:spcPct val="130000"/>
              </a:lnSpc>
              <a:spcBef>
                <a:spcPts val="0"/>
              </a:spcBef>
              <a:buNone/>
              <a:defRPr sz="1600" b="0" i="0" baseline="0">
                <a:solidFill>
                  <a:schemeClr val="tx1"/>
                </a:solidFill>
                <a:latin typeface="+mn-ea"/>
                <a:ea typeface="+mn-ea"/>
              </a:defRPr>
            </a:lvl1pPr>
          </a:lstStyle>
          <a:p>
            <a:pPr lvl="0"/>
            <a:r>
              <a:rPr kumimoji="1" lang="ja-JP" altLang="en-US" dirty="0"/>
              <a:t>説明を入力</a:t>
            </a:r>
          </a:p>
        </p:txBody>
      </p:sp>
      <p:sp>
        <p:nvSpPr>
          <p:cNvPr id="2" name="コンテンツ プレースホルダー 2">
            <a:extLst>
              <a:ext uri="{FF2B5EF4-FFF2-40B4-BE49-F238E27FC236}">
                <a16:creationId xmlns:a16="http://schemas.microsoft.com/office/drawing/2014/main" id="{94EA3134-36CB-E0F1-E740-48F4D9481919}"/>
              </a:ext>
            </a:extLst>
          </p:cNvPr>
          <p:cNvSpPr>
            <a:spLocks noGrp="1"/>
          </p:cNvSpPr>
          <p:nvPr>
            <p:ph sz="quarter" idx="16" hasCustomPrompt="1"/>
          </p:nvPr>
        </p:nvSpPr>
        <p:spPr>
          <a:xfrm>
            <a:off x="4320000" y="2087997"/>
            <a:ext cx="7488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77FB28A9-C77F-61F1-CAD2-E0EB65403757}"/>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ACC09DD1-863F-730C-6094-5E67439FC2A3}"/>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9" name="テキスト プレースホルダー 9">
            <a:extLst>
              <a:ext uri="{FF2B5EF4-FFF2-40B4-BE49-F238E27FC236}">
                <a16:creationId xmlns:a16="http://schemas.microsoft.com/office/drawing/2014/main" id="{104CDD14-7588-4518-A83D-71F864A02FD5}"/>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29855742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コンテンツ_説明あり_2カラム03">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2087997"/>
            <a:ext cx="7488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3999"/>
            <a:ext cx="11448000" cy="1008000"/>
          </a:xfrm>
          <a:prstGeom prst="rect">
            <a:avLst/>
          </a:prstGeom>
        </p:spPr>
        <p:txBody>
          <a:bodyPr lIns="0" tIns="0" rIns="0" bIns="0">
            <a:normAutofit/>
          </a:bodyPr>
          <a:lstStyle>
            <a:lvl1pPr marL="0" indent="0">
              <a:lnSpc>
                <a:spcPct val="130000"/>
              </a:lnSpc>
              <a:spcBef>
                <a:spcPts val="0"/>
              </a:spcBef>
              <a:buNone/>
              <a:defRPr sz="1600" b="0" i="0" baseline="0">
                <a:solidFill>
                  <a:schemeClr val="tx1"/>
                </a:solidFill>
                <a:latin typeface="+mn-ea"/>
                <a:ea typeface="+mn-ea"/>
              </a:defRPr>
            </a:lvl1pPr>
          </a:lstStyle>
          <a:p>
            <a:pPr lvl="0"/>
            <a:r>
              <a:rPr kumimoji="1" lang="ja-JP" altLang="en-US"/>
              <a:t>説明を入力</a:t>
            </a:r>
          </a:p>
        </p:txBody>
      </p:sp>
      <p:sp>
        <p:nvSpPr>
          <p:cNvPr id="2" name="コンテンツ プレースホルダー 2">
            <a:extLst>
              <a:ext uri="{FF2B5EF4-FFF2-40B4-BE49-F238E27FC236}">
                <a16:creationId xmlns:a16="http://schemas.microsoft.com/office/drawing/2014/main" id="{94EA3134-36CB-E0F1-E740-48F4D9481919}"/>
              </a:ext>
            </a:extLst>
          </p:cNvPr>
          <p:cNvSpPr>
            <a:spLocks noGrp="1"/>
          </p:cNvSpPr>
          <p:nvPr>
            <p:ph sz="quarter" idx="16" hasCustomPrompt="1"/>
          </p:nvPr>
        </p:nvSpPr>
        <p:spPr>
          <a:xfrm>
            <a:off x="8208000" y="2087997"/>
            <a:ext cx="3600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BFE701F5-0D70-F985-3DA7-024563C22D38}"/>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D1AFD214-F1EF-13F2-449D-D3C167280B64}"/>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9" name="テキスト プレースホルダー 9">
            <a:extLst>
              <a:ext uri="{FF2B5EF4-FFF2-40B4-BE49-F238E27FC236}">
                <a16:creationId xmlns:a16="http://schemas.microsoft.com/office/drawing/2014/main" id="{B80F811C-19F2-488D-BB63-85C6DBAB6C5F}"/>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9505964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コンテンツ_説明あり_3カラム">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2087997"/>
            <a:ext cx="3600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3999"/>
            <a:ext cx="11448000" cy="1008000"/>
          </a:xfrm>
          <a:prstGeom prst="rect">
            <a:avLst/>
          </a:prstGeom>
        </p:spPr>
        <p:txBody>
          <a:bodyPr lIns="0" tIns="0" rIns="0" bIns="0">
            <a:normAutofit/>
          </a:bodyPr>
          <a:lstStyle>
            <a:lvl1pPr marL="0" indent="0">
              <a:lnSpc>
                <a:spcPct val="130000"/>
              </a:lnSpc>
              <a:spcBef>
                <a:spcPts val="0"/>
              </a:spcBef>
              <a:buNone/>
              <a:defRPr sz="1600" b="0" i="0" baseline="0">
                <a:solidFill>
                  <a:schemeClr val="tx1"/>
                </a:solidFill>
                <a:latin typeface="+mn-ea"/>
                <a:ea typeface="+mn-ea"/>
              </a:defRPr>
            </a:lvl1pPr>
          </a:lstStyle>
          <a:p>
            <a:pPr lvl="0"/>
            <a:r>
              <a:rPr kumimoji="1" lang="ja-JP" altLang="en-US" dirty="0"/>
              <a:t>説明を入力</a:t>
            </a:r>
          </a:p>
        </p:txBody>
      </p:sp>
      <p:sp>
        <p:nvSpPr>
          <p:cNvPr id="9" name="コンテンツ プレースホルダー 2">
            <a:extLst>
              <a:ext uri="{FF2B5EF4-FFF2-40B4-BE49-F238E27FC236}">
                <a16:creationId xmlns:a16="http://schemas.microsoft.com/office/drawing/2014/main" id="{746F6458-905F-F7AF-C49F-F976CFF99AF5}"/>
              </a:ext>
            </a:extLst>
          </p:cNvPr>
          <p:cNvSpPr>
            <a:spLocks noGrp="1"/>
          </p:cNvSpPr>
          <p:nvPr>
            <p:ph sz="quarter" idx="16" hasCustomPrompt="1"/>
          </p:nvPr>
        </p:nvSpPr>
        <p:spPr>
          <a:xfrm>
            <a:off x="4284000" y="2087997"/>
            <a:ext cx="3600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11" name="コンテンツ プレースホルダー 2">
            <a:extLst>
              <a:ext uri="{FF2B5EF4-FFF2-40B4-BE49-F238E27FC236}">
                <a16:creationId xmlns:a16="http://schemas.microsoft.com/office/drawing/2014/main" id="{5A299D55-0B89-9AD6-93E6-100A3CA991EB}"/>
              </a:ext>
            </a:extLst>
          </p:cNvPr>
          <p:cNvSpPr>
            <a:spLocks noGrp="1"/>
          </p:cNvSpPr>
          <p:nvPr>
            <p:ph sz="quarter" idx="17" hasCustomPrompt="1"/>
          </p:nvPr>
        </p:nvSpPr>
        <p:spPr>
          <a:xfrm>
            <a:off x="8208000" y="2087997"/>
            <a:ext cx="3600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E5E5A0E7-4D53-1DFC-66FD-39EDEFE5BB40}"/>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479428E8-612E-6494-9CAF-2DF3CD5FAE80}"/>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10" name="テキスト プレースホルダー 9">
            <a:extLst>
              <a:ext uri="{FF2B5EF4-FFF2-40B4-BE49-F238E27FC236}">
                <a16:creationId xmlns:a16="http://schemas.microsoft.com/office/drawing/2014/main" id="{800249A3-354A-4EAC-B204-68D23EFAAB1C}"/>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34699980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扉">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3429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03BCD830-0D5F-1F77-B35C-DA4ABEEEB96E}"/>
              </a:ext>
            </a:extLst>
          </p:cNvPr>
          <p:cNvSpPr>
            <a:spLocks noGrp="1"/>
          </p:cNvSpPr>
          <p:nvPr>
            <p:ph type="body" sz="quarter" idx="13" hasCustomPrompt="1"/>
          </p:nvPr>
        </p:nvSpPr>
        <p:spPr>
          <a:xfrm>
            <a:off x="360363" y="2730777"/>
            <a:ext cx="11448000" cy="569387"/>
          </a:xfrm>
          <a:prstGeom prst="rect">
            <a:avLst/>
          </a:prstGeom>
        </p:spPr>
        <p:txBody>
          <a:bodyPr lIns="0" tIns="0" rIns="0" bIns="0" anchor="b" anchorCtr="0">
            <a:spAutoFit/>
          </a:bodyPr>
          <a:lstStyle>
            <a:lvl1pPr marL="0" indent="0">
              <a:spcBef>
                <a:spcPts val="0"/>
              </a:spcBef>
              <a:buNone/>
              <a:defRPr sz="4000" b="1" i="0" baseline="0">
                <a:solidFill>
                  <a:srgbClr val="1156BD"/>
                </a:solidFill>
                <a:latin typeface="Meiryo" panose="020B0604030504040204" pitchFamily="34" charset="-128"/>
                <a:ea typeface="Meiryo" panose="020B0604030504040204" pitchFamily="34" charset="-128"/>
              </a:defRPr>
            </a:lvl1pPr>
          </a:lstStyle>
          <a:p>
            <a:pPr lvl="0"/>
            <a:r>
              <a:rPr kumimoji="1" lang="ja-JP" altLang="en-US"/>
              <a:t>項目を入力してください</a:t>
            </a:r>
            <a:endParaRPr kumimoji="1" lang="en-US" altLang="ja-JP"/>
          </a:p>
        </p:txBody>
      </p:sp>
      <p:sp>
        <p:nvSpPr>
          <p:cNvPr id="4" name="フッター プレースホルダー 7">
            <a:extLst>
              <a:ext uri="{FF2B5EF4-FFF2-40B4-BE49-F238E27FC236}">
                <a16:creationId xmlns:a16="http://schemas.microsoft.com/office/drawing/2014/main" id="{BA53E4B5-F8DA-F4D6-E00B-4604AB4E9520}"/>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5" name="スライド番号プレースホルダー 8">
            <a:extLst>
              <a:ext uri="{FF2B5EF4-FFF2-40B4-BE49-F238E27FC236}">
                <a16:creationId xmlns:a16="http://schemas.microsoft.com/office/drawing/2014/main" id="{C6664598-05DB-895D-7AC0-3086F0F7DE95}"/>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Tree>
    <p:extLst>
      <p:ext uri="{BB962C8B-B14F-4D97-AF65-F5344CB8AC3E}">
        <p14:creationId xmlns:p14="http://schemas.microsoft.com/office/powerpoint/2010/main" val="407143263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タイトルとコンテンツ_A">
    <p:spTree>
      <p:nvGrpSpPr>
        <p:cNvPr id="1" name=""/>
        <p:cNvGrpSpPr/>
        <p:nvPr/>
      </p:nvGrpSpPr>
      <p:grpSpPr>
        <a:xfrm>
          <a:off x="0" y="0"/>
          <a:ext cx="0" cy="0"/>
          <a:chOff x="0" y="0"/>
          <a:chExt cx="0" cy="0"/>
        </a:xfrm>
      </p:grpSpPr>
      <p:cxnSp>
        <p:nvCxnSpPr>
          <p:cNvPr id="8" name="直線コネクタ 7"/>
          <p:cNvCxnSpPr/>
          <p:nvPr userDrawn="1"/>
        </p:nvCxnSpPr>
        <p:spPr bwMode="gray">
          <a:xfrm>
            <a:off x="247385" y="476672"/>
            <a:ext cx="11697231" cy="0"/>
          </a:xfrm>
          <a:prstGeom prst="line">
            <a:avLst/>
          </a:prstGeom>
          <a:ln w="114300">
            <a:solidFill>
              <a:srgbClr val="F2F2F2"/>
            </a:solidFill>
          </a:ln>
        </p:spPr>
        <p:style>
          <a:lnRef idx="1">
            <a:schemeClr val="accent1"/>
          </a:lnRef>
          <a:fillRef idx="0">
            <a:schemeClr val="accent1"/>
          </a:fillRef>
          <a:effectRef idx="0">
            <a:schemeClr val="accent1"/>
          </a:effectRef>
          <a:fontRef idx="minor">
            <a:schemeClr val="tx1"/>
          </a:fontRef>
        </p:style>
      </p:cxnSp>
      <p:sp>
        <p:nvSpPr>
          <p:cNvPr id="12" name="タイトル 1"/>
          <p:cNvSpPr>
            <a:spLocks noGrp="1"/>
          </p:cNvSpPr>
          <p:nvPr>
            <p:ph type="title"/>
          </p:nvPr>
        </p:nvSpPr>
        <p:spPr>
          <a:xfrm>
            <a:off x="335360" y="85140"/>
            <a:ext cx="11521280" cy="432000"/>
          </a:xfrm>
          <a:prstGeom prst="rect">
            <a:avLst/>
          </a:prstGeom>
        </p:spPr>
        <p:txBody>
          <a:bodyPr tIns="108000" bIns="0">
            <a:noAutofit/>
          </a:bodyPr>
          <a:lstStyle>
            <a:lvl1pPr>
              <a:defRPr sz="2200" b="1">
                <a:solidFill>
                  <a:srgbClr val="0052A4"/>
                </a:solidFill>
              </a:defRPr>
            </a:lvl1pPr>
          </a:lstStyle>
          <a:p>
            <a:endParaRPr kumimoji="1" lang="ja-JP" altLang="en-US" dirty="0"/>
          </a:p>
        </p:txBody>
      </p:sp>
      <p:sp>
        <p:nvSpPr>
          <p:cNvPr id="13" name="スライド番号プレースホルダー 5"/>
          <p:cNvSpPr txBox="1">
            <a:spLocks/>
          </p:cNvSpPr>
          <p:nvPr userDrawn="1"/>
        </p:nvSpPr>
        <p:spPr>
          <a:xfrm>
            <a:off x="10350011" y="6522380"/>
            <a:ext cx="1696763" cy="293117"/>
          </a:xfrm>
          <a:prstGeom prst="rect">
            <a:avLst/>
          </a:prstGeom>
        </p:spPr>
        <p:txBody>
          <a:bodyPr vert="horz" lIns="91440" tIns="45720" rIns="91440" bIns="45720" rtlCol="0" anchor="ctr"/>
          <a:lstStyle>
            <a:defPPr>
              <a:defRPr lang="ja-JP"/>
            </a:defPPr>
            <a:lvl1pPr marL="0" algn="r" defTabSz="914400" rtl="0" eaLnBrk="1" latinLnBrk="0" hangingPunct="1">
              <a:defRPr kumimoji="1" sz="1100" kern="1200">
                <a:solidFill>
                  <a:schemeClr val="bg1">
                    <a:lumMod val="50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3376B4C9-71AE-4BC0-A8FA-FE01E8453B01}" type="slidenum">
              <a:rPr lang="ja-JP" altLang="en-US" sz="800" smtClean="0">
                <a:solidFill>
                  <a:srgbClr val="7F7F7F"/>
                </a:solidFill>
                <a:latin typeface="Meiryo UI" panose="020B0604030504040204" pitchFamily="50" charset="-128"/>
                <a:ea typeface="Meiryo UI" panose="020B0604030504040204" pitchFamily="50" charset="-128"/>
                <a:cs typeface="Meiryo UI" panose="020B0604030504040204" pitchFamily="50" charset="-128"/>
              </a:rPr>
              <a:pPr/>
              <a:t>‹#›</a:t>
            </a:fld>
            <a:endParaRPr lang="ja-JP" altLang="en-US" sz="800" dirty="0">
              <a:solidFill>
                <a:srgbClr val="7F7F7F"/>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フッター プレースホルダー 7">
            <a:extLst>
              <a:ext uri="{FF2B5EF4-FFF2-40B4-BE49-F238E27FC236}">
                <a16:creationId xmlns:a16="http://schemas.microsoft.com/office/drawing/2014/main" id="{F432B8E6-96C9-C9B3-C6ED-3A8DC205BA29}"/>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Tree>
    <p:extLst>
      <p:ext uri="{BB962C8B-B14F-4D97-AF65-F5344CB8AC3E}">
        <p14:creationId xmlns:p14="http://schemas.microsoft.com/office/powerpoint/2010/main" val="3192619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jpe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43529AE1-302B-DB55-EDF8-8E10E34EC9F4}"/>
              </a:ext>
            </a:extLst>
          </p:cNvPr>
          <p:cNvPicPr>
            <a:picLocks noChangeAspect="1"/>
          </p:cNvPicPr>
          <p:nvPr userDrawn="1"/>
        </p:nvPicPr>
        <p:blipFill rotWithShape="1">
          <a:blip r:embed="rId23"/>
          <a:srcRect t="98449"/>
          <a:stretch/>
        </p:blipFill>
        <p:spPr>
          <a:xfrm>
            <a:off x="0" y="6751529"/>
            <a:ext cx="12192000" cy="106471"/>
          </a:xfrm>
          <a:prstGeom prst="rect">
            <a:avLst/>
          </a:prstGeom>
        </p:spPr>
      </p:pic>
      <p:sp>
        <p:nvSpPr>
          <p:cNvPr id="8" name="フッター プレースホルダー 7">
            <a:extLst>
              <a:ext uri="{FF2B5EF4-FFF2-40B4-BE49-F238E27FC236}">
                <a16:creationId xmlns:a16="http://schemas.microsoft.com/office/drawing/2014/main" id="{7D4CB066-E356-6A79-59D4-0007E3D43294}"/>
              </a:ext>
            </a:extLst>
          </p:cNvPr>
          <p:cNvSpPr>
            <a:spLocks noGrp="1"/>
          </p:cNvSpPr>
          <p:nvPr>
            <p:ph type="ftr" sz="quarter" idx="3"/>
          </p:nvPr>
        </p:nvSpPr>
        <p:spPr>
          <a:xfrm>
            <a:off x="4038600" y="652072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9" name="スライド番号プレースホルダー 8">
            <a:extLst>
              <a:ext uri="{FF2B5EF4-FFF2-40B4-BE49-F238E27FC236}">
                <a16:creationId xmlns:a16="http://schemas.microsoft.com/office/drawing/2014/main" id="{A087AC67-8728-37BE-F6CA-CC30541F5926}"/>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pic>
        <p:nvPicPr>
          <p:cNvPr id="13" name="図 12">
            <a:extLst>
              <a:ext uri="{FF2B5EF4-FFF2-40B4-BE49-F238E27FC236}">
                <a16:creationId xmlns:a16="http://schemas.microsoft.com/office/drawing/2014/main" id="{30BD6181-3015-0274-2BDF-659DC045C107}"/>
              </a:ext>
            </a:extLst>
          </p:cNvPr>
          <p:cNvPicPr preferRelativeResize="0">
            <a:picLocks/>
          </p:cNvPicPr>
          <p:nvPr userDrawn="1"/>
        </p:nvPicPr>
        <p:blipFill>
          <a:blip r:embed="rId24">
            <a:alphaModFix/>
          </a:blip>
          <a:stretch>
            <a:fillRect/>
          </a:stretch>
        </p:blipFill>
        <p:spPr>
          <a:xfrm>
            <a:off x="365528" y="6042327"/>
            <a:ext cx="1793619" cy="648000"/>
          </a:xfrm>
          <a:prstGeom prst="rect">
            <a:avLst/>
          </a:prstGeom>
        </p:spPr>
      </p:pic>
    </p:spTree>
    <p:extLst>
      <p:ext uri="{BB962C8B-B14F-4D97-AF65-F5344CB8AC3E}">
        <p14:creationId xmlns:p14="http://schemas.microsoft.com/office/powerpoint/2010/main" val="1230684071"/>
      </p:ext>
    </p:extLst>
  </p:cSld>
  <p:clrMap bg1="lt1" tx1="dk1" bg2="lt2" tx2="dk2" accent1="accent1" accent2="accent2" accent3="accent3" accent4="accent4" accent5="accent5" accent6="accent6" hlink="hlink" folHlink="folHlink"/>
  <p:sldLayoutIdLst>
    <p:sldLayoutId id="2147483674" r:id="rId1"/>
    <p:sldLayoutId id="2147483676" r:id="rId2"/>
    <p:sldLayoutId id="2147483677" r:id="rId3"/>
    <p:sldLayoutId id="2147483654" r:id="rId4"/>
    <p:sldLayoutId id="2147483665" r:id="rId5"/>
    <p:sldLayoutId id="2147483666" r:id="rId6"/>
    <p:sldLayoutId id="2147483661" r:id="rId7"/>
    <p:sldLayoutId id="2147483662" r:id="rId8"/>
    <p:sldLayoutId id="2147483663" r:id="rId9"/>
    <p:sldLayoutId id="2147483664" r:id="rId10"/>
    <p:sldLayoutId id="2147483656" r:id="rId11"/>
    <p:sldLayoutId id="2147483671" r:id="rId12"/>
    <p:sldLayoutId id="2147483672" r:id="rId13"/>
    <p:sldLayoutId id="2147483660" r:id="rId14"/>
    <p:sldLayoutId id="2147483657" r:id="rId15"/>
    <p:sldLayoutId id="2147483658" r:id="rId16"/>
    <p:sldLayoutId id="2147483669" r:id="rId17"/>
    <p:sldLayoutId id="2147483670" r:id="rId18"/>
    <p:sldLayoutId id="2147483659" r:id="rId19"/>
    <p:sldLayoutId id="2147483649" r:id="rId20"/>
    <p:sldLayoutId id="2147483679" r:id="rId21"/>
  </p:sldLayoutIdLst>
  <p:hf hd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1.xml"/></Relationships>
</file>

<file path=ppt/slides/_rels/slide43.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1.xml"/></Relationships>
</file>

<file path=ppt/slides/_rels/slide44.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1.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1.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1.xml"/></Relationships>
</file>

<file path=ppt/slides/_rels/slide48.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1.xml"/></Relationships>
</file>

<file path=ppt/slides/_rels/slide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D785F59-A079-89E1-2F94-EF692C5C23F0}"/>
              </a:ext>
            </a:extLst>
          </p:cNvPr>
          <p:cNvSpPr>
            <a:spLocks noGrp="1"/>
          </p:cNvSpPr>
          <p:nvPr>
            <p:ph type="body" sz="quarter" idx="13"/>
          </p:nvPr>
        </p:nvSpPr>
        <p:spPr>
          <a:xfrm>
            <a:off x="360363" y="2844655"/>
            <a:ext cx="11448000" cy="455509"/>
          </a:xfrm>
        </p:spPr>
        <p:txBody>
          <a:bodyPr/>
          <a:lstStyle/>
          <a:p>
            <a:r>
              <a:rPr kumimoji="1" lang="ja-JP" altLang="en-US" sz="3200" dirty="0"/>
              <a:t>未活動</a:t>
            </a:r>
            <a:r>
              <a:rPr kumimoji="1" lang="en-US" altLang="ja-JP" sz="3200" dirty="0"/>
              <a:t>CS</a:t>
            </a:r>
            <a:r>
              <a:rPr kumimoji="1" lang="ja-JP" altLang="en-US" sz="3200" dirty="0"/>
              <a:t>への定量調査</a:t>
            </a:r>
          </a:p>
        </p:txBody>
      </p:sp>
      <p:sp>
        <p:nvSpPr>
          <p:cNvPr id="3" name="フッター プレースホルダー 2">
            <a:extLst>
              <a:ext uri="{FF2B5EF4-FFF2-40B4-BE49-F238E27FC236}">
                <a16:creationId xmlns:a16="http://schemas.microsoft.com/office/drawing/2014/main" id="{61D74414-727B-2B71-84C2-EC7D8688CB7D}"/>
              </a:ext>
            </a:extLst>
          </p:cNvPr>
          <p:cNvSpPr>
            <a:spLocks noGrp="1"/>
          </p:cNvSpPr>
          <p:nvPr>
            <p:ph type="ftr" sz="quarter" idx="3"/>
          </p:nvPr>
        </p:nvSpPr>
        <p:spPr/>
        <p:txBody>
          <a:bodyPr/>
          <a:lstStyle/>
          <a:p>
            <a:r>
              <a:rPr lang="en" altLang="ja-JP"/>
              <a:t>(C) Recruit Co., Ltd. All rights reserved. </a:t>
            </a:r>
            <a:endParaRPr lang="ja-JP" altLang="en-US"/>
          </a:p>
        </p:txBody>
      </p:sp>
      <p:sp>
        <p:nvSpPr>
          <p:cNvPr id="4" name="スライド番号プレースホルダー 3">
            <a:extLst>
              <a:ext uri="{FF2B5EF4-FFF2-40B4-BE49-F238E27FC236}">
                <a16:creationId xmlns:a16="http://schemas.microsoft.com/office/drawing/2014/main" id="{88FB795E-35B7-9004-77F8-974CA5BB9806}"/>
              </a:ext>
            </a:extLst>
          </p:cNvPr>
          <p:cNvSpPr>
            <a:spLocks noGrp="1"/>
          </p:cNvSpPr>
          <p:nvPr>
            <p:ph type="sldNum" sz="quarter" idx="4"/>
          </p:nvPr>
        </p:nvSpPr>
        <p:spPr/>
        <p:txBody>
          <a:bodyPr/>
          <a:lstStyle/>
          <a:p>
            <a:fld id="{EDD55F78-D87A-074E-B5DA-6C9B598DD91F}" type="slidenum">
              <a:rPr lang="ja-JP" altLang="en-US" smtClean="0"/>
              <a:pPr/>
              <a:t>1</a:t>
            </a:fld>
            <a:endParaRPr lang="ja-JP" altLang="en-US"/>
          </a:p>
        </p:txBody>
      </p:sp>
      <p:sp>
        <p:nvSpPr>
          <p:cNvPr id="5" name="テキスト ボックス 4">
            <a:extLst>
              <a:ext uri="{FF2B5EF4-FFF2-40B4-BE49-F238E27FC236}">
                <a16:creationId xmlns:a16="http://schemas.microsoft.com/office/drawing/2014/main" id="{6002D9D2-C5F2-61FE-0AA6-20D307D39FE4}"/>
              </a:ext>
            </a:extLst>
          </p:cNvPr>
          <p:cNvSpPr txBox="1"/>
          <p:nvPr/>
        </p:nvSpPr>
        <p:spPr>
          <a:xfrm>
            <a:off x="8671560" y="5158740"/>
            <a:ext cx="3136440" cy="769441"/>
          </a:xfrm>
          <a:prstGeom prst="rect">
            <a:avLst/>
          </a:prstGeom>
          <a:noFill/>
        </p:spPr>
        <p:txBody>
          <a:bodyPr wrap="square" rtlCol="0">
            <a:spAutoFit/>
          </a:bodyPr>
          <a:lstStyle/>
          <a:p>
            <a:pPr algn="r"/>
            <a:r>
              <a:rPr kumimoji="1" lang="en-US" altLang="ja-JP" sz="1100" dirty="0">
                <a:latin typeface="Meiryo UI" panose="020B0604030504040204" pitchFamily="50" charset="-128"/>
                <a:ea typeface="Meiryo UI" panose="020B0604030504040204" pitchFamily="50" charset="-128"/>
              </a:rPr>
              <a:t>2024</a:t>
            </a:r>
            <a:r>
              <a:rPr kumimoji="1" lang="ja-JP" altLang="en-US" sz="1100" dirty="0">
                <a:latin typeface="Meiryo UI" panose="020B0604030504040204" pitchFamily="50" charset="-128"/>
                <a:ea typeface="Meiryo UI" panose="020B0604030504040204" pitchFamily="50" charset="-128"/>
              </a:rPr>
              <a:t>年</a:t>
            </a:r>
            <a:r>
              <a:rPr kumimoji="1" lang="en-US" altLang="ja-JP" sz="1100" dirty="0">
                <a:latin typeface="Meiryo UI" panose="020B0604030504040204" pitchFamily="50" charset="-128"/>
                <a:ea typeface="Meiryo UI" panose="020B0604030504040204" pitchFamily="50" charset="-128"/>
              </a:rPr>
              <a:t>4</a:t>
            </a:r>
            <a:r>
              <a:rPr kumimoji="1" lang="ja-JP" altLang="en-US" sz="1100" dirty="0">
                <a:latin typeface="Meiryo UI" panose="020B0604030504040204" pitchFamily="50" charset="-128"/>
                <a:ea typeface="Meiryo UI" panose="020B0604030504040204" pitchFamily="50" charset="-128"/>
              </a:rPr>
              <a:t>月</a:t>
            </a:r>
            <a:endParaRPr kumimoji="1" lang="en-US" altLang="ja-JP" sz="1100" dirty="0">
              <a:latin typeface="Meiryo UI" panose="020B0604030504040204" pitchFamily="50" charset="-128"/>
              <a:ea typeface="Meiryo UI" panose="020B0604030504040204" pitchFamily="50" charset="-128"/>
            </a:endParaRPr>
          </a:p>
          <a:p>
            <a:pPr algn="r"/>
            <a:r>
              <a:rPr lang="en-US" altLang="ja-JP" sz="1100" dirty="0">
                <a:latin typeface="Meiryo UI" panose="020B0604030504040204" pitchFamily="50" charset="-128"/>
                <a:ea typeface="Meiryo UI" panose="020B0604030504040204" pitchFamily="50" charset="-128"/>
              </a:rPr>
              <a:t>HR</a:t>
            </a:r>
            <a:r>
              <a:rPr lang="ja-JP" altLang="en-US" sz="1100" dirty="0">
                <a:latin typeface="Meiryo UI" panose="020B0604030504040204" pitchFamily="50" charset="-128"/>
                <a:ea typeface="Meiryo UI" panose="020B0604030504040204" pitchFamily="50" charset="-128"/>
              </a:rPr>
              <a:t>エージェント</a:t>
            </a:r>
            <a:r>
              <a:rPr lang="en-US" altLang="ja-JP" sz="1100" dirty="0">
                <a:latin typeface="Meiryo UI" panose="020B0604030504040204" pitchFamily="50" charset="-128"/>
                <a:ea typeface="Meiryo UI" panose="020B0604030504040204" pitchFamily="50" charset="-128"/>
              </a:rPr>
              <a:t>Div.</a:t>
            </a:r>
            <a:endParaRPr kumimoji="1" lang="en-US" altLang="ja-JP" sz="1100" dirty="0">
              <a:latin typeface="Meiryo UI" panose="020B0604030504040204" pitchFamily="50" charset="-128"/>
              <a:ea typeface="Meiryo UI" panose="020B0604030504040204" pitchFamily="50" charset="-128"/>
            </a:endParaRPr>
          </a:p>
          <a:p>
            <a:pPr algn="r"/>
            <a:r>
              <a:rPr lang="ja-JP" altLang="en-US" sz="1100" dirty="0">
                <a:solidFill>
                  <a:schemeClr val="tx1"/>
                </a:solidFill>
                <a:latin typeface="Meiryo UI" panose="020B0604030504040204" pitchFamily="50" charset="-128"/>
                <a:ea typeface="Meiryo UI" panose="020B0604030504040204" pitchFamily="50" charset="-128"/>
              </a:rPr>
              <a:t>オンラインオペデザ部選考</a:t>
            </a:r>
            <a:r>
              <a:rPr lang="en-US" altLang="ja-JP" sz="1100" dirty="0">
                <a:solidFill>
                  <a:schemeClr val="tx1"/>
                </a:solidFill>
                <a:latin typeface="Meiryo UI" panose="020B0604030504040204" pitchFamily="50" charset="-128"/>
                <a:ea typeface="Meiryo UI" panose="020B0604030504040204" pitchFamily="50" charset="-128"/>
              </a:rPr>
              <a:t>DXG</a:t>
            </a:r>
            <a:r>
              <a:rPr lang="ja-JP" altLang="en-US" sz="1100" dirty="0">
                <a:solidFill>
                  <a:schemeClr val="tx1"/>
                </a:solidFill>
                <a:latin typeface="Meiryo UI" panose="020B0604030504040204" pitchFamily="50" charset="-128"/>
                <a:ea typeface="Meiryo UI" panose="020B0604030504040204" pitchFamily="50" charset="-128"/>
              </a:rPr>
              <a:t>原</a:t>
            </a:r>
            <a:endParaRPr lang="en-US" altLang="ja-JP" sz="1100" dirty="0">
              <a:solidFill>
                <a:schemeClr val="tx1"/>
              </a:solidFill>
              <a:latin typeface="Meiryo UI" panose="020B0604030504040204" pitchFamily="50" charset="-128"/>
              <a:ea typeface="Meiryo UI" panose="020B0604030504040204" pitchFamily="50" charset="-128"/>
            </a:endParaRPr>
          </a:p>
          <a:p>
            <a:pPr algn="r"/>
            <a:r>
              <a:rPr lang="ja-JP" altLang="en-US" sz="1100" dirty="0">
                <a:solidFill>
                  <a:schemeClr val="tx1"/>
                </a:solidFill>
                <a:latin typeface="Meiryo UI" panose="020B0604030504040204" pitchFamily="50" charset="-128"/>
                <a:ea typeface="Meiryo UI" panose="020B0604030504040204" pitchFamily="50" charset="-128"/>
              </a:rPr>
              <a:t>ミッションアクセラ部</a:t>
            </a:r>
            <a:r>
              <a:rPr lang="en-US" altLang="ja-JP" sz="1100" dirty="0" err="1">
                <a:solidFill>
                  <a:schemeClr val="tx1"/>
                </a:solidFill>
                <a:latin typeface="Meiryo UI" panose="020B0604030504040204" pitchFamily="50" charset="-128"/>
                <a:ea typeface="Meiryo UI" panose="020B0604030504040204" pitchFamily="50" charset="-128"/>
              </a:rPr>
              <a:t>VoC</a:t>
            </a:r>
            <a:r>
              <a:rPr lang="ja-JP" altLang="en-US" sz="1100" dirty="0">
                <a:solidFill>
                  <a:schemeClr val="tx1"/>
                </a:solidFill>
                <a:latin typeface="Meiryo UI" panose="020B0604030504040204" pitchFamily="50" charset="-128"/>
                <a:ea typeface="Meiryo UI" panose="020B0604030504040204" pitchFamily="50" charset="-128"/>
              </a:rPr>
              <a:t>マーケ</a:t>
            </a:r>
            <a:r>
              <a:rPr lang="en-US" altLang="ja-JP" sz="1100" dirty="0">
                <a:solidFill>
                  <a:schemeClr val="tx1"/>
                </a:solidFill>
                <a:latin typeface="Meiryo UI" panose="020B0604030504040204" pitchFamily="50" charset="-128"/>
                <a:ea typeface="Meiryo UI" panose="020B0604030504040204" pitchFamily="50" charset="-128"/>
              </a:rPr>
              <a:t>G</a:t>
            </a:r>
            <a:r>
              <a:rPr lang="ja-JP" altLang="en-US" sz="1100" dirty="0">
                <a:solidFill>
                  <a:schemeClr val="tx1"/>
                </a:solidFill>
                <a:latin typeface="Meiryo UI" panose="020B0604030504040204" pitchFamily="50" charset="-128"/>
                <a:ea typeface="Meiryo UI" panose="020B0604030504040204" pitchFamily="50" charset="-128"/>
              </a:rPr>
              <a:t>眞田</a:t>
            </a:r>
            <a:endParaRPr kumimoji="1" lang="ja-JP" altLang="en-US"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228947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8689870C-6D8C-B70C-70AF-D33261A274DB}"/>
              </a:ext>
            </a:extLst>
          </p:cNvPr>
          <p:cNvSpPr>
            <a:spLocks noGrp="1"/>
          </p:cNvSpPr>
          <p:nvPr>
            <p:ph sz="quarter" idx="14"/>
          </p:nvPr>
        </p:nvSpPr>
        <p:spPr>
          <a:xfrm>
            <a:off x="360363" y="863998"/>
            <a:ext cx="11447462" cy="1097663"/>
          </a:xfrm>
        </p:spPr>
        <p:txBody>
          <a:bodyPr>
            <a:normAutofit/>
          </a:bodyPr>
          <a:lstStyle/>
          <a:p>
            <a:pPr marL="171450" indent="-171450">
              <a:buFont typeface="Wingdings" panose="05000000000000000000" pitchFamily="2" charset="2"/>
              <a:buChar char="l"/>
            </a:pPr>
            <a:r>
              <a:rPr lang="en-US" altLang="ja-JP" sz="1200" dirty="0"/>
              <a:t>RAG</a:t>
            </a:r>
            <a:r>
              <a:rPr lang="ja-JP" altLang="en-US" sz="1200" dirty="0"/>
              <a:t>エントリー</a:t>
            </a:r>
            <a:r>
              <a:rPr lang="en-US" altLang="ja-JP" sz="1200" dirty="0"/>
              <a:t>CS</a:t>
            </a:r>
            <a:r>
              <a:rPr lang="ja-JP" altLang="en-US" sz="1200" dirty="0"/>
              <a:t>のうち、面談や応募など何らかのサービス提供に至る</a:t>
            </a:r>
            <a:r>
              <a:rPr lang="en-US" altLang="ja-JP" sz="1200" dirty="0"/>
              <a:t>CS</a:t>
            </a:r>
            <a:r>
              <a:rPr lang="ja-JP" altLang="en-US" sz="1200" dirty="0"/>
              <a:t>は約</a:t>
            </a:r>
            <a:r>
              <a:rPr lang="en-US" altLang="ja-JP" sz="1200" dirty="0"/>
              <a:t>35</a:t>
            </a:r>
            <a:r>
              <a:rPr lang="ja-JP" altLang="en-US" sz="1200" dirty="0"/>
              <a:t>％。未提供の白地は大きいものの、サービス提供に至らない</a:t>
            </a:r>
            <a:r>
              <a:rPr lang="en-US" altLang="ja-JP" sz="1200" dirty="0"/>
              <a:t>CS</a:t>
            </a:r>
            <a:r>
              <a:rPr lang="ja-JP" altLang="en-US" sz="1200" dirty="0"/>
              <a:t>は接点が少なく、インサイトを解明しきれていない。</a:t>
            </a:r>
            <a:endParaRPr lang="en-US" altLang="ja-JP" sz="1200" dirty="0"/>
          </a:p>
          <a:p>
            <a:pPr marL="171450" indent="-171450">
              <a:buFont typeface="Wingdings" panose="05000000000000000000" pitchFamily="2" charset="2"/>
              <a:buChar char="l"/>
            </a:pPr>
            <a:r>
              <a:rPr lang="ja-JP" altLang="en-US" sz="1200" dirty="0"/>
              <a:t>そこで</a:t>
            </a:r>
            <a:r>
              <a:rPr lang="en-US" altLang="ja-JP" sz="1200" dirty="0"/>
              <a:t>2023</a:t>
            </a:r>
            <a:r>
              <a:rPr lang="ja-JP" altLang="en-US" sz="1200" dirty="0"/>
              <a:t>年初回判定の全社</a:t>
            </a:r>
            <a:r>
              <a:rPr lang="en-US" altLang="ja-JP" sz="1200" dirty="0"/>
              <a:t>DBCS</a:t>
            </a:r>
            <a:r>
              <a:rPr lang="ja-JP" altLang="en-US" sz="1200" dirty="0"/>
              <a:t>へ定量アンケートを実施。下記</a:t>
            </a:r>
            <a:r>
              <a:rPr lang="en-US" altLang="ja-JP" sz="1200" dirty="0"/>
              <a:t>6</a:t>
            </a:r>
            <a:r>
              <a:rPr lang="ja-JP" altLang="en-US" sz="1200" dirty="0"/>
              <a:t>つの検証ポイントを明らかにすることで、</a:t>
            </a:r>
            <a:r>
              <a:rPr lang="en-US" altLang="ja-JP" sz="1200" dirty="0"/>
              <a:t>CS</a:t>
            </a:r>
            <a:r>
              <a:rPr lang="ja-JP" altLang="en-US" sz="1200" dirty="0"/>
              <a:t>がどのような観点で分岐しそれぞれのサービス体験に至るのか、インサイトを明らかにし行動変容のきっかけを探る。</a:t>
            </a:r>
            <a:endParaRPr lang="en-US" altLang="ja-JP" sz="1200" dirty="0"/>
          </a:p>
        </p:txBody>
      </p:sp>
      <p:sp>
        <p:nvSpPr>
          <p:cNvPr id="3" name="テキスト プレースホルダー 2">
            <a:extLst>
              <a:ext uri="{FF2B5EF4-FFF2-40B4-BE49-F238E27FC236}">
                <a16:creationId xmlns:a16="http://schemas.microsoft.com/office/drawing/2014/main" id="{3FFC094D-ED8A-25EC-F3C9-C077414CED1E}"/>
              </a:ext>
            </a:extLst>
          </p:cNvPr>
          <p:cNvSpPr>
            <a:spLocks noGrp="1"/>
          </p:cNvSpPr>
          <p:nvPr>
            <p:ph type="body" sz="quarter" idx="13"/>
          </p:nvPr>
        </p:nvSpPr>
        <p:spPr/>
        <p:txBody>
          <a:bodyPr/>
          <a:lstStyle/>
          <a:p>
            <a:r>
              <a:rPr kumimoji="1" lang="ja-JP" altLang="en-US" dirty="0"/>
              <a:t>調査概要</a:t>
            </a:r>
          </a:p>
        </p:txBody>
      </p:sp>
      <p:sp>
        <p:nvSpPr>
          <p:cNvPr id="4" name="フッター プレースホルダー 3">
            <a:extLst>
              <a:ext uri="{FF2B5EF4-FFF2-40B4-BE49-F238E27FC236}">
                <a16:creationId xmlns:a16="http://schemas.microsoft.com/office/drawing/2014/main" id="{FD4263D7-9951-5B7F-C50A-9286678DD2A4}"/>
              </a:ext>
            </a:extLst>
          </p:cNvPr>
          <p:cNvSpPr>
            <a:spLocks noGrp="1"/>
          </p:cNvSpPr>
          <p:nvPr>
            <p:ph type="ftr" sz="quarter" idx="3"/>
          </p:nvPr>
        </p:nvSpPr>
        <p:spPr>
          <a:xfrm>
            <a:off x="4038600" y="6309785"/>
            <a:ext cx="4114800" cy="365125"/>
          </a:xfrm>
        </p:spPr>
        <p:txBody>
          <a:bodyPr/>
          <a:lstStyle/>
          <a:p>
            <a:r>
              <a:rPr lang="en" altLang="ja-JP"/>
              <a:t>(C) Recruit Co., Ltd. All rights reserved. </a:t>
            </a:r>
            <a:endParaRPr lang="ja-JP" altLang="en-US"/>
          </a:p>
        </p:txBody>
      </p:sp>
      <p:sp>
        <p:nvSpPr>
          <p:cNvPr id="5" name="スライド番号プレースホルダー 4">
            <a:extLst>
              <a:ext uri="{FF2B5EF4-FFF2-40B4-BE49-F238E27FC236}">
                <a16:creationId xmlns:a16="http://schemas.microsoft.com/office/drawing/2014/main" id="{90040C6D-A057-A45E-E986-1A5931AD0951}"/>
              </a:ext>
            </a:extLst>
          </p:cNvPr>
          <p:cNvSpPr>
            <a:spLocks noGrp="1"/>
          </p:cNvSpPr>
          <p:nvPr>
            <p:ph type="sldNum" sz="quarter" idx="4"/>
          </p:nvPr>
        </p:nvSpPr>
        <p:spPr/>
        <p:txBody>
          <a:bodyPr/>
          <a:lstStyle/>
          <a:p>
            <a:fld id="{EDD55F78-D87A-074E-B5DA-6C9B598DD91F}" type="slidenum">
              <a:rPr lang="ja-JP" altLang="en-US" smtClean="0"/>
              <a:pPr/>
              <a:t>2</a:t>
            </a:fld>
            <a:endParaRPr lang="ja-JP" altLang="en-US"/>
          </a:p>
        </p:txBody>
      </p:sp>
      <p:pic>
        <p:nvPicPr>
          <p:cNvPr id="6" name="図 5">
            <a:extLst>
              <a:ext uri="{FF2B5EF4-FFF2-40B4-BE49-F238E27FC236}">
                <a16:creationId xmlns:a16="http://schemas.microsoft.com/office/drawing/2014/main" id="{FAB96198-0FE0-89A8-3247-A5F4C480B88E}"/>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124946" y="1994402"/>
            <a:ext cx="9942108" cy="4315383"/>
          </a:xfrm>
          <a:prstGeom prst="rect">
            <a:avLst/>
          </a:prstGeom>
        </p:spPr>
      </p:pic>
    </p:spTree>
    <p:extLst>
      <p:ext uri="{BB962C8B-B14F-4D97-AF65-F5344CB8AC3E}">
        <p14:creationId xmlns:p14="http://schemas.microsoft.com/office/powerpoint/2010/main" val="1232609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F8DA7EA8-0441-259B-ABE2-52035D2D90F4}"/>
              </a:ext>
            </a:extLst>
          </p:cNvPr>
          <p:cNvSpPr>
            <a:spLocks noGrp="1"/>
          </p:cNvSpPr>
          <p:nvPr>
            <p:ph type="body" sz="quarter" idx="13"/>
          </p:nvPr>
        </p:nvSpPr>
        <p:spPr/>
        <p:txBody>
          <a:bodyPr/>
          <a:lstStyle/>
          <a:p>
            <a:r>
              <a:rPr kumimoji="1" lang="ja-JP" altLang="en-US" dirty="0"/>
              <a:t>調査結果サマリ：エントリ後の分岐</a:t>
            </a:r>
          </a:p>
        </p:txBody>
      </p:sp>
      <p:sp>
        <p:nvSpPr>
          <p:cNvPr id="4" name="フッター プレースホルダー 3">
            <a:extLst>
              <a:ext uri="{FF2B5EF4-FFF2-40B4-BE49-F238E27FC236}">
                <a16:creationId xmlns:a16="http://schemas.microsoft.com/office/drawing/2014/main" id="{39F5CD32-E0F4-7704-514E-7811E48DE134}"/>
              </a:ext>
            </a:extLst>
          </p:cNvPr>
          <p:cNvSpPr>
            <a:spLocks noGrp="1"/>
          </p:cNvSpPr>
          <p:nvPr>
            <p:ph type="ftr" sz="quarter" idx="3"/>
          </p:nvPr>
        </p:nvSpPr>
        <p:spPr/>
        <p:txBody>
          <a:bodyPr/>
          <a:lstStyle/>
          <a:p>
            <a:r>
              <a:rPr lang="en" altLang="ja-JP"/>
              <a:t>(C) Recruit Co., Ltd. All rights reserved. </a:t>
            </a:r>
            <a:endParaRPr lang="ja-JP" altLang="en-US"/>
          </a:p>
        </p:txBody>
      </p:sp>
      <p:sp>
        <p:nvSpPr>
          <p:cNvPr id="5" name="スライド番号プレースホルダー 4">
            <a:extLst>
              <a:ext uri="{FF2B5EF4-FFF2-40B4-BE49-F238E27FC236}">
                <a16:creationId xmlns:a16="http://schemas.microsoft.com/office/drawing/2014/main" id="{87FB7367-ACCA-D9A3-FDE6-F16B5DA28407}"/>
              </a:ext>
            </a:extLst>
          </p:cNvPr>
          <p:cNvSpPr>
            <a:spLocks noGrp="1"/>
          </p:cNvSpPr>
          <p:nvPr>
            <p:ph type="sldNum" sz="quarter" idx="4"/>
          </p:nvPr>
        </p:nvSpPr>
        <p:spPr/>
        <p:txBody>
          <a:bodyPr/>
          <a:lstStyle/>
          <a:p>
            <a:fld id="{EDD55F78-D87A-074E-B5DA-6C9B598DD91F}" type="slidenum">
              <a:rPr lang="ja-JP" altLang="en-US" smtClean="0"/>
              <a:pPr/>
              <a:t>3</a:t>
            </a:fld>
            <a:endParaRPr lang="ja-JP" altLang="en-US" dirty="0"/>
          </a:p>
        </p:txBody>
      </p:sp>
      <p:sp>
        <p:nvSpPr>
          <p:cNvPr id="10" name="矢印: 右 9">
            <a:extLst>
              <a:ext uri="{FF2B5EF4-FFF2-40B4-BE49-F238E27FC236}">
                <a16:creationId xmlns:a16="http://schemas.microsoft.com/office/drawing/2014/main" id="{B1286135-9216-7C74-A199-87B02CC21A55}"/>
              </a:ext>
            </a:extLst>
          </p:cNvPr>
          <p:cNvSpPr/>
          <p:nvPr/>
        </p:nvSpPr>
        <p:spPr>
          <a:xfrm>
            <a:off x="1473772" y="1677421"/>
            <a:ext cx="8446931" cy="493283"/>
          </a:xfrm>
          <a:prstGeom prst="rightArrow">
            <a:avLst/>
          </a:prstGeom>
          <a:solidFill>
            <a:sysClr val="window" lastClr="FFFFFF">
              <a:lumMod val="50000"/>
            </a:sys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エントリ→求人応募までの流れ</a:t>
            </a:r>
          </a:p>
        </p:txBody>
      </p:sp>
      <p:sp>
        <p:nvSpPr>
          <p:cNvPr id="57" name="コンテンツ プレースホルダー 1">
            <a:extLst>
              <a:ext uri="{FF2B5EF4-FFF2-40B4-BE49-F238E27FC236}">
                <a16:creationId xmlns:a16="http://schemas.microsoft.com/office/drawing/2014/main" id="{823F4D66-71C8-3622-C39F-8E0BD121B49B}"/>
              </a:ext>
            </a:extLst>
          </p:cNvPr>
          <p:cNvSpPr>
            <a:spLocks noGrp="1"/>
          </p:cNvSpPr>
          <p:nvPr>
            <p:ph sz="quarter" idx="14"/>
          </p:nvPr>
        </p:nvSpPr>
        <p:spPr>
          <a:xfrm>
            <a:off x="372269" y="750484"/>
            <a:ext cx="11447462" cy="806879"/>
          </a:xfrm>
        </p:spPr>
        <p:txBody>
          <a:bodyPr>
            <a:normAutofit/>
          </a:bodyPr>
          <a:lstStyle/>
          <a:p>
            <a:pPr marL="285750" indent="-285750">
              <a:buFont typeface="Wingdings" panose="05000000000000000000" pitchFamily="2" charset="2"/>
              <a:buChar char="l"/>
            </a:pPr>
            <a:r>
              <a:rPr kumimoji="1" lang="en-US" altLang="ja-JP" sz="1200" dirty="0"/>
              <a:t>【</a:t>
            </a:r>
            <a:r>
              <a:rPr kumimoji="1" lang="ja-JP" altLang="en-US" sz="1200" dirty="0"/>
              <a:t>面談希望あり</a:t>
            </a:r>
            <a:r>
              <a:rPr kumimoji="1" lang="en-US" altLang="ja-JP" sz="1200" dirty="0"/>
              <a:t>/</a:t>
            </a:r>
            <a:r>
              <a:rPr kumimoji="1" lang="ja-JP" altLang="en-US" sz="1200" dirty="0"/>
              <a:t>なし</a:t>
            </a:r>
            <a:r>
              <a:rPr kumimoji="1" lang="en-US" altLang="ja-JP" sz="1200" dirty="0"/>
              <a:t>】</a:t>
            </a:r>
            <a:r>
              <a:rPr kumimoji="1" lang="ja-JP" altLang="en-US" sz="1200" dirty="0"/>
              <a:t>では</a:t>
            </a:r>
            <a:r>
              <a:rPr kumimoji="1" lang="en-US" altLang="ja-JP" sz="1200" dirty="0"/>
              <a:t>【</a:t>
            </a:r>
            <a:r>
              <a:rPr kumimoji="1" lang="ja-JP" altLang="en-US" sz="1200" dirty="0"/>
              <a:t>面談希望なし</a:t>
            </a:r>
            <a:r>
              <a:rPr kumimoji="1" lang="en-US" altLang="ja-JP" sz="1200" dirty="0"/>
              <a:t>】</a:t>
            </a:r>
            <a:r>
              <a:rPr kumimoji="1" lang="ja-JP" altLang="en-US" sz="1200" dirty="0"/>
              <a:t>が</a:t>
            </a:r>
            <a:r>
              <a:rPr kumimoji="1" lang="en-US" altLang="ja-JP" sz="1200" dirty="0"/>
              <a:t>59.7%</a:t>
            </a:r>
            <a:r>
              <a:rPr kumimoji="1" lang="ja-JP" altLang="en-US" sz="1200" dirty="0"/>
              <a:t>で</a:t>
            </a:r>
            <a:r>
              <a:rPr kumimoji="1" lang="en-US" altLang="ja-JP" sz="1200" dirty="0"/>
              <a:t>20pt</a:t>
            </a:r>
            <a:r>
              <a:rPr kumimoji="1" lang="ja-JP" altLang="en-US" sz="1200" dirty="0"/>
              <a:t>ほど多い。</a:t>
            </a:r>
            <a:r>
              <a:rPr kumimoji="1" lang="en-US" altLang="ja-JP" sz="1200" dirty="0"/>
              <a:t>【</a:t>
            </a:r>
            <a:r>
              <a:rPr kumimoji="1" lang="ja-JP" altLang="en-US" sz="1200" dirty="0"/>
              <a:t>面談希望あり</a:t>
            </a:r>
            <a:r>
              <a:rPr kumimoji="1" lang="en-US" altLang="ja-JP" sz="1200" dirty="0"/>
              <a:t>】</a:t>
            </a:r>
            <a:r>
              <a:rPr lang="ja-JP" altLang="en-US" sz="1200" dirty="0"/>
              <a:t>が</a:t>
            </a:r>
            <a:r>
              <a:rPr lang="en-US" altLang="ja-JP" sz="1200" dirty="0"/>
              <a:t>4</a:t>
            </a:r>
            <a:r>
              <a:rPr lang="ja-JP" altLang="en-US" sz="1200" dirty="0"/>
              <a:t>割程度いても</a:t>
            </a:r>
            <a:r>
              <a:rPr kumimoji="1" lang="ja-JP" altLang="en-US" sz="1200" dirty="0"/>
              <a:t>面談実施しているのは全体の</a:t>
            </a:r>
            <a:r>
              <a:rPr kumimoji="1" lang="en-US" altLang="ja-JP" sz="1200" dirty="0"/>
              <a:t>13</a:t>
            </a:r>
            <a:r>
              <a:rPr kumimoji="1" lang="ja-JP" altLang="en-US" sz="1200" dirty="0"/>
              <a:t>％程度にとどまり、</a:t>
            </a:r>
            <a:r>
              <a:rPr kumimoji="1" lang="en-US" altLang="ja-JP" sz="1200" dirty="0"/>
              <a:t>【</a:t>
            </a:r>
            <a:r>
              <a:rPr kumimoji="1" lang="ja-JP" altLang="en-US" sz="1200" dirty="0"/>
              <a:t>面談希望なし</a:t>
            </a:r>
            <a:r>
              <a:rPr kumimoji="1" lang="en-US" altLang="ja-JP" sz="1200" dirty="0"/>
              <a:t>】</a:t>
            </a:r>
            <a:r>
              <a:rPr kumimoji="1" lang="ja-JP" altLang="en-US" sz="1200" dirty="0"/>
              <a:t>のほとんどは面談実施も求人応募もしていない。</a:t>
            </a:r>
            <a:endParaRPr kumimoji="1" lang="en-US" altLang="ja-JP" sz="1200" dirty="0"/>
          </a:p>
          <a:p>
            <a:pPr marL="285750" indent="-285750">
              <a:buFont typeface="Wingdings" panose="05000000000000000000" pitchFamily="2" charset="2"/>
              <a:buChar char="l"/>
            </a:pPr>
            <a:r>
              <a:rPr lang="ja-JP" altLang="en-US" sz="1200" dirty="0"/>
              <a:t>面談実施者の出現率は事業データと乖離があるが、事業内の予約後キャンセルを含めた面談予約率は</a:t>
            </a:r>
            <a:r>
              <a:rPr lang="en-US" altLang="ja-JP" sz="1200" dirty="0"/>
              <a:t>40</a:t>
            </a:r>
            <a:r>
              <a:rPr lang="ja-JP" altLang="en-US" sz="1200" dirty="0"/>
              <a:t>％前後のため、面談希望あり</a:t>
            </a:r>
            <a:r>
              <a:rPr lang="en-US" altLang="ja-JP" sz="1200" dirty="0"/>
              <a:t>CS</a:t>
            </a:r>
            <a:r>
              <a:rPr lang="ja-JP" altLang="en-US" sz="1200" dirty="0"/>
              <a:t>の出現率と近しい。</a:t>
            </a:r>
            <a:endParaRPr lang="en-US" altLang="ja-JP" sz="1200" dirty="0"/>
          </a:p>
          <a:p>
            <a:endParaRPr kumimoji="1" lang="en-US" altLang="ja-JP" sz="1200" dirty="0"/>
          </a:p>
        </p:txBody>
      </p:sp>
      <p:sp>
        <p:nvSpPr>
          <p:cNvPr id="58" name="テキスト ボックス 57">
            <a:extLst>
              <a:ext uri="{FF2B5EF4-FFF2-40B4-BE49-F238E27FC236}">
                <a16:creationId xmlns:a16="http://schemas.microsoft.com/office/drawing/2014/main" id="{5D2444A8-333E-0772-5DC9-BAF4298E5930}"/>
              </a:ext>
            </a:extLst>
          </p:cNvPr>
          <p:cNvSpPr txBox="1"/>
          <p:nvPr/>
        </p:nvSpPr>
        <p:spPr>
          <a:xfrm>
            <a:off x="8523585" y="5829496"/>
            <a:ext cx="3284415" cy="507831"/>
          </a:xfrm>
          <a:prstGeom prst="rect">
            <a:avLst/>
          </a:prstGeom>
          <a:noFill/>
        </p:spPr>
        <p:txBody>
          <a:bodyPr wrap="square" rtlCol="0">
            <a:spAutoFit/>
          </a:bodyPr>
          <a:lstStyle/>
          <a:p>
            <a:pPr algn="r"/>
            <a:r>
              <a:rPr kumimoji="1" lang="en-US" altLang="ja-JP" sz="900" dirty="0">
                <a:latin typeface="Meiryo UI" panose="020B0604030504040204" pitchFamily="50" charset="-128"/>
                <a:ea typeface="Meiryo UI" panose="020B0604030504040204" pitchFamily="50" charset="-128"/>
              </a:rPr>
              <a:t>※</a:t>
            </a:r>
            <a:r>
              <a:rPr kumimoji="1" lang="ja-JP" altLang="en-US" sz="900" dirty="0">
                <a:latin typeface="Meiryo UI" panose="020B0604030504040204" pitchFamily="50" charset="-128"/>
                <a:ea typeface="Meiryo UI" panose="020B0604030504040204" pitchFamily="50" charset="-128"/>
              </a:rPr>
              <a:t>灰</a:t>
            </a:r>
            <a:r>
              <a:rPr kumimoji="1" lang="en-US" altLang="ja-JP" sz="900" dirty="0">
                <a:latin typeface="Meiryo UI" panose="020B0604030504040204" pitchFamily="50" charset="-128"/>
                <a:ea typeface="Meiryo UI" panose="020B0604030504040204" pitchFamily="50" charset="-128"/>
              </a:rPr>
              <a:t>/</a:t>
            </a:r>
            <a:r>
              <a:rPr kumimoji="1" lang="ja-JP" altLang="en-US" sz="900" dirty="0">
                <a:latin typeface="Meiryo UI" panose="020B0604030504040204" pitchFamily="50" charset="-128"/>
                <a:ea typeface="Meiryo UI" panose="020B0604030504040204" pitchFamily="50" charset="-128"/>
              </a:rPr>
              <a:t>青地内の数字は調査内回答者出現率</a:t>
            </a:r>
            <a:endParaRPr lang="en-US" altLang="ja-JP" sz="900" dirty="0">
              <a:latin typeface="Meiryo UI" panose="020B0604030504040204" pitchFamily="50" charset="-128"/>
              <a:ea typeface="Meiryo UI" panose="020B0604030504040204" pitchFamily="50" charset="-128"/>
            </a:endParaRPr>
          </a:p>
          <a:p>
            <a:pPr algn="r"/>
            <a:r>
              <a:rPr kumimoji="1" lang="en-US" altLang="ja-JP" sz="900" dirty="0">
                <a:latin typeface="Meiryo UI" panose="020B0604030504040204" pitchFamily="50" charset="-128"/>
                <a:ea typeface="Meiryo UI" panose="020B0604030504040204" pitchFamily="50" charset="-128"/>
              </a:rPr>
              <a:t>(</a:t>
            </a:r>
            <a:r>
              <a:rPr kumimoji="1" lang="ja-JP" altLang="en-US" sz="900" dirty="0">
                <a:latin typeface="Meiryo UI" panose="020B0604030504040204" pitchFamily="50" charset="-128"/>
                <a:ea typeface="Meiryo UI" panose="020B0604030504040204" pitchFamily="50" charset="-128"/>
              </a:rPr>
              <a:t>全てエントリーを</a:t>
            </a:r>
            <a:r>
              <a:rPr kumimoji="1" lang="en-US" altLang="ja-JP" sz="900" dirty="0">
                <a:latin typeface="Meiryo UI" panose="020B0604030504040204" pitchFamily="50" charset="-128"/>
                <a:ea typeface="Meiryo UI" panose="020B0604030504040204" pitchFamily="50" charset="-128"/>
              </a:rPr>
              <a:t>100</a:t>
            </a:r>
            <a:r>
              <a:rPr kumimoji="1" lang="ja-JP" altLang="en-US" sz="900" dirty="0">
                <a:latin typeface="Meiryo UI" panose="020B0604030504040204" pitchFamily="50" charset="-128"/>
                <a:ea typeface="Meiryo UI" panose="020B0604030504040204" pitchFamily="50" charset="-128"/>
              </a:rPr>
              <a:t>とした場合</a:t>
            </a:r>
            <a:r>
              <a:rPr kumimoji="1" lang="en-US" altLang="ja-JP" sz="900" dirty="0">
                <a:latin typeface="Meiryo UI" panose="020B0604030504040204" pitchFamily="50" charset="-128"/>
                <a:ea typeface="Meiryo UI" panose="020B0604030504040204" pitchFamily="50" charset="-128"/>
              </a:rPr>
              <a:t>)</a:t>
            </a:r>
          </a:p>
          <a:p>
            <a:pPr algn="r"/>
            <a:r>
              <a:rPr lang="ja-JP" altLang="en-US" sz="900" dirty="0">
                <a:latin typeface="Meiryo UI" panose="020B0604030504040204" pitchFamily="50" charset="-128"/>
                <a:ea typeface="Meiryo UI" panose="020B0604030504040204" pitchFamily="50" charset="-128"/>
              </a:rPr>
              <a:t>赤文字</a:t>
            </a:r>
            <a:r>
              <a:rPr kumimoji="1" lang="ja-JP" altLang="en-US" sz="900" dirty="0">
                <a:latin typeface="Meiryo UI" panose="020B0604030504040204" pitchFamily="50" charset="-128"/>
                <a:ea typeface="Meiryo UI" panose="020B0604030504040204" pitchFamily="50" charset="-128"/>
              </a:rPr>
              <a:t>は</a:t>
            </a:r>
            <a:r>
              <a:rPr kumimoji="1" lang="en-US" altLang="ja-JP" sz="900" dirty="0">
                <a:latin typeface="Meiryo UI" panose="020B0604030504040204" pitchFamily="50" charset="-128"/>
                <a:ea typeface="Meiryo UI" panose="020B0604030504040204" pitchFamily="50" charset="-128"/>
              </a:rPr>
              <a:t>2023</a:t>
            </a:r>
            <a:r>
              <a:rPr kumimoji="1" lang="ja-JP" altLang="en-US" sz="900" dirty="0">
                <a:latin typeface="Meiryo UI" panose="020B0604030504040204" pitchFamily="50" charset="-128"/>
                <a:ea typeface="Meiryo UI" panose="020B0604030504040204" pitchFamily="50" charset="-128"/>
              </a:rPr>
              <a:t>年事業データ</a:t>
            </a:r>
          </a:p>
        </p:txBody>
      </p:sp>
      <p:grpSp>
        <p:nvGrpSpPr>
          <p:cNvPr id="7" name="グループ化 6">
            <a:extLst>
              <a:ext uri="{FF2B5EF4-FFF2-40B4-BE49-F238E27FC236}">
                <a16:creationId xmlns:a16="http://schemas.microsoft.com/office/drawing/2014/main" id="{EC268676-FF75-41DE-BBFF-C228D6C87B48}"/>
              </a:ext>
            </a:extLst>
          </p:cNvPr>
          <p:cNvGrpSpPr/>
          <p:nvPr/>
        </p:nvGrpSpPr>
        <p:grpSpPr>
          <a:xfrm>
            <a:off x="1619284" y="2260219"/>
            <a:ext cx="7197613" cy="3867866"/>
            <a:chOff x="1619284" y="2260219"/>
            <a:chExt cx="7197613" cy="3867866"/>
          </a:xfrm>
        </p:grpSpPr>
        <p:sp>
          <p:nvSpPr>
            <p:cNvPr id="53" name="正方形/長方形 52">
              <a:extLst>
                <a:ext uri="{FF2B5EF4-FFF2-40B4-BE49-F238E27FC236}">
                  <a16:creationId xmlns:a16="http://schemas.microsoft.com/office/drawing/2014/main" id="{96440ABC-CFDE-AC63-ED8D-D2E0149DA2E1}"/>
                </a:ext>
              </a:extLst>
            </p:cNvPr>
            <p:cNvSpPr/>
            <p:nvPr/>
          </p:nvSpPr>
          <p:spPr>
            <a:xfrm>
              <a:off x="5517663" y="3704492"/>
              <a:ext cx="1414582" cy="1840709"/>
            </a:xfrm>
            <a:prstGeom prst="rect">
              <a:avLst/>
            </a:prstGeom>
            <a:solidFill>
              <a:schemeClr val="accent5">
                <a:lumMod val="20000"/>
                <a:lumOff val="8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b"/>
            <a:lstStyle/>
            <a:p>
              <a:pPr algn="ctr"/>
              <a:r>
                <a:rPr kumimoji="1" lang="en-US" altLang="ja-JP" sz="900" b="1" dirty="0">
                  <a:solidFill>
                    <a:srgbClr val="FF0000"/>
                  </a:solidFill>
                  <a:latin typeface="Meiryo UI" panose="020B0604030504040204" pitchFamily="50" charset="-128"/>
                  <a:ea typeface="Meiryo UI" panose="020B0604030504040204" pitchFamily="50" charset="-128"/>
                </a:rPr>
                <a:t>RAG</a:t>
              </a:r>
              <a:r>
                <a:rPr kumimoji="1" lang="ja-JP" altLang="en-US" sz="900" b="1" dirty="0">
                  <a:solidFill>
                    <a:srgbClr val="FF0000"/>
                  </a:solidFill>
                  <a:latin typeface="Meiryo UI" panose="020B0604030504040204" pitchFamily="50" charset="-128"/>
                  <a:ea typeface="Meiryo UI" panose="020B0604030504040204" pitchFamily="50" charset="-128"/>
                </a:rPr>
                <a:t>）</a:t>
              </a:r>
              <a:r>
                <a:rPr kumimoji="1" lang="en-US" altLang="ja-JP" sz="900" b="1" dirty="0">
                  <a:solidFill>
                    <a:srgbClr val="FF0000"/>
                  </a:solidFill>
                  <a:latin typeface="Meiryo UI" panose="020B0604030504040204" pitchFamily="50" charset="-128"/>
                  <a:ea typeface="Meiryo UI" panose="020B0604030504040204" pitchFamily="50" charset="-128"/>
                </a:rPr>
                <a:t>68.9</a:t>
              </a:r>
              <a:r>
                <a:rPr kumimoji="1" lang="ja-JP" altLang="en-US" sz="900" b="1" dirty="0">
                  <a:solidFill>
                    <a:srgbClr val="FF0000"/>
                  </a:solidFill>
                  <a:latin typeface="Meiryo UI" panose="020B0604030504040204" pitchFamily="50" charset="-128"/>
                  <a:ea typeface="Meiryo UI" panose="020B0604030504040204" pitchFamily="50" charset="-128"/>
                </a:rPr>
                <a:t>％</a:t>
              </a:r>
            </a:p>
          </p:txBody>
        </p:sp>
        <p:sp>
          <p:nvSpPr>
            <p:cNvPr id="8" name="正方形/長方形 7">
              <a:extLst>
                <a:ext uri="{FF2B5EF4-FFF2-40B4-BE49-F238E27FC236}">
                  <a16:creationId xmlns:a16="http://schemas.microsoft.com/office/drawing/2014/main" id="{925F0B47-F8D6-5D84-68F3-9B4104E48404}"/>
                </a:ext>
              </a:extLst>
            </p:cNvPr>
            <p:cNvSpPr/>
            <p:nvPr/>
          </p:nvSpPr>
          <p:spPr>
            <a:xfrm>
              <a:off x="3635073" y="4645044"/>
              <a:ext cx="1152000" cy="652007"/>
            </a:xfrm>
            <a:prstGeom prst="rect">
              <a:avLst/>
            </a:prstGeom>
            <a:solidFill>
              <a:srgbClr val="0052A4"/>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面談希望</a:t>
              </a:r>
              <a:r>
                <a:rPr kumimoji="0" lang="ja-JP" altLang="en-US" sz="1050" b="1" i="0" u="sng"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なし</a:t>
              </a:r>
              <a:endParaRPr kumimoji="0" lang="en-US" altLang="ja-JP" sz="1050" b="1" i="0" u="sng"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59.7%</a:t>
              </a:r>
            </a:p>
          </p:txBody>
        </p:sp>
        <p:cxnSp>
          <p:nvCxnSpPr>
            <p:cNvPr id="9" name="直線コネクタ 8">
              <a:extLst>
                <a:ext uri="{FF2B5EF4-FFF2-40B4-BE49-F238E27FC236}">
                  <a16:creationId xmlns:a16="http://schemas.microsoft.com/office/drawing/2014/main" id="{44A49F44-FA05-346E-6355-3E59DFC51751}"/>
                </a:ext>
              </a:extLst>
            </p:cNvPr>
            <p:cNvCxnSpPr>
              <a:cxnSpLocks/>
              <a:stCxn id="8" idx="3"/>
              <a:endCxn id="30" idx="1"/>
            </p:cNvCxnSpPr>
            <p:nvPr/>
          </p:nvCxnSpPr>
          <p:spPr>
            <a:xfrm flipV="1">
              <a:off x="4787073" y="4971046"/>
              <a:ext cx="862912" cy="2"/>
            </a:xfrm>
            <a:prstGeom prst="line">
              <a:avLst/>
            </a:prstGeom>
            <a:solidFill>
              <a:srgbClr val="C3D69B"/>
            </a:solidFill>
            <a:ln w="28575" cap="flat" cmpd="sng" algn="ctr">
              <a:solidFill>
                <a:sysClr val="window" lastClr="FFFFFF">
                  <a:lumMod val="50000"/>
                </a:sysClr>
              </a:solidFill>
              <a:prstDash val="solid"/>
            </a:ln>
            <a:effectLst/>
          </p:spPr>
        </p:cxnSp>
        <p:sp>
          <p:nvSpPr>
            <p:cNvPr id="11" name="正方形/長方形 10">
              <a:extLst>
                <a:ext uri="{FF2B5EF4-FFF2-40B4-BE49-F238E27FC236}">
                  <a16:creationId xmlns:a16="http://schemas.microsoft.com/office/drawing/2014/main" id="{3E6F02E1-762B-CCFF-A60A-0FECF30DED3C}"/>
                </a:ext>
              </a:extLst>
            </p:cNvPr>
            <p:cNvSpPr/>
            <p:nvPr/>
          </p:nvSpPr>
          <p:spPr>
            <a:xfrm>
              <a:off x="1619284" y="2260220"/>
              <a:ext cx="1152000" cy="652007"/>
            </a:xfrm>
            <a:prstGeom prst="rect">
              <a:avLst/>
            </a:prstGeom>
            <a:solidFill>
              <a:sysClr val="window" lastClr="FFFFFF">
                <a:lumMod val="85000"/>
              </a:sys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エントリ（登録）</a:t>
              </a:r>
              <a:endParaRPr kumimoji="0" lang="en-US" altLang="ja-JP" sz="105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100%</a:t>
              </a:r>
            </a:p>
          </p:txBody>
        </p:sp>
        <p:sp>
          <p:nvSpPr>
            <p:cNvPr id="13" name="正方形/長方形 12">
              <a:extLst>
                <a:ext uri="{FF2B5EF4-FFF2-40B4-BE49-F238E27FC236}">
                  <a16:creationId xmlns:a16="http://schemas.microsoft.com/office/drawing/2014/main" id="{98F5FE06-2F26-3216-E42E-5D9FD478A74A}"/>
                </a:ext>
              </a:extLst>
            </p:cNvPr>
            <p:cNvSpPr/>
            <p:nvPr/>
          </p:nvSpPr>
          <p:spPr>
            <a:xfrm>
              <a:off x="3635073" y="2260221"/>
              <a:ext cx="1152000" cy="652007"/>
            </a:xfrm>
            <a:prstGeom prst="rect">
              <a:avLst/>
            </a:prstGeom>
            <a:solidFill>
              <a:sysClr val="window" lastClr="FFFFFF">
                <a:lumMod val="85000"/>
              </a:sys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面談希望</a:t>
              </a:r>
              <a:r>
                <a:rPr kumimoji="0" lang="ja-JP" altLang="en-US" sz="1050" b="1" i="0" u="sng"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あり</a:t>
              </a:r>
              <a:endParaRPr kumimoji="0" lang="en-US" altLang="ja-JP" sz="1050" b="1" i="0" u="sng"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40.3%</a:t>
              </a:r>
            </a:p>
          </p:txBody>
        </p:sp>
        <p:sp>
          <p:nvSpPr>
            <p:cNvPr id="14" name="正方形/長方形 13">
              <a:extLst>
                <a:ext uri="{FF2B5EF4-FFF2-40B4-BE49-F238E27FC236}">
                  <a16:creationId xmlns:a16="http://schemas.microsoft.com/office/drawing/2014/main" id="{ED9AAFFB-24FC-308C-C2F3-CF68DE2CE8EC}"/>
                </a:ext>
              </a:extLst>
            </p:cNvPr>
            <p:cNvSpPr/>
            <p:nvPr/>
          </p:nvSpPr>
          <p:spPr>
            <a:xfrm>
              <a:off x="7664897" y="2260219"/>
              <a:ext cx="1152000" cy="652007"/>
            </a:xfrm>
            <a:prstGeom prst="rect">
              <a:avLst/>
            </a:prstGeom>
            <a:solidFill>
              <a:sysClr val="window" lastClr="FFFFFF">
                <a:lumMod val="85000"/>
              </a:sys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求人応募</a:t>
              </a:r>
              <a:r>
                <a:rPr kumimoji="0" lang="ja-JP" altLang="en-US" sz="1050" b="1" i="0" u="sng"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あり</a:t>
              </a:r>
              <a:endParaRPr kumimoji="0" lang="en-US" altLang="ja-JP" sz="1050" b="1" i="0" u="sng"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7.5%</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ja-JP" sz="105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正方形/長方形 14">
              <a:extLst>
                <a:ext uri="{FF2B5EF4-FFF2-40B4-BE49-F238E27FC236}">
                  <a16:creationId xmlns:a16="http://schemas.microsoft.com/office/drawing/2014/main" id="{8E7FADCC-326A-B437-97C3-9F7DF9D97B67}"/>
                </a:ext>
              </a:extLst>
            </p:cNvPr>
            <p:cNvSpPr/>
            <p:nvPr/>
          </p:nvSpPr>
          <p:spPr>
            <a:xfrm>
              <a:off x="5649985" y="3814007"/>
              <a:ext cx="1152000" cy="652007"/>
            </a:xfrm>
            <a:prstGeom prst="rect">
              <a:avLst/>
            </a:prstGeom>
            <a:solidFill>
              <a:srgbClr val="0052A4"/>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面談実施</a:t>
              </a:r>
              <a:r>
                <a:rPr kumimoji="0" lang="ja-JP" altLang="en-US" sz="1050" b="1" i="0" u="sng"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なし</a:t>
              </a:r>
              <a:endParaRPr kumimoji="0" lang="en-US" altLang="ja-JP" sz="1050" b="1" i="0" u="sng"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27.1%</a:t>
              </a:r>
              <a:endParaRPr kumimoji="0" lang="en-US" altLang="ja-JP" sz="105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6" name="直線コネクタ 15">
              <a:extLst>
                <a:ext uri="{FF2B5EF4-FFF2-40B4-BE49-F238E27FC236}">
                  <a16:creationId xmlns:a16="http://schemas.microsoft.com/office/drawing/2014/main" id="{BE4B4BA1-C377-9170-524F-C68B7883E8B9}"/>
                </a:ext>
              </a:extLst>
            </p:cNvPr>
            <p:cNvCxnSpPr>
              <a:stCxn id="11" idx="3"/>
              <a:endCxn id="13" idx="1"/>
            </p:cNvCxnSpPr>
            <p:nvPr/>
          </p:nvCxnSpPr>
          <p:spPr>
            <a:xfrm>
              <a:off x="2771284" y="2586224"/>
              <a:ext cx="863789" cy="1"/>
            </a:xfrm>
            <a:prstGeom prst="line">
              <a:avLst/>
            </a:prstGeom>
            <a:solidFill>
              <a:srgbClr val="C3D69B"/>
            </a:solidFill>
            <a:ln w="28575" cap="flat" cmpd="sng" algn="ctr">
              <a:solidFill>
                <a:sysClr val="window" lastClr="FFFFFF">
                  <a:lumMod val="50000"/>
                </a:sysClr>
              </a:solidFill>
              <a:prstDash val="solid"/>
            </a:ln>
            <a:effectLst/>
          </p:spPr>
        </p:cxnSp>
        <p:sp>
          <p:nvSpPr>
            <p:cNvPr id="17" name="正方形/長方形 16">
              <a:extLst>
                <a:ext uri="{FF2B5EF4-FFF2-40B4-BE49-F238E27FC236}">
                  <a16:creationId xmlns:a16="http://schemas.microsoft.com/office/drawing/2014/main" id="{82CD6696-07EF-9326-C17F-D6848B31C2E5}"/>
                </a:ext>
              </a:extLst>
            </p:cNvPr>
            <p:cNvSpPr/>
            <p:nvPr/>
          </p:nvSpPr>
          <p:spPr>
            <a:xfrm>
              <a:off x="5649985" y="2260219"/>
              <a:ext cx="1152000" cy="652007"/>
            </a:xfrm>
            <a:prstGeom prst="rect">
              <a:avLst/>
            </a:prstGeom>
            <a:solidFill>
              <a:sysClr val="window" lastClr="FFFFFF">
                <a:lumMod val="85000"/>
              </a:sys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面談実施</a:t>
              </a:r>
              <a:r>
                <a:rPr kumimoji="0" lang="ja-JP" altLang="en-US" sz="1050" b="1" i="0" u="sng"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あり</a:t>
              </a:r>
              <a:endParaRPr kumimoji="0" lang="en-US" altLang="ja-JP" sz="1050" b="1" i="0" u="sng"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13.3%</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ja-JP" sz="105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8" name="直線コネクタ 17">
              <a:extLst>
                <a:ext uri="{FF2B5EF4-FFF2-40B4-BE49-F238E27FC236}">
                  <a16:creationId xmlns:a16="http://schemas.microsoft.com/office/drawing/2014/main" id="{143D0366-1E60-7592-FA24-C05ED83DB26D}"/>
                </a:ext>
              </a:extLst>
            </p:cNvPr>
            <p:cNvCxnSpPr>
              <a:cxnSpLocks/>
              <a:stCxn id="13" idx="3"/>
              <a:endCxn id="17" idx="1"/>
            </p:cNvCxnSpPr>
            <p:nvPr/>
          </p:nvCxnSpPr>
          <p:spPr>
            <a:xfrm flipV="1">
              <a:off x="4787073" y="2586223"/>
              <a:ext cx="862912" cy="2"/>
            </a:xfrm>
            <a:prstGeom prst="line">
              <a:avLst/>
            </a:prstGeom>
            <a:solidFill>
              <a:srgbClr val="C3D69B"/>
            </a:solidFill>
            <a:ln w="28575" cap="flat" cmpd="sng" algn="ctr">
              <a:solidFill>
                <a:sysClr val="window" lastClr="FFFFFF">
                  <a:lumMod val="50000"/>
                </a:sysClr>
              </a:solidFill>
              <a:prstDash val="solid"/>
            </a:ln>
            <a:effectLst/>
          </p:spPr>
        </p:cxnSp>
        <p:cxnSp>
          <p:nvCxnSpPr>
            <p:cNvPr id="26" name="直線コネクタ 25">
              <a:extLst>
                <a:ext uri="{FF2B5EF4-FFF2-40B4-BE49-F238E27FC236}">
                  <a16:creationId xmlns:a16="http://schemas.microsoft.com/office/drawing/2014/main" id="{C706DA24-8194-8A05-331F-34F0168E1AC5}"/>
                </a:ext>
              </a:extLst>
            </p:cNvPr>
            <p:cNvCxnSpPr>
              <a:cxnSpLocks/>
              <a:stCxn id="17" idx="3"/>
              <a:endCxn id="14" idx="1"/>
            </p:cNvCxnSpPr>
            <p:nvPr/>
          </p:nvCxnSpPr>
          <p:spPr>
            <a:xfrm>
              <a:off x="6801985" y="2586223"/>
              <a:ext cx="862912" cy="0"/>
            </a:xfrm>
            <a:prstGeom prst="line">
              <a:avLst/>
            </a:prstGeom>
            <a:solidFill>
              <a:srgbClr val="C3D69B"/>
            </a:solidFill>
            <a:ln w="28575" cap="flat" cmpd="sng" algn="ctr">
              <a:solidFill>
                <a:sysClr val="window" lastClr="FFFFFF">
                  <a:lumMod val="50000"/>
                </a:sysClr>
              </a:solidFill>
              <a:prstDash val="solid"/>
            </a:ln>
            <a:effectLst/>
          </p:spPr>
        </p:cxnSp>
        <p:sp>
          <p:nvSpPr>
            <p:cNvPr id="29" name="正方形/長方形 28">
              <a:extLst>
                <a:ext uri="{FF2B5EF4-FFF2-40B4-BE49-F238E27FC236}">
                  <a16:creationId xmlns:a16="http://schemas.microsoft.com/office/drawing/2014/main" id="{52D11D62-6F6A-DE7B-B178-36F5C516436E}"/>
                </a:ext>
              </a:extLst>
            </p:cNvPr>
            <p:cNvSpPr/>
            <p:nvPr/>
          </p:nvSpPr>
          <p:spPr>
            <a:xfrm>
              <a:off x="7664897" y="4645042"/>
              <a:ext cx="1152000" cy="652007"/>
            </a:xfrm>
            <a:prstGeom prst="rect">
              <a:avLst/>
            </a:prstGeom>
            <a:solidFill>
              <a:srgbClr val="0052A4"/>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求人応募</a:t>
              </a:r>
              <a:r>
                <a:rPr kumimoji="0" lang="ja-JP" altLang="en-US" sz="1050" b="1" i="0" u="sng"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あり</a:t>
              </a:r>
              <a:endParaRPr kumimoji="0" lang="en-US" altLang="ja-JP" sz="1050" b="1" i="0" u="sng"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7.6%</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30" name="正方形/長方形 29">
              <a:extLst>
                <a:ext uri="{FF2B5EF4-FFF2-40B4-BE49-F238E27FC236}">
                  <a16:creationId xmlns:a16="http://schemas.microsoft.com/office/drawing/2014/main" id="{1261C296-4AD3-E237-4B59-F1E476DE68D2}"/>
                </a:ext>
              </a:extLst>
            </p:cNvPr>
            <p:cNvSpPr/>
            <p:nvPr/>
          </p:nvSpPr>
          <p:spPr>
            <a:xfrm>
              <a:off x="5649985" y="4645042"/>
              <a:ext cx="1152000" cy="652007"/>
            </a:xfrm>
            <a:prstGeom prst="rect">
              <a:avLst/>
            </a:prstGeom>
            <a:solidFill>
              <a:sysClr val="window" lastClr="FFFFFF">
                <a:lumMod val="85000"/>
              </a:sys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面談実施</a:t>
              </a:r>
              <a:r>
                <a:rPr kumimoji="0" lang="ja-JP" altLang="en-US" sz="1050" b="1" i="0" u="sng"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なし</a:t>
              </a:r>
              <a:endParaRPr kumimoji="0" lang="en-US" altLang="ja-JP" sz="1050" b="1" i="0" u="sng"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56.0%</a:t>
              </a:r>
            </a:p>
          </p:txBody>
        </p:sp>
        <p:cxnSp>
          <p:nvCxnSpPr>
            <p:cNvPr id="33" name="直線コネクタ 32">
              <a:extLst>
                <a:ext uri="{FF2B5EF4-FFF2-40B4-BE49-F238E27FC236}">
                  <a16:creationId xmlns:a16="http://schemas.microsoft.com/office/drawing/2014/main" id="{AB8DA724-8FFB-CF58-A652-6FE019CD4753}"/>
                </a:ext>
              </a:extLst>
            </p:cNvPr>
            <p:cNvCxnSpPr>
              <a:cxnSpLocks/>
              <a:stCxn id="30" idx="3"/>
              <a:endCxn id="29" idx="1"/>
            </p:cNvCxnSpPr>
            <p:nvPr/>
          </p:nvCxnSpPr>
          <p:spPr>
            <a:xfrm>
              <a:off x="6801985" y="4971046"/>
              <a:ext cx="862912" cy="0"/>
            </a:xfrm>
            <a:prstGeom prst="line">
              <a:avLst/>
            </a:prstGeom>
            <a:solidFill>
              <a:srgbClr val="C3D69B"/>
            </a:solidFill>
            <a:ln w="28575" cap="flat" cmpd="sng" algn="ctr">
              <a:solidFill>
                <a:sysClr val="window" lastClr="FFFFFF">
                  <a:lumMod val="50000"/>
                </a:sysClr>
              </a:solidFill>
              <a:prstDash val="solid"/>
            </a:ln>
            <a:effectLst/>
          </p:spPr>
        </p:cxnSp>
        <p:sp>
          <p:nvSpPr>
            <p:cNvPr id="34" name="正方形/長方形 33">
              <a:extLst>
                <a:ext uri="{FF2B5EF4-FFF2-40B4-BE49-F238E27FC236}">
                  <a16:creationId xmlns:a16="http://schemas.microsoft.com/office/drawing/2014/main" id="{95DE53E8-D739-8B2A-4D30-8904360A737D}"/>
                </a:ext>
              </a:extLst>
            </p:cNvPr>
            <p:cNvSpPr/>
            <p:nvPr/>
          </p:nvSpPr>
          <p:spPr>
            <a:xfrm>
              <a:off x="7664897" y="3091256"/>
              <a:ext cx="1152000" cy="652007"/>
            </a:xfrm>
            <a:prstGeom prst="rect">
              <a:avLst/>
            </a:prstGeom>
            <a:solidFill>
              <a:srgbClr val="0052A4"/>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求人応募</a:t>
              </a:r>
              <a:r>
                <a:rPr kumimoji="0" lang="ja-JP" altLang="en-US" sz="1050" b="1" i="0" u="sng"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なし</a:t>
              </a:r>
              <a:endParaRPr kumimoji="0" lang="en-US" altLang="ja-JP" sz="1050" b="1" i="0" u="sng"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5.7%</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35" name="正方形/長方形 34">
              <a:extLst>
                <a:ext uri="{FF2B5EF4-FFF2-40B4-BE49-F238E27FC236}">
                  <a16:creationId xmlns:a16="http://schemas.microsoft.com/office/drawing/2014/main" id="{200094FA-2AAF-D2CD-F702-BD80CD38270D}"/>
                </a:ext>
              </a:extLst>
            </p:cNvPr>
            <p:cNvSpPr/>
            <p:nvPr/>
          </p:nvSpPr>
          <p:spPr>
            <a:xfrm>
              <a:off x="7664897" y="5476078"/>
              <a:ext cx="1152000" cy="652007"/>
            </a:xfrm>
            <a:prstGeom prst="rect">
              <a:avLst/>
            </a:prstGeom>
            <a:solidFill>
              <a:srgbClr val="0052A4"/>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求人応募</a:t>
              </a:r>
              <a:r>
                <a:rPr kumimoji="0" lang="ja-JP" altLang="en-US" sz="1050" b="1" i="0" u="sng"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なし</a:t>
              </a:r>
              <a:endParaRPr kumimoji="0" lang="en-US" altLang="ja-JP" sz="1050" b="1" i="0" u="sng"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48.4%</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43" name="コネクタ: カギ線 42">
              <a:extLst>
                <a:ext uri="{FF2B5EF4-FFF2-40B4-BE49-F238E27FC236}">
                  <a16:creationId xmlns:a16="http://schemas.microsoft.com/office/drawing/2014/main" id="{07AF6FED-DF46-31E2-4A4B-65742DD342D1}"/>
                </a:ext>
              </a:extLst>
            </p:cNvPr>
            <p:cNvCxnSpPr>
              <a:stCxn id="11" idx="3"/>
              <a:endCxn id="8" idx="1"/>
            </p:cNvCxnSpPr>
            <p:nvPr/>
          </p:nvCxnSpPr>
          <p:spPr>
            <a:xfrm>
              <a:off x="2771284" y="2586224"/>
              <a:ext cx="863789" cy="2384824"/>
            </a:xfrm>
            <a:prstGeom prst="bentConnector3">
              <a:avLst/>
            </a:prstGeom>
            <a:ln>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44" name="コネクタ: カギ線 43">
              <a:extLst>
                <a:ext uri="{FF2B5EF4-FFF2-40B4-BE49-F238E27FC236}">
                  <a16:creationId xmlns:a16="http://schemas.microsoft.com/office/drawing/2014/main" id="{609CCCD4-E1E8-205E-1F9E-0A344F810D50}"/>
                </a:ext>
              </a:extLst>
            </p:cNvPr>
            <p:cNvCxnSpPr>
              <a:cxnSpLocks/>
              <a:stCxn id="13" idx="3"/>
              <a:endCxn id="15" idx="1"/>
            </p:cNvCxnSpPr>
            <p:nvPr/>
          </p:nvCxnSpPr>
          <p:spPr>
            <a:xfrm>
              <a:off x="4787073" y="2586225"/>
              <a:ext cx="862912" cy="1553786"/>
            </a:xfrm>
            <a:prstGeom prst="bentConnector3">
              <a:avLst>
                <a:gd name="adj1" fmla="val 35597"/>
              </a:avLst>
            </a:prstGeom>
            <a:ln>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48" name="コネクタ: カギ線 47">
              <a:extLst>
                <a:ext uri="{FF2B5EF4-FFF2-40B4-BE49-F238E27FC236}">
                  <a16:creationId xmlns:a16="http://schemas.microsoft.com/office/drawing/2014/main" id="{C603BDC7-CEF0-2CBA-58FC-6B7E2C53E238}"/>
                </a:ext>
              </a:extLst>
            </p:cNvPr>
            <p:cNvCxnSpPr>
              <a:cxnSpLocks/>
              <a:endCxn id="34" idx="1"/>
            </p:cNvCxnSpPr>
            <p:nvPr/>
          </p:nvCxnSpPr>
          <p:spPr>
            <a:xfrm>
              <a:off x="6801985" y="2587464"/>
              <a:ext cx="862912" cy="829796"/>
            </a:xfrm>
            <a:prstGeom prst="bentConnector3">
              <a:avLst>
                <a:gd name="adj1" fmla="val 50000"/>
              </a:avLst>
            </a:prstGeom>
            <a:ln>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50" name="コネクタ: カギ線 49">
              <a:extLst>
                <a:ext uri="{FF2B5EF4-FFF2-40B4-BE49-F238E27FC236}">
                  <a16:creationId xmlns:a16="http://schemas.microsoft.com/office/drawing/2014/main" id="{540A3509-3CBC-4FF1-87F1-ECF055C227C5}"/>
                </a:ext>
              </a:extLst>
            </p:cNvPr>
            <p:cNvCxnSpPr>
              <a:cxnSpLocks/>
            </p:cNvCxnSpPr>
            <p:nvPr/>
          </p:nvCxnSpPr>
          <p:spPr>
            <a:xfrm>
              <a:off x="6801985" y="4962667"/>
              <a:ext cx="862912" cy="829796"/>
            </a:xfrm>
            <a:prstGeom prst="bentConnector3">
              <a:avLst>
                <a:gd name="adj1" fmla="val 50000"/>
              </a:avLst>
            </a:prstGeom>
            <a:ln>
              <a:solidFill>
                <a:schemeClr val="bg1">
                  <a:lumMod val="50000"/>
                </a:schemeClr>
              </a:solidFill>
            </a:ln>
          </p:spPr>
          <p:style>
            <a:lnRef idx="3">
              <a:schemeClr val="dk1"/>
            </a:lnRef>
            <a:fillRef idx="0">
              <a:schemeClr val="dk1"/>
            </a:fillRef>
            <a:effectRef idx="2">
              <a:schemeClr val="dk1"/>
            </a:effectRef>
            <a:fontRef idx="minor">
              <a:schemeClr val="tx1"/>
            </a:fontRef>
          </p:style>
        </p:cxnSp>
        <p:sp>
          <p:nvSpPr>
            <p:cNvPr id="51" name="正方形/長方形 50">
              <a:extLst>
                <a:ext uri="{FF2B5EF4-FFF2-40B4-BE49-F238E27FC236}">
                  <a16:creationId xmlns:a16="http://schemas.microsoft.com/office/drawing/2014/main" id="{9C106DC3-F0DA-DC9E-BB3F-38371ACEA820}"/>
                </a:ext>
              </a:extLst>
            </p:cNvPr>
            <p:cNvSpPr/>
            <p:nvPr/>
          </p:nvSpPr>
          <p:spPr>
            <a:xfrm>
              <a:off x="5697238" y="2678452"/>
              <a:ext cx="1013109" cy="195385"/>
            </a:xfrm>
            <a:prstGeom prst="rect">
              <a:avLst/>
            </a:prstGeom>
            <a:solidFill>
              <a:schemeClr val="accent5">
                <a:lumMod val="20000"/>
                <a:lumOff val="8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900" b="1" dirty="0">
                  <a:solidFill>
                    <a:srgbClr val="FF0000"/>
                  </a:solidFill>
                  <a:latin typeface="Meiryo UI" panose="020B0604030504040204" pitchFamily="50" charset="-128"/>
                  <a:ea typeface="Meiryo UI" panose="020B0604030504040204" pitchFamily="50" charset="-128"/>
                </a:rPr>
                <a:t>RAG</a:t>
              </a:r>
              <a:r>
                <a:rPr kumimoji="1" lang="ja-JP" altLang="en-US" sz="900" b="1" dirty="0">
                  <a:solidFill>
                    <a:srgbClr val="FF0000"/>
                  </a:solidFill>
                  <a:latin typeface="Meiryo UI" panose="020B0604030504040204" pitchFamily="50" charset="-128"/>
                  <a:ea typeface="Meiryo UI" panose="020B0604030504040204" pitchFamily="50" charset="-128"/>
                </a:rPr>
                <a:t>）</a:t>
              </a:r>
              <a:r>
                <a:rPr kumimoji="1" lang="en-US" altLang="ja-JP" sz="900" b="1" dirty="0">
                  <a:solidFill>
                    <a:srgbClr val="FF0000"/>
                  </a:solidFill>
                  <a:latin typeface="Meiryo UI" panose="020B0604030504040204" pitchFamily="50" charset="-128"/>
                  <a:ea typeface="Meiryo UI" panose="020B0604030504040204" pitchFamily="50" charset="-128"/>
                </a:rPr>
                <a:t>31.1</a:t>
              </a:r>
              <a:r>
                <a:rPr kumimoji="1" lang="ja-JP" altLang="en-US" sz="900" b="1" dirty="0">
                  <a:solidFill>
                    <a:srgbClr val="FF0000"/>
                  </a:solidFill>
                  <a:latin typeface="Meiryo UI" panose="020B0604030504040204" pitchFamily="50" charset="-128"/>
                  <a:ea typeface="Meiryo UI" panose="020B0604030504040204" pitchFamily="50" charset="-128"/>
                </a:rPr>
                <a:t>％</a:t>
              </a:r>
            </a:p>
          </p:txBody>
        </p:sp>
        <p:sp>
          <p:nvSpPr>
            <p:cNvPr id="52" name="正方形/長方形 51">
              <a:extLst>
                <a:ext uri="{FF2B5EF4-FFF2-40B4-BE49-F238E27FC236}">
                  <a16:creationId xmlns:a16="http://schemas.microsoft.com/office/drawing/2014/main" id="{13363E0F-0EB1-2E85-EAB3-A34F4D8E384D}"/>
                </a:ext>
              </a:extLst>
            </p:cNvPr>
            <p:cNvSpPr/>
            <p:nvPr/>
          </p:nvSpPr>
          <p:spPr>
            <a:xfrm>
              <a:off x="7721946" y="2695884"/>
              <a:ext cx="1013109" cy="195385"/>
            </a:xfrm>
            <a:prstGeom prst="rect">
              <a:avLst/>
            </a:prstGeom>
            <a:solidFill>
              <a:schemeClr val="accent5">
                <a:lumMod val="20000"/>
                <a:lumOff val="8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900" b="1" dirty="0">
                  <a:solidFill>
                    <a:srgbClr val="FF0000"/>
                  </a:solidFill>
                  <a:latin typeface="Meiryo UI" panose="020B0604030504040204" pitchFamily="50" charset="-128"/>
                  <a:ea typeface="Meiryo UI" panose="020B0604030504040204" pitchFamily="50" charset="-128"/>
                </a:rPr>
                <a:t>RAG</a:t>
              </a:r>
              <a:r>
                <a:rPr kumimoji="1" lang="ja-JP" altLang="en-US" sz="900" b="1" dirty="0">
                  <a:solidFill>
                    <a:srgbClr val="FF0000"/>
                  </a:solidFill>
                  <a:latin typeface="Meiryo UI" panose="020B0604030504040204" pitchFamily="50" charset="-128"/>
                  <a:ea typeface="Meiryo UI" panose="020B0604030504040204" pitchFamily="50" charset="-128"/>
                </a:rPr>
                <a:t>）</a:t>
              </a:r>
              <a:r>
                <a:rPr lang="en-US" altLang="ja-JP" sz="900" b="1" dirty="0">
                  <a:solidFill>
                    <a:srgbClr val="FF0000"/>
                  </a:solidFill>
                  <a:latin typeface="Meiryo UI" panose="020B0604030504040204" pitchFamily="50" charset="-128"/>
                  <a:ea typeface="Meiryo UI" panose="020B0604030504040204" pitchFamily="50" charset="-128"/>
                </a:rPr>
                <a:t>20</a:t>
              </a:r>
              <a:r>
                <a:rPr kumimoji="1" lang="en-US" altLang="ja-JP" sz="900" b="1" dirty="0">
                  <a:solidFill>
                    <a:srgbClr val="FF0000"/>
                  </a:solidFill>
                  <a:latin typeface="Meiryo UI" panose="020B0604030504040204" pitchFamily="50" charset="-128"/>
                  <a:ea typeface="Meiryo UI" panose="020B0604030504040204" pitchFamily="50" charset="-128"/>
                </a:rPr>
                <a:t>.4</a:t>
              </a:r>
              <a:r>
                <a:rPr kumimoji="1" lang="ja-JP" altLang="en-US" sz="900" b="1" dirty="0">
                  <a:solidFill>
                    <a:srgbClr val="FF0000"/>
                  </a:solidFill>
                  <a:latin typeface="Meiryo UI" panose="020B0604030504040204" pitchFamily="50" charset="-128"/>
                  <a:ea typeface="Meiryo UI" panose="020B0604030504040204" pitchFamily="50" charset="-128"/>
                </a:rPr>
                <a:t>％</a:t>
              </a:r>
            </a:p>
          </p:txBody>
        </p:sp>
        <p:sp>
          <p:nvSpPr>
            <p:cNvPr id="54" name="正方形/長方形 53">
              <a:extLst>
                <a:ext uri="{FF2B5EF4-FFF2-40B4-BE49-F238E27FC236}">
                  <a16:creationId xmlns:a16="http://schemas.microsoft.com/office/drawing/2014/main" id="{4B9786F1-D119-95A1-79B6-29037E2C5315}"/>
                </a:ext>
              </a:extLst>
            </p:cNvPr>
            <p:cNvSpPr/>
            <p:nvPr/>
          </p:nvSpPr>
          <p:spPr>
            <a:xfrm>
              <a:off x="7721945" y="3522266"/>
              <a:ext cx="1013109" cy="195385"/>
            </a:xfrm>
            <a:prstGeom prst="rect">
              <a:avLst/>
            </a:prstGeom>
            <a:solidFill>
              <a:schemeClr val="accent5">
                <a:lumMod val="20000"/>
                <a:lumOff val="8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900" b="1" dirty="0">
                  <a:solidFill>
                    <a:srgbClr val="FF0000"/>
                  </a:solidFill>
                  <a:latin typeface="Meiryo UI" panose="020B0604030504040204" pitchFamily="50" charset="-128"/>
                  <a:ea typeface="Meiryo UI" panose="020B0604030504040204" pitchFamily="50" charset="-128"/>
                </a:rPr>
                <a:t>RAG</a:t>
              </a:r>
              <a:r>
                <a:rPr kumimoji="1" lang="ja-JP" altLang="en-US" sz="900" b="1" dirty="0">
                  <a:solidFill>
                    <a:srgbClr val="FF0000"/>
                  </a:solidFill>
                  <a:latin typeface="Meiryo UI" panose="020B0604030504040204" pitchFamily="50" charset="-128"/>
                  <a:ea typeface="Meiryo UI" panose="020B0604030504040204" pitchFamily="50" charset="-128"/>
                </a:rPr>
                <a:t>）</a:t>
              </a:r>
              <a:r>
                <a:rPr lang="en-US" altLang="ja-JP" sz="900" b="1" dirty="0">
                  <a:solidFill>
                    <a:srgbClr val="FF0000"/>
                  </a:solidFill>
                  <a:latin typeface="Meiryo UI" panose="020B0604030504040204" pitchFamily="50" charset="-128"/>
                  <a:ea typeface="Meiryo UI" panose="020B0604030504040204" pitchFamily="50" charset="-128"/>
                </a:rPr>
                <a:t>10.8</a:t>
              </a:r>
              <a:r>
                <a:rPr kumimoji="1" lang="ja-JP" altLang="en-US" sz="900" b="1" dirty="0">
                  <a:solidFill>
                    <a:srgbClr val="FF0000"/>
                  </a:solidFill>
                  <a:latin typeface="Meiryo UI" panose="020B0604030504040204" pitchFamily="50" charset="-128"/>
                  <a:ea typeface="Meiryo UI" panose="020B0604030504040204" pitchFamily="50" charset="-128"/>
                </a:rPr>
                <a:t>％</a:t>
              </a:r>
            </a:p>
          </p:txBody>
        </p:sp>
        <p:sp>
          <p:nvSpPr>
            <p:cNvPr id="55" name="正方形/長方形 54">
              <a:extLst>
                <a:ext uri="{FF2B5EF4-FFF2-40B4-BE49-F238E27FC236}">
                  <a16:creationId xmlns:a16="http://schemas.microsoft.com/office/drawing/2014/main" id="{6E14FBD4-6AFA-6ABD-56BA-8B05D6544941}"/>
                </a:ext>
              </a:extLst>
            </p:cNvPr>
            <p:cNvSpPr/>
            <p:nvPr/>
          </p:nvSpPr>
          <p:spPr>
            <a:xfrm>
              <a:off x="7734342" y="5076104"/>
              <a:ext cx="1013109" cy="195385"/>
            </a:xfrm>
            <a:prstGeom prst="rect">
              <a:avLst/>
            </a:prstGeom>
            <a:solidFill>
              <a:schemeClr val="accent5">
                <a:lumMod val="20000"/>
                <a:lumOff val="8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1000" b="1" dirty="0">
                  <a:solidFill>
                    <a:srgbClr val="FF0000"/>
                  </a:solidFill>
                  <a:latin typeface="Meiryo UI" panose="020B0604030504040204" pitchFamily="50" charset="-128"/>
                  <a:ea typeface="Meiryo UI" panose="020B0604030504040204" pitchFamily="50" charset="-128"/>
                </a:rPr>
                <a:t>RAG</a:t>
              </a:r>
              <a:r>
                <a:rPr kumimoji="1" lang="ja-JP" altLang="en-US" sz="1000" b="1" dirty="0">
                  <a:solidFill>
                    <a:srgbClr val="FF0000"/>
                  </a:solidFill>
                  <a:latin typeface="Meiryo UI" panose="020B0604030504040204" pitchFamily="50" charset="-128"/>
                  <a:ea typeface="Meiryo UI" panose="020B0604030504040204" pitchFamily="50" charset="-128"/>
                </a:rPr>
                <a:t>）</a:t>
              </a:r>
              <a:r>
                <a:rPr kumimoji="1" lang="en-US" altLang="ja-JP" sz="1000" b="1" dirty="0">
                  <a:solidFill>
                    <a:srgbClr val="FF0000"/>
                  </a:solidFill>
                  <a:latin typeface="Meiryo UI" panose="020B0604030504040204" pitchFamily="50" charset="-128"/>
                  <a:ea typeface="Meiryo UI" panose="020B0604030504040204" pitchFamily="50" charset="-128"/>
                </a:rPr>
                <a:t>3.1</a:t>
              </a:r>
              <a:r>
                <a:rPr kumimoji="1" lang="ja-JP" altLang="en-US" sz="1000" b="1" dirty="0">
                  <a:solidFill>
                    <a:srgbClr val="FF0000"/>
                  </a:solidFill>
                  <a:latin typeface="Meiryo UI" panose="020B0604030504040204" pitchFamily="50" charset="-128"/>
                  <a:ea typeface="Meiryo UI" panose="020B0604030504040204" pitchFamily="50" charset="-128"/>
                </a:rPr>
                <a:t>％</a:t>
              </a:r>
            </a:p>
          </p:txBody>
        </p:sp>
        <p:sp>
          <p:nvSpPr>
            <p:cNvPr id="56" name="正方形/長方形 55">
              <a:extLst>
                <a:ext uri="{FF2B5EF4-FFF2-40B4-BE49-F238E27FC236}">
                  <a16:creationId xmlns:a16="http://schemas.microsoft.com/office/drawing/2014/main" id="{8F7EFC2E-7222-2D3D-5E12-F54E79F62964}"/>
                </a:ext>
              </a:extLst>
            </p:cNvPr>
            <p:cNvSpPr/>
            <p:nvPr/>
          </p:nvSpPr>
          <p:spPr>
            <a:xfrm>
              <a:off x="7734342" y="5894757"/>
              <a:ext cx="1013109" cy="195385"/>
            </a:xfrm>
            <a:prstGeom prst="rect">
              <a:avLst/>
            </a:prstGeom>
            <a:solidFill>
              <a:schemeClr val="accent5">
                <a:lumMod val="20000"/>
                <a:lumOff val="8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sz="900" b="1" dirty="0">
                  <a:solidFill>
                    <a:srgbClr val="FF0000"/>
                  </a:solidFill>
                  <a:latin typeface="Meiryo UI" panose="020B0604030504040204" pitchFamily="50" charset="-128"/>
                  <a:ea typeface="Meiryo UI" panose="020B0604030504040204" pitchFamily="50" charset="-128"/>
                </a:rPr>
                <a:t>RAG</a:t>
              </a:r>
              <a:r>
                <a:rPr kumimoji="1" lang="ja-JP" altLang="en-US" sz="900" b="1" dirty="0">
                  <a:solidFill>
                    <a:srgbClr val="FF0000"/>
                  </a:solidFill>
                  <a:latin typeface="Meiryo UI" panose="020B0604030504040204" pitchFamily="50" charset="-128"/>
                  <a:ea typeface="Meiryo UI" panose="020B0604030504040204" pitchFamily="50" charset="-128"/>
                </a:rPr>
                <a:t>）</a:t>
              </a:r>
              <a:r>
                <a:rPr lang="en-US" altLang="ja-JP" sz="900" b="1" dirty="0">
                  <a:solidFill>
                    <a:srgbClr val="FF0000"/>
                  </a:solidFill>
                  <a:latin typeface="Meiryo UI" panose="020B0604030504040204" pitchFamily="50" charset="-128"/>
                  <a:ea typeface="Meiryo UI" panose="020B0604030504040204" pitchFamily="50" charset="-128"/>
                </a:rPr>
                <a:t>65</a:t>
              </a:r>
              <a:r>
                <a:rPr kumimoji="1" lang="en-US" altLang="ja-JP" sz="900" b="1" dirty="0">
                  <a:solidFill>
                    <a:srgbClr val="FF0000"/>
                  </a:solidFill>
                  <a:latin typeface="Meiryo UI" panose="020B0604030504040204" pitchFamily="50" charset="-128"/>
                  <a:ea typeface="Meiryo UI" panose="020B0604030504040204" pitchFamily="50" charset="-128"/>
                </a:rPr>
                <a:t>.8</a:t>
              </a:r>
              <a:r>
                <a:rPr kumimoji="1" lang="ja-JP" altLang="en-US" sz="900" b="1" dirty="0">
                  <a:solidFill>
                    <a:srgbClr val="FF0000"/>
                  </a:solidFill>
                  <a:latin typeface="Meiryo UI" panose="020B0604030504040204" pitchFamily="50" charset="-128"/>
                  <a:ea typeface="Meiryo UI" panose="020B0604030504040204" pitchFamily="50" charset="-128"/>
                </a:rPr>
                <a:t>％</a:t>
              </a:r>
            </a:p>
          </p:txBody>
        </p:sp>
        <p:cxnSp>
          <p:nvCxnSpPr>
            <p:cNvPr id="6" name="コネクタ: カギ線 5">
              <a:extLst>
                <a:ext uri="{FF2B5EF4-FFF2-40B4-BE49-F238E27FC236}">
                  <a16:creationId xmlns:a16="http://schemas.microsoft.com/office/drawing/2014/main" id="{DCB5016E-73DA-59B1-9BF9-A64F743AE6D8}"/>
                </a:ext>
              </a:extLst>
            </p:cNvPr>
            <p:cNvCxnSpPr>
              <a:cxnSpLocks/>
            </p:cNvCxnSpPr>
            <p:nvPr/>
          </p:nvCxnSpPr>
          <p:spPr>
            <a:xfrm rot="5400000" flipH="1" flipV="1">
              <a:off x="4350712" y="3671774"/>
              <a:ext cx="2275162" cy="323383"/>
            </a:xfrm>
            <a:prstGeom prst="bentConnector3">
              <a:avLst>
                <a:gd name="adj1" fmla="val 99555"/>
              </a:avLst>
            </a:prstGeom>
            <a:ln w="19050">
              <a:solidFill>
                <a:schemeClr val="bg1">
                  <a:lumMod val="50000"/>
                </a:schemeClr>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792629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DCE9EA71-6E6D-1F5F-89B1-CEBDAA2EE5AD}"/>
              </a:ext>
            </a:extLst>
          </p:cNvPr>
          <p:cNvSpPr>
            <a:spLocks noGrp="1"/>
          </p:cNvSpPr>
          <p:nvPr>
            <p:ph type="body" sz="quarter" idx="13"/>
          </p:nvPr>
        </p:nvSpPr>
        <p:spPr/>
        <p:txBody>
          <a:bodyPr/>
          <a:lstStyle/>
          <a:p>
            <a:r>
              <a:rPr kumimoji="1" lang="ja-JP" altLang="en-US" dirty="0"/>
              <a:t>調査結果サマリ：検証ポイントとサポート案</a:t>
            </a:r>
          </a:p>
        </p:txBody>
      </p:sp>
      <p:sp>
        <p:nvSpPr>
          <p:cNvPr id="4" name="フッター プレースホルダー 3">
            <a:extLst>
              <a:ext uri="{FF2B5EF4-FFF2-40B4-BE49-F238E27FC236}">
                <a16:creationId xmlns:a16="http://schemas.microsoft.com/office/drawing/2014/main" id="{F30D068F-A940-E24E-1D1B-EE9C79DA3761}"/>
              </a:ext>
            </a:extLst>
          </p:cNvPr>
          <p:cNvSpPr>
            <a:spLocks noGrp="1"/>
          </p:cNvSpPr>
          <p:nvPr>
            <p:ph type="ftr" sz="quarter" idx="3"/>
          </p:nvPr>
        </p:nvSpPr>
        <p:spPr/>
        <p:txBody>
          <a:bodyPr/>
          <a:lstStyle/>
          <a:p>
            <a:r>
              <a:rPr lang="en" altLang="ja-JP"/>
              <a:t>(C) Recruit Co., Ltd. All rights reserved. </a:t>
            </a:r>
            <a:endParaRPr lang="ja-JP" altLang="en-US"/>
          </a:p>
        </p:txBody>
      </p:sp>
      <p:sp>
        <p:nvSpPr>
          <p:cNvPr id="5" name="スライド番号プレースホルダー 4">
            <a:extLst>
              <a:ext uri="{FF2B5EF4-FFF2-40B4-BE49-F238E27FC236}">
                <a16:creationId xmlns:a16="http://schemas.microsoft.com/office/drawing/2014/main" id="{081DC4CE-2B1E-14E5-E796-46E143BBEA32}"/>
              </a:ext>
            </a:extLst>
          </p:cNvPr>
          <p:cNvSpPr>
            <a:spLocks noGrp="1"/>
          </p:cNvSpPr>
          <p:nvPr>
            <p:ph type="sldNum" sz="quarter" idx="4"/>
          </p:nvPr>
        </p:nvSpPr>
        <p:spPr/>
        <p:txBody>
          <a:bodyPr/>
          <a:lstStyle/>
          <a:p>
            <a:fld id="{EDD55F78-D87A-074E-B5DA-6C9B598DD91F}" type="slidenum">
              <a:rPr lang="ja-JP" altLang="en-US" smtClean="0"/>
              <a:pPr/>
              <a:t>4</a:t>
            </a:fld>
            <a:endParaRPr lang="ja-JP" altLang="en-US"/>
          </a:p>
        </p:txBody>
      </p:sp>
      <p:graphicFrame>
        <p:nvGraphicFramePr>
          <p:cNvPr id="6" name="表 6">
            <a:extLst>
              <a:ext uri="{FF2B5EF4-FFF2-40B4-BE49-F238E27FC236}">
                <a16:creationId xmlns:a16="http://schemas.microsoft.com/office/drawing/2014/main" id="{7EA434B8-F40E-D326-DAB6-502F8F04B10A}"/>
              </a:ext>
            </a:extLst>
          </p:cNvPr>
          <p:cNvGraphicFramePr>
            <a:graphicFrameLocks noGrp="1"/>
          </p:cNvGraphicFramePr>
          <p:nvPr>
            <p:extLst>
              <p:ext uri="{D42A27DB-BD31-4B8C-83A1-F6EECF244321}">
                <p14:modId xmlns:p14="http://schemas.microsoft.com/office/powerpoint/2010/main" val="2862122322"/>
              </p:ext>
            </p:extLst>
          </p:nvPr>
        </p:nvGraphicFramePr>
        <p:xfrm>
          <a:off x="574858" y="783076"/>
          <a:ext cx="11042284" cy="5315384"/>
        </p:xfrm>
        <a:graphic>
          <a:graphicData uri="http://schemas.openxmlformats.org/drawingml/2006/table">
            <a:tbl>
              <a:tblPr firstRow="1" bandRow="1">
                <a:tableStyleId>{21E4AEA4-8DFA-4A89-87EB-49C32662AFE0}</a:tableStyleId>
              </a:tblPr>
              <a:tblGrid>
                <a:gridCol w="2254311">
                  <a:extLst>
                    <a:ext uri="{9D8B030D-6E8A-4147-A177-3AD203B41FA5}">
                      <a16:colId xmlns:a16="http://schemas.microsoft.com/office/drawing/2014/main" val="1664689730"/>
                    </a:ext>
                  </a:extLst>
                </a:gridCol>
                <a:gridCol w="3781181">
                  <a:extLst>
                    <a:ext uri="{9D8B030D-6E8A-4147-A177-3AD203B41FA5}">
                      <a16:colId xmlns:a16="http://schemas.microsoft.com/office/drawing/2014/main" val="3222552611"/>
                    </a:ext>
                  </a:extLst>
                </a:gridCol>
                <a:gridCol w="5006792">
                  <a:extLst>
                    <a:ext uri="{9D8B030D-6E8A-4147-A177-3AD203B41FA5}">
                      <a16:colId xmlns:a16="http://schemas.microsoft.com/office/drawing/2014/main" val="3609119357"/>
                    </a:ext>
                  </a:extLst>
                </a:gridCol>
              </a:tblGrid>
              <a:tr h="277474">
                <a:tc>
                  <a:txBody>
                    <a:bodyPr/>
                    <a:lstStyle/>
                    <a:p>
                      <a:r>
                        <a:rPr kumimoji="1" lang="ja-JP" altLang="en-US" sz="1050" dirty="0">
                          <a:solidFill>
                            <a:sysClr val="windowText" lastClr="000000"/>
                          </a:solidFill>
                          <a:latin typeface="+mn-ea"/>
                          <a:ea typeface="+mn-ea"/>
                        </a:rPr>
                        <a:t>検証ポイント</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D6DCE4"/>
                    </a:solidFill>
                  </a:tcPr>
                </a:tc>
                <a:tc>
                  <a:txBody>
                    <a:bodyPr/>
                    <a:lstStyle/>
                    <a:p>
                      <a:r>
                        <a:rPr kumimoji="1" lang="ja-JP" altLang="en-US" sz="1050" dirty="0">
                          <a:solidFill>
                            <a:sysClr val="windowText" lastClr="000000"/>
                          </a:solidFill>
                          <a:latin typeface="+mn-ea"/>
                          <a:ea typeface="+mn-ea"/>
                        </a:rPr>
                        <a:t>調査結果</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D6DCE4"/>
                    </a:solidFill>
                  </a:tcPr>
                </a:tc>
                <a:tc>
                  <a:txBody>
                    <a:bodyPr/>
                    <a:lstStyle/>
                    <a:p>
                      <a:r>
                        <a:rPr kumimoji="1" lang="ja-JP" altLang="en-US" sz="1050" dirty="0">
                          <a:solidFill>
                            <a:sysClr val="windowText" lastClr="000000"/>
                          </a:solidFill>
                          <a:latin typeface="+mn-ea"/>
                          <a:ea typeface="+mn-ea"/>
                        </a:rPr>
                        <a:t>サポート案</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D6DCE4"/>
                    </a:solidFill>
                  </a:tcPr>
                </a:tc>
                <a:extLst>
                  <a:ext uri="{0D108BD9-81ED-4DB2-BD59-A6C34878D82A}">
                    <a16:rowId xmlns:a16="http://schemas.microsoft.com/office/drawing/2014/main" val="3306049823"/>
                  </a:ext>
                </a:extLst>
              </a:tr>
              <a:tr h="874492">
                <a:tc>
                  <a:txBody>
                    <a:bodyPr/>
                    <a:lstStyle/>
                    <a:p>
                      <a:r>
                        <a:rPr kumimoji="1" lang="ja-JP" altLang="en-US" sz="1000" b="1" dirty="0">
                          <a:solidFill>
                            <a:sysClr val="windowText" lastClr="000000"/>
                          </a:solidFill>
                          <a:latin typeface="+mn-ea"/>
                          <a:ea typeface="+mn-ea"/>
                        </a:rPr>
                        <a:t>①面談希望あり</a:t>
                      </a:r>
                      <a:r>
                        <a:rPr kumimoji="1" lang="en-US" altLang="ja-JP" sz="1000" b="1" dirty="0">
                          <a:solidFill>
                            <a:sysClr val="windowText" lastClr="000000"/>
                          </a:solidFill>
                          <a:latin typeface="+mn-ea"/>
                          <a:ea typeface="+mn-ea"/>
                        </a:rPr>
                        <a:t>/</a:t>
                      </a:r>
                      <a:r>
                        <a:rPr kumimoji="1" lang="ja-JP" altLang="en-US" sz="1000" b="1" dirty="0">
                          <a:solidFill>
                            <a:sysClr val="windowText" lastClr="000000"/>
                          </a:solidFill>
                          <a:latin typeface="+mn-ea"/>
                          <a:ea typeface="+mn-ea"/>
                        </a:rPr>
                        <a:t>なし</a:t>
                      </a:r>
                      <a:endParaRPr kumimoji="1" lang="en-US" altLang="ja-JP" sz="1000" b="1" dirty="0">
                        <a:solidFill>
                          <a:sysClr val="windowText" lastClr="000000"/>
                        </a:solidFill>
                        <a:latin typeface="+mn-ea"/>
                        <a:ea typeface="+mn-ea"/>
                      </a:endParaRPr>
                    </a:p>
                    <a:p>
                      <a:r>
                        <a:rPr kumimoji="1" lang="ja-JP" altLang="en-US" sz="1000" b="1" dirty="0">
                          <a:solidFill>
                            <a:sysClr val="windowText" lastClr="000000"/>
                          </a:solidFill>
                          <a:latin typeface="+mn-ea"/>
                          <a:ea typeface="+mn-ea"/>
                        </a:rPr>
                        <a:t>セグメント</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ja-JP" altLang="en-US" sz="1000" dirty="0">
                          <a:solidFill>
                            <a:schemeClr val="tx1"/>
                          </a:solidFill>
                          <a:latin typeface="+mn-ea"/>
                          <a:ea typeface="+mn-ea"/>
                          <a:cs typeface="Meiryo UI" panose="020B0604030504040204" pitchFamily="50" charset="-128"/>
                        </a:rPr>
                        <a:t>面談希望無しはどんな人か</a:t>
                      </a:r>
                      <a:endParaRPr lang="en-US" altLang="ja-JP" sz="1000" dirty="0">
                        <a:solidFill>
                          <a:schemeClr val="tx1"/>
                        </a:solidFill>
                        <a:latin typeface="+mn-ea"/>
                        <a:ea typeface="+mn-ea"/>
                        <a:cs typeface="Meiryo UI" panose="020B0604030504040204" pitchFamily="50" charset="-128"/>
                      </a:endParaRPr>
                    </a:p>
                    <a:p>
                      <a:r>
                        <a:rPr lang="ja-JP" altLang="en-US" sz="1000" dirty="0">
                          <a:solidFill>
                            <a:schemeClr val="tx1"/>
                          </a:solidFill>
                          <a:latin typeface="+mn-ea"/>
                          <a:ea typeface="+mn-ea"/>
                          <a:cs typeface="Meiryo UI" panose="020B0604030504040204" pitchFamily="50" charset="-128"/>
                        </a:rPr>
                        <a:t>・良い求人があれば転職したい</a:t>
                      </a:r>
                      <a:endParaRPr lang="en-US" altLang="ja-JP" sz="1000" dirty="0">
                        <a:solidFill>
                          <a:schemeClr val="tx1"/>
                        </a:solidFill>
                        <a:latin typeface="+mn-ea"/>
                        <a:ea typeface="+mn-ea"/>
                        <a:cs typeface="Meiryo UI" panose="020B0604030504040204" pitchFamily="50" charset="-128"/>
                      </a:endParaRPr>
                    </a:p>
                    <a:p>
                      <a:r>
                        <a:rPr lang="ja-JP" altLang="en-US" sz="1000" dirty="0">
                          <a:solidFill>
                            <a:schemeClr val="tx1"/>
                          </a:solidFill>
                          <a:latin typeface="+mn-ea"/>
                          <a:ea typeface="+mn-ea"/>
                          <a:cs typeface="Meiryo UI" panose="020B0604030504040204" pitchFamily="50" charset="-128"/>
                        </a:rPr>
                        <a:t>・仕事内容不満比較的低め</a:t>
                      </a:r>
                      <a:endParaRPr lang="en-US" altLang="ja-JP" sz="1000" dirty="0">
                        <a:solidFill>
                          <a:schemeClr val="tx1"/>
                        </a:solidFill>
                        <a:latin typeface="+mn-ea"/>
                        <a:ea typeface="+mn-ea"/>
                        <a:cs typeface="Meiryo UI" panose="020B0604030504040204" pitchFamily="50" charset="-128"/>
                      </a:endParaRPr>
                    </a:p>
                    <a:p>
                      <a:r>
                        <a:rPr kumimoji="1" lang="ja-JP" altLang="en-US" sz="1000" dirty="0">
                          <a:solidFill>
                            <a:schemeClr val="tx1"/>
                          </a:solidFill>
                          <a:latin typeface="+mn-ea"/>
                          <a:ea typeface="+mn-ea"/>
                          <a:cs typeface="Meiryo UI" panose="020B0604030504040204" pitchFamily="50" charset="-128"/>
                        </a:rPr>
                        <a:t>・サービス認知</a:t>
                      </a:r>
                      <a:r>
                        <a:rPr kumimoji="1" lang="en-US" altLang="ja-JP" sz="1000" dirty="0">
                          <a:solidFill>
                            <a:schemeClr val="tx1"/>
                          </a:solidFill>
                          <a:latin typeface="+mn-ea"/>
                          <a:ea typeface="+mn-ea"/>
                          <a:cs typeface="Meiryo UI" panose="020B0604030504040204" pitchFamily="50" charset="-128"/>
                        </a:rPr>
                        <a:t>/</a:t>
                      </a:r>
                      <a:r>
                        <a:rPr kumimoji="1" lang="ja-JP" altLang="en-US" sz="1000" dirty="0">
                          <a:solidFill>
                            <a:schemeClr val="tx1"/>
                          </a:solidFill>
                          <a:latin typeface="+mn-ea"/>
                          <a:ea typeface="+mn-ea"/>
                          <a:cs typeface="Meiryo UI" panose="020B0604030504040204" pitchFamily="50" charset="-128"/>
                        </a:rPr>
                        <a:t>理解が</a:t>
                      </a:r>
                      <a:r>
                        <a:rPr lang="ja-JP" altLang="en-US" sz="1000" dirty="0">
                          <a:solidFill>
                            <a:schemeClr val="tx1"/>
                          </a:solidFill>
                          <a:latin typeface="+mn-ea"/>
                          <a:ea typeface="+mn-ea"/>
                          <a:cs typeface="Meiryo UI" panose="020B0604030504040204" pitchFamily="50" charset="-128"/>
                        </a:rPr>
                        <a:t>低く、</a:t>
                      </a:r>
                      <a:r>
                        <a:rPr lang="en-US" altLang="ja-JP" sz="1000" dirty="0">
                          <a:solidFill>
                            <a:schemeClr val="tx1"/>
                          </a:solidFill>
                          <a:latin typeface="+mn-ea"/>
                          <a:ea typeface="+mn-ea"/>
                          <a:cs typeface="Meiryo UI" panose="020B0604030504040204" pitchFamily="50" charset="-128"/>
                        </a:rPr>
                        <a:t>RAG</a:t>
                      </a:r>
                      <a:r>
                        <a:rPr lang="ja-JP" altLang="en-US" sz="1000" dirty="0">
                          <a:solidFill>
                            <a:schemeClr val="tx1"/>
                          </a:solidFill>
                          <a:latin typeface="+mn-ea"/>
                          <a:ea typeface="+mn-ea"/>
                          <a:cs typeface="Meiryo UI" panose="020B0604030504040204" pitchFamily="50" charset="-128"/>
                        </a:rPr>
                        <a:t>をエージェントサービスと認識できていない傾向</a:t>
                      </a:r>
                      <a:endParaRPr kumimoji="1" lang="ja-JP" altLang="en-US" sz="1000" dirty="0">
                        <a:solidFill>
                          <a:schemeClr val="tx1"/>
                        </a:solidFill>
                        <a:latin typeface="+mn-ea"/>
                        <a:ea typeface="+mn-ea"/>
                        <a:cs typeface="Meiryo UI" panose="020B0604030504040204" pitchFamily="50" charset="-12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kumimoji="1" lang="en-US" altLang="ja-JP" sz="1000" dirty="0">
                          <a:solidFill>
                            <a:schemeClr val="tx1"/>
                          </a:solidFill>
                          <a:latin typeface="+mn-ea"/>
                          <a:ea typeface="+mn-ea"/>
                          <a:cs typeface="Meiryo UI" panose="020B0604030504040204" pitchFamily="50" charset="-128"/>
                        </a:rPr>
                        <a:t>【</a:t>
                      </a:r>
                      <a:r>
                        <a:rPr kumimoji="1" lang="ja-JP" altLang="en-US" sz="1000" dirty="0">
                          <a:solidFill>
                            <a:schemeClr val="tx1"/>
                          </a:solidFill>
                          <a:latin typeface="+mn-ea"/>
                          <a:ea typeface="+mn-ea"/>
                          <a:cs typeface="Meiryo UI" panose="020B0604030504040204" pitchFamily="50" charset="-128"/>
                        </a:rPr>
                        <a:t>面談喚起</a:t>
                      </a:r>
                      <a:r>
                        <a:rPr kumimoji="1" lang="en-US" altLang="ja-JP" sz="1000" dirty="0">
                          <a:solidFill>
                            <a:schemeClr val="tx1"/>
                          </a:solidFill>
                          <a:latin typeface="+mn-ea"/>
                          <a:ea typeface="+mn-ea"/>
                          <a:cs typeface="Meiryo UI" panose="020B0604030504040204" pitchFamily="50" charset="-128"/>
                        </a:rPr>
                        <a:t>】</a:t>
                      </a:r>
                      <a:r>
                        <a:rPr kumimoji="1" lang="ja-JP" altLang="en-US" sz="1000" dirty="0">
                          <a:solidFill>
                            <a:schemeClr val="tx1"/>
                          </a:solidFill>
                          <a:latin typeface="+mn-ea"/>
                          <a:ea typeface="+mn-ea"/>
                          <a:cs typeface="Meiryo UI" panose="020B0604030504040204" pitchFamily="50" charset="-128"/>
                        </a:rPr>
                        <a:t>サービス説明によるエージェントサービスの</a:t>
                      </a:r>
                      <a:r>
                        <a:rPr kumimoji="1" lang="ja-JP" altLang="en-US" sz="1000" b="1" dirty="0">
                          <a:solidFill>
                            <a:schemeClr val="tx1"/>
                          </a:solidFill>
                          <a:latin typeface="+mn-ea"/>
                          <a:ea typeface="+mn-ea"/>
                          <a:cs typeface="Meiryo UI" panose="020B0604030504040204" pitchFamily="50" charset="-128"/>
                        </a:rPr>
                        <a:t>理解促進</a:t>
                      </a:r>
                      <a:endParaRPr kumimoji="1" lang="en-US" altLang="ja-JP" sz="1000" b="1" dirty="0">
                        <a:solidFill>
                          <a:schemeClr val="tx1"/>
                        </a:solidFill>
                        <a:latin typeface="+mn-ea"/>
                        <a:ea typeface="+mn-ea"/>
                        <a:cs typeface="Meiryo UI" panose="020B0604030504040204" pitchFamily="50" charset="-128"/>
                      </a:endParaRPr>
                    </a:p>
                    <a:p>
                      <a:r>
                        <a:rPr kumimoji="1" lang="en-US" altLang="ja-JP" sz="1000" dirty="0">
                          <a:solidFill>
                            <a:schemeClr val="tx1"/>
                          </a:solidFill>
                          <a:latin typeface="+mn-ea"/>
                          <a:ea typeface="+mn-ea"/>
                          <a:cs typeface="Meiryo UI" panose="020B0604030504040204" pitchFamily="50" charset="-128"/>
                        </a:rPr>
                        <a:t>【</a:t>
                      </a:r>
                      <a:r>
                        <a:rPr kumimoji="1" lang="ja-JP" altLang="en-US" sz="1000" dirty="0">
                          <a:solidFill>
                            <a:schemeClr val="tx1"/>
                          </a:solidFill>
                          <a:latin typeface="+mn-ea"/>
                          <a:ea typeface="+mn-ea"/>
                          <a:cs typeface="Meiryo UI" panose="020B0604030504040204" pitchFamily="50" charset="-128"/>
                        </a:rPr>
                        <a:t>活動サポート</a:t>
                      </a:r>
                      <a:r>
                        <a:rPr kumimoji="1" lang="en-US" altLang="ja-JP" sz="1000" dirty="0">
                          <a:solidFill>
                            <a:schemeClr val="tx1"/>
                          </a:solidFill>
                          <a:latin typeface="+mn-ea"/>
                          <a:ea typeface="+mn-ea"/>
                          <a:cs typeface="Meiryo UI" panose="020B0604030504040204" pitchFamily="50" charset="-128"/>
                        </a:rPr>
                        <a:t>】</a:t>
                      </a:r>
                      <a:r>
                        <a:rPr kumimoji="1" lang="ja-JP" altLang="en-US" sz="1000" b="1" dirty="0">
                          <a:solidFill>
                            <a:schemeClr val="tx1"/>
                          </a:solidFill>
                          <a:latin typeface="+mn-ea"/>
                          <a:ea typeface="+mn-ea"/>
                          <a:cs typeface="Meiryo UI" panose="020B0604030504040204" pitchFamily="50" charset="-128"/>
                        </a:rPr>
                        <a:t>「良い求人」の解像度向上</a:t>
                      </a:r>
                      <a:r>
                        <a:rPr kumimoji="1" lang="ja-JP" altLang="en-US" sz="1000" dirty="0">
                          <a:solidFill>
                            <a:schemeClr val="tx1"/>
                          </a:solidFill>
                          <a:latin typeface="+mn-ea"/>
                          <a:ea typeface="+mn-ea"/>
                          <a:cs typeface="Meiryo UI" panose="020B0604030504040204" pitchFamily="50" charset="-128"/>
                        </a:rPr>
                        <a:t>とそれにあった求人接点による転職活動化意欲の向上</a:t>
                      </a:r>
                      <a:endParaRPr kumimoji="1" lang="en-US" altLang="ja-JP" sz="1000" dirty="0">
                        <a:solidFill>
                          <a:schemeClr val="tx1"/>
                        </a:solidFill>
                        <a:latin typeface="+mn-ea"/>
                        <a:ea typeface="+mn-ea"/>
                        <a:cs typeface="Meiryo UI" panose="020B0604030504040204" pitchFamily="50" charset="-128"/>
                      </a:endParaRPr>
                    </a:p>
                    <a:p>
                      <a:r>
                        <a:rPr kumimoji="1" lang="ja-JP" altLang="en-US" sz="1000" dirty="0">
                          <a:solidFill>
                            <a:schemeClr val="tx1"/>
                          </a:solidFill>
                          <a:latin typeface="+mn-ea"/>
                          <a:ea typeface="+mn-ea"/>
                          <a:cs typeface="Meiryo UI" panose="020B0604030504040204" pitchFamily="50" charset="-128"/>
                        </a:rPr>
                        <a:t>∟希望無し</a:t>
                      </a:r>
                      <a:r>
                        <a:rPr kumimoji="1" lang="en-US" altLang="ja-JP" sz="1000" dirty="0">
                          <a:solidFill>
                            <a:schemeClr val="tx1"/>
                          </a:solidFill>
                          <a:latin typeface="+mn-ea"/>
                          <a:ea typeface="+mn-ea"/>
                          <a:cs typeface="Meiryo UI" panose="020B0604030504040204" pitchFamily="50" charset="-128"/>
                        </a:rPr>
                        <a:t>CS</a:t>
                      </a:r>
                      <a:r>
                        <a:rPr kumimoji="1" lang="ja-JP" altLang="en-US" sz="1000" dirty="0">
                          <a:solidFill>
                            <a:schemeClr val="tx1"/>
                          </a:solidFill>
                          <a:latin typeface="+mn-ea"/>
                          <a:ea typeface="+mn-ea"/>
                          <a:cs typeface="Meiryo UI" panose="020B0604030504040204" pitchFamily="50" charset="-128"/>
                        </a:rPr>
                        <a:t>は仕事内容不満が低いためピンとくる求人を見つけにくいのでは</a:t>
                      </a:r>
                      <a:endParaRPr kumimoji="1" lang="en-US" altLang="ja-JP" sz="1000" dirty="0">
                        <a:solidFill>
                          <a:schemeClr val="tx1"/>
                        </a:solidFill>
                        <a:latin typeface="+mn-ea"/>
                        <a:ea typeface="+mn-ea"/>
                        <a:cs typeface="Meiryo UI" panose="020B0604030504040204" pitchFamily="50" charset="-128"/>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643679613"/>
                  </a:ext>
                </a:extLst>
              </a:tr>
              <a:tr h="1170572">
                <a:tc>
                  <a:txBody>
                    <a:bodyPr/>
                    <a:lstStyle/>
                    <a:p>
                      <a:r>
                        <a:rPr kumimoji="1" lang="ja-JP" altLang="en-US" sz="1000" b="1" dirty="0">
                          <a:solidFill>
                            <a:sysClr val="windowText" lastClr="000000"/>
                          </a:solidFill>
                          <a:latin typeface="+mn-ea"/>
                          <a:ea typeface="+mn-ea"/>
                        </a:rPr>
                        <a:t>②面談希望あり＞実施なし</a:t>
                      </a:r>
                      <a:endParaRPr kumimoji="1" lang="en-US" altLang="ja-JP" sz="1000" b="1" dirty="0">
                        <a:solidFill>
                          <a:sysClr val="windowText" lastClr="000000"/>
                        </a:solidFill>
                        <a:latin typeface="+mn-ea"/>
                        <a:ea typeface="+mn-ea"/>
                      </a:endParaRPr>
                    </a:p>
                    <a:p>
                      <a:r>
                        <a:rPr kumimoji="1" lang="ja-JP" altLang="en-US" sz="1000" b="1" dirty="0">
                          <a:solidFill>
                            <a:sysClr val="windowText" lastClr="000000"/>
                          </a:solidFill>
                          <a:latin typeface="+mn-ea"/>
                          <a:ea typeface="+mn-ea"/>
                        </a:rPr>
                        <a:t>阻害要因と面談に向けたサポート</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CE4D6"/>
                    </a:solidFill>
                  </a:tcPr>
                </a:tc>
                <a:tc>
                  <a:txBody>
                    <a:bodyPr/>
                    <a:lstStyle/>
                    <a:p>
                      <a:r>
                        <a:rPr kumimoji="1" lang="ja-JP" altLang="en-US" sz="1000" dirty="0">
                          <a:solidFill>
                            <a:sysClr val="windowText" lastClr="000000"/>
                          </a:solidFill>
                          <a:latin typeface="+mn-ea"/>
                          <a:ea typeface="+mn-ea"/>
                        </a:rPr>
                        <a:t>「時間が確保できなかった</a:t>
                      </a:r>
                      <a:r>
                        <a:rPr kumimoji="1" lang="en-US" altLang="ja-JP" sz="1000" dirty="0">
                          <a:solidFill>
                            <a:sysClr val="windowText" lastClr="000000"/>
                          </a:solidFill>
                          <a:latin typeface="+mn-ea"/>
                          <a:ea typeface="+mn-ea"/>
                        </a:rPr>
                        <a:t>/</a:t>
                      </a:r>
                      <a:r>
                        <a:rPr kumimoji="1" lang="ja-JP" altLang="en-US" sz="1000" dirty="0">
                          <a:solidFill>
                            <a:sysClr val="windowText" lastClr="000000"/>
                          </a:solidFill>
                          <a:latin typeface="+mn-ea"/>
                          <a:ea typeface="+mn-ea"/>
                        </a:rPr>
                        <a:t>スケジュールがあわなかった」が</a:t>
                      </a:r>
                      <a:r>
                        <a:rPr kumimoji="1" lang="en-US" altLang="ja-JP" sz="1000" dirty="0">
                          <a:solidFill>
                            <a:sysClr val="windowText" lastClr="000000"/>
                          </a:solidFill>
                          <a:latin typeface="+mn-ea"/>
                          <a:ea typeface="+mn-ea"/>
                        </a:rPr>
                        <a:t>43%</a:t>
                      </a:r>
                      <a:r>
                        <a:rPr kumimoji="1" lang="ja-JP" altLang="en-US" sz="1000" dirty="0">
                          <a:solidFill>
                            <a:sysClr val="windowText" lastClr="000000"/>
                          </a:solidFill>
                          <a:latin typeface="+mn-ea"/>
                          <a:ea typeface="+mn-ea"/>
                        </a:rPr>
                        <a:t>で</a:t>
                      </a:r>
                      <a:r>
                        <a:rPr kumimoji="1" lang="en-US" altLang="ja-JP" sz="1000" dirty="0">
                          <a:solidFill>
                            <a:sysClr val="windowText" lastClr="000000"/>
                          </a:solidFill>
                          <a:latin typeface="+mn-ea"/>
                          <a:ea typeface="+mn-ea"/>
                        </a:rPr>
                        <a:t>TOP</a:t>
                      </a:r>
                      <a:r>
                        <a:rPr kumimoji="1" lang="ja-JP" altLang="en-US" sz="1000" dirty="0">
                          <a:solidFill>
                            <a:sysClr val="windowText" lastClr="000000"/>
                          </a:solidFill>
                          <a:latin typeface="+mn-ea"/>
                          <a:ea typeface="+mn-ea"/>
                        </a:rPr>
                        <a:t>の理由。</a:t>
                      </a:r>
                      <a:br>
                        <a:rPr kumimoji="1" lang="ja-JP" altLang="en-US" sz="1000" dirty="0">
                          <a:solidFill>
                            <a:sysClr val="windowText" lastClr="000000"/>
                          </a:solidFill>
                          <a:latin typeface="+mn-ea"/>
                          <a:ea typeface="+mn-ea"/>
                        </a:rPr>
                      </a:br>
                      <a:r>
                        <a:rPr kumimoji="1" lang="ja-JP" altLang="en-US" sz="1000" dirty="0">
                          <a:solidFill>
                            <a:sysClr val="windowText" lastClr="000000"/>
                          </a:solidFill>
                          <a:latin typeface="+mn-ea"/>
                          <a:ea typeface="+mn-ea"/>
                        </a:rPr>
                        <a:t>「転職時期が先</a:t>
                      </a:r>
                      <a:r>
                        <a:rPr kumimoji="1" lang="en-US" altLang="ja-JP" sz="1000" dirty="0">
                          <a:solidFill>
                            <a:sysClr val="windowText" lastClr="000000"/>
                          </a:solidFill>
                          <a:latin typeface="+mn-ea"/>
                          <a:ea typeface="+mn-ea"/>
                        </a:rPr>
                        <a:t>/</a:t>
                      </a:r>
                      <a:r>
                        <a:rPr kumimoji="1" lang="ja-JP" altLang="en-US" sz="1000" dirty="0">
                          <a:solidFill>
                            <a:sysClr val="windowText" lastClr="000000"/>
                          </a:solidFill>
                          <a:latin typeface="+mn-ea"/>
                          <a:ea typeface="+mn-ea"/>
                        </a:rPr>
                        <a:t>転職未定で面談をしてよいか迷った、不要だと思った」が続く。</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kumimoji="1" lang="en-US" altLang="ja-JP" sz="1000" dirty="0">
                          <a:solidFill>
                            <a:sysClr val="windowText" lastClr="000000"/>
                          </a:solidFill>
                          <a:latin typeface="+mn-ea"/>
                          <a:ea typeface="+mn-ea"/>
                        </a:rPr>
                        <a:t>【</a:t>
                      </a:r>
                      <a:r>
                        <a:rPr kumimoji="1" lang="ja-JP" altLang="en-US" sz="1000" dirty="0">
                          <a:solidFill>
                            <a:sysClr val="windowText" lastClr="000000"/>
                          </a:solidFill>
                          <a:latin typeface="+mn-ea"/>
                          <a:ea typeface="+mn-ea"/>
                        </a:rPr>
                        <a:t>面談喚起</a:t>
                      </a:r>
                      <a:r>
                        <a:rPr kumimoji="1" lang="en-US" altLang="ja-JP" sz="1000" dirty="0">
                          <a:solidFill>
                            <a:sysClr val="windowText" lastClr="000000"/>
                          </a:solidFill>
                          <a:latin typeface="+mn-ea"/>
                          <a:ea typeface="+mn-ea"/>
                        </a:rPr>
                        <a:t>】</a:t>
                      </a:r>
                      <a:r>
                        <a:rPr kumimoji="1" lang="ja-JP" altLang="en-US" sz="1000" dirty="0">
                          <a:solidFill>
                            <a:sysClr val="windowText" lastClr="000000"/>
                          </a:solidFill>
                          <a:latin typeface="+mn-ea"/>
                          <a:ea typeface="+mn-ea"/>
                        </a:rPr>
                        <a:t>面談に参加することで</a:t>
                      </a:r>
                      <a:r>
                        <a:rPr kumimoji="1" lang="en-US" altLang="ja-JP" sz="1000" dirty="0">
                          <a:solidFill>
                            <a:sysClr val="windowText" lastClr="000000"/>
                          </a:solidFill>
                          <a:latin typeface="+mn-ea"/>
                          <a:ea typeface="+mn-ea"/>
                        </a:rPr>
                        <a:t>CA</a:t>
                      </a:r>
                      <a:r>
                        <a:rPr kumimoji="1" lang="ja-JP" altLang="en-US" sz="1000" dirty="0">
                          <a:solidFill>
                            <a:sysClr val="windowText" lastClr="000000"/>
                          </a:solidFill>
                          <a:latin typeface="+mn-ea"/>
                          <a:ea typeface="+mn-ea"/>
                        </a:rPr>
                        <a:t>からの求人提案・自分の強みや特性理解・転職事例の紹介などのサポートを受けられることを訴求し、</a:t>
                      </a:r>
                      <a:r>
                        <a:rPr kumimoji="1" lang="ja-JP" altLang="en-US" sz="1000" b="1" dirty="0">
                          <a:solidFill>
                            <a:sysClr val="windowText" lastClr="000000"/>
                          </a:solidFill>
                          <a:latin typeface="+mn-ea"/>
                          <a:ea typeface="+mn-ea"/>
                        </a:rPr>
                        <a:t>個人に合わせた転職活動の進め方を提案</a:t>
                      </a:r>
                      <a:r>
                        <a:rPr kumimoji="1" lang="en-US" altLang="ja-JP" sz="1000" dirty="0">
                          <a:solidFill>
                            <a:sysClr val="windowText" lastClr="000000"/>
                          </a:solidFill>
                          <a:latin typeface="+mn-ea"/>
                          <a:ea typeface="+mn-ea"/>
                        </a:rPr>
                        <a:t>(</a:t>
                      </a:r>
                      <a:r>
                        <a:rPr kumimoji="1" lang="ja-JP" altLang="en-US" sz="1000" dirty="0">
                          <a:solidFill>
                            <a:sysClr val="windowText" lastClr="000000"/>
                          </a:solidFill>
                          <a:latin typeface="+mn-ea"/>
                          <a:ea typeface="+mn-ea"/>
                        </a:rPr>
                        <a:t>メリット提示</a:t>
                      </a:r>
                      <a:r>
                        <a:rPr kumimoji="1" lang="en-US" altLang="ja-JP" sz="1000" dirty="0">
                          <a:solidFill>
                            <a:sysClr val="windowText" lastClr="000000"/>
                          </a:solidFill>
                          <a:latin typeface="+mn-ea"/>
                          <a:ea typeface="+mn-ea"/>
                        </a:rPr>
                        <a:t>)</a:t>
                      </a:r>
                    </a:p>
                    <a:p>
                      <a:r>
                        <a:rPr kumimoji="1" lang="en-US" altLang="ja-JP" sz="1000" dirty="0">
                          <a:solidFill>
                            <a:sysClr val="windowText" lastClr="000000"/>
                          </a:solidFill>
                          <a:latin typeface="+mn-ea"/>
                          <a:ea typeface="+mn-ea"/>
                        </a:rPr>
                        <a:t>【</a:t>
                      </a:r>
                      <a:r>
                        <a:rPr kumimoji="1" lang="ja-JP" altLang="en-US" sz="1000" dirty="0">
                          <a:solidFill>
                            <a:sysClr val="windowText" lastClr="000000"/>
                          </a:solidFill>
                          <a:latin typeface="+mn-ea"/>
                          <a:ea typeface="+mn-ea"/>
                        </a:rPr>
                        <a:t>活動サポート</a:t>
                      </a:r>
                      <a:r>
                        <a:rPr kumimoji="1" lang="en-US" altLang="ja-JP" sz="1000" dirty="0">
                          <a:solidFill>
                            <a:sysClr val="windowText" lastClr="000000"/>
                          </a:solidFill>
                          <a:latin typeface="+mn-ea"/>
                          <a:ea typeface="+mn-ea"/>
                        </a:rPr>
                        <a:t>】</a:t>
                      </a:r>
                      <a:r>
                        <a:rPr kumimoji="1" lang="ja-JP" altLang="en-US" sz="1000" dirty="0">
                          <a:solidFill>
                            <a:sysClr val="windowText" lastClr="000000"/>
                          </a:solidFill>
                          <a:latin typeface="+mn-ea"/>
                          <a:ea typeface="+mn-ea"/>
                        </a:rPr>
                        <a:t>時間ない層には</a:t>
                      </a:r>
                      <a:r>
                        <a:rPr kumimoji="1" lang="en-US" altLang="ja-JP" sz="1000" dirty="0">
                          <a:solidFill>
                            <a:sysClr val="windowText" lastClr="000000"/>
                          </a:solidFill>
                          <a:latin typeface="+mn-ea"/>
                          <a:ea typeface="+mn-ea"/>
                        </a:rPr>
                        <a:t>60</a:t>
                      </a:r>
                      <a:r>
                        <a:rPr kumimoji="1" lang="ja-JP" altLang="en-US" sz="1000" dirty="0">
                          <a:solidFill>
                            <a:sysClr val="windowText" lastClr="000000"/>
                          </a:solidFill>
                          <a:latin typeface="+mn-ea"/>
                          <a:ea typeface="+mn-ea"/>
                        </a:rPr>
                        <a:t>分面談ではなく短く接点を持つ、時期先層には転職時期のイメージを共有したうえでいつ面談するのが良いか活動スケジュールを提示</a:t>
                      </a:r>
                      <a:endParaRPr kumimoji="1" lang="en-US" altLang="ja-JP" sz="1000" dirty="0">
                        <a:solidFill>
                          <a:sysClr val="windowText" lastClr="000000"/>
                        </a:solidFill>
                        <a:latin typeface="+mn-ea"/>
                        <a:ea typeface="+mn-ea"/>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64540819"/>
                  </a:ext>
                </a:extLst>
              </a:tr>
              <a:tr h="769718">
                <a:tc>
                  <a:txBody>
                    <a:bodyPr/>
                    <a:lstStyle/>
                    <a:p>
                      <a:r>
                        <a:rPr kumimoji="1" lang="ja-JP" altLang="en-US" sz="1000" b="1" dirty="0">
                          <a:solidFill>
                            <a:sysClr val="windowText" lastClr="000000"/>
                          </a:solidFill>
                          <a:latin typeface="+mn-ea"/>
                          <a:ea typeface="+mn-ea"/>
                        </a:rPr>
                        <a:t>③面談実施あり＞求人応募なし</a:t>
                      </a:r>
                      <a:endParaRPr kumimoji="1" lang="en-US" altLang="ja-JP" sz="1000" b="1" dirty="0">
                        <a:solidFill>
                          <a:sysClr val="windowText" lastClr="000000"/>
                        </a:solidFill>
                        <a:latin typeface="+mn-ea"/>
                        <a:ea typeface="+mn-ea"/>
                      </a:endParaRPr>
                    </a:p>
                    <a:p>
                      <a:r>
                        <a:rPr kumimoji="1" lang="ja-JP" altLang="en-US" sz="1000" b="1" dirty="0">
                          <a:solidFill>
                            <a:sysClr val="windowText" lastClr="000000"/>
                          </a:solidFill>
                          <a:latin typeface="+mn-ea"/>
                          <a:ea typeface="+mn-ea"/>
                        </a:rPr>
                        <a:t>要因とサポート</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CE4D6"/>
                    </a:solidFill>
                  </a:tcPr>
                </a:tc>
                <a:tc>
                  <a:txBody>
                    <a:bodyPr/>
                    <a:lstStyle/>
                    <a:p>
                      <a:r>
                        <a:rPr kumimoji="1" lang="ja-JP" altLang="en-US" sz="1000" dirty="0">
                          <a:solidFill>
                            <a:sysClr val="windowText" lastClr="000000"/>
                          </a:solidFill>
                          <a:latin typeface="+mn-ea"/>
                          <a:ea typeface="+mn-ea"/>
                        </a:rPr>
                        <a:t>「転職活動を始めるか気持ちが固まっていなかった」が</a:t>
                      </a:r>
                      <a:r>
                        <a:rPr kumimoji="1" lang="en-US" altLang="ja-JP" sz="1000" dirty="0">
                          <a:solidFill>
                            <a:sysClr val="windowText" lastClr="000000"/>
                          </a:solidFill>
                          <a:latin typeface="+mn-ea"/>
                          <a:ea typeface="+mn-ea"/>
                        </a:rPr>
                        <a:t>32%</a:t>
                      </a:r>
                      <a:r>
                        <a:rPr kumimoji="1" lang="ja-JP" altLang="en-US" sz="1000" dirty="0">
                          <a:solidFill>
                            <a:sysClr val="windowText" lastClr="000000"/>
                          </a:solidFill>
                          <a:latin typeface="+mn-ea"/>
                          <a:ea typeface="+mn-ea"/>
                        </a:rPr>
                        <a:t>で</a:t>
                      </a:r>
                      <a:r>
                        <a:rPr kumimoji="1" lang="en-US" altLang="ja-JP" sz="1000" dirty="0">
                          <a:solidFill>
                            <a:sysClr val="windowText" lastClr="000000"/>
                          </a:solidFill>
                          <a:latin typeface="+mn-ea"/>
                          <a:ea typeface="+mn-ea"/>
                        </a:rPr>
                        <a:t>TOP</a:t>
                      </a:r>
                      <a:r>
                        <a:rPr kumimoji="1" lang="ja-JP" altLang="en-US" sz="1000" dirty="0">
                          <a:solidFill>
                            <a:sysClr val="windowText" lastClr="000000"/>
                          </a:solidFill>
                          <a:latin typeface="+mn-ea"/>
                          <a:ea typeface="+mn-ea"/>
                        </a:rPr>
                        <a:t>の理由。</a:t>
                      </a:r>
                      <a:endParaRPr kumimoji="1" lang="en-US" altLang="ja-JP" sz="1000" dirty="0">
                        <a:solidFill>
                          <a:sysClr val="windowText" lastClr="000000"/>
                        </a:solidFill>
                        <a:latin typeface="+mn-ea"/>
                        <a:ea typeface="+mn-ea"/>
                      </a:endParaRPr>
                    </a:p>
                    <a:p>
                      <a:r>
                        <a:rPr kumimoji="1" lang="ja-JP" altLang="en-US" sz="1000" dirty="0">
                          <a:solidFill>
                            <a:sysClr val="windowText" lastClr="000000"/>
                          </a:solidFill>
                          <a:latin typeface="+mn-ea"/>
                          <a:ea typeface="+mn-ea"/>
                        </a:rPr>
                        <a:t>「</a:t>
                      </a:r>
                      <a:r>
                        <a:rPr kumimoji="1" lang="en-US" altLang="ja-JP" sz="1000" dirty="0">
                          <a:solidFill>
                            <a:sysClr val="windowText" lastClr="000000"/>
                          </a:solidFill>
                          <a:latin typeface="+mn-ea"/>
                          <a:ea typeface="+mn-ea"/>
                        </a:rPr>
                        <a:t>CA</a:t>
                      </a:r>
                      <a:r>
                        <a:rPr kumimoji="1" lang="ja-JP" altLang="en-US" sz="1000" dirty="0">
                          <a:solidFill>
                            <a:sysClr val="windowText" lastClr="000000"/>
                          </a:solidFill>
                          <a:latin typeface="+mn-ea"/>
                          <a:ea typeface="+mn-ea"/>
                        </a:rPr>
                        <a:t>からの提案スケジュールが合わなかった」「応募書類作成の時間が無かった」が続く。</a:t>
                      </a:r>
                      <a:endParaRPr kumimoji="1" lang="en-US" altLang="ja-JP" sz="1000" dirty="0">
                        <a:solidFill>
                          <a:sysClr val="windowText" lastClr="000000"/>
                        </a:solidFill>
                        <a:latin typeface="+mn-ea"/>
                        <a:ea typeface="+mn-ea"/>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kumimoji="1" lang="en-US" altLang="ja-JP" sz="1000" dirty="0">
                          <a:solidFill>
                            <a:sysClr val="windowText" lastClr="000000"/>
                          </a:solidFill>
                          <a:latin typeface="+mn-ea"/>
                          <a:ea typeface="+mn-ea"/>
                        </a:rPr>
                        <a:t>【</a:t>
                      </a:r>
                      <a:r>
                        <a:rPr kumimoji="1" lang="ja-JP" altLang="en-US" sz="1000" dirty="0">
                          <a:solidFill>
                            <a:sysClr val="windowText" lastClr="000000"/>
                          </a:solidFill>
                          <a:latin typeface="+mn-ea"/>
                          <a:ea typeface="+mn-ea"/>
                        </a:rPr>
                        <a:t>応募喚起</a:t>
                      </a:r>
                      <a:r>
                        <a:rPr kumimoji="1" lang="en-US" altLang="ja-JP" sz="1000" dirty="0">
                          <a:solidFill>
                            <a:sysClr val="windowText" lastClr="000000"/>
                          </a:solidFill>
                          <a:latin typeface="+mn-ea"/>
                          <a:ea typeface="+mn-ea"/>
                        </a:rPr>
                        <a:t>】</a:t>
                      </a:r>
                      <a:r>
                        <a:rPr kumimoji="1" lang="ja-JP" altLang="en-US" sz="1000" dirty="0">
                          <a:solidFill>
                            <a:sysClr val="windowText" lastClr="000000"/>
                          </a:solidFill>
                          <a:latin typeface="+mn-ea"/>
                          <a:ea typeface="+mn-ea"/>
                        </a:rPr>
                        <a:t>書類サポート・面接対策といった実践的なサポートをしつつ、</a:t>
                      </a:r>
                      <a:r>
                        <a:rPr kumimoji="1" lang="ja-JP" altLang="en-US" sz="1000" b="1" dirty="0">
                          <a:solidFill>
                            <a:sysClr val="windowText" lastClr="000000"/>
                          </a:solidFill>
                          <a:latin typeface="+mn-ea"/>
                          <a:ea typeface="+mn-ea"/>
                        </a:rPr>
                        <a:t>合格可能性を伝える</a:t>
                      </a:r>
                      <a:r>
                        <a:rPr kumimoji="1" lang="ja-JP" altLang="en-US" sz="1000" dirty="0">
                          <a:solidFill>
                            <a:sysClr val="windowText" lastClr="000000"/>
                          </a:solidFill>
                          <a:latin typeface="+mn-ea"/>
                          <a:ea typeface="+mn-ea"/>
                        </a:rPr>
                        <a:t>ことで転職活動開始を後押し</a:t>
                      </a:r>
                      <a:endParaRPr kumimoji="1" lang="en-US" altLang="ja-JP" sz="1000" dirty="0">
                        <a:solidFill>
                          <a:sysClr val="windowText" lastClr="000000"/>
                        </a:solidFill>
                        <a:latin typeface="+mn-ea"/>
                        <a:ea typeface="+mn-ea"/>
                      </a:endParaRPr>
                    </a:p>
                    <a:p>
                      <a:r>
                        <a:rPr kumimoji="1" lang="ja-JP" altLang="en-US" sz="1000" dirty="0">
                          <a:solidFill>
                            <a:sysClr val="windowText" lastClr="000000"/>
                          </a:solidFill>
                          <a:latin typeface="+mn-ea"/>
                          <a:ea typeface="+mn-ea"/>
                        </a:rPr>
                        <a:t>∟合格可能性の明示は難しそうなため、マッチング度合の提示が近しいイメージ</a:t>
                      </a:r>
                      <a:r>
                        <a:rPr kumimoji="1" lang="en-US" altLang="ja-JP" sz="1000" dirty="0">
                          <a:solidFill>
                            <a:sysClr val="windowText" lastClr="000000"/>
                          </a:solidFill>
                          <a:latin typeface="+mn-ea"/>
                          <a:ea typeface="+mn-ea"/>
                        </a:rPr>
                        <a:t>(0/100</a:t>
                      </a:r>
                      <a:r>
                        <a:rPr kumimoji="1" lang="ja-JP" altLang="en-US" sz="1000" dirty="0">
                          <a:solidFill>
                            <a:sysClr val="windowText" lastClr="000000"/>
                          </a:solidFill>
                          <a:latin typeface="+mn-ea"/>
                          <a:ea typeface="+mn-ea"/>
                        </a:rPr>
                        <a:t>ではなく％提示が出来ると良さそう。</a:t>
                      </a:r>
                      <a:r>
                        <a:rPr kumimoji="1" lang="en-US" altLang="ja-JP" sz="1000" dirty="0">
                          <a:solidFill>
                            <a:sysClr val="windowText" lastClr="000000"/>
                          </a:solidFill>
                          <a:latin typeface="+mn-ea"/>
                          <a:ea typeface="+mn-ea"/>
                        </a:rPr>
                        <a:t>I2A</a:t>
                      </a:r>
                      <a:r>
                        <a:rPr kumimoji="1" lang="ja-JP" altLang="en-US" sz="1000" dirty="0">
                          <a:solidFill>
                            <a:sysClr val="windowText" lastClr="000000"/>
                          </a:solidFill>
                          <a:latin typeface="+mn-ea"/>
                          <a:ea typeface="+mn-ea"/>
                        </a:rPr>
                        <a:t>ロジックなどから流用か</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54599491"/>
                  </a:ext>
                </a:extLst>
              </a:tr>
              <a:tr h="769718">
                <a:tc>
                  <a:txBody>
                    <a:bodyPr/>
                    <a:lstStyle/>
                    <a:p>
                      <a:r>
                        <a:rPr kumimoji="1" lang="ja-JP" altLang="en-US" sz="1000" b="1" dirty="0">
                          <a:solidFill>
                            <a:sysClr val="windowText" lastClr="000000"/>
                          </a:solidFill>
                          <a:latin typeface="+mn-ea"/>
                          <a:ea typeface="+mn-ea"/>
                        </a:rPr>
                        <a:t>④面談希望なしの理由</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2EFDA"/>
                    </a:solidFill>
                  </a:tcPr>
                </a:tc>
                <a:tc>
                  <a:txBody>
                    <a:bodyPr/>
                    <a:lstStyle/>
                    <a:p>
                      <a:r>
                        <a:rPr kumimoji="1" lang="ja-JP" altLang="en-US" sz="1000" dirty="0">
                          <a:solidFill>
                            <a:sysClr val="windowText" lastClr="000000"/>
                          </a:solidFill>
                          <a:latin typeface="+mn-ea"/>
                          <a:ea typeface="+mn-ea"/>
                        </a:rPr>
                        <a:t>「自分のペースで転職活動を進めたかった」が</a:t>
                      </a:r>
                      <a:r>
                        <a:rPr kumimoji="1" lang="en-US" altLang="ja-JP" sz="1000" dirty="0">
                          <a:solidFill>
                            <a:sysClr val="windowText" lastClr="000000"/>
                          </a:solidFill>
                          <a:latin typeface="+mn-ea"/>
                          <a:ea typeface="+mn-ea"/>
                        </a:rPr>
                        <a:t>56%</a:t>
                      </a:r>
                      <a:r>
                        <a:rPr kumimoji="1" lang="ja-JP" altLang="en-US" sz="1000" dirty="0">
                          <a:solidFill>
                            <a:sysClr val="windowText" lastClr="000000"/>
                          </a:solidFill>
                          <a:latin typeface="+mn-ea"/>
                          <a:ea typeface="+mn-ea"/>
                        </a:rPr>
                        <a:t>で</a:t>
                      </a:r>
                      <a:r>
                        <a:rPr kumimoji="1" lang="en-US" altLang="ja-JP" sz="1000" dirty="0">
                          <a:solidFill>
                            <a:sysClr val="windowText" lastClr="000000"/>
                          </a:solidFill>
                          <a:latin typeface="+mn-ea"/>
                          <a:ea typeface="+mn-ea"/>
                        </a:rPr>
                        <a:t>TOP</a:t>
                      </a:r>
                      <a:r>
                        <a:rPr kumimoji="1" lang="ja-JP" altLang="en-US" sz="1000" dirty="0">
                          <a:solidFill>
                            <a:sysClr val="windowText" lastClr="000000"/>
                          </a:solidFill>
                          <a:latin typeface="+mn-ea"/>
                          <a:ea typeface="+mn-ea"/>
                        </a:rPr>
                        <a:t>の理由。</a:t>
                      </a:r>
                      <a:br>
                        <a:rPr kumimoji="1" lang="ja-JP" altLang="en-US" sz="1000" dirty="0">
                          <a:solidFill>
                            <a:sysClr val="windowText" lastClr="000000"/>
                          </a:solidFill>
                          <a:latin typeface="+mn-ea"/>
                          <a:ea typeface="+mn-ea"/>
                        </a:rPr>
                      </a:br>
                      <a:r>
                        <a:rPr kumimoji="1" lang="ja-JP" altLang="en-US" sz="1000" dirty="0">
                          <a:solidFill>
                            <a:sysClr val="windowText" lastClr="000000"/>
                          </a:solidFill>
                          <a:latin typeface="+mn-ea"/>
                          <a:ea typeface="+mn-ea"/>
                        </a:rPr>
                        <a:t>「転職時期が先</a:t>
                      </a:r>
                      <a:r>
                        <a:rPr kumimoji="1" lang="en-US" altLang="ja-JP" sz="1000" dirty="0">
                          <a:solidFill>
                            <a:sysClr val="windowText" lastClr="000000"/>
                          </a:solidFill>
                          <a:latin typeface="+mn-ea"/>
                          <a:ea typeface="+mn-ea"/>
                        </a:rPr>
                        <a:t>/</a:t>
                      </a:r>
                      <a:r>
                        <a:rPr kumimoji="1" lang="ja-JP" altLang="en-US" sz="1000" dirty="0">
                          <a:solidFill>
                            <a:sysClr val="windowText" lastClr="000000"/>
                          </a:solidFill>
                          <a:latin typeface="+mn-ea"/>
                          <a:ea typeface="+mn-ea"/>
                        </a:rPr>
                        <a:t>未定だった」「情報収集目的だった」が</a:t>
                      </a:r>
                      <a:r>
                        <a:rPr kumimoji="1" lang="en-US" altLang="ja-JP" sz="1000" dirty="0">
                          <a:solidFill>
                            <a:sysClr val="windowText" lastClr="000000"/>
                          </a:solidFill>
                          <a:latin typeface="+mn-ea"/>
                          <a:ea typeface="+mn-ea"/>
                        </a:rPr>
                        <a:t>4</a:t>
                      </a:r>
                      <a:r>
                        <a:rPr kumimoji="1" lang="ja-JP" altLang="en-US" sz="1000" dirty="0">
                          <a:solidFill>
                            <a:sysClr val="windowText" lastClr="000000"/>
                          </a:solidFill>
                          <a:latin typeface="+mn-ea"/>
                          <a:ea typeface="+mn-ea"/>
                        </a:rPr>
                        <a:t>割を超え続く。</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kumimoji="1" lang="en-US" altLang="ja-JP" sz="1000" dirty="0">
                          <a:solidFill>
                            <a:sysClr val="windowText" lastClr="000000"/>
                          </a:solidFill>
                          <a:latin typeface="+mn-ea"/>
                          <a:ea typeface="+mn-ea"/>
                        </a:rPr>
                        <a:t>【</a:t>
                      </a:r>
                      <a:r>
                        <a:rPr kumimoji="1" lang="ja-JP" altLang="en-US" sz="1000" dirty="0">
                          <a:solidFill>
                            <a:sysClr val="windowText" lastClr="000000"/>
                          </a:solidFill>
                          <a:latin typeface="+mn-ea"/>
                          <a:ea typeface="+mn-ea"/>
                        </a:rPr>
                        <a:t>面談喚起</a:t>
                      </a:r>
                      <a:r>
                        <a:rPr kumimoji="1" lang="en-US" altLang="ja-JP" sz="1000" dirty="0">
                          <a:solidFill>
                            <a:sysClr val="windowText" lastClr="000000"/>
                          </a:solidFill>
                          <a:latin typeface="+mn-ea"/>
                          <a:ea typeface="+mn-ea"/>
                        </a:rPr>
                        <a:t>】</a:t>
                      </a:r>
                      <a:r>
                        <a:rPr kumimoji="1" lang="ja-JP" altLang="en-US" sz="1000" dirty="0">
                          <a:solidFill>
                            <a:sysClr val="windowText" lastClr="000000"/>
                          </a:solidFill>
                          <a:latin typeface="+mn-ea"/>
                          <a:ea typeface="+mn-ea"/>
                        </a:rPr>
                        <a:t>面談しか提供されない求人情報を提供することを打ち出すことで、情報収集目的の登録者へのアプローチ</a:t>
                      </a:r>
                      <a:endParaRPr kumimoji="1" lang="en-US" altLang="ja-JP" sz="1000" dirty="0">
                        <a:solidFill>
                          <a:sysClr val="windowText" lastClr="000000"/>
                        </a:solidFill>
                        <a:latin typeface="+mn-ea"/>
                        <a:ea typeface="+mn-ea"/>
                      </a:endParaRPr>
                    </a:p>
                    <a:p>
                      <a:r>
                        <a:rPr kumimoji="1" lang="en-US" altLang="ja-JP" sz="1000" dirty="0">
                          <a:solidFill>
                            <a:sysClr val="windowText" lastClr="000000"/>
                          </a:solidFill>
                          <a:latin typeface="+mn-ea"/>
                          <a:ea typeface="+mn-ea"/>
                        </a:rPr>
                        <a:t>【</a:t>
                      </a:r>
                      <a:r>
                        <a:rPr kumimoji="1" lang="ja-JP" altLang="en-US" sz="1000" dirty="0">
                          <a:solidFill>
                            <a:sysClr val="windowText" lastClr="000000"/>
                          </a:solidFill>
                          <a:latin typeface="+mn-ea"/>
                          <a:ea typeface="+mn-ea"/>
                        </a:rPr>
                        <a:t>活動サポート</a:t>
                      </a:r>
                      <a:r>
                        <a:rPr kumimoji="1" lang="en-US" altLang="ja-JP" sz="1000" dirty="0">
                          <a:solidFill>
                            <a:sysClr val="windowText" lastClr="000000"/>
                          </a:solidFill>
                          <a:latin typeface="+mn-ea"/>
                          <a:ea typeface="+mn-ea"/>
                        </a:rPr>
                        <a:t>】</a:t>
                      </a:r>
                      <a:r>
                        <a:rPr kumimoji="1" lang="ja-JP" altLang="en-US" sz="1000" dirty="0">
                          <a:solidFill>
                            <a:sysClr val="windowText" lastClr="000000"/>
                          </a:solidFill>
                          <a:latin typeface="+mn-ea"/>
                          <a:ea typeface="+mn-ea"/>
                        </a:rPr>
                        <a:t>①⑥と同一（求人や転職活動への解像度醸成</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15960653"/>
                  </a:ext>
                </a:extLst>
              </a:tr>
              <a:tr h="683692">
                <a:tc>
                  <a:txBody>
                    <a:bodyPr/>
                    <a:lstStyle/>
                    <a:p>
                      <a:r>
                        <a:rPr kumimoji="1" lang="ja-JP" altLang="en-US" sz="1000" b="1" dirty="0">
                          <a:solidFill>
                            <a:sysClr val="windowText" lastClr="000000"/>
                          </a:solidFill>
                          <a:latin typeface="+mn-ea"/>
                          <a:ea typeface="+mn-ea"/>
                        </a:rPr>
                        <a:t>⑤面談実施なし＞応募あり</a:t>
                      </a:r>
                      <a:endParaRPr kumimoji="1" lang="en-US" altLang="ja-JP" sz="1000" b="1" dirty="0">
                        <a:solidFill>
                          <a:sysClr val="windowText" lastClr="000000"/>
                        </a:solidFill>
                        <a:latin typeface="+mn-ea"/>
                        <a:ea typeface="+mn-ea"/>
                      </a:endParaRPr>
                    </a:p>
                    <a:p>
                      <a:r>
                        <a:rPr kumimoji="1" lang="ja-JP" altLang="en-US" sz="1000" b="1" dirty="0">
                          <a:solidFill>
                            <a:sysClr val="windowText" lastClr="000000"/>
                          </a:solidFill>
                          <a:latin typeface="+mn-ea"/>
                          <a:ea typeface="+mn-ea"/>
                        </a:rPr>
                        <a:t>欲しいサポート</a:t>
                      </a:r>
                      <a:endParaRPr kumimoji="1" lang="en-US" altLang="ja-JP" sz="1000" b="1" dirty="0">
                        <a:solidFill>
                          <a:sysClr val="windowText" lastClr="000000"/>
                        </a:solidFill>
                        <a:latin typeface="+mn-ea"/>
                        <a:ea typeface="+mn-ea"/>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2EFDA"/>
                    </a:solidFill>
                  </a:tcPr>
                </a:tc>
                <a:tc>
                  <a:txBody>
                    <a:bodyPr/>
                    <a:lstStyle/>
                    <a:p>
                      <a:r>
                        <a:rPr kumimoji="1" lang="ja-JP" altLang="en-US" sz="1000" dirty="0">
                          <a:solidFill>
                            <a:sysClr val="windowText" lastClr="000000"/>
                          </a:solidFill>
                          <a:latin typeface="+mn-ea"/>
                          <a:ea typeface="+mn-ea"/>
                        </a:rPr>
                        <a:t>ー</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kumimoji="1" lang="ja-JP" altLang="en-US" sz="1000" dirty="0">
                          <a:solidFill>
                            <a:sysClr val="windowText" lastClr="000000"/>
                          </a:solidFill>
                          <a:latin typeface="+mn-ea"/>
                          <a:ea typeface="+mn-ea"/>
                        </a:rPr>
                        <a:t>全体的なサポートニーズは低めだが</a:t>
                      </a:r>
                      <a:endParaRPr kumimoji="1" lang="en-US" altLang="ja-JP" sz="1000" dirty="0">
                        <a:solidFill>
                          <a:sysClr val="windowText" lastClr="000000"/>
                        </a:solidFill>
                        <a:latin typeface="+mn-ea"/>
                        <a:ea typeface="+mn-ea"/>
                      </a:endParaRPr>
                    </a:p>
                    <a:p>
                      <a:r>
                        <a:rPr kumimoji="1" lang="en-US" altLang="ja-JP" sz="1000" dirty="0">
                          <a:solidFill>
                            <a:sysClr val="windowText" lastClr="000000"/>
                          </a:solidFill>
                          <a:latin typeface="+mn-ea"/>
                          <a:ea typeface="+mn-ea"/>
                        </a:rPr>
                        <a:t>【</a:t>
                      </a:r>
                      <a:r>
                        <a:rPr kumimoji="1" lang="ja-JP" altLang="en-US" sz="1000" dirty="0">
                          <a:solidFill>
                            <a:sysClr val="windowText" lastClr="000000"/>
                          </a:solidFill>
                          <a:latin typeface="+mn-ea"/>
                          <a:ea typeface="+mn-ea"/>
                        </a:rPr>
                        <a:t>面談喚起</a:t>
                      </a:r>
                      <a:r>
                        <a:rPr kumimoji="1" lang="en-US" altLang="ja-JP" sz="1000" dirty="0">
                          <a:solidFill>
                            <a:sysClr val="windowText" lastClr="000000"/>
                          </a:solidFill>
                          <a:latin typeface="+mn-ea"/>
                          <a:ea typeface="+mn-ea"/>
                        </a:rPr>
                        <a:t>】</a:t>
                      </a:r>
                      <a:r>
                        <a:rPr kumimoji="1" lang="ja-JP" altLang="en-US" sz="1000" dirty="0">
                          <a:solidFill>
                            <a:sysClr val="windowText" lastClr="000000"/>
                          </a:solidFill>
                          <a:latin typeface="+mn-ea"/>
                          <a:ea typeface="+mn-ea"/>
                        </a:rPr>
                        <a:t>面談でしか提供されない求人情報</a:t>
                      </a:r>
                      <a:endParaRPr kumimoji="1" lang="en-US" altLang="ja-JP" sz="1000" dirty="0">
                        <a:solidFill>
                          <a:sysClr val="windowText" lastClr="000000"/>
                        </a:solidFill>
                        <a:latin typeface="+mn-ea"/>
                        <a:ea typeface="+mn-ea"/>
                      </a:endParaRPr>
                    </a:p>
                    <a:p>
                      <a:r>
                        <a:rPr kumimoji="1" lang="en-US" altLang="ja-JP" sz="1000" dirty="0">
                          <a:solidFill>
                            <a:sysClr val="windowText" lastClr="000000"/>
                          </a:solidFill>
                          <a:latin typeface="+mn-ea"/>
                          <a:ea typeface="+mn-ea"/>
                        </a:rPr>
                        <a:t>【</a:t>
                      </a:r>
                      <a:r>
                        <a:rPr kumimoji="1" lang="ja-JP" altLang="en-US" sz="1000" dirty="0">
                          <a:solidFill>
                            <a:sysClr val="windowText" lastClr="000000"/>
                          </a:solidFill>
                          <a:latin typeface="+mn-ea"/>
                          <a:ea typeface="+mn-ea"/>
                        </a:rPr>
                        <a:t>応募喚起</a:t>
                      </a:r>
                      <a:r>
                        <a:rPr kumimoji="1" lang="en-US" altLang="ja-JP" sz="1000" dirty="0">
                          <a:solidFill>
                            <a:sysClr val="windowText" lastClr="000000"/>
                          </a:solidFill>
                          <a:latin typeface="+mn-ea"/>
                          <a:ea typeface="+mn-ea"/>
                        </a:rPr>
                        <a:t>】</a:t>
                      </a:r>
                      <a:r>
                        <a:rPr kumimoji="1" lang="ja-JP" altLang="en-US" sz="1000" dirty="0">
                          <a:solidFill>
                            <a:sysClr val="windowText" lastClr="000000"/>
                          </a:solidFill>
                          <a:latin typeface="+mn-ea"/>
                          <a:ea typeface="+mn-ea"/>
                        </a:rPr>
                        <a:t>システムを通じた非公開求人の提供</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748083992"/>
                  </a:ext>
                </a:extLst>
              </a:tr>
              <a:tr h="769718">
                <a:tc>
                  <a:txBody>
                    <a:bodyPr/>
                    <a:lstStyle/>
                    <a:p>
                      <a:r>
                        <a:rPr kumimoji="1" lang="ja-JP" altLang="en-US" sz="1000" b="1" dirty="0">
                          <a:solidFill>
                            <a:sysClr val="windowText" lastClr="000000"/>
                          </a:solidFill>
                          <a:latin typeface="+mn-ea"/>
                          <a:ea typeface="+mn-ea"/>
                        </a:rPr>
                        <a:t>⑥面談希望なし＞応募なし</a:t>
                      </a:r>
                      <a:endParaRPr kumimoji="1" lang="en-US" altLang="ja-JP" sz="1000" b="1" dirty="0">
                        <a:solidFill>
                          <a:sysClr val="windowText" lastClr="000000"/>
                        </a:solidFill>
                        <a:latin typeface="+mn-ea"/>
                        <a:ea typeface="+mn-ea"/>
                      </a:endParaRPr>
                    </a:p>
                    <a:p>
                      <a:r>
                        <a:rPr kumimoji="1" lang="ja-JP" altLang="en-US" sz="1000" b="1" dirty="0">
                          <a:solidFill>
                            <a:sysClr val="windowText" lastClr="000000"/>
                          </a:solidFill>
                          <a:latin typeface="+mn-ea"/>
                          <a:ea typeface="+mn-ea"/>
                        </a:rPr>
                        <a:t>理由と活動化へのヒント</a:t>
                      </a:r>
                      <a:endParaRPr kumimoji="1" lang="en-US" altLang="ja-JP" sz="1000" b="1" dirty="0">
                        <a:solidFill>
                          <a:sysClr val="windowText" lastClr="000000"/>
                        </a:solidFill>
                        <a:latin typeface="+mn-ea"/>
                        <a:ea typeface="+mn-ea"/>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2EFDA"/>
                    </a:solidFill>
                  </a:tcPr>
                </a:tc>
                <a:tc>
                  <a:txBody>
                    <a:bodyPr/>
                    <a:lstStyle/>
                    <a:p>
                      <a:r>
                        <a:rPr kumimoji="1" lang="ja-JP" altLang="en-US" sz="1000" dirty="0">
                          <a:solidFill>
                            <a:sysClr val="windowText" lastClr="000000"/>
                          </a:solidFill>
                          <a:latin typeface="+mn-ea"/>
                          <a:ea typeface="+mn-ea"/>
                        </a:rPr>
                        <a:t>「気になる求人はあったが応募に踏み切れなかった」が</a:t>
                      </a:r>
                      <a:r>
                        <a:rPr kumimoji="1" lang="en-US" altLang="ja-JP" sz="1000" dirty="0">
                          <a:solidFill>
                            <a:sysClr val="windowText" lastClr="000000"/>
                          </a:solidFill>
                          <a:latin typeface="+mn-ea"/>
                          <a:ea typeface="+mn-ea"/>
                        </a:rPr>
                        <a:t>33%</a:t>
                      </a:r>
                      <a:r>
                        <a:rPr kumimoji="1" lang="ja-JP" altLang="en-US" sz="1000" dirty="0">
                          <a:solidFill>
                            <a:sysClr val="windowText" lastClr="000000"/>
                          </a:solidFill>
                          <a:latin typeface="+mn-ea"/>
                          <a:ea typeface="+mn-ea"/>
                        </a:rPr>
                        <a:t>で</a:t>
                      </a:r>
                      <a:r>
                        <a:rPr kumimoji="1" lang="en-US" altLang="ja-JP" sz="1000" dirty="0">
                          <a:solidFill>
                            <a:sysClr val="windowText" lastClr="000000"/>
                          </a:solidFill>
                          <a:latin typeface="+mn-ea"/>
                          <a:ea typeface="+mn-ea"/>
                        </a:rPr>
                        <a:t>TOP</a:t>
                      </a:r>
                      <a:r>
                        <a:rPr kumimoji="1" lang="ja-JP" altLang="en-US" sz="1000" dirty="0">
                          <a:solidFill>
                            <a:sysClr val="windowText" lastClr="000000"/>
                          </a:solidFill>
                          <a:latin typeface="+mn-ea"/>
                          <a:ea typeface="+mn-ea"/>
                        </a:rPr>
                        <a:t>の理由。</a:t>
                      </a:r>
                      <a:br>
                        <a:rPr kumimoji="1" lang="ja-JP" altLang="en-US" sz="1000" dirty="0">
                          <a:solidFill>
                            <a:sysClr val="windowText" lastClr="000000"/>
                          </a:solidFill>
                          <a:latin typeface="+mn-ea"/>
                          <a:ea typeface="+mn-ea"/>
                        </a:rPr>
                      </a:br>
                      <a:r>
                        <a:rPr kumimoji="1" lang="ja-JP" altLang="en-US" sz="1000" dirty="0">
                          <a:solidFill>
                            <a:sysClr val="windowText" lastClr="000000"/>
                          </a:solidFill>
                          <a:latin typeface="+mn-ea"/>
                          <a:ea typeface="+mn-ea"/>
                        </a:rPr>
                        <a:t>「希望する求人が見つからなかった」が続く。</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r>
                        <a:rPr kumimoji="1" lang="en-US" altLang="ja-JP" sz="1000" dirty="0">
                          <a:solidFill>
                            <a:sysClr val="windowText" lastClr="000000"/>
                          </a:solidFill>
                          <a:latin typeface="+mn-ea"/>
                          <a:ea typeface="+mn-ea"/>
                        </a:rPr>
                        <a:t>【</a:t>
                      </a:r>
                      <a:r>
                        <a:rPr kumimoji="1" lang="ja-JP" altLang="en-US" sz="1000" dirty="0">
                          <a:solidFill>
                            <a:sysClr val="windowText" lastClr="000000"/>
                          </a:solidFill>
                          <a:latin typeface="+mn-ea"/>
                          <a:ea typeface="+mn-ea"/>
                        </a:rPr>
                        <a:t>活動サポート</a:t>
                      </a:r>
                      <a:r>
                        <a:rPr kumimoji="1" lang="en-US" altLang="ja-JP" sz="1000" dirty="0">
                          <a:solidFill>
                            <a:sysClr val="windowText" lastClr="000000"/>
                          </a:solidFill>
                          <a:latin typeface="+mn-ea"/>
                          <a:ea typeface="+mn-ea"/>
                        </a:rPr>
                        <a:t>】</a:t>
                      </a:r>
                      <a:r>
                        <a:rPr kumimoji="1" lang="ja-JP" altLang="en-US" sz="1000" b="0" dirty="0">
                          <a:solidFill>
                            <a:sysClr val="windowText" lastClr="000000"/>
                          </a:solidFill>
                          <a:latin typeface="+mn-ea"/>
                          <a:ea typeface="+mn-ea"/>
                        </a:rPr>
                        <a:t>非公開求人の提供と共に</a:t>
                      </a:r>
                      <a:r>
                        <a:rPr kumimoji="1" lang="ja-JP" altLang="en-US" sz="1000" b="1" dirty="0">
                          <a:solidFill>
                            <a:sysClr val="windowText" lastClr="000000"/>
                          </a:solidFill>
                          <a:latin typeface="+mn-ea"/>
                          <a:ea typeface="+mn-ea"/>
                        </a:rPr>
                        <a:t>応募に踏み切る後押しや希望する求人の解像度を上げるサポート</a:t>
                      </a:r>
                      <a:endParaRPr kumimoji="1" lang="en-US" altLang="ja-JP" sz="1000" b="1" dirty="0">
                        <a:solidFill>
                          <a:sysClr val="windowText" lastClr="000000"/>
                        </a:solidFill>
                        <a:latin typeface="+mn-ea"/>
                        <a:ea typeface="+mn-ea"/>
                      </a:endParaRPr>
                    </a:p>
                    <a:p>
                      <a:r>
                        <a:rPr kumimoji="1" lang="ja-JP" altLang="en-US" sz="1000" dirty="0">
                          <a:solidFill>
                            <a:sysClr val="windowText" lastClr="000000"/>
                          </a:solidFill>
                          <a:latin typeface="+mn-ea"/>
                          <a:ea typeface="+mn-ea"/>
                        </a:rPr>
                        <a:t>∟なぜ踏み切れないか</a:t>
                      </a:r>
                      <a:r>
                        <a:rPr kumimoji="1" lang="en-US" altLang="ja-JP" sz="1000" dirty="0">
                          <a:solidFill>
                            <a:sysClr val="windowText" lastClr="000000"/>
                          </a:solidFill>
                          <a:latin typeface="+mn-ea"/>
                          <a:ea typeface="+mn-ea"/>
                        </a:rPr>
                        <a:t>/</a:t>
                      </a:r>
                      <a:r>
                        <a:rPr kumimoji="1" lang="ja-JP" altLang="en-US" sz="1000" dirty="0">
                          <a:solidFill>
                            <a:sysClr val="windowText" lastClr="000000"/>
                          </a:solidFill>
                          <a:latin typeface="+mn-ea"/>
                          <a:ea typeface="+mn-ea"/>
                        </a:rPr>
                        <a:t>迷いポイントの解明と払拭サポート。活動状況はお気に入り有無や</a:t>
                      </a:r>
                      <a:r>
                        <a:rPr kumimoji="1" lang="en-US" altLang="ja-JP" sz="1000" dirty="0">
                          <a:solidFill>
                            <a:sysClr val="windowText" lastClr="000000"/>
                          </a:solidFill>
                          <a:latin typeface="+mn-ea"/>
                          <a:ea typeface="+mn-ea"/>
                        </a:rPr>
                        <a:t>PDT</a:t>
                      </a:r>
                      <a:r>
                        <a:rPr kumimoji="1" lang="ja-JP" altLang="en-US" sz="1000" dirty="0">
                          <a:solidFill>
                            <a:sysClr val="windowText" lastClr="000000"/>
                          </a:solidFill>
                          <a:latin typeface="+mn-ea"/>
                          <a:ea typeface="+mn-ea"/>
                        </a:rPr>
                        <a:t>ログイン頻度から推測できないか</a:t>
                      </a:r>
                      <a:endParaRPr kumimoji="1" lang="en-US" altLang="ja-JP" sz="1000" dirty="0">
                        <a:solidFill>
                          <a:sysClr val="windowText" lastClr="000000"/>
                        </a:solidFill>
                        <a:latin typeface="+mn-ea"/>
                        <a:ea typeface="+mn-ea"/>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145055079"/>
                  </a:ext>
                </a:extLst>
              </a:tr>
            </a:tbl>
          </a:graphicData>
        </a:graphic>
      </p:graphicFrame>
      <p:sp>
        <p:nvSpPr>
          <p:cNvPr id="2" name="テキスト ボックス 1">
            <a:hlinkClick r:id="rId3" action="ppaction://hlinksldjump"/>
            <a:extLst>
              <a:ext uri="{FF2B5EF4-FFF2-40B4-BE49-F238E27FC236}">
                <a16:creationId xmlns:a16="http://schemas.microsoft.com/office/drawing/2014/main" id="{AC037085-EE54-9D7A-6BCB-8D1E2FD8433E}"/>
              </a:ext>
            </a:extLst>
          </p:cNvPr>
          <p:cNvSpPr txBox="1"/>
          <p:nvPr/>
        </p:nvSpPr>
        <p:spPr>
          <a:xfrm>
            <a:off x="8438865" y="6124534"/>
            <a:ext cx="3178277" cy="253916"/>
          </a:xfrm>
          <a:prstGeom prst="rect">
            <a:avLst/>
          </a:prstGeom>
          <a:noFill/>
        </p:spPr>
        <p:txBody>
          <a:bodyPr wrap="square" rtlCol="0">
            <a:spAutoFit/>
          </a:bodyPr>
          <a:lstStyle/>
          <a:p>
            <a:pPr algn="r"/>
            <a:r>
              <a:rPr kumimoji="1" lang="ja-JP" altLang="en-US" sz="1000" u="sng" dirty="0">
                <a:solidFill>
                  <a:schemeClr val="tx2"/>
                </a:solidFill>
                <a:latin typeface="+mn-ea"/>
              </a:rPr>
              <a:t>→</a:t>
            </a:r>
            <a:r>
              <a:rPr kumimoji="1" lang="en-US" altLang="ja-JP" sz="1000" u="sng" dirty="0">
                <a:solidFill>
                  <a:schemeClr val="tx2"/>
                </a:solidFill>
                <a:latin typeface="+mn-ea"/>
              </a:rPr>
              <a:t>skip)BP</a:t>
            </a:r>
            <a:r>
              <a:rPr kumimoji="1" lang="ja-JP" altLang="en-US" sz="1000" u="sng" dirty="0">
                <a:solidFill>
                  <a:schemeClr val="tx2"/>
                </a:solidFill>
                <a:latin typeface="+mn-ea"/>
              </a:rPr>
              <a:t>内サポート箇所原案とネクストステップ</a:t>
            </a:r>
          </a:p>
        </p:txBody>
      </p:sp>
    </p:spTree>
    <p:extLst>
      <p:ext uri="{BB962C8B-B14F-4D97-AF65-F5344CB8AC3E}">
        <p14:creationId xmlns:p14="http://schemas.microsoft.com/office/powerpoint/2010/main" val="1919240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A6030E16-F233-E738-E3C3-6329C27DACEB}"/>
              </a:ext>
            </a:extLst>
          </p:cNvPr>
          <p:cNvSpPr>
            <a:spLocks noGrp="1"/>
          </p:cNvSpPr>
          <p:nvPr>
            <p:ph sz="quarter" idx="14"/>
          </p:nvPr>
        </p:nvSpPr>
        <p:spPr>
          <a:xfrm>
            <a:off x="360363" y="754584"/>
            <a:ext cx="11447462" cy="509580"/>
          </a:xfrm>
        </p:spPr>
        <p:txBody>
          <a:bodyPr>
            <a:normAutofit/>
          </a:bodyPr>
          <a:lstStyle/>
          <a:p>
            <a:pPr marL="285750" indent="-285750">
              <a:buFont typeface="Wingdings" panose="05000000000000000000" pitchFamily="2" charset="2"/>
              <a:buChar char="ü"/>
            </a:pPr>
            <a:r>
              <a:rPr kumimoji="1" lang="ja-JP" altLang="en-US" sz="1200" dirty="0"/>
              <a:t>面談を希望する</a:t>
            </a:r>
            <a:r>
              <a:rPr kumimoji="1" lang="en-US" altLang="ja-JP" sz="1200" dirty="0"/>
              <a:t>CS</a:t>
            </a:r>
            <a:r>
              <a:rPr lang="ja-JP" altLang="en-US" sz="1200" dirty="0"/>
              <a:t>は</a:t>
            </a:r>
            <a:r>
              <a:rPr lang="ja-JP" altLang="en-US" sz="1200" b="1" dirty="0"/>
              <a:t>「転職希望度合の高い</a:t>
            </a:r>
            <a:r>
              <a:rPr lang="en-US" altLang="ja-JP" sz="1200" b="1" dirty="0"/>
              <a:t>/</a:t>
            </a:r>
            <a:r>
              <a:rPr lang="ja-JP" altLang="en-US" sz="1200" b="1" dirty="0"/>
              <a:t>年収</a:t>
            </a:r>
            <a:r>
              <a:rPr lang="en-US" altLang="ja-JP" sz="1200" b="1" dirty="0"/>
              <a:t>400</a:t>
            </a:r>
            <a:r>
              <a:rPr lang="ja-JP" altLang="en-US" sz="1200" b="1" dirty="0"/>
              <a:t>万中盤</a:t>
            </a:r>
            <a:r>
              <a:rPr lang="en-US" altLang="ja-JP" sz="1200" b="1" dirty="0"/>
              <a:t>/</a:t>
            </a:r>
            <a:r>
              <a:rPr lang="ja-JP" altLang="en-US" sz="1200" b="1" dirty="0"/>
              <a:t>転職経験あり</a:t>
            </a:r>
            <a:r>
              <a:rPr lang="en-US" altLang="ja-JP" sz="1200" b="1" dirty="0"/>
              <a:t>CS</a:t>
            </a:r>
            <a:r>
              <a:rPr lang="ja-JP" altLang="en-US" sz="1200" b="1" dirty="0"/>
              <a:t>」</a:t>
            </a:r>
            <a:r>
              <a:rPr lang="ja-JP" altLang="en-US" sz="1200" dirty="0"/>
              <a:t>が多く</a:t>
            </a:r>
            <a:r>
              <a:rPr kumimoji="1" lang="ja-JP" altLang="en-US" sz="1200" dirty="0"/>
              <a:t>、面談を希望しない</a:t>
            </a:r>
            <a:r>
              <a:rPr kumimoji="1" lang="en-US" altLang="ja-JP" sz="1200" dirty="0"/>
              <a:t>CS</a:t>
            </a:r>
            <a:r>
              <a:rPr kumimoji="1" lang="ja-JP" altLang="en-US" sz="1200" dirty="0"/>
              <a:t>は</a:t>
            </a:r>
            <a:r>
              <a:rPr kumimoji="1" lang="ja-JP" altLang="en-US" sz="1200" b="1" dirty="0"/>
              <a:t>「希望に合えば転職したい</a:t>
            </a:r>
            <a:r>
              <a:rPr kumimoji="1" lang="en-US" altLang="ja-JP" sz="1200" b="1" dirty="0"/>
              <a:t>/</a:t>
            </a:r>
            <a:r>
              <a:rPr kumimoji="1" lang="ja-JP" altLang="en-US" sz="1200" b="1" dirty="0"/>
              <a:t>年収</a:t>
            </a:r>
            <a:r>
              <a:rPr kumimoji="1" lang="en-US" altLang="ja-JP" sz="1200" b="1" dirty="0"/>
              <a:t>400</a:t>
            </a:r>
            <a:r>
              <a:rPr lang="ja-JP" altLang="en-US" sz="1200" b="1" dirty="0"/>
              <a:t>万前後</a:t>
            </a:r>
            <a:r>
              <a:rPr lang="en-US" altLang="ja-JP" sz="1200" b="1" dirty="0"/>
              <a:t>/</a:t>
            </a:r>
            <a:r>
              <a:rPr lang="ja-JP" altLang="en-US" sz="1200" b="1" dirty="0"/>
              <a:t>転職経験なし</a:t>
            </a:r>
            <a:r>
              <a:rPr lang="en-US" altLang="ja-JP" sz="1200" b="1" dirty="0"/>
              <a:t>CS</a:t>
            </a:r>
            <a:r>
              <a:rPr lang="ja-JP" altLang="en-US" sz="1200" b="1" dirty="0"/>
              <a:t>」</a:t>
            </a:r>
            <a:r>
              <a:rPr lang="ja-JP" altLang="en-US" sz="1200" dirty="0"/>
              <a:t>が多い。転職希望時期は</a:t>
            </a:r>
            <a:r>
              <a:rPr lang="en-US" altLang="ja-JP" sz="1200" dirty="0"/>
              <a:t>3</a:t>
            </a:r>
            <a:r>
              <a:rPr lang="ja-JP" altLang="en-US" sz="1200" dirty="0"/>
              <a:t>か月以内の比率に差分があるものの時期未定の割合に大きな差分は無く、希望度合と希望時期は相関しない。</a:t>
            </a:r>
            <a:endParaRPr kumimoji="1" lang="ja-JP" altLang="en-US" sz="1200" dirty="0"/>
          </a:p>
        </p:txBody>
      </p:sp>
      <p:sp>
        <p:nvSpPr>
          <p:cNvPr id="3" name="テキスト プレースホルダー 2">
            <a:extLst>
              <a:ext uri="{FF2B5EF4-FFF2-40B4-BE49-F238E27FC236}">
                <a16:creationId xmlns:a16="http://schemas.microsoft.com/office/drawing/2014/main" id="{03147B0B-C1F4-2B9B-994E-1EAEEBD064E3}"/>
              </a:ext>
            </a:extLst>
          </p:cNvPr>
          <p:cNvSpPr>
            <a:spLocks noGrp="1"/>
          </p:cNvSpPr>
          <p:nvPr>
            <p:ph type="body" sz="quarter" idx="13"/>
          </p:nvPr>
        </p:nvSpPr>
        <p:spPr>
          <a:xfrm>
            <a:off x="360363" y="183090"/>
            <a:ext cx="11448000" cy="284693"/>
          </a:xfrm>
        </p:spPr>
        <p:txBody>
          <a:bodyPr/>
          <a:lstStyle/>
          <a:p>
            <a:r>
              <a:rPr kumimoji="1" lang="ja-JP" altLang="en-US" dirty="0"/>
              <a:t>調査結果サマリ：面談希望有無別</a:t>
            </a:r>
            <a:r>
              <a:rPr kumimoji="1" lang="en-US" altLang="ja-JP" dirty="0"/>
              <a:t>CS</a:t>
            </a:r>
            <a:r>
              <a:rPr kumimoji="1" lang="ja-JP" altLang="en-US" dirty="0"/>
              <a:t>属性</a:t>
            </a:r>
          </a:p>
        </p:txBody>
      </p:sp>
      <p:sp>
        <p:nvSpPr>
          <p:cNvPr id="4" name="フッター プレースホルダー 3">
            <a:extLst>
              <a:ext uri="{FF2B5EF4-FFF2-40B4-BE49-F238E27FC236}">
                <a16:creationId xmlns:a16="http://schemas.microsoft.com/office/drawing/2014/main" id="{476D816D-8F52-BD09-028C-A64AAA61F59A}"/>
              </a:ext>
            </a:extLst>
          </p:cNvPr>
          <p:cNvSpPr>
            <a:spLocks noGrp="1"/>
          </p:cNvSpPr>
          <p:nvPr>
            <p:ph type="ftr" sz="quarter" idx="3"/>
          </p:nvPr>
        </p:nvSpPr>
        <p:spPr/>
        <p:txBody>
          <a:bodyPr/>
          <a:lstStyle/>
          <a:p>
            <a:r>
              <a:rPr lang="en" altLang="ja-JP"/>
              <a:t>(C) Recruit Co., Ltd. All rights reserved. </a:t>
            </a:r>
            <a:endParaRPr lang="ja-JP" altLang="en-US"/>
          </a:p>
        </p:txBody>
      </p:sp>
      <p:sp>
        <p:nvSpPr>
          <p:cNvPr id="5" name="スライド番号プレースホルダー 4">
            <a:extLst>
              <a:ext uri="{FF2B5EF4-FFF2-40B4-BE49-F238E27FC236}">
                <a16:creationId xmlns:a16="http://schemas.microsoft.com/office/drawing/2014/main" id="{1D816927-788D-D958-85D9-6FADBFB6A771}"/>
              </a:ext>
            </a:extLst>
          </p:cNvPr>
          <p:cNvSpPr>
            <a:spLocks noGrp="1"/>
          </p:cNvSpPr>
          <p:nvPr>
            <p:ph type="sldNum" sz="quarter" idx="4"/>
          </p:nvPr>
        </p:nvSpPr>
        <p:spPr/>
        <p:txBody>
          <a:bodyPr/>
          <a:lstStyle/>
          <a:p>
            <a:fld id="{EDD55F78-D87A-074E-B5DA-6C9B598DD91F}" type="slidenum">
              <a:rPr lang="ja-JP" altLang="en-US" smtClean="0"/>
              <a:pPr/>
              <a:t>5</a:t>
            </a:fld>
            <a:endParaRPr lang="ja-JP" altLang="en-US"/>
          </a:p>
        </p:txBody>
      </p:sp>
      <p:graphicFrame>
        <p:nvGraphicFramePr>
          <p:cNvPr id="6" name="表 5">
            <a:extLst>
              <a:ext uri="{FF2B5EF4-FFF2-40B4-BE49-F238E27FC236}">
                <a16:creationId xmlns:a16="http://schemas.microsoft.com/office/drawing/2014/main" id="{29E043D1-75F2-FF18-506B-F05616D613D1}"/>
              </a:ext>
            </a:extLst>
          </p:cNvPr>
          <p:cNvGraphicFramePr>
            <a:graphicFrameLocks noGrp="1"/>
          </p:cNvGraphicFramePr>
          <p:nvPr>
            <p:extLst>
              <p:ext uri="{D42A27DB-BD31-4B8C-83A1-F6EECF244321}">
                <p14:modId xmlns:p14="http://schemas.microsoft.com/office/powerpoint/2010/main" val="2945100841"/>
              </p:ext>
            </p:extLst>
          </p:nvPr>
        </p:nvGraphicFramePr>
        <p:xfrm>
          <a:off x="277261" y="1451332"/>
          <a:ext cx="11542470" cy="4652084"/>
        </p:xfrm>
        <a:graphic>
          <a:graphicData uri="http://schemas.openxmlformats.org/drawingml/2006/table">
            <a:tbl>
              <a:tblPr/>
              <a:tblGrid>
                <a:gridCol w="952622">
                  <a:extLst>
                    <a:ext uri="{9D8B030D-6E8A-4147-A177-3AD203B41FA5}">
                      <a16:colId xmlns:a16="http://schemas.microsoft.com/office/drawing/2014/main" val="3628841693"/>
                    </a:ext>
                  </a:extLst>
                </a:gridCol>
                <a:gridCol w="804984">
                  <a:extLst>
                    <a:ext uri="{9D8B030D-6E8A-4147-A177-3AD203B41FA5}">
                      <a16:colId xmlns:a16="http://schemas.microsoft.com/office/drawing/2014/main" val="1554767057"/>
                    </a:ext>
                  </a:extLst>
                </a:gridCol>
                <a:gridCol w="672123">
                  <a:extLst>
                    <a:ext uri="{9D8B030D-6E8A-4147-A177-3AD203B41FA5}">
                      <a16:colId xmlns:a16="http://schemas.microsoft.com/office/drawing/2014/main" val="3984222833"/>
                    </a:ext>
                  </a:extLst>
                </a:gridCol>
                <a:gridCol w="1180123">
                  <a:extLst>
                    <a:ext uri="{9D8B030D-6E8A-4147-A177-3AD203B41FA5}">
                      <a16:colId xmlns:a16="http://schemas.microsoft.com/office/drawing/2014/main" val="4194880005"/>
                    </a:ext>
                  </a:extLst>
                </a:gridCol>
                <a:gridCol w="695570">
                  <a:extLst>
                    <a:ext uri="{9D8B030D-6E8A-4147-A177-3AD203B41FA5}">
                      <a16:colId xmlns:a16="http://schemas.microsoft.com/office/drawing/2014/main" val="3727779711"/>
                    </a:ext>
                  </a:extLst>
                </a:gridCol>
                <a:gridCol w="1141046">
                  <a:extLst>
                    <a:ext uri="{9D8B030D-6E8A-4147-A177-3AD203B41FA5}">
                      <a16:colId xmlns:a16="http://schemas.microsoft.com/office/drawing/2014/main" val="1607308394"/>
                    </a:ext>
                  </a:extLst>
                </a:gridCol>
                <a:gridCol w="1398954">
                  <a:extLst>
                    <a:ext uri="{9D8B030D-6E8A-4147-A177-3AD203B41FA5}">
                      <a16:colId xmlns:a16="http://schemas.microsoft.com/office/drawing/2014/main" val="2538319613"/>
                    </a:ext>
                  </a:extLst>
                </a:gridCol>
                <a:gridCol w="1617784">
                  <a:extLst>
                    <a:ext uri="{9D8B030D-6E8A-4147-A177-3AD203B41FA5}">
                      <a16:colId xmlns:a16="http://schemas.microsoft.com/office/drawing/2014/main" val="1518390642"/>
                    </a:ext>
                  </a:extLst>
                </a:gridCol>
                <a:gridCol w="1039446">
                  <a:extLst>
                    <a:ext uri="{9D8B030D-6E8A-4147-A177-3AD203B41FA5}">
                      <a16:colId xmlns:a16="http://schemas.microsoft.com/office/drawing/2014/main" val="875343651"/>
                    </a:ext>
                  </a:extLst>
                </a:gridCol>
                <a:gridCol w="539262">
                  <a:extLst>
                    <a:ext uri="{9D8B030D-6E8A-4147-A177-3AD203B41FA5}">
                      <a16:colId xmlns:a16="http://schemas.microsoft.com/office/drawing/2014/main" val="1887454486"/>
                    </a:ext>
                  </a:extLst>
                </a:gridCol>
                <a:gridCol w="1037095">
                  <a:extLst>
                    <a:ext uri="{9D8B030D-6E8A-4147-A177-3AD203B41FA5}">
                      <a16:colId xmlns:a16="http://schemas.microsoft.com/office/drawing/2014/main" val="31555727"/>
                    </a:ext>
                  </a:extLst>
                </a:gridCol>
                <a:gridCol w="463461">
                  <a:extLst>
                    <a:ext uri="{9D8B030D-6E8A-4147-A177-3AD203B41FA5}">
                      <a16:colId xmlns:a16="http://schemas.microsoft.com/office/drawing/2014/main" val="4186232842"/>
                    </a:ext>
                  </a:extLst>
                </a:gridCol>
              </a:tblGrid>
              <a:tr h="298726">
                <a:tc gridSpan="2">
                  <a:txBody>
                    <a:bodyPr/>
                    <a:lstStyle/>
                    <a:p>
                      <a:pPr algn="ctr" fontAlgn="ctr"/>
                      <a:r>
                        <a:rPr lang="ja-JP" altLang="en-US" sz="900" b="1" i="0" u="none" strike="noStrike" dirty="0">
                          <a:solidFill>
                            <a:srgbClr val="000000"/>
                          </a:solidFill>
                          <a:effectLst/>
                          <a:latin typeface="Meiryo UI" panose="020B0604030504040204" pitchFamily="50" charset="-128"/>
                          <a:ea typeface="Meiryo UI" panose="020B0604030504040204" pitchFamily="50" charset="-128"/>
                        </a:rPr>
                        <a:t>面談希望</a:t>
                      </a:r>
                      <a:r>
                        <a:rPr lang="en-US" altLang="ja-JP" sz="900" b="1" i="0" u="none" strike="noStrike" dirty="0">
                          <a:solidFill>
                            <a:srgbClr val="000000"/>
                          </a:solidFill>
                          <a:effectLst/>
                          <a:latin typeface="Meiryo UI" panose="020B0604030504040204" pitchFamily="50" charset="-128"/>
                          <a:ea typeface="Meiryo UI" panose="020B0604030504040204" pitchFamily="50" charset="-128"/>
                        </a:rPr>
                        <a:t>×</a:t>
                      </a:r>
                      <a:r>
                        <a:rPr lang="ja-JP" altLang="en-US" sz="900" b="1" i="0" u="none" strike="noStrike" dirty="0">
                          <a:solidFill>
                            <a:srgbClr val="000000"/>
                          </a:solidFill>
                          <a:effectLst/>
                          <a:latin typeface="Meiryo UI" panose="020B0604030504040204" pitchFamily="50" charset="-128"/>
                          <a:ea typeface="Meiryo UI" panose="020B0604030504040204" pitchFamily="50" charset="-128"/>
                        </a:rPr>
                        <a:t>面談実施有無</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hMerge="1">
                  <a:txBody>
                    <a:bodyPr/>
                    <a:lstStyle/>
                    <a:p>
                      <a:pPr algn="ctr" fontAlgn="ctr"/>
                      <a:r>
                        <a:rPr lang="ja-JP" altLang="en-US" sz="900" b="1" i="0" u="none" strike="noStrike" dirty="0">
                          <a:solidFill>
                            <a:srgbClr val="000000"/>
                          </a:solidFill>
                          <a:effectLst/>
                          <a:latin typeface="Meiryo UI" panose="020B0604030504040204" pitchFamily="50" charset="-128"/>
                          <a:ea typeface="Meiryo UI" panose="020B0604030504040204" pitchFamily="50" charset="-128"/>
                        </a:rPr>
                        <a:t>未活動ステータス別</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en-US" sz="900" b="1" i="0" u="none" strike="noStrike" dirty="0">
                          <a:solidFill>
                            <a:srgbClr val="000000"/>
                          </a:solidFill>
                          <a:effectLst/>
                          <a:latin typeface="Meiryo UI" panose="020B0604030504040204" pitchFamily="50" charset="-128"/>
                          <a:ea typeface="Meiryo UI" panose="020B0604030504040204" pitchFamily="50" charset="-128"/>
                        </a:rPr>
                        <a:t>WB</a:t>
                      </a:r>
                      <a:r>
                        <a:rPr lang="ja-JP" altLang="en-US" sz="900" b="1" i="0" u="none" strike="noStrike" dirty="0">
                          <a:solidFill>
                            <a:srgbClr val="000000"/>
                          </a:solidFill>
                          <a:effectLst/>
                          <a:latin typeface="Meiryo UI" panose="020B0604030504040204" pitchFamily="50" charset="-128"/>
                          <a:ea typeface="Meiryo UI" panose="020B0604030504040204" pitchFamily="50" charset="-128"/>
                        </a:rPr>
                        <a:t>後</a:t>
                      </a:r>
                      <a:r>
                        <a:rPr lang="en-US" sz="900" b="1" i="0" u="none" strike="noStrike" dirty="0">
                          <a:solidFill>
                            <a:srgbClr val="000000"/>
                          </a:solidFill>
                          <a:effectLst/>
                          <a:latin typeface="Meiryo UI" panose="020B0604030504040204" pitchFamily="50" charset="-128"/>
                          <a:ea typeface="Meiryo UI" panose="020B0604030504040204" pitchFamily="50" charset="-128"/>
                        </a:rPr>
                        <a:t>N</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年収</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年収概算</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職種</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zh-TW" altLang="en-US" sz="900" b="1" i="0" u="none" strike="noStrike" dirty="0">
                          <a:solidFill>
                            <a:srgbClr val="000000"/>
                          </a:solidFill>
                          <a:effectLst/>
                          <a:latin typeface="Meiryo UI" panose="020B0604030504040204" pitchFamily="50" charset="-128"/>
                          <a:ea typeface="Meiryo UI" panose="020B0604030504040204" pitchFamily="50" charset="-128"/>
                        </a:rPr>
                        <a:t>転職希望度合</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zh-TW" altLang="en-US" sz="900" b="1" i="0" u="none" strike="noStrike" dirty="0">
                          <a:solidFill>
                            <a:srgbClr val="000000"/>
                          </a:solidFill>
                          <a:effectLst/>
                          <a:latin typeface="Meiryo UI" panose="020B0604030504040204" pitchFamily="50" charset="-128"/>
                          <a:ea typeface="Meiryo UI" panose="020B0604030504040204" pitchFamily="50" charset="-128"/>
                        </a:rPr>
                        <a:t>転職希望時期</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転職回数</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転職回数概算</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年代</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ja-JP" altLang="en-US" sz="900" b="1" i="0" u="none" strike="noStrike" dirty="0">
                          <a:solidFill>
                            <a:srgbClr val="000000"/>
                          </a:solidFill>
                          <a:effectLst/>
                          <a:latin typeface="Meiryo UI" panose="020B0604030504040204" pitchFamily="50" charset="-128"/>
                          <a:ea typeface="Meiryo UI" panose="020B0604030504040204" pitchFamily="50" charset="-128"/>
                        </a:rPr>
                        <a:t>年齢</a:t>
                      </a:r>
                      <a:endParaRPr lang="en-US" altLang="ja-JP" sz="900" b="1" i="0" u="none" strike="noStrike" dirty="0">
                        <a:solidFill>
                          <a:srgbClr val="000000"/>
                        </a:solidFill>
                        <a:effectLst/>
                        <a:latin typeface="Meiryo UI" panose="020B0604030504040204" pitchFamily="50" charset="-128"/>
                        <a:ea typeface="Meiryo UI" panose="020B0604030504040204" pitchFamily="50" charset="-128"/>
                      </a:endParaRPr>
                    </a:p>
                    <a:p>
                      <a:pPr algn="ctr" fontAlgn="ctr"/>
                      <a:r>
                        <a:rPr lang="ja-JP" altLang="en-US" sz="900" b="1" i="0" u="none" strike="noStrike" dirty="0">
                          <a:solidFill>
                            <a:srgbClr val="000000"/>
                          </a:solidFill>
                          <a:effectLst/>
                          <a:latin typeface="Meiryo UI" panose="020B0604030504040204" pitchFamily="50" charset="-128"/>
                          <a:ea typeface="Meiryo UI" panose="020B0604030504040204" pitchFamily="50" charset="-128"/>
                        </a:rPr>
                        <a:t>概算</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extLst>
                  <a:ext uri="{0D108BD9-81ED-4DB2-BD59-A6C34878D82A}">
                    <a16:rowId xmlns:a16="http://schemas.microsoft.com/office/drawing/2014/main" val="1215481693"/>
                  </a:ext>
                </a:extLst>
              </a:tr>
              <a:tr h="729393">
                <a:tc rowSpan="3">
                  <a:txBody>
                    <a:bodyPr/>
                    <a:lstStyle/>
                    <a:p>
                      <a:pPr algn="ctr" fontAlgn="ctr"/>
                      <a:r>
                        <a:rPr lang="ja-JP" altLang="en-US" sz="900" b="1" i="0" u="none" strike="noStrike" dirty="0">
                          <a:solidFill>
                            <a:srgbClr val="000000"/>
                          </a:solidFill>
                          <a:effectLst/>
                          <a:latin typeface="Meiryo UI" panose="020B0604030504040204" pitchFamily="50" charset="-128"/>
                          <a:ea typeface="Meiryo UI" panose="020B0604030504040204" pitchFamily="50" charset="-128"/>
                        </a:rPr>
                        <a:t>面談希望あり</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合計</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126</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400-599</a:t>
                      </a:r>
                      <a:r>
                        <a:rPr lang="ja-JP" altLang="en-US" sz="900" b="1" i="0" u="none" strike="noStrike" dirty="0">
                          <a:solidFill>
                            <a:srgbClr val="FF0000"/>
                          </a:solidFill>
                          <a:effectLst/>
                          <a:latin typeface="Meiryo UI" panose="020B0604030504040204" pitchFamily="50" charset="-128"/>
                          <a:ea typeface="Meiryo UI" panose="020B0604030504040204" pitchFamily="50" charset="-128"/>
                        </a:rPr>
                        <a:t>：</a:t>
                      </a: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43%</a:t>
                      </a:r>
                      <a:br>
                        <a:rPr lang="en-US" altLang="ja-JP"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300</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未満：</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26%</a:t>
                      </a:r>
                      <a:br>
                        <a:rPr lang="en-US" altLang="ja-JP"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300-399</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16%</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447.9</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企画・管理：</a:t>
                      </a:r>
                      <a:r>
                        <a:rPr lang="en-US" altLang="ja-JP" sz="900" b="0" i="0" u="none" strike="noStrike">
                          <a:solidFill>
                            <a:srgbClr val="000000"/>
                          </a:solidFill>
                          <a:effectLst/>
                          <a:latin typeface="Meiryo UI" panose="020B0604030504040204" pitchFamily="50" charset="-128"/>
                          <a:ea typeface="Meiryo UI" panose="020B0604030504040204" pitchFamily="50" charset="-128"/>
                        </a:rPr>
                        <a:t>25</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＞専門：</a:t>
                      </a:r>
                      <a:r>
                        <a:rPr lang="en-US" altLang="ja-JP" sz="900" b="0" i="0" u="none" strike="noStrike">
                          <a:solidFill>
                            <a:srgbClr val="000000"/>
                          </a:solidFill>
                          <a:effectLst/>
                          <a:latin typeface="Meiryo UI" panose="020B0604030504040204" pitchFamily="50" charset="-128"/>
                          <a:ea typeface="Meiryo UI" panose="020B0604030504040204" pitchFamily="50" charset="-128"/>
                        </a:rPr>
                        <a:t>20</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＞事務：</a:t>
                      </a:r>
                      <a:r>
                        <a:rPr lang="en-US" altLang="ja-JP" sz="900" b="0" i="0" u="none" strike="noStrike">
                          <a:solidFill>
                            <a:srgbClr val="000000"/>
                          </a:solidFill>
                          <a:effectLst/>
                          <a:latin typeface="Meiryo UI" panose="020B0604030504040204" pitchFamily="50" charset="-128"/>
                          <a:ea typeface="Meiryo UI" panose="020B0604030504040204" pitchFamily="50" charset="-128"/>
                        </a:rPr>
                        <a:t>16</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ja-JP" altLang="en-US" sz="900" b="1" i="0" u="none" strike="noStrike" dirty="0">
                          <a:solidFill>
                            <a:srgbClr val="FF0000"/>
                          </a:solidFill>
                          <a:effectLst/>
                          <a:latin typeface="Meiryo UI" panose="020B0604030504040204" pitchFamily="50" charset="-128"/>
                          <a:ea typeface="Meiryo UI" panose="020B0604030504040204" pitchFamily="50" charset="-128"/>
                        </a:rPr>
                        <a:t>必ず転職したい：</a:t>
                      </a: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52</a:t>
                      </a:r>
                      <a:r>
                        <a:rPr lang="ja-JP" altLang="en-US" sz="900" b="1" i="0" u="none" strike="noStrike" dirty="0">
                          <a:solidFill>
                            <a:srgbClr val="FF0000"/>
                          </a:solidFill>
                          <a:effectLst/>
                          <a:latin typeface="Meiryo UI" panose="020B0604030504040204" pitchFamily="50" charset="-128"/>
                          <a:ea typeface="Meiryo UI" panose="020B0604030504040204" pitchFamily="50" charset="-128"/>
                        </a:rPr>
                        <a:t>％</a:t>
                      </a:r>
                      <a:br>
                        <a:rPr lang="ja-JP" altLang="en-US" sz="900" b="1" i="0" u="none" strike="noStrike" dirty="0">
                          <a:solidFill>
                            <a:srgbClr val="FF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＞希望に合えば：</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48</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3</a:t>
                      </a:r>
                      <a:r>
                        <a:rPr lang="ja-JP" altLang="en-US" sz="900" b="1" i="0" u="none" strike="noStrike" dirty="0">
                          <a:solidFill>
                            <a:srgbClr val="FF0000"/>
                          </a:solidFill>
                          <a:effectLst/>
                          <a:latin typeface="Meiryo UI" panose="020B0604030504040204" pitchFamily="50" charset="-128"/>
                          <a:ea typeface="Meiryo UI" panose="020B0604030504040204" pitchFamily="50" charset="-128"/>
                        </a:rPr>
                        <a:t>ヶ月以内：</a:t>
                      </a: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42</a:t>
                      </a:r>
                      <a:r>
                        <a:rPr lang="ja-JP" altLang="en-US" sz="900" b="1" i="0" u="none" strike="noStrike" dirty="0">
                          <a:solidFill>
                            <a:srgbClr val="FF0000"/>
                          </a:solidFill>
                          <a:effectLst/>
                          <a:latin typeface="Meiryo UI" panose="020B0604030504040204" pitchFamily="50" charset="-128"/>
                          <a:ea typeface="Meiryo UI" panose="020B0604030504040204" pitchFamily="50" charset="-128"/>
                        </a:rPr>
                        <a:t>％</a:t>
                      </a:r>
                      <a:br>
                        <a:rPr lang="ja-JP" altLang="en-US" sz="900" b="1" i="0" u="none" strike="noStrike" dirty="0">
                          <a:solidFill>
                            <a:srgbClr val="FF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＞明確な時期は無い：</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23</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4</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ヶ月月以内：</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22</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＞半年以上先：</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13</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ja-JP" altLang="en-US" sz="900" b="1" i="0" u="none" strike="noStrike" dirty="0">
                          <a:solidFill>
                            <a:srgbClr val="FF0000"/>
                          </a:solidFill>
                          <a:effectLst/>
                          <a:latin typeface="Meiryo UI" panose="020B0604030504040204" pitchFamily="50" charset="-128"/>
                          <a:ea typeface="Meiryo UI" panose="020B0604030504040204" pitchFamily="50" charset="-128"/>
                        </a:rPr>
                        <a:t>０回：</a:t>
                      </a: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29</a:t>
                      </a:r>
                      <a:r>
                        <a:rPr lang="ja-JP" altLang="en-US" sz="900" b="1" i="0" u="none" strike="noStrike" dirty="0">
                          <a:solidFill>
                            <a:srgbClr val="FF0000"/>
                          </a:solidFill>
                          <a:effectLst/>
                          <a:latin typeface="Meiryo UI" panose="020B0604030504040204" pitchFamily="50" charset="-128"/>
                          <a:ea typeface="Meiryo UI" panose="020B0604030504040204" pitchFamily="50" charset="-128"/>
                        </a:rPr>
                        <a:t>％</a:t>
                      </a:r>
                      <a:br>
                        <a:rPr lang="ja-JP" altLang="en-US" sz="900" b="1" i="0" u="none" strike="noStrike" dirty="0">
                          <a:solidFill>
                            <a:srgbClr val="FF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28</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4</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26</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1.88</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40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43</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36</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20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21</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37.3</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3596647503"/>
                  </a:ext>
                </a:extLst>
              </a:tr>
              <a:tr h="729393">
                <a:tc vMerge="1">
                  <a:txBody>
                    <a:bodyPr/>
                    <a:lstStyle/>
                    <a:p>
                      <a:endParaRPr kumimoji="1" lang="ja-JP" altLang="en-US"/>
                    </a:p>
                  </a:txBody>
                  <a:tcPr/>
                </a:tc>
                <a:tc>
                  <a:txBody>
                    <a:bodyPr/>
                    <a:lstStyle/>
                    <a:p>
                      <a:pPr algn="ctr" fontAlgn="ctr"/>
                      <a:r>
                        <a:rPr lang="ja-JP" altLang="en-US" sz="900" b="1" i="0" u="none" strike="noStrike" dirty="0">
                          <a:solidFill>
                            <a:srgbClr val="000000"/>
                          </a:solidFill>
                          <a:effectLst/>
                          <a:latin typeface="Meiryo UI" panose="020B0604030504040204" pitchFamily="50" charset="-128"/>
                          <a:ea typeface="Meiryo UI" panose="020B0604030504040204" pitchFamily="50" charset="-128"/>
                        </a:rPr>
                        <a:t>面談実施あり</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41</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400-599</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39%</a:t>
                      </a:r>
                      <a:br>
                        <a:rPr lang="en-US" altLang="ja-JP"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300-399</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30%</a:t>
                      </a:r>
                      <a:br>
                        <a:rPr lang="en-US" altLang="ja-JP"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300</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未満：</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21%</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424.6</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企画・管理：</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26</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＞事務：</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20</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＞営業：</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15</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必ず転職したい：</a:t>
                      </a:r>
                      <a:r>
                        <a:rPr lang="en-US" altLang="ja-JP" sz="900" b="0" i="0" u="none" strike="noStrike">
                          <a:solidFill>
                            <a:srgbClr val="000000"/>
                          </a:solidFill>
                          <a:effectLst/>
                          <a:latin typeface="Meiryo UI" panose="020B0604030504040204" pitchFamily="50" charset="-128"/>
                          <a:ea typeface="Meiryo UI" panose="020B0604030504040204" pitchFamily="50" charset="-128"/>
                        </a:rPr>
                        <a:t>52</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＞希望に合えば：</a:t>
                      </a:r>
                      <a:r>
                        <a:rPr lang="en-US" altLang="ja-JP" sz="900" b="0" i="0" u="none" strike="noStrike">
                          <a:solidFill>
                            <a:srgbClr val="000000"/>
                          </a:solidFill>
                          <a:effectLst/>
                          <a:latin typeface="Meiryo UI" panose="020B0604030504040204" pitchFamily="50" charset="-128"/>
                          <a:ea typeface="Meiryo UI" panose="020B0604030504040204" pitchFamily="50" charset="-128"/>
                        </a:rPr>
                        <a:t>47</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a:t>
                      </a:r>
                      <a:r>
                        <a:rPr lang="ja-JP" altLang="en-US" sz="900" b="0" i="0" u="none" strike="noStrike">
                          <a:solidFill>
                            <a:srgbClr val="000000"/>
                          </a:solidFill>
                          <a:effectLst/>
                          <a:latin typeface="Meiryo UI" panose="020B0604030504040204" pitchFamily="50" charset="-128"/>
                          <a:ea typeface="Meiryo UI" panose="020B0604030504040204" pitchFamily="50" charset="-128"/>
                        </a:rPr>
                        <a:t>ヶ月以内：</a:t>
                      </a:r>
                      <a:r>
                        <a:rPr lang="en-US" altLang="ja-JP" sz="900" b="0" i="0" u="none" strike="noStrike">
                          <a:solidFill>
                            <a:srgbClr val="000000"/>
                          </a:solidFill>
                          <a:effectLst/>
                          <a:latin typeface="Meiryo UI" panose="020B0604030504040204" pitchFamily="50" charset="-128"/>
                          <a:ea typeface="Meiryo UI" panose="020B0604030504040204" pitchFamily="50" charset="-128"/>
                        </a:rPr>
                        <a:t>49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a:t>
                      </a:r>
                      <a:r>
                        <a:rPr lang="ja-JP" altLang="en-US" sz="900" b="0" i="0" u="none" strike="noStrike">
                          <a:solidFill>
                            <a:srgbClr val="000000"/>
                          </a:solidFill>
                          <a:effectLst/>
                          <a:latin typeface="Meiryo UI" panose="020B0604030504040204" pitchFamily="50" charset="-128"/>
                          <a:ea typeface="Meiryo UI" panose="020B0604030504040204" pitchFamily="50" charset="-128"/>
                        </a:rPr>
                        <a:t>ヶ月月以内：</a:t>
                      </a:r>
                      <a:r>
                        <a:rPr lang="en-US" altLang="ja-JP" sz="900" b="0" i="0" u="none" strike="noStrike">
                          <a:solidFill>
                            <a:srgbClr val="000000"/>
                          </a:solidFill>
                          <a:effectLst/>
                          <a:latin typeface="Meiryo UI" panose="020B0604030504040204" pitchFamily="50" charset="-128"/>
                          <a:ea typeface="Meiryo UI" panose="020B0604030504040204" pitchFamily="50" charset="-128"/>
                        </a:rPr>
                        <a:t>24</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＞明確な時期は無い：</a:t>
                      </a:r>
                      <a:r>
                        <a:rPr lang="en-US" altLang="ja-JP" sz="900" b="0" i="0" u="none" strike="noStrike">
                          <a:solidFill>
                            <a:srgbClr val="000000"/>
                          </a:solidFill>
                          <a:effectLst/>
                          <a:latin typeface="Meiryo UI" panose="020B0604030504040204" pitchFamily="50" charset="-128"/>
                          <a:ea typeface="Meiryo UI" panose="020B0604030504040204" pitchFamily="50" charset="-128"/>
                        </a:rPr>
                        <a:t>14</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＞半年以上先：</a:t>
                      </a:r>
                      <a:r>
                        <a:rPr lang="en-US" altLang="ja-JP" sz="900" b="0" i="0" u="none" strike="noStrike">
                          <a:solidFill>
                            <a:srgbClr val="000000"/>
                          </a:solidFill>
                          <a:effectLst/>
                          <a:latin typeface="Meiryo UI" panose="020B0604030504040204" pitchFamily="50" charset="-128"/>
                          <a:ea typeface="Meiryo UI" panose="020B0604030504040204" pitchFamily="50" charset="-128"/>
                        </a:rPr>
                        <a:t>14</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2</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a:t>
                      </a:r>
                      <a:r>
                        <a:rPr lang="ja-JP" altLang="en-US" sz="900" b="0" i="0" u="none" strike="noStrike">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a:solidFill>
                            <a:srgbClr val="000000"/>
                          </a:solidFill>
                          <a:effectLst/>
                          <a:latin typeface="Meiryo UI" panose="020B0604030504040204" pitchFamily="50" charset="-128"/>
                          <a:ea typeface="Meiryo UI" panose="020B0604030504040204" pitchFamily="50" charset="-128"/>
                        </a:rPr>
                        <a:t>37</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＞０回：</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1</a:t>
                      </a:r>
                      <a:r>
                        <a:rPr lang="ja-JP" altLang="en-US" sz="900" b="0" i="0" u="none" strike="noStrike">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a:solidFill>
                            <a:srgbClr val="000000"/>
                          </a:solidFill>
                          <a:effectLst/>
                          <a:latin typeface="Meiryo UI" panose="020B0604030504040204" pitchFamily="50" charset="-128"/>
                          <a:ea typeface="Meiryo UI" panose="020B0604030504040204" pitchFamily="50" charset="-128"/>
                        </a:rPr>
                        <a:t>19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1.98</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43</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20</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31</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40</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25</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34.4</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2684429593"/>
                  </a:ext>
                </a:extLst>
              </a:tr>
              <a:tr h="706393">
                <a:tc vMerge="1">
                  <a:txBody>
                    <a:bodyPr/>
                    <a:lstStyle/>
                    <a:p>
                      <a:endParaRPr kumimoji="1" lang="ja-JP" altLang="en-US"/>
                    </a:p>
                  </a:txBody>
                  <a:tcPr/>
                </a:tc>
                <a:tc>
                  <a:txBody>
                    <a:bodyPr/>
                    <a:lstStyle/>
                    <a:p>
                      <a:pPr algn="ctr" fontAlgn="ctr"/>
                      <a:r>
                        <a:rPr lang="ja-JP" altLang="en-US" sz="900" b="1" i="0" u="none" strike="noStrike" dirty="0">
                          <a:solidFill>
                            <a:srgbClr val="000000"/>
                          </a:solidFill>
                          <a:effectLst/>
                          <a:latin typeface="Meiryo UI" panose="020B0604030504040204" pitchFamily="50" charset="-128"/>
                          <a:ea typeface="Meiryo UI" panose="020B0604030504040204" pitchFamily="50" charset="-128"/>
                        </a:rPr>
                        <a:t>面談実施なし</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84</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400-599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45%</a:t>
                      </a:r>
                      <a:br>
                        <a:rPr lang="en-US" altLang="ja-JP"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300</a:t>
                      </a:r>
                      <a:r>
                        <a:rPr lang="ja-JP" altLang="en-US" sz="900" b="0" i="0" u="none" strike="noStrike">
                          <a:solidFill>
                            <a:srgbClr val="000000"/>
                          </a:solidFill>
                          <a:effectLst/>
                          <a:latin typeface="Meiryo UI" panose="020B0604030504040204" pitchFamily="50" charset="-128"/>
                          <a:ea typeface="Meiryo UI" panose="020B0604030504040204" pitchFamily="50" charset="-128"/>
                        </a:rPr>
                        <a:t>未満：</a:t>
                      </a:r>
                      <a:r>
                        <a:rPr lang="en-US" altLang="ja-JP" sz="900" b="0" i="0" u="none" strike="noStrike">
                          <a:solidFill>
                            <a:srgbClr val="000000"/>
                          </a:solidFill>
                          <a:effectLst/>
                          <a:latin typeface="Meiryo UI" panose="020B0604030504040204" pitchFamily="50" charset="-128"/>
                          <a:ea typeface="Meiryo UI" panose="020B0604030504040204" pitchFamily="50" charset="-128"/>
                        </a:rPr>
                        <a:t>28%</a:t>
                      </a:r>
                      <a:br>
                        <a:rPr lang="en-US" altLang="ja-JP"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600-799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10%</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459.3</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専門：</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27</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＞企画・管理：</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25</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＞事務：</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14</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必ず転職したい：</a:t>
                      </a:r>
                      <a:r>
                        <a:rPr lang="en-US" altLang="ja-JP" sz="900" b="0" i="0" u="none" strike="noStrike">
                          <a:solidFill>
                            <a:srgbClr val="000000"/>
                          </a:solidFill>
                          <a:effectLst/>
                          <a:latin typeface="Meiryo UI" panose="020B0604030504040204" pitchFamily="50" charset="-128"/>
                          <a:ea typeface="Meiryo UI" panose="020B0604030504040204" pitchFamily="50" charset="-128"/>
                        </a:rPr>
                        <a:t>52</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＞希望に合えば：</a:t>
                      </a:r>
                      <a:r>
                        <a:rPr lang="en-US" altLang="ja-JP" sz="900" b="0" i="0" u="none" strike="noStrike">
                          <a:solidFill>
                            <a:srgbClr val="000000"/>
                          </a:solidFill>
                          <a:effectLst/>
                          <a:latin typeface="Meiryo UI" panose="020B0604030504040204" pitchFamily="50" charset="-128"/>
                          <a:ea typeface="Meiryo UI" panose="020B0604030504040204" pitchFamily="50" charset="-128"/>
                        </a:rPr>
                        <a:t>48</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a:t>
                      </a:r>
                      <a:r>
                        <a:rPr lang="ja-JP" altLang="en-US" sz="900" b="0" i="0" u="none" strike="noStrike">
                          <a:solidFill>
                            <a:srgbClr val="000000"/>
                          </a:solidFill>
                          <a:effectLst/>
                          <a:latin typeface="Meiryo UI" panose="020B0604030504040204" pitchFamily="50" charset="-128"/>
                          <a:ea typeface="Meiryo UI" panose="020B0604030504040204" pitchFamily="50" charset="-128"/>
                        </a:rPr>
                        <a:t>ヶ月以内：</a:t>
                      </a:r>
                      <a:r>
                        <a:rPr lang="en-US" altLang="ja-JP" sz="900" b="0" i="0" u="none" strike="noStrike">
                          <a:solidFill>
                            <a:srgbClr val="000000"/>
                          </a:solidFill>
                          <a:effectLst/>
                          <a:latin typeface="Meiryo UI" panose="020B0604030504040204" pitchFamily="50" charset="-128"/>
                          <a:ea typeface="Meiryo UI" panose="020B0604030504040204" pitchFamily="50" charset="-128"/>
                        </a:rPr>
                        <a:t>39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＞明確な時期は無い：</a:t>
                      </a:r>
                      <a:r>
                        <a:rPr lang="en-US" altLang="ja-JP" sz="900" b="0" i="0" u="none" strike="noStrike">
                          <a:solidFill>
                            <a:srgbClr val="000000"/>
                          </a:solidFill>
                          <a:effectLst/>
                          <a:latin typeface="Meiryo UI" panose="020B0604030504040204" pitchFamily="50" charset="-128"/>
                          <a:ea typeface="Meiryo UI" panose="020B0604030504040204" pitchFamily="50" charset="-128"/>
                        </a:rPr>
                        <a:t>28</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a:t>
                      </a:r>
                      <a:r>
                        <a:rPr lang="ja-JP" altLang="en-US" sz="900" b="0" i="0" u="none" strike="noStrike">
                          <a:solidFill>
                            <a:srgbClr val="000000"/>
                          </a:solidFill>
                          <a:effectLst/>
                          <a:latin typeface="Meiryo UI" panose="020B0604030504040204" pitchFamily="50" charset="-128"/>
                          <a:ea typeface="Meiryo UI" panose="020B0604030504040204" pitchFamily="50" charset="-128"/>
                        </a:rPr>
                        <a:t>ヶ月月以内：</a:t>
                      </a:r>
                      <a:r>
                        <a:rPr lang="en-US" altLang="ja-JP" sz="900" b="0" i="0" u="none" strike="noStrike">
                          <a:solidFill>
                            <a:srgbClr val="000000"/>
                          </a:solidFill>
                          <a:effectLst/>
                          <a:latin typeface="Meiryo UI" panose="020B0604030504040204" pitchFamily="50" charset="-128"/>
                          <a:ea typeface="Meiryo UI" panose="020B0604030504040204" pitchFamily="50" charset="-128"/>
                        </a:rPr>
                        <a:t>21</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＞半年以上先：</a:t>
                      </a:r>
                      <a:r>
                        <a:rPr lang="en-US" altLang="ja-JP" sz="900" b="0" i="0" u="none" strike="noStrike">
                          <a:solidFill>
                            <a:srgbClr val="000000"/>
                          </a:solidFill>
                          <a:effectLst/>
                          <a:latin typeface="Meiryo UI" panose="020B0604030504040204" pitchFamily="50" charset="-128"/>
                          <a:ea typeface="Meiryo UI" panose="020B0604030504040204" pitchFamily="50" charset="-128"/>
                        </a:rPr>
                        <a:t>13</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1</a:t>
                      </a:r>
                      <a:r>
                        <a:rPr lang="ja-JP" altLang="en-US" sz="900" b="0" i="0" u="none" strike="noStrike">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a:solidFill>
                            <a:srgbClr val="000000"/>
                          </a:solidFill>
                          <a:effectLst/>
                          <a:latin typeface="Meiryo UI" panose="020B0604030504040204" pitchFamily="50" charset="-128"/>
                          <a:ea typeface="Meiryo UI" panose="020B0604030504040204" pitchFamily="50" charset="-128"/>
                        </a:rPr>
                        <a:t>33</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en-US" altLang="ja-JP" sz="900" b="0" i="0" u="none" strike="noStrike">
                          <a:solidFill>
                            <a:srgbClr val="000000"/>
                          </a:solidFill>
                          <a:effectLst/>
                          <a:latin typeface="Meiryo UI" panose="020B0604030504040204" pitchFamily="50" charset="-128"/>
                          <a:ea typeface="Meiryo UI" panose="020B0604030504040204" pitchFamily="50" charset="-128"/>
                        </a:rPr>
                        <a:t>&gt;0</a:t>
                      </a:r>
                      <a:r>
                        <a:rPr lang="ja-JP" altLang="en-US" sz="900" b="0" i="0" u="none" strike="noStrike">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a:solidFill>
                            <a:srgbClr val="000000"/>
                          </a:solidFill>
                          <a:effectLst/>
                          <a:latin typeface="Meiryo UI" panose="020B0604030504040204" pitchFamily="50" charset="-128"/>
                          <a:ea typeface="Meiryo UI" panose="020B0604030504040204" pitchFamily="50" charset="-128"/>
                        </a:rPr>
                        <a:t>29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en-US" altLang="ja-JP" sz="900" b="0" i="0" u="none" strike="noStrike">
                          <a:solidFill>
                            <a:srgbClr val="000000"/>
                          </a:solidFill>
                          <a:effectLst/>
                          <a:latin typeface="Meiryo UI" panose="020B0604030504040204" pitchFamily="50" charset="-128"/>
                          <a:ea typeface="Meiryo UI" panose="020B0604030504040204" pitchFamily="50" charset="-128"/>
                        </a:rPr>
                        <a:t>&gt;2~4</a:t>
                      </a:r>
                      <a:r>
                        <a:rPr lang="ja-JP" altLang="en-US" sz="900" b="0" i="0" u="none" strike="noStrike">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a:solidFill>
                            <a:srgbClr val="000000"/>
                          </a:solidFill>
                          <a:effectLst/>
                          <a:latin typeface="Meiryo UI" panose="020B0604030504040204" pitchFamily="50" charset="-128"/>
                          <a:ea typeface="Meiryo UI" panose="020B0604030504040204" pitchFamily="50" charset="-128"/>
                        </a:rPr>
                        <a:t>21</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1.83</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40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52</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32</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20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15</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38.7</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9728436"/>
                  </a:ext>
                </a:extLst>
              </a:tr>
              <a:tr h="729393">
                <a:tc rowSpan="3">
                  <a:txBody>
                    <a:bodyPr/>
                    <a:lstStyle/>
                    <a:p>
                      <a:pPr algn="ctr" fontAlgn="ctr"/>
                      <a:r>
                        <a:rPr lang="ja-JP" altLang="en-US" sz="900" b="1" i="0" u="none" strike="noStrike" dirty="0">
                          <a:solidFill>
                            <a:srgbClr val="000000"/>
                          </a:solidFill>
                          <a:effectLst/>
                          <a:latin typeface="Meiryo UI" panose="020B0604030504040204" pitchFamily="50" charset="-128"/>
                          <a:ea typeface="Meiryo UI" panose="020B0604030504040204" pitchFamily="50" charset="-128"/>
                        </a:rPr>
                        <a:t>面談希望なし</a:t>
                      </a:r>
                      <a:r>
                        <a:rPr lang="en-US" altLang="ja-JP" sz="900" b="1" i="0" u="none" strike="noStrike" dirty="0">
                          <a:solidFill>
                            <a:srgbClr val="000000"/>
                          </a:solidFill>
                          <a:effectLst/>
                          <a:latin typeface="Meiryo UI" panose="020B0604030504040204" pitchFamily="50" charset="-128"/>
                          <a:ea typeface="Meiryo UI" panose="020B0604030504040204" pitchFamily="50" charset="-128"/>
                        </a:rPr>
                        <a:t>/</a:t>
                      </a:r>
                      <a:br>
                        <a:rPr lang="en-US" altLang="ja-JP" sz="900" b="1"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1" i="0" u="none" strike="noStrike" dirty="0">
                          <a:solidFill>
                            <a:srgbClr val="000000"/>
                          </a:solidFill>
                          <a:effectLst/>
                          <a:latin typeface="Meiryo UI" panose="020B0604030504040204" pitchFamily="50" charset="-128"/>
                          <a:ea typeface="Meiryo UI" panose="020B0604030504040204" pitchFamily="50" charset="-128"/>
                        </a:rPr>
                        <a:t>どちらともいえない</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ja-JP" altLang="en-US" sz="900" b="1" i="0" u="none" strike="noStrike" dirty="0">
                          <a:solidFill>
                            <a:srgbClr val="000000"/>
                          </a:solidFill>
                          <a:effectLst/>
                          <a:latin typeface="Meiryo UI" panose="020B0604030504040204" pitchFamily="50" charset="-128"/>
                          <a:ea typeface="Meiryo UI" panose="020B0604030504040204" pitchFamily="50" charset="-128"/>
                        </a:rPr>
                        <a:t>合計</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186</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300-399</a:t>
                      </a:r>
                      <a:r>
                        <a:rPr lang="ja-JP" altLang="en-US" sz="900" b="1" i="0" u="none" strike="noStrike" dirty="0">
                          <a:solidFill>
                            <a:srgbClr val="FF0000"/>
                          </a:solidFill>
                          <a:effectLst/>
                          <a:latin typeface="Meiryo UI" panose="020B0604030504040204" pitchFamily="50" charset="-128"/>
                          <a:ea typeface="Meiryo UI" panose="020B0604030504040204" pitchFamily="50" charset="-128"/>
                        </a:rPr>
                        <a:t>：</a:t>
                      </a: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39%</a:t>
                      </a:r>
                      <a:br>
                        <a:rPr lang="en-US" altLang="ja-JP" sz="900" b="1" i="0" u="none" strike="noStrike" dirty="0">
                          <a:solidFill>
                            <a:srgbClr val="FF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400-599</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29%</a:t>
                      </a:r>
                      <a:br>
                        <a:rPr lang="en-US" altLang="ja-JP"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300</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未満：</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21%</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400.2</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企画・管理：</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20</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＞事務：</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18</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1" i="0" u="none" strike="noStrike" dirty="0">
                          <a:solidFill>
                            <a:srgbClr val="FF0000"/>
                          </a:solidFill>
                          <a:effectLst/>
                          <a:latin typeface="Meiryo UI" panose="020B0604030504040204" pitchFamily="50" charset="-128"/>
                          <a:ea typeface="Meiryo UI" panose="020B0604030504040204" pitchFamily="50" charset="-128"/>
                        </a:rPr>
                        <a:t>＞営業：</a:t>
                      </a: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17</a:t>
                      </a:r>
                      <a:r>
                        <a:rPr lang="ja-JP" altLang="en-US" sz="900" b="1" i="0" u="none" strike="noStrike" dirty="0">
                          <a:solidFill>
                            <a:srgbClr val="FF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ja-JP" altLang="en-US" sz="900" b="1" i="0" u="none" strike="noStrike" dirty="0">
                          <a:solidFill>
                            <a:srgbClr val="FF0000"/>
                          </a:solidFill>
                          <a:effectLst/>
                          <a:latin typeface="Meiryo UI" panose="020B0604030504040204" pitchFamily="50" charset="-128"/>
                          <a:ea typeface="Meiryo UI" panose="020B0604030504040204" pitchFamily="50" charset="-128"/>
                        </a:rPr>
                        <a:t>希望に合えば：</a:t>
                      </a: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69</a:t>
                      </a:r>
                      <a:r>
                        <a:rPr lang="ja-JP" altLang="en-US" sz="900" b="1" i="0" u="none" strike="noStrike" dirty="0">
                          <a:solidFill>
                            <a:srgbClr val="FF0000"/>
                          </a:solidFill>
                          <a:effectLst/>
                          <a:latin typeface="Meiryo UI" panose="020B0604030504040204" pitchFamily="50" charset="-128"/>
                          <a:ea typeface="Meiryo UI" panose="020B0604030504040204" pitchFamily="50" charset="-128"/>
                        </a:rPr>
                        <a:t>％</a:t>
                      </a:r>
                      <a:br>
                        <a:rPr lang="ja-JP" altLang="en-US" sz="900" b="1" i="0" u="none" strike="noStrike" dirty="0">
                          <a:solidFill>
                            <a:srgbClr val="FF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＞必ず転職したい：</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29</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3</a:t>
                      </a:r>
                      <a:r>
                        <a:rPr lang="ja-JP" altLang="en-US" sz="900" b="1" i="0" u="none" strike="noStrike" dirty="0">
                          <a:solidFill>
                            <a:srgbClr val="FF0000"/>
                          </a:solidFill>
                          <a:effectLst/>
                          <a:latin typeface="Meiryo UI" panose="020B0604030504040204" pitchFamily="50" charset="-128"/>
                          <a:ea typeface="Meiryo UI" panose="020B0604030504040204" pitchFamily="50" charset="-128"/>
                        </a:rPr>
                        <a:t>ヶ月以内：</a:t>
                      </a: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30</a:t>
                      </a:r>
                      <a:r>
                        <a:rPr lang="ja-JP" altLang="en-US" sz="900" b="1" i="0" u="none" strike="noStrike" dirty="0">
                          <a:solidFill>
                            <a:srgbClr val="FF0000"/>
                          </a:solidFill>
                          <a:effectLst/>
                          <a:latin typeface="Meiryo UI" panose="020B0604030504040204" pitchFamily="50" charset="-128"/>
                          <a:ea typeface="Meiryo UI" panose="020B0604030504040204" pitchFamily="50" charset="-128"/>
                        </a:rPr>
                        <a:t>％</a:t>
                      </a:r>
                      <a:br>
                        <a:rPr lang="ja-JP" altLang="en-US" sz="900" b="1" i="0" u="none" strike="noStrike" dirty="0">
                          <a:solidFill>
                            <a:srgbClr val="FF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＞明確な時期は無い：</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26</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4</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ヶ月月以内：</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25</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＞半年以上先：</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18</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0</a:t>
                      </a:r>
                      <a:r>
                        <a:rPr lang="ja-JP" altLang="en-US" sz="900" b="1" i="0" u="none" strike="noStrike" dirty="0">
                          <a:solidFill>
                            <a:srgbClr val="FF0000"/>
                          </a:solidFill>
                          <a:effectLst/>
                          <a:latin typeface="Meiryo UI" panose="020B0604030504040204" pitchFamily="50" charset="-128"/>
                          <a:ea typeface="Meiryo UI" panose="020B0604030504040204" pitchFamily="50" charset="-128"/>
                        </a:rPr>
                        <a:t>回：</a:t>
                      </a: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40</a:t>
                      </a:r>
                      <a:r>
                        <a:rPr lang="ja-JP" altLang="en-US" sz="900" b="1" i="0" u="none" strike="noStrike" dirty="0">
                          <a:solidFill>
                            <a:srgbClr val="FF0000"/>
                          </a:solidFill>
                          <a:effectLst/>
                          <a:latin typeface="Meiryo UI" panose="020B0604030504040204" pitchFamily="50" charset="-128"/>
                          <a:ea typeface="Meiryo UI" panose="020B0604030504040204" pitchFamily="50" charset="-128"/>
                        </a:rPr>
                        <a:t>％</a:t>
                      </a:r>
                      <a:br>
                        <a:rPr lang="ja-JP" altLang="en-US" sz="900" b="1" i="0" u="none" strike="noStrike" dirty="0">
                          <a:solidFill>
                            <a:srgbClr val="FF0000"/>
                          </a:solidFill>
                          <a:effectLst/>
                          <a:latin typeface="Meiryo UI" panose="020B0604030504040204" pitchFamily="50" charset="-128"/>
                          <a:ea typeface="Meiryo UI" panose="020B0604030504040204" pitchFamily="50" charset="-128"/>
                        </a:rPr>
                      </a:b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&gt;2~4</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31</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&gt;1</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16</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1.73</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47</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20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23</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35.7</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4091141054"/>
                  </a:ext>
                </a:extLst>
              </a:tr>
              <a:tr h="729393">
                <a:tc vMerge="1">
                  <a:txBody>
                    <a:bodyPr/>
                    <a:lstStyle/>
                    <a:p>
                      <a:endParaRPr kumimoji="1" lang="ja-JP" altLang="en-US"/>
                    </a:p>
                  </a:txBody>
                  <a:tcPr/>
                </a:tc>
                <a:tc>
                  <a:txBody>
                    <a:bodyPr/>
                    <a:lstStyle/>
                    <a:p>
                      <a:pPr algn="ctr" fontAlgn="ctr"/>
                      <a:r>
                        <a:rPr lang="ja-JP" altLang="en-US" sz="900" b="1" i="0" u="none" strike="noStrike" dirty="0">
                          <a:solidFill>
                            <a:srgbClr val="000000"/>
                          </a:solidFill>
                          <a:effectLst/>
                          <a:latin typeface="Meiryo UI" panose="020B0604030504040204" pitchFamily="50" charset="-128"/>
                          <a:ea typeface="Meiryo UI" panose="020B0604030504040204" pitchFamily="50" charset="-128"/>
                        </a:rPr>
                        <a:t>面談実施あり</a:t>
                      </a:r>
                      <a:br>
                        <a:rPr lang="ja-JP" altLang="en-US" sz="900" b="1" i="0" u="none" strike="noStrike" dirty="0">
                          <a:solidFill>
                            <a:srgbClr val="000000"/>
                          </a:solidFill>
                          <a:effectLst/>
                          <a:latin typeface="Meiryo UI" panose="020B0604030504040204" pitchFamily="50" charset="-128"/>
                          <a:ea typeface="Meiryo UI" panose="020B0604030504040204" pitchFamily="50" charset="-128"/>
                        </a:rPr>
                      </a:br>
                      <a:r>
                        <a:rPr lang="en-US" altLang="ja-JP" sz="600" b="1" i="0" u="none" strike="noStrike" dirty="0">
                          <a:solidFill>
                            <a:srgbClr val="000000"/>
                          </a:solidFill>
                          <a:effectLst/>
                          <a:latin typeface="Meiryo UI" panose="020B0604030504040204" pitchFamily="50" charset="-128"/>
                          <a:ea typeface="Meiryo UI" panose="020B0604030504040204" pitchFamily="50" charset="-128"/>
                        </a:rPr>
                        <a:t>※N</a:t>
                      </a:r>
                      <a:r>
                        <a:rPr lang="ja-JP" altLang="en-US" sz="600" b="1" i="0" u="none" strike="noStrike" dirty="0">
                          <a:solidFill>
                            <a:srgbClr val="000000"/>
                          </a:solidFill>
                          <a:effectLst/>
                          <a:latin typeface="Meiryo UI" panose="020B0604030504040204" pitchFamily="50" charset="-128"/>
                          <a:ea typeface="Meiryo UI" panose="020B0604030504040204" pitchFamily="50" charset="-128"/>
                        </a:rPr>
                        <a:t>少ないため</a:t>
                      </a:r>
                      <a:endParaRPr lang="en-US" altLang="ja-JP" sz="600" b="1" i="0" u="none" strike="noStrike" dirty="0">
                        <a:solidFill>
                          <a:srgbClr val="000000"/>
                        </a:solidFill>
                        <a:effectLst/>
                        <a:latin typeface="Meiryo UI" panose="020B0604030504040204" pitchFamily="50" charset="-128"/>
                        <a:ea typeface="Meiryo UI" panose="020B0604030504040204" pitchFamily="50" charset="-128"/>
                      </a:endParaRPr>
                    </a:p>
                    <a:p>
                      <a:pPr algn="ctr" fontAlgn="ctr"/>
                      <a:r>
                        <a:rPr lang="ja-JP" altLang="en-US" sz="600" b="1" i="0" u="none" strike="noStrike" dirty="0">
                          <a:solidFill>
                            <a:srgbClr val="000000"/>
                          </a:solidFill>
                          <a:effectLst/>
                          <a:latin typeface="Meiryo UI" panose="020B0604030504040204" pitchFamily="50" charset="-128"/>
                          <a:ea typeface="Meiryo UI" panose="020B0604030504040204" pitchFamily="50" charset="-128"/>
                        </a:rPr>
                        <a:t>参考値</a:t>
                      </a:r>
                      <a:endParaRPr lang="ja-JP" altLang="en-US" sz="900" b="1" i="0" u="none" strike="noStrike" dirty="0">
                        <a:solidFill>
                          <a:srgbClr val="000000"/>
                        </a:solidFill>
                        <a:effectLst/>
                        <a:latin typeface="Meiryo UI" panose="020B0604030504040204" pitchFamily="50" charset="-128"/>
                        <a:ea typeface="Meiryo UI" panose="020B0604030504040204" pitchFamily="50" charset="-128"/>
                      </a:endParaRP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11</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300-399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39%</a:t>
                      </a:r>
                      <a:br>
                        <a:rPr lang="en-US" altLang="ja-JP"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400-599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29%</a:t>
                      </a:r>
                      <a:br>
                        <a:rPr lang="en-US" altLang="ja-JP"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300</a:t>
                      </a:r>
                      <a:r>
                        <a:rPr lang="ja-JP" altLang="en-US" sz="900" b="0" i="0" u="none" strike="noStrike">
                          <a:solidFill>
                            <a:srgbClr val="000000"/>
                          </a:solidFill>
                          <a:effectLst/>
                          <a:latin typeface="Meiryo UI" panose="020B0604030504040204" pitchFamily="50" charset="-128"/>
                          <a:ea typeface="Meiryo UI" panose="020B0604030504040204" pitchFamily="50" charset="-128"/>
                        </a:rPr>
                        <a:t>未満：</a:t>
                      </a:r>
                      <a:r>
                        <a:rPr lang="en-US" altLang="ja-JP" sz="900" b="0" i="0" u="none" strike="noStrike">
                          <a:solidFill>
                            <a:srgbClr val="000000"/>
                          </a:solidFill>
                          <a:effectLst/>
                          <a:latin typeface="Meiryo UI" panose="020B0604030504040204" pitchFamily="50" charset="-128"/>
                          <a:ea typeface="Meiryo UI" panose="020B0604030504040204" pitchFamily="50" charset="-128"/>
                        </a:rPr>
                        <a:t>12%</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402.7</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企画・管理：</a:t>
                      </a:r>
                      <a:r>
                        <a:rPr lang="en-US" altLang="ja-JP" sz="900" b="0" i="0" u="none" strike="noStrike">
                          <a:solidFill>
                            <a:srgbClr val="000000"/>
                          </a:solidFill>
                          <a:effectLst/>
                          <a:latin typeface="Meiryo UI" panose="020B0604030504040204" pitchFamily="50" charset="-128"/>
                          <a:ea typeface="Meiryo UI" panose="020B0604030504040204" pitchFamily="50" charset="-128"/>
                        </a:rPr>
                        <a:t>25</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＞営業：</a:t>
                      </a:r>
                      <a:r>
                        <a:rPr lang="en-US" altLang="ja-JP" sz="900" b="0" i="0" u="none" strike="noStrike">
                          <a:solidFill>
                            <a:srgbClr val="000000"/>
                          </a:solidFill>
                          <a:effectLst/>
                          <a:latin typeface="Meiryo UI" panose="020B0604030504040204" pitchFamily="50" charset="-128"/>
                          <a:ea typeface="Meiryo UI" panose="020B0604030504040204" pitchFamily="50" charset="-128"/>
                        </a:rPr>
                        <a:t>23</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＞事務：</a:t>
                      </a:r>
                      <a:r>
                        <a:rPr lang="en-US" altLang="ja-JP" sz="900" b="0" i="0" u="none" strike="noStrike">
                          <a:solidFill>
                            <a:srgbClr val="000000"/>
                          </a:solidFill>
                          <a:effectLst/>
                          <a:latin typeface="Meiryo UI" panose="020B0604030504040204" pitchFamily="50" charset="-128"/>
                          <a:ea typeface="Meiryo UI" panose="020B0604030504040204" pitchFamily="50" charset="-128"/>
                        </a:rPr>
                        <a:t>12</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希望に合えば：</a:t>
                      </a:r>
                      <a:r>
                        <a:rPr lang="en-US" altLang="ja-JP" sz="900" b="0" i="0" u="none" strike="noStrike">
                          <a:solidFill>
                            <a:srgbClr val="000000"/>
                          </a:solidFill>
                          <a:effectLst/>
                          <a:latin typeface="Meiryo UI" panose="020B0604030504040204" pitchFamily="50" charset="-128"/>
                          <a:ea typeface="Meiryo UI" panose="020B0604030504040204" pitchFamily="50" charset="-128"/>
                        </a:rPr>
                        <a:t>70</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＞必ず転職したい：</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a:t>
                      </a:r>
                      <a:r>
                        <a:rPr lang="ja-JP" altLang="en-US" sz="900" b="0" i="0" u="none" strike="noStrike">
                          <a:solidFill>
                            <a:srgbClr val="000000"/>
                          </a:solidFill>
                          <a:effectLst/>
                          <a:latin typeface="Meiryo UI" panose="020B0604030504040204" pitchFamily="50" charset="-128"/>
                          <a:ea typeface="Meiryo UI" panose="020B0604030504040204" pitchFamily="50" charset="-128"/>
                        </a:rPr>
                        <a:t>ヶ月以内：</a:t>
                      </a:r>
                      <a:r>
                        <a:rPr lang="en-US" altLang="ja-JP" sz="900" b="0" i="0" u="none" strike="noStrike">
                          <a:solidFill>
                            <a:srgbClr val="000000"/>
                          </a:solidFill>
                          <a:effectLst/>
                          <a:latin typeface="Meiryo UI" panose="020B0604030504040204" pitchFamily="50" charset="-128"/>
                          <a:ea typeface="Meiryo UI" panose="020B0604030504040204" pitchFamily="50" charset="-128"/>
                        </a:rPr>
                        <a:t>31</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a:t>
                      </a:r>
                      <a:r>
                        <a:rPr lang="ja-JP" altLang="en-US" sz="900" b="0" i="0" u="none" strike="noStrike">
                          <a:solidFill>
                            <a:srgbClr val="000000"/>
                          </a:solidFill>
                          <a:effectLst/>
                          <a:latin typeface="Meiryo UI" panose="020B0604030504040204" pitchFamily="50" charset="-128"/>
                          <a:ea typeface="Meiryo UI" panose="020B0604030504040204" pitchFamily="50" charset="-128"/>
                        </a:rPr>
                        <a:t>ヶ月月以内：</a:t>
                      </a:r>
                      <a:r>
                        <a:rPr lang="en-US" altLang="ja-JP" sz="900" b="0" i="0" u="none" strike="noStrike">
                          <a:solidFill>
                            <a:srgbClr val="000000"/>
                          </a:solidFill>
                          <a:effectLst/>
                          <a:latin typeface="Meiryo UI" panose="020B0604030504040204" pitchFamily="50" charset="-128"/>
                          <a:ea typeface="Meiryo UI" panose="020B0604030504040204" pitchFamily="50" charset="-128"/>
                        </a:rPr>
                        <a:t>28</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＞明確な時期は無い：</a:t>
                      </a:r>
                      <a:r>
                        <a:rPr lang="en-US" altLang="ja-JP" sz="900" b="0" i="0" u="none" strike="noStrike">
                          <a:solidFill>
                            <a:srgbClr val="000000"/>
                          </a:solidFill>
                          <a:effectLst/>
                          <a:latin typeface="Meiryo UI" panose="020B0604030504040204" pitchFamily="50" charset="-128"/>
                          <a:ea typeface="Meiryo UI" panose="020B0604030504040204" pitchFamily="50" charset="-128"/>
                        </a:rPr>
                        <a:t>23</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＞半年以上先：</a:t>
                      </a:r>
                      <a:r>
                        <a:rPr lang="en-US" altLang="ja-JP" sz="900" b="0" i="0" u="none" strike="noStrike">
                          <a:solidFill>
                            <a:srgbClr val="000000"/>
                          </a:solidFill>
                          <a:effectLst/>
                          <a:latin typeface="Meiryo UI" panose="020B0604030504040204" pitchFamily="50" charset="-128"/>
                          <a:ea typeface="Meiryo UI" panose="020B0604030504040204" pitchFamily="50" charset="-128"/>
                        </a:rPr>
                        <a:t>19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4</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42</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＞０回：</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35</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16</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1.76</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40</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32</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20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29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35.3</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606127136"/>
                  </a:ext>
                </a:extLst>
              </a:tr>
              <a:tr h="729393">
                <a:tc vMerge="1">
                  <a:txBody>
                    <a:bodyPr/>
                    <a:lstStyle/>
                    <a:p>
                      <a:endParaRPr kumimoji="1" lang="ja-JP" altLang="en-US"/>
                    </a:p>
                  </a:txBody>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面談実施なし</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175</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300-399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39%</a:t>
                      </a:r>
                      <a:br>
                        <a:rPr lang="en-US" altLang="ja-JP"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400-599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29%</a:t>
                      </a:r>
                      <a:br>
                        <a:rPr lang="en-US" altLang="ja-JP"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300</a:t>
                      </a:r>
                      <a:r>
                        <a:rPr lang="ja-JP" altLang="en-US" sz="900" b="0" i="0" u="none" strike="noStrike">
                          <a:solidFill>
                            <a:srgbClr val="000000"/>
                          </a:solidFill>
                          <a:effectLst/>
                          <a:latin typeface="Meiryo UI" panose="020B0604030504040204" pitchFamily="50" charset="-128"/>
                          <a:ea typeface="Meiryo UI" panose="020B0604030504040204" pitchFamily="50" charset="-128"/>
                        </a:rPr>
                        <a:t>未満：</a:t>
                      </a:r>
                      <a:r>
                        <a:rPr lang="en-US" altLang="ja-JP" sz="900" b="0" i="0" u="none" strike="noStrike">
                          <a:solidFill>
                            <a:srgbClr val="000000"/>
                          </a:solidFill>
                          <a:effectLst/>
                          <a:latin typeface="Meiryo UI" panose="020B0604030504040204" pitchFamily="50" charset="-128"/>
                          <a:ea typeface="Meiryo UI" panose="020B0604030504040204" pitchFamily="50" charset="-128"/>
                        </a:rPr>
                        <a:t>22 %</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400.1</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企画・管理：</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19</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＞事務：</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18</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＞営業：</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17</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希望に合えば：</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69</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＞必ず転職したい：</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29</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a:t>
                      </a:r>
                      <a:r>
                        <a:rPr lang="ja-JP" altLang="en-US" sz="900" b="0" i="0" u="none" strike="noStrike">
                          <a:solidFill>
                            <a:srgbClr val="000000"/>
                          </a:solidFill>
                          <a:effectLst/>
                          <a:latin typeface="Meiryo UI" panose="020B0604030504040204" pitchFamily="50" charset="-128"/>
                          <a:ea typeface="Meiryo UI" panose="020B0604030504040204" pitchFamily="50" charset="-128"/>
                        </a:rPr>
                        <a:t>ヶ月以内：</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＞明確な時期は無い：</a:t>
                      </a:r>
                      <a:r>
                        <a:rPr lang="en-US" altLang="ja-JP" sz="900" b="0" i="0" u="none" strike="noStrike">
                          <a:solidFill>
                            <a:srgbClr val="000000"/>
                          </a:solidFill>
                          <a:effectLst/>
                          <a:latin typeface="Meiryo UI" panose="020B0604030504040204" pitchFamily="50" charset="-128"/>
                          <a:ea typeface="Meiryo UI" panose="020B0604030504040204" pitchFamily="50" charset="-128"/>
                        </a:rPr>
                        <a:t>26</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a:t>
                      </a:r>
                      <a:r>
                        <a:rPr lang="ja-JP" altLang="en-US" sz="900" b="0" i="0" u="none" strike="noStrike">
                          <a:solidFill>
                            <a:srgbClr val="000000"/>
                          </a:solidFill>
                          <a:effectLst/>
                          <a:latin typeface="Meiryo UI" panose="020B0604030504040204" pitchFamily="50" charset="-128"/>
                          <a:ea typeface="Meiryo UI" panose="020B0604030504040204" pitchFamily="50" charset="-128"/>
                        </a:rPr>
                        <a:t>ヶ月月以内：</a:t>
                      </a:r>
                      <a:r>
                        <a:rPr lang="en-US" altLang="ja-JP" sz="900" b="0" i="0" u="none" strike="noStrike">
                          <a:solidFill>
                            <a:srgbClr val="000000"/>
                          </a:solidFill>
                          <a:effectLst/>
                          <a:latin typeface="Meiryo UI" panose="020B0604030504040204" pitchFamily="50" charset="-128"/>
                          <a:ea typeface="Meiryo UI" panose="020B0604030504040204" pitchFamily="50" charset="-128"/>
                        </a:rPr>
                        <a:t>25</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＞半年以上先：</a:t>
                      </a:r>
                      <a:r>
                        <a:rPr lang="en-US" altLang="ja-JP" sz="900" b="0" i="0" u="none" strike="noStrike">
                          <a:solidFill>
                            <a:srgbClr val="000000"/>
                          </a:solidFill>
                          <a:effectLst/>
                          <a:latin typeface="Meiryo UI" panose="020B0604030504040204" pitchFamily="50" charset="-128"/>
                          <a:ea typeface="Meiryo UI" panose="020B0604030504040204" pitchFamily="50" charset="-128"/>
                        </a:rPr>
                        <a:t>18</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0</a:t>
                      </a:r>
                      <a:r>
                        <a:rPr lang="ja-JP" altLang="en-US" sz="900" b="0" i="0" u="none" strike="noStrike">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a:solidFill>
                            <a:srgbClr val="000000"/>
                          </a:solidFill>
                          <a:effectLst/>
                          <a:latin typeface="Meiryo UI" panose="020B0604030504040204" pitchFamily="50" charset="-128"/>
                          <a:ea typeface="Meiryo UI" panose="020B0604030504040204" pitchFamily="50" charset="-128"/>
                        </a:rPr>
                        <a:t>41</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en-US" altLang="ja-JP" sz="900" b="0" i="0" u="none" strike="noStrike">
                          <a:solidFill>
                            <a:srgbClr val="000000"/>
                          </a:solidFill>
                          <a:effectLst/>
                          <a:latin typeface="Meiryo UI" panose="020B0604030504040204" pitchFamily="50" charset="-128"/>
                          <a:ea typeface="Meiryo UI" panose="020B0604030504040204" pitchFamily="50" charset="-128"/>
                        </a:rPr>
                        <a:t>&gt;2~4</a:t>
                      </a:r>
                      <a:r>
                        <a:rPr lang="ja-JP" altLang="en-US" sz="900" b="0" i="0" u="none" strike="noStrike">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en-US" altLang="ja-JP" sz="900" b="0" i="0" u="none" strike="noStrike">
                          <a:solidFill>
                            <a:srgbClr val="000000"/>
                          </a:solidFill>
                          <a:effectLst/>
                          <a:latin typeface="Meiryo UI" panose="020B0604030504040204" pitchFamily="50" charset="-128"/>
                          <a:ea typeface="Meiryo UI" panose="020B0604030504040204" pitchFamily="50" charset="-128"/>
                        </a:rPr>
                        <a:t>&gt;1</a:t>
                      </a:r>
                      <a:r>
                        <a:rPr lang="ja-JP" altLang="en-US" sz="900" b="0" i="0" u="none" strike="noStrike">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a:solidFill>
                            <a:srgbClr val="000000"/>
                          </a:solidFill>
                          <a:effectLst/>
                          <a:latin typeface="Meiryo UI" panose="020B0604030504040204" pitchFamily="50" charset="-128"/>
                          <a:ea typeface="Meiryo UI" panose="020B0604030504040204" pitchFamily="50" charset="-128"/>
                        </a:rPr>
                        <a:t>16</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1.73</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47</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20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23</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35.7</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52002580"/>
                  </a:ext>
                </a:extLst>
              </a:tr>
            </a:tbl>
          </a:graphicData>
        </a:graphic>
      </p:graphicFrame>
      <p:sp>
        <p:nvSpPr>
          <p:cNvPr id="7" name="テキスト ボックス 6">
            <a:extLst>
              <a:ext uri="{FF2B5EF4-FFF2-40B4-BE49-F238E27FC236}">
                <a16:creationId xmlns:a16="http://schemas.microsoft.com/office/drawing/2014/main" id="{28480C57-4BDF-0C67-4971-6AB9AF186567}"/>
              </a:ext>
            </a:extLst>
          </p:cNvPr>
          <p:cNvSpPr txBox="1"/>
          <p:nvPr/>
        </p:nvSpPr>
        <p:spPr>
          <a:xfrm>
            <a:off x="7573108" y="6105168"/>
            <a:ext cx="4180184" cy="230832"/>
          </a:xfrm>
          <a:prstGeom prst="rect">
            <a:avLst/>
          </a:prstGeom>
          <a:noFill/>
        </p:spPr>
        <p:txBody>
          <a:bodyPr wrap="square" rtlCol="0">
            <a:spAutoFit/>
          </a:bodyPr>
          <a:lstStyle/>
          <a:p>
            <a:pPr algn="r"/>
            <a:r>
              <a:rPr lang="en-US" altLang="ja-JP" sz="900" dirty="0"/>
              <a:t>※</a:t>
            </a:r>
            <a:r>
              <a:rPr lang="ja-JP" altLang="en-US" sz="900" dirty="0"/>
              <a:t>職種：専門＝士業、不動産</a:t>
            </a:r>
            <a:r>
              <a:rPr lang="en-US" altLang="ja-JP" sz="900" dirty="0"/>
              <a:t>/</a:t>
            </a:r>
            <a:r>
              <a:rPr lang="ja-JP" altLang="en-US" sz="900" dirty="0"/>
              <a:t>金融</a:t>
            </a:r>
            <a:r>
              <a:rPr lang="en-US" altLang="ja-JP" sz="900" dirty="0"/>
              <a:t>/</a:t>
            </a:r>
            <a:r>
              <a:rPr lang="ja-JP" altLang="en-US" sz="900" dirty="0"/>
              <a:t>建築専門職、教員、医療関連職</a:t>
            </a:r>
            <a:endParaRPr kumimoji="1" lang="ja-JP" altLang="en-US" sz="900" dirty="0"/>
          </a:p>
        </p:txBody>
      </p:sp>
    </p:spTree>
    <p:extLst>
      <p:ext uri="{BB962C8B-B14F-4D97-AF65-F5344CB8AC3E}">
        <p14:creationId xmlns:p14="http://schemas.microsoft.com/office/powerpoint/2010/main" val="1060566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A769D65C-8E23-F03D-9BD5-C05E74C50100}"/>
              </a:ext>
            </a:extLst>
          </p:cNvPr>
          <p:cNvSpPr>
            <a:spLocks noGrp="1"/>
          </p:cNvSpPr>
          <p:nvPr>
            <p:ph type="body" sz="quarter" idx="13"/>
          </p:nvPr>
        </p:nvSpPr>
        <p:spPr/>
        <p:txBody>
          <a:bodyPr/>
          <a:lstStyle/>
          <a:p>
            <a:r>
              <a:rPr lang="ja-JP" altLang="en-US" dirty="0"/>
              <a:t>調査結果サマリ：活動ステータス別インサイト</a:t>
            </a:r>
            <a:endParaRPr kumimoji="1" lang="ja-JP" altLang="en-US" dirty="0"/>
          </a:p>
        </p:txBody>
      </p:sp>
      <p:sp>
        <p:nvSpPr>
          <p:cNvPr id="4" name="フッター プレースホルダー 3">
            <a:extLst>
              <a:ext uri="{FF2B5EF4-FFF2-40B4-BE49-F238E27FC236}">
                <a16:creationId xmlns:a16="http://schemas.microsoft.com/office/drawing/2014/main" id="{24234452-1D7A-22A2-005D-3523EEE255B7}"/>
              </a:ext>
            </a:extLst>
          </p:cNvPr>
          <p:cNvSpPr>
            <a:spLocks noGrp="1"/>
          </p:cNvSpPr>
          <p:nvPr>
            <p:ph type="ftr" sz="quarter" idx="3"/>
          </p:nvPr>
        </p:nvSpPr>
        <p:spPr/>
        <p:txBody>
          <a:bodyPr/>
          <a:lstStyle/>
          <a:p>
            <a:r>
              <a:rPr lang="en" altLang="ja-JP"/>
              <a:t>(C) Recruit Co., Ltd. All rights reserved. </a:t>
            </a:r>
            <a:endParaRPr lang="ja-JP" altLang="en-US"/>
          </a:p>
        </p:txBody>
      </p:sp>
      <p:sp>
        <p:nvSpPr>
          <p:cNvPr id="5" name="スライド番号プレースホルダー 4">
            <a:extLst>
              <a:ext uri="{FF2B5EF4-FFF2-40B4-BE49-F238E27FC236}">
                <a16:creationId xmlns:a16="http://schemas.microsoft.com/office/drawing/2014/main" id="{AD4668E4-1CDD-D19E-26EB-B28D2C8392E5}"/>
              </a:ext>
            </a:extLst>
          </p:cNvPr>
          <p:cNvSpPr>
            <a:spLocks noGrp="1"/>
          </p:cNvSpPr>
          <p:nvPr>
            <p:ph type="sldNum" sz="quarter" idx="4"/>
          </p:nvPr>
        </p:nvSpPr>
        <p:spPr/>
        <p:txBody>
          <a:bodyPr/>
          <a:lstStyle/>
          <a:p>
            <a:fld id="{EDD55F78-D87A-074E-B5DA-6C9B598DD91F}" type="slidenum">
              <a:rPr lang="ja-JP" altLang="en-US" smtClean="0"/>
              <a:pPr/>
              <a:t>6</a:t>
            </a:fld>
            <a:endParaRPr lang="ja-JP" altLang="en-US"/>
          </a:p>
        </p:txBody>
      </p:sp>
      <p:sp>
        <p:nvSpPr>
          <p:cNvPr id="9" name="テキスト ボックス 8">
            <a:extLst>
              <a:ext uri="{FF2B5EF4-FFF2-40B4-BE49-F238E27FC236}">
                <a16:creationId xmlns:a16="http://schemas.microsoft.com/office/drawing/2014/main" id="{4EFC8454-21BD-E173-0EFE-4CEE3E3662A7}"/>
              </a:ext>
            </a:extLst>
          </p:cNvPr>
          <p:cNvSpPr txBox="1"/>
          <p:nvPr/>
        </p:nvSpPr>
        <p:spPr>
          <a:xfrm>
            <a:off x="7872430" y="6403146"/>
            <a:ext cx="3372862" cy="230832"/>
          </a:xfrm>
          <a:prstGeom prst="rect">
            <a:avLst/>
          </a:prstGeom>
          <a:noFill/>
        </p:spPr>
        <p:txBody>
          <a:bodyPr wrap="square" rtlCol="0">
            <a:spAutoFit/>
          </a:bodyPr>
          <a:lstStyle/>
          <a:p>
            <a:pPr algn="r"/>
            <a:r>
              <a:rPr lang="en-US" altLang="ja-JP" sz="900" dirty="0"/>
              <a:t>※</a:t>
            </a:r>
            <a:r>
              <a:rPr lang="ja-JP" altLang="en-US" sz="900" dirty="0"/>
              <a:t>面談希望なし＞応募ありは</a:t>
            </a:r>
            <a:r>
              <a:rPr lang="en-US" altLang="ja-JP" sz="900" dirty="0"/>
              <a:t>N</a:t>
            </a:r>
            <a:r>
              <a:rPr lang="ja-JP" altLang="en-US" sz="900" dirty="0"/>
              <a:t>数が少ないため省略</a:t>
            </a:r>
            <a:endParaRPr kumimoji="1" lang="ja-JP" altLang="en-US" sz="900" dirty="0"/>
          </a:p>
        </p:txBody>
      </p:sp>
      <p:graphicFrame>
        <p:nvGraphicFramePr>
          <p:cNvPr id="15" name="表 3">
            <a:extLst>
              <a:ext uri="{FF2B5EF4-FFF2-40B4-BE49-F238E27FC236}">
                <a16:creationId xmlns:a16="http://schemas.microsoft.com/office/drawing/2014/main" id="{E3FB594D-1231-9FC6-6373-DB2FFD414AD3}"/>
              </a:ext>
            </a:extLst>
          </p:cNvPr>
          <p:cNvGraphicFramePr>
            <a:graphicFrameLocks noGrp="1"/>
          </p:cNvGraphicFramePr>
          <p:nvPr>
            <p:extLst>
              <p:ext uri="{D42A27DB-BD31-4B8C-83A1-F6EECF244321}">
                <p14:modId xmlns:p14="http://schemas.microsoft.com/office/powerpoint/2010/main" val="136856872"/>
              </p:ext>
            </p:extLst>
          </p:nvPr>
        </p:nvGraphicFramePr>
        <p:xfrm>
          <a:off x="690767" y="688146"/>
          <a:ext cx="10529496" cy="5715000"/>
        </p:xfrm>
        <a:graphic>
          <a:graphicData uri="http://schemas.openxmlformats.org/drawingml/2006/table">
            <a:tbl>
              <a:tblPr firstRow="1" bandRow="1"/>
              <a:tblGrid>
                <a:gridCol w="1370254">
                  <a:extLst>
                    <a:ext uri="{9D8B030D-6E8A-4147-A177-3AD203B41FA5}">
                      <a16:colId xmlns:a16="http://schemas.microsoft.com/office/drawing/2014/main" val="3382698545"/>
                    </a:ext>
                  </a:extLst>
                </a:gridCol>
                <a:gridCol w="2166266">
                  <a:extLst>
                    <a:ext uri="{9D8B030D-6E8A-4147-A177-3AD203B41FA5}">
                      <a16:colId xmlns:a16="http://schemas.microsoft.com/office/drawing/2014/main" val="2962872063"/>
                    </a:ext>
                  </a:extLst>
                </a:gridCol>
                <a:gridCol w="2219569">
                  <a:extLst>
                    <a:ext uri="{9D8B030D-6E8A-4147-A177-3AD203B41FA5}">
                      <a16:colId xmlns:a16="http://schemas.microsoft.com/office/drawing/2014/main" val="599370798"/>
                    </a:ext>
                  </a:extLst>
                </a:gridCol>
                <a:gridCol w="2305148">
                  <a:extLst>
                    <a:ext uri="{9D8B030D-6E8A-4147-A177-3AD203B41FA5}">
                      <a16:colId xmlns:a16="http://schemas.microsoft.com/office/drawing/2014/main" val="2005254781"/>
                    </a:ext>
                  </a:extLst>
                </a:gridCol>
                <a:gridCol w="2468259">
                  <a:extLst>
                    <a:ext uri="{9D8B030D-6E8A-4147-A177-3AD203B41FA5}">
                      <a16:colId xmlns:a16="http://schemas.microsoft.com/office/drawing/2014/main" val="1754182499"/>
                    </a:ext>
                  </a:extLst>
                </a:gridCol>
              </a:tblGrid>
              <a:tr h="235362">
                <a:tc rowSpan="3">
                  <a:txBody>
                    <a:bodyPr/>
                    <a:lstStyle>
                      <a:lvl1pPr marL="0" algn="l" defTabSz="914400" rtl="0" eaLnBrk="1" latinLnBrk="0" hangingPunct="1">
                        <a:defRPr kumimoji="1" sz="1800" b="1" kern="1200">
                          <a:solidFill>
                            <a:schemeClr val="lt1"/>
                          </a:solidFill>
                          <a:latin typeface="Segoe UI"/>
                          <a:ea typeface="メイリオ"/>
                        </a:defRPr>
                      </a:lvl1pPr>
                      <a:lvl2pPr marL="457200" algn="l" defTabSz="914400" rtl="0" eaLnBrk="1" latinLnBrk="0" hangingPunct="1">
                        <a:defRPr kumimoji="1" sz="1800" b="1" kern="1200">
                          <a:solidFill>
                            <a:schemeClr val="lt1"/>
                          </a:solidFill>
                          <a:latin typeface="Segoe UI"/>
                          <a:ea typeface="メイリオ"/>
                        </a:defRPr>
                      </a:lvl2pPr>
                      <a:lvl3pPr marL="914400" algn="l" defTabSz="914400" rtl="0" eaLnBrk="1" latinLnBrk="0" hangingPunct="1">
                        <a:defRPr kumimoji="1" sz="1800" b="1" kern="1200">
                          <a:solidFill>
                            <a:schemeClr val="lt1"/>
                          </a:solidFill>
                          <a:latin typeface="Segoe UI"/>
                          <a:ea typeface="メイリオ"/>
                        </a:defRPr>
                      </a:lvl3pPr>
                      <a:lvl4pPr marL="1371600" algn="l" defTabSz="914400" rtl="0" eaLnBrk="1" latinLnBrk="0" hangingPunct="1">
                        <a:defRPr kumimoji="1" sz="1800" b="1" kern="1200">
                          <a:solidFill>
                            <a:schemeClr val="lt1"/>
                          </a:solidFill>
                          <a:latin typeface="Segoe UI"/>
                          <a:ea typeface="メイリオ"/>
                        </a:defRPr>
                      </a:lvl4pPr>
                      <a:lvl5pPr marL="1828800" algn="l" defTabSz="914400" rtl="0" eaLnBrk="1" latinLnBrk="0" hangingPunct="1">
                        <a:defRPr kumimoji="1" sz="1800" b="1" kern="1200">
                          <a:solidFill>
                            <a:schemeClr val="lt1"/>
                          </a:solidFill>
                          <a:latin typeface="Segoe UI"/>
                          <a:ea typeface="メイリオ"/>
                        </a:defRPr>
                      </a:lvl5pPr>
                      <a:lvl6pPr marL="2286000" algn="l" defTabSz="914400" rtl="0" eaLnBrk="1" latinLnBrk="0" hangingPunct="1">
                        <a:defRPr kumimoji="1" sz="1800" b="1" kern="1200">
                          <a:solidFill>
                            <a:schemeClr val="lt1"/>
                          </a:solidFill>
                          <a:latin typeface="Segoe UI"/>
                          <a:ea typeface="メイリオ"/>
                        </a:defRPr>
                      </a:lvl6pPr>
                      <a:lvl7pPr marL="2743200" algn="l" defTabSz="914400" rtl="0" eaLnBrk="1" latinLnBrk="0" hangingPunct="1">
                        <a:defRPr kumimoji="1" sz="1800" b="1" kern="1200">
                          <a:solidFill>
                            <a:schemeClr val="lt1"/>
                          </a:solidFill>
                          <a:latin typeface="Segoe UI"/>
                          <a:ea typeface="メイリオ"/>
                        </a:defRPr>
                      </a:lvl7pPr>
                      <a:lvl8pPr marL="3200400" algn="l" defTabSz="914400" rtl="0" eaLnBrk="1" latinLnBrk="0" hangingPunct="1">
                        <a:defRPr kumimoji="1" sz="1800" b="1" kern="1200">
                          <a:solidFill>
                            <a:schemeClr val="lt1"/>
                          </a:solidFill>
                          <a:latin typeface="Segoe UI"/>
                          <a:ea typeface="メイリオ"/>
                        </a:defRPr>
                      </a:lvl8pPr>
                      <a:lvl9pPr marL="3657600" algn="l" defTabSz="914400" rtl="0" eaLnBrk="1" latinLnBrk="0" hangingPunct="1">
                        <a:defRPr kumimoji="1" sz="1800" b="1" kern="1200">
                          <a:solidFill>
                            <a:schemeClr val="lt1"/>
                          </a:solidFill>
                          <a:latin typeface="Segoe UI"/>
                          <a:ea typeface="メイリオ"/>
                        </a:defRPr>
                      </a:lvl9pPr>
                    </a:lstStyle>
                    <a:p>
                      <a:pPr algn="ctr"/>
                      <a:r>
                        <a:rPr kumimoji="1" lang="ja-JP" altLang="en-US" sz="1100" b="1" dirty="0">
                          <a:solidFill>
                            <a:schemeClr val="bg1"/>
                          </a:solidFill>
                          <a:latin typeface="Meiryo UI" panose="020B0604030504040204" pitchFamily="50" charset="-128"/>
                          <a:ea typeface="Meiryo UI" panose="020B0604030504040204" pitchFamily="50" charset="-128"/>
                        </a:rPr>
                        <a:t>未活動</a:t>
                      </a:r>
                      <a:br>
                        <a:rPr kumimoji="1" lang="en-US" altLang="ja-JP" sz="1100" b="1" dirty="0">
                          <a:solidFill>
                            <a:schemeClr val="bg1"/>
                          </a:solidFill>
                          <a:latin typeface="Meiryo UI" panose="020B0604030504040204" pitchFamily="50" charset="-128"/>
                          <a:ea typeface="Meiryo UI" panose="020B0604030504040204" pitchFamily="50" charset="-128"/>
                        </a:rPr>
                      </a:br>
                      <a:r>
                        <a:rPr kumimoji="1" lang="ja-JP" altLang="en-US" sz="1100" b="1" dirty="0">
                          <a:solidFill>
                            <a:schemeClr val="bg1"/>
                          </a:solidFill>
                          <a:latin typeface="Meiryo UI" panose="020B0604030504040204" pitchFamily="50" charset="-128"/>
                          <a:ea typeface="Meiryo UI" panose="020B0604030504040204" pitchFamily="50" charset="-128"/>
                        </a:rPr>
                        <a:t>ステータス</a:t>
                      </a:r>
                    </a:p>
                  </a:txBody>
                  <a:tcPr anchor="ctr">
                    <a:lnL w="12700" cap="flat" cmpd="sng" algn="ctr">
                      <a:no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50000"/>
                      </a:sysClr>
                    </a:solidFill>
                  </a:tcPr>
                </a:tc>
                <a:tc gridSpan="3">
                  <a:txBody>
                    <a:bodyPr/>
                    <a:lstStyle>
                      <a:lvl1pPr marL="0" algn="l" defTabSz="914400" rtl="0" eaLnBrk="1" latinLnBrk="0" hangingPunct="1">
                        <a:defRPr kumimoji="1" sz="1800" b="1" kern="1200">
                          <a:solidFill>
                            <a:schemeClr val="lt1"/>
                          </a:solidFill>
                          <a:latin typeface="Segoe UI"/>
                          <a:ea typeface="メイリオ"/>
                        </a:defRPr>
                      </a:lvl1pPr>
                      <a:lvl2pPr marL="457200" algn="l" defTabSz="914400" rtl="0" eaLnBrk="1" latinLnBrk="0" hangingPunct="1">
                        <a:defRPr kumimoji="1" sz="1800" b="1" kern="1200">
                          <a:solidFill>
                            <a:schemeClr val="lt1"/>
                          </a:solidFill>
                          <a:latin typeface="Segoe UI"/>
                          <a:ea typeface="メイリオ"/>
                        </a:defRPr>
                      </a:lvl2pPr>
                      <a:lvl3pPr marL="914400" algn="l" defTabSz="914400" rtl="0" eaLnBrk="1" latinLnBrk="0" hangingPunct="1">
                        <a:defRPr kumimoji="1" sz="1800" b="1" kern="1200">
                          <a:solidFill>
                            <a:schemeClr val="lt1"/>
                          </a:solidFill>
                          <a:latin typeface="Segoe UI"/>
                          <a:ea typeface="メイリオ"/>
                        </a:defRPr>
                      </a:lvl3pPr>
                      <a:lvl4pPr marL="1371600" algn="l" defTabSz="914400" rtl="0" eaLnBrk="1" latinLnBrk="0" hangingPunct="1">
                        <a:defRPr kumimoji="1" sz="1800" b="1" kern="1200">
                          <a:solidFill>
                            <a:schemeClr val="lt1"/>
                          </a:solidFill>
                          <a:latin typeface="Segoe UI"/>
                          <a:ea typeface="メイリオ"/>
                        </a:defRPr>
                      </a:lvl4pPr>
                      <a:lvl5pPr marL="1828800" algn="l" defTabSz="914400" rtl="0" eaLnBrk="1" latinLnBrk="0" hangingPunct="1">
                        <a:defRPr kumimoji="1" sz="1800" b="1" kern="1200">
                          <a:solidFill>
                            <a:schemeClr val="lt1"/>
                          </a:solidFill>
                          <a:latin typeface="Segoe UI"/>
                          <a:ea typeface="メイリオ"/>
                        </a:defRPr>
                      </a:lvl5pPr>
                      <a:lvl6pPr marL="2286000" algn="l" defTabSz="914400" rtl="0" eaLnBrk="1" latinLnBrk="0" hangingPunct="1">
                        <a:defRPr kumimoji="1" sz="1800" b="1" kern="1200">
                          <a:solidFill>
                            <a:schemeClr val="lt1"/>
                          </a:solidFill>
                          <a:latin typeface="Segoe UI"/>
                          <a:ea typeface="メイリオ"/>
                        </a:defRPr>
                      </a:lvl6pPr>
                      <a:lvl7pPr marL="2743200" algn="l" defTabSz="914400" rtl="0" eaLnBrk="1" latinLnBrk="0" hangingPunct="1">
                        <a:defRPr kumimoji="1" sz="1800" b="1" kern="1200">
                          <a:solidFill>
                            <a:schemeClr val="lt1"/>
                          </a:solidFill>
                          <a:latin typeface="Segoe UI"/>
                          <a:ea typeface="メイリオ"/>
                        </a:defRPr>
                      </a:lvl7pPr>
                      <a:lvl8pPr marL="3200400" algn="l" defTabSz="914400" rtl="0" eaLnBrk="1" latinLnBrk="0" hangingPunct="1">
                        <a:defRPr kumimoji="1" sz="1800" b="1" kern="1200">
                          <a:solidFill>
                            <a:schemeClr val="lt1"/>
                          </a:solidFill>
                          <a:latin typeface="Segoe UI"/>
                          <a:ea typeface="メイリオ"/>
                        </a:defRPr>
                      </a:lvl8pPr>
                      <a:lvl9pPr marL="3657600" algn="l" defTabSz="914400" rtl="0" eaLnBrk="1" latinLnBrk="0" hangingPunct="1">
                        <a:defRPr kumimoji="1" sz="1800" b="1" kern="1200">
                          <a:solidFill>
                            <a:schemeClr val="lt1"/>
                          </a:solidFill>
                          <a:latin typeface="Segoe UI"/>
                          <a:ea typeface="メイリオ"/>
                        </a:defRPr>
                      </a:lvl9pPr>
                    </a:lstStyle>
                    <a:p>
                      <a:pPr algn="ctr"/>
                      <a:r>
                        <a:rPr lang="ja-JP" altLang="en-US" sz="1100" dirty="0">
                          <a:solidFill>
                            <a:schemeClr val="bg1"/>
                          </a:solidFill>
                        </a:rPr>
                        <a:t>面接希望</a:t>
                      </a:r>
                      <a:r>
                        <a:rPr lang="ja-JP" altLang="en-US" sz="1100" u="sng" dirty="0">
                          <a:solidFill>
                            <a:schemeClr val="bg1"/>
                          </a:solidFill>
                        </a:rPr>
                        <a:t>あり</a:t>
                      </a:r>
                    </a:p>
                  </a:txBody>
                  <a:tcPr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rgbClr val="FF0066">
                        <a:lumMod val="60000"/>
                        <a:lumOff val="40000"/>
                      </a:srgbClr>
                    </a:solidFill>
                  </a:tcPr>
                </a:tc>
                <a:tc hMerge="1">
                  <a:txBody>
                    <a:bodyPr/>
                    <a:lstStyle/>
                    <a:p>
                      <a:endParaRPr kumimoji="1" lang="ja-JP" altLang="en-US"/>
                    </a:p>
                  </a:txBody>
                  <a:tcPr/>
                </a:tc>
                <a:tc hMerge="1">
                  <a:txBody>
                    <a:bodyPr/>
                    <a:lstStyle/>
                    <a:p>
                      <a:endParaRPr kumimoji="1" lang="ja-JP" altLang="en-US"/>
                    </a:p>
                  </a:txBody>
                  <a:tcPr/>
                </a:tc>
                <a:tc>
                  <a:txBody>
                    <a:bodyPr/>
                    <a:lstStyle/>
                    <a:p>
                      <a:pPr algn="ctr"/>
                      <a:r>
                        <a:rPr kumimoji="1" lang="ja-JP" altLang="en-US" sz="1100" b="1">
                          <a:solidFill>
                            <a:schemeClr val="bg1"/>
                          </a:solidFill>
                          <a:latin typeface="Meiryo UI" panose="020B0604030504040204" pitchFamily="50" charset="-128"/>
                          <a:ea typeface="Meiryo UI" panose="020B0604030504040204" pitchFamily="50" charset="-128"/>
                        </a:rPr>
                        <a:t>面談希望</a:t>
                      </a:r>
                      <a:r>
                        <a:rPr kumimoji="1" lang="ja-JP" altLang="en-US" sz="1100" b="1" u="sng">
                          <a:solidFill>
                            <a:schemeClr val="bg1"/>
                          </a:solidFill>
                          <a:latin typeface="Meiryo UI" panose="020B0604030504040204" pitchFamily="50" charset="-128"/>
                          <a:ea typeface="Meiryo UI" panose="020B0604030504040204" pitchFamily="50" charset="-128"/>
                        </a:rPr>
                        <a:t>なし</a:t>
                      </a:r>
                      <a:endParaRPr lang="ja-JP" altLang="en-US" sz="1100" u="sng" dirty="0">
                        <a:solidFill>
                          <a:schemeClr val="bg1"/>
                        </a:solidFill>
                      </a:endParaRPr>
                    </a:p>
                  </a:txBody>
                  <a:tcPr anchor="ctr">
                    <a:lnL w="6350" cap="flat" cmpd="sng" algn="ctr">
                      <a:solidFill>
                        <a:sysClr val="window" lastClr="FFFFFF">
                          <a:lumMod val="50000"/>
                        </a:sys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rgbClr val="5DAEFF">
                        <a:lumMod val="60000"/>
                        <a:lumOff val="40000"/>
                      </a:srgbClr>
                    </a:solidFill>
                  </a:tcPr>
                </a:tc>
                <a:extLst>
                  <a:ext uri="{0D108BD9-81ED-4DB2-BD59-A6C34878D82A}">
                    <a16:rowId xmlns:a16="http://schemas.microsoft.com/office/drawing/2014/main" val="996941431"/>
                  </a:ext>
                </a:extLst>
              </a:tr>
              <a:tr h="235362">
                <a:tc vMerge="1">
                  <a:txBody>
                    <a:bodyPr/>
                    <a:lstStyle/>
                    <a:p>
                      <a:endParaRPr kumimoji="1" lang="ja-JP" altLang="en-US" sz="1200" dirty="0">
                        <a:solidFill>
                          <a:schemeClr val="tx1"/>
                        </a:solidFill>
                        <a:latin typeface="Meiryo UI" panose="020B0604030504040204" pitchFamily="50" charset="-128"/>
                        <a:ea typeface="Meiryo UI" panose="020B0604030504040204" pitchFamily="50" charset="-128"/>
                      </a:endParaRPr>
                    </a:p>
                  </a:txBody>
                  <a:tcPr>
                    <a:lnL w="1270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lvl1pPr marL="0" algn="l" defTabSz="914400" rtl="0" eaLnBrk="1" latinLnBrk="0" hangingPunct="1">
                        <a:defRPr kumimoji="1" sz="1800" kern="1200">
                          <a:solidFill>
                            <a:schemeClr val="dk1"/>
                          </a:solidFill>
                          <a:latin typeface="Segoe UI"/>
                          <a:ea typeface="メイリオ"/>
                        </a:defRPr>
                      </a:lvl1pPr>
                      <a:lvl2pPr marL="457200" algn="l" defTabSz="914400" rtl="0" eaLnBrk="1" latinLnBrk="0" hangingPunct="1">
                        <a:defRPr kumimoji="1" sz="1800" kern="1200">
                          <a:solidFill>
                            <a:schemeClr val="dk1"/>
                          </a:solidFill>
                          <a:latin typeface="Segoe UI"/>
                          <a:ea typeface="メイリオ"/>
                        </a:defRPr>
                      </a:lvl2pPr>
                      <a:lvl3pPr marL="914400" algn="l" defTabSz="914400" rtl="0" eaLnBrk="1" latinLnBrk="0" hangingPunct="1">
                        <a:defRPr kumimoji="1" sz="1800" kern="1200">
                          <a:solidFill>
                            <a:schemeClr val="dk1"/>
                          </a:solidFill>
                          <a:latin typeface="Segoe UI"/>
                          <a:ea typeface="メイリオ"/>
                        </a:defRPr>
                      </a:lvl3pPr>
                      <a:lvl4pPr marL="1371600" algn="l" defTabSz="914400" rtl="0" eaLnBrk="1" latinLnBrk="0" hangingPunct="1">
                        <a:defRPr kumimoji="1" sz="1800" kern="1200">
                          <a:solidFill>
                            <a:schemeClr val="dk1"/>
                          </a:solidFill>
                          <a:latin typeface="Segoe UI"/>
                          <a:ea typeface="メイリオ"/>
                        </a:defRPr>
                      </a:lvl4pPr>
                      <a:lvl5pPr marL="1828800" algn="l" defTabSz="914400" rtl="0" eaLnBrk="1" latinLnBrk="0" hangingPunct="1">
                        <a:defRPr kumimoji="1" sz="1800" kern="1200">
                          <a:solidFill>
                            <a:schemeClr val="dk1"/>
                          </a:solidFill>
                          <a:latin typeface="Segoe UI"/>
                          <a:ea typeface="メイリオ"/>
                        </a:defRPr>
                      </a:lvl5pPr>
                      <a:lvl6pPr marL="2286000" algn="l" defTabSz="914400" rtl="0" eaLnBrk="1" latinLnBrk="0" hangingPunct="1">
                        <a:defRPr kumimoji="1" sz="1800" kern="1200">
                          <a:solidFill>
                            <a:schemeClr val="dk1"/>
                          </a:solidFill>
                          <a:latin typeface="Segoe UI"/>
                          <a:ea typeface="メイリオ"/>
                        </a:defRPr>
                      </a:lvl6pPr>
                      <a:lvl7pPr marL="2743200" algn="l" defTabSz="914400" rtl="0" eaLnBrk="1" latinLnBrk="0" hangingPunct="1">
                        <a:defRPr kumimoji="1" sz="1800" kern="1200">
                          <a:solidFill>
                            <a:schemeClr val="dk1"/>
                          </a:solidFill>
                          <a:latin typeface="Segoe UI"/>
                          <a:ea typeface="メイリオ"/>
                        </a:defRPr>
                      </a:lvl7pPr>
                      <a:lvl8pPr marL="3200400" algn="l" defTabSz="914400" rtl="0" eaLnBrk="1" latinLnBrk="0" hangingPunct="1">
                        <a:defRPr kumimoji="1" sz="1800" kern="1200">
                          <a:solidFill>
                            <a:schemeClr val="dk1"/>
                          </a:solidFill>
                          <a:latin typeface="Segoe UI"/>
                          <a:ea typeface="メイリオ"/>
                        </a:defRPr>
                      </a:lvl8pPr>
                      <a:lvl9pPr marL="3657600" algn="l" defTabSz="914400" rtl="0" eaLnBrk="1" latinLnBrk="0" hangingPunct="1">
                        <a:defRPr kumimoji="1" sz="1800" kern="1200">
                          <a:solidFill>
                            <a:schemeClr val="dk1"/>
                          </a:solidFill>
                          <a:latin typeface="Segoe UI"/>
                          <a:ea typeface="メイリオ"/>
                        </a:defRPr>
                      </a:lvl9pPr>
                    </a:lstStyle>
                    <a:p>
                      <a:pPr algn="ctr"/>
                      <a:r>
                        <a:rPr kumimoji="1" lang="ja-JP" altLang="en-US" sz="1100" b="1" dirty="0">
                          <a:solidFill>
                            <a:schemeClr val="bg1"/>
                          </a:solidFill>
                          <a:latin typeface="Meiryo UI" panose="020B0604030504040204" pitchFamily="50" charset="-128"/>
                          <a:ea typeface="Meiryo UI" panose="020B0604030504040204" pitchFamily="50" charset="-128"/>
                        </a:rPr>
                        <a:t>面談実施</a:t>
                      </a:r>
                      <a:r>
                        <a:rPr kumimoji="1" lang="ja-JP" altLang="en-US" sz="1100" b="1" u="sng" dirty="0">
                          <a:solidFill>
                            <a:schemeClr val="bg1"/>
                          </a:solidFill>
                          <a:latin typeface="Meiryo UI" panose="020B0604030504040204" pitchFamily="50" charset="-128"/>
                          <a:ea typeface="Meiryo UI" panose="020B0604030504040204" pitchFamily="50" charset="-128"/>
                        </a:rPr>
                        <a:t>あり</a:t>
                      </a:r>
                    </a:p>
                  </a:txBody>
                  <a:tcPr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ysDash"/>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rgbClr val="FF0066">
                        <a:lumMod val="60000"/>
                        <a:lumOff val="40000"/>
                      </a:srgbClr>
                    </a:solidFill>
                  </a:tcPr>
                </a:tc>
                <a:tc hMerge="1">
                  <a:txBody>
                    <a:bodyPr/>
                    <a:lstStyle/>
                    <a:p>
                      <a:endParaRPr kumimoji="1" lang="ja-JP" altLang="en-US"/>
                    </a:p>
                  </a:txBody>
                  <a:tcPr/>
                </a:tc>
                <a:tc>
                  <a:txBody>
                    <a:bodyPr/>
                    <a:lstStyle/>
                    <a:p>
                      <a:pPr algn="ctr"/>
                      <a:r>
                        <a:rPr kumimoji="1" lang="ja-JP" altLang="en-US" sz="1100" b="1">
                          <a:solidFill>
                            <a:schemeClr val="bg1"/>
                          </a:solidFill>
                          <a:latin typeface="Meiryo UI" panose="020B0604030504040204" pitchFamily="50" charset="-128"/>
                          <a:ea typeface="Meiryo UI" panose="020B0604030504040204" pitchFamily="50" charset="-128"/>
                        </a:rPr>
                        <a:t>面談実施</a:t>
                      </a:r>
                      <a:r>
                        <a:rPr kumimoji="1" lang="ja-JP" altLang="en-US" sz="1100" b="1" u="sng">
                          <a:solidFill>
                            <a:schemeClr val="bg1"/>
                          </a:solidFill>
                          <a:latin typeface="Meiryo UI" panose="020B0604030504040204" pitchFamily="50" charset="-128"/>
                          <a:ea typeface="Meiryo UI" panose="020B0604030504040204" pitchFamily="50" charset="-128"/>
                        </a:rPr>
                        <a:t>なし</a:t>
                      </a:r>
                      <a:endParaRPr kumimoji="1" lang="ja-JP" altLang="en-US" sz="1100" b="1" u="sng" dirty="0">
                        <a:solidFill>
                          <a:schemeClr val="bg1"/>
                        </a:solidFill>
                        <a:latin typeface="Meiryo UI" panose="020B0604030504040204" pitchFamily="50" charset="-128"/>
                        <a:ea typeface="Meiryo UI" panose="020B0604030504040204" pitchFamily="50" charset="-128"/>
                      </a:endParaRPr>
                    </a:p>
                  </a:txBody>
                  <a:tcPr anchor="ctr">
                    <a:lnL w="6350" cap="flat" cmpd="sng" algn="ctr">
                      <a:solidFill>
                        <a:sysClr val="window" lastClr="FFFFFF">
                          <a:lumMod val="50000"/>
                        </a:sysClr>
                      </a:solidFill>
                      <a:prstDash val="sysDash"/>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rgbClr val="FF0066">
                        <a:lumMod val="60000"/>
                        <a:lumOff val="40000"/>
                      </a:srgbClr>
                    </a:solidFill>
                  </a:tcPr>
                </a:tc>
                <a:tc>
                  <a:txBody>
                    <a:bodyPr/>
                    <a:lstStyle/>
                    <a:p>
                      <a:pPr algn="ctr"/>
                      <a:r>
                        <a:rPr kumimoji="1" lang="ja-JP" altLang="en-US" sz="1100" b="1">
                          <a:solidFill>
                            <a:schemeClr val="bg1"/>
                          </a:solidFill>
                          <a:latin typeface="Meiryo UI" panose="020B0604030504040204" pitchFamily="50" charset="-128"/>
                          <a:ea typeface="Meiryo UI" panose="020B0604030504040204" pitchFamily="50" charset="-128"/>
                        </a:rPr>
                        <a:t>面談実施</a:t>
                      </a:r>
                      <a:r>
                        <a:rPr kumimoji="1" lang="ja-JP" altLang="en-US" sz="1100" b="1" u="sng">
                          <a:solidFill>
                            <a:schemeClr val="bg1"/>
                          </a:solidFill>
                          <a:latin typeface="Meiryo UI" panose="020B0604030504040204" pitchFamily="50" charset="-128"/>
                          <a:ea typeface="Meiryo UI" panose="020B0604030504040204" pitchFamily="50" charset="-128"/>
                        </a:rPr>
                        <a:t>なし</a:t>
                      </a:r>
                      <a:endParaRPr kumimoji="1" lang="ja-JP" altLang="en-US" sz="1100" b="1" u="sng" dirty="0">
                        <a:solidFill>
                          <a:schemeClr val="bg1"/>
                        </a:solidFill>
                        <a:latin typeface="Meiryo UI" panose="020B0604030504040204" pitchFamily="50" charset="-128"/>
                        <a:ea typeface="Meiryo UI" panose="020B0604030504040204" pitchFamily="50" charset="-128"/>
                      </a:endParaRPr>
                    </a:p>
                  </a:txBody>
                  <a:tcPr anchor="ctr">
                    <a:lnL w="6350" cap="flat" cmpd="sng" algn="ctr">
                      <a:solidFill>
                        <a:sysClr val="window" lastClr="FFFFFF">
                          <a:lumMod val="50000"/>
                        </a:sys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rgbClr val="5DAEFF">
                        <a:lumMod val="60000"/>
                        <a:lumOff val="40000"/>
                      </a:srgbClr>
                    </a:solidFill>
                  </a:tcPr>
                </a:tc>
                <a:extLst>
                  <a:ext uri="{0D108BD9-81ED-4DB2-BD59-A6C34878D82A}">
                    <a16:rowId xmlns:a16="http://schemas.microsoft.com/office/drawing/2014/main" val="1958872298"/>
                  </a:ext>
                </a:extLst>
              </a:tr>
              <a:tr h="235362">
                <a:tc vMerge="1">
                  <a:txBody>
                    <a:bodyPr/>
                    <a:lstStyle/>
                    <a:p>
                      <a:endParaRPr kumimoji="1" lang="ja-JP" altLang="en-US" sz="1200" dirty="0">
                        <a:solidFill>
                          <a:schemeClr val="tx1"/>
                        </a:solidFill>
                        <a:latin typeface="Meiryo UI" panose="020B0604030504040204" pitchFamily="50" charset="-128"/>
                        <a:ea typeface="Meiryo UI" panose="020B0604030504040204" pitchFamily="50" charset="-128"/>
                      </a:endParaRPr>
                    </a:p>
                  </a:txBody>
                  <a:tcPr>
                    <a:lnL w="1270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kumimoji="1" sz="1800" kern="1200">
                          <a:solidFill>
                            <a:schemeClr val="dk1"/>
                          </a:solidFill>
                          <a:latin typeface="Segoe UI"/>
                          <a:ea typeface="メイリオ"/>
                        </a:defRPr>
                      </a:lvl1pPr>
                      <a:lvl2pPr marL="457200" algn="l" defTabSz="914400" rtl="0" eaLnBrk="1" latinLnBrk="0" hangingPunct="1">
                        <a:defRPr kumimoji="1" sz="1800" kern="1200">
                          <a:solidFill>
                            <a:schemeClr val="dk1"/>
                          </a:solidFill>
                          <a:latin typeface="Segoe UI"/>
                          <a:ea typeface="メイリオ"/>
                        </a:defRPr>
                      </a:lvl2pPr>
                      <a:lvl3pPr marL="914400" algn="l" defTabSz="914400" rtl="0" eaLnBrk="1" latinLnBrk="0" hangingPunct="1">
                        <a:defRPr kumimoji="1" sz="1800" kern="1200">
                          <a:solidFill>
                            <a:schemeClr val="dk1"/>
                          </a:solidFill>
                          <a:latin typeface="Segoe UI"/>
                          <a:ea typeface="メイリオ"/>
                        </a:defRPr>
                      </a:lvl3pPr>
                      <a:lvl4pPr marL="1371600" algn="l" defTabSz="914400" rtl="0" eaLnBrk="1" latinLnBrk="0" hangingPunct="1">
                        <a:defRPr kumimoji="1" sz="1800" kern="1200">
                          <a:solidFill>
                            <a:schemeClr val="dk1"/>
                          </a:solidFill>
                          <a:latin typeface="Segoe UI"/>
                          <a:ea typeface="メイリオ"/>
                        </a:defRPr>
                      </a:lvl4pPr>
                      <a:lvl5pPr marL="1828800" algn="l" defTabSz="914400" rtl="0" eaLnBrk="1" latinLnBrk="0" hangingPunct="1">
                        <a:defRPr kumimoji="1" sz="1800" kern="1200">
                          <a:solidFill>
                            <a:schemeClr val="dk1"/>
                          </a:solidFill>
                          <a:latin typeface="Segoe UI"/>
                          <a:ea typeface="メイリオ"/>
                        </a:defRPr>
                      </a:lvl5pPr>
                      <a:lvl6pPr marL="2286000" algn="l" defTabSz="914400" rtl="0" eaLnBrk="1" latinLnBrk="0" hangingPunct="1">
                        <a:defRPr kumimoji="1" sz="1800" kern="1200">
                          <a:solidFill>
                            <a:schemeClr val="dk1"/>
                          </a:solidFill>
                          <a:latin typeface="Segoe UI"/>
                          <a:ea typeface="メイリオ"/>
                        </a:defRPr>
                      </a:lvl6pPr>
                      <a:lvl7pPr marL="2743200" algn="l" defTabSz="914400" rtl="0" eaLnBrk="1" latinLnBrk="0" hangingPunct="1">
                        <a:defRPr kumimoji="1" sz="1800" kern="1200">
                          <a:solidFill>
                            <a:schemeClr val="dk1"/>
                          </a:solidFill>
                          <a:latin typeface="Segoe UI"/>
                          <a:ea typeface="メイリオ"/>
                        </a:defRPr>
                      </a:lvl7pPr>
                      <a:lvl8pPr marL="3200400" algn="l" defTabSz="914400" rtl="0" eaLnBrk="1" latinLnBrk="0" hangingPunct="1">
                        <a:defRPr kumimoji="1" sz="1800" kern="1200">
                          <a:solidFill>
                            <a:schemeClr val="dk1"/>
                          </a:solidFill>
                          <a:latin typeface="Segoe UI"/>
                          <a:ea typeface="メイリオ"/>
                        </a:defRPr>
                      </a:lvl8pPr>
                      <a:lvl9pPr marL="3657600" algn="l" defTabSz="914400" rtl="0" eaLnBrk="1" latinLnBrk="0" hangingPunct="1">
                        <a:defRPr kumimoji="1" sz="1800" kern="1200">
                          <a:solidFill>
                            <a:schemeClr val="dk1"/>
                          </a:solidFill>
                          <a:latin typeface="Segoe UI"/>
                          <a:ea typeface="メイリオ"/>
                        </a:defRPr>
                      </a:lvl9pPr>
                    </a:lstStyle>
                    <a:p>
                      <a:pPr algn="ctr"/>
                      <a:r>
                        <a:rPr kumimoji="1" lang="ja-JP" altLang="en-US" sz="1100" b="1" dirty="0">
                          <a:solidFill>
                            <a:schemeClr val="bg1"/>
                          </a:solidFill>
                          <a:latin typeface="Meiryo UI" panose="020B0604030504040204" pitchFamily="50" charset="-128"/>
                          <a:ea typeface="Meiryo UI" panose="020B0604030504040204" pitchFamily="50" charset="-128"/>
                        </a:rPr>
                        <a:t>求人応募</a:t>
                      </a:r>
                      <a:r>
                        <a:rPr kumimoji="1" lang="ja-JP" altLang="en-US" sz="1100" b="1" u="sng" dirty="0">
                          <a:solidFill>
                            <a:schemeClr val="bg1"/>
                          </a:solidFill>
                          <a:latin typeface="Meiryo UI" panose="020B0604030504040204" pitchFamily="50" charset="-128"/>
                          <a:ea typeface="Meiryo UI" panose="020B0604030504040204" pitchFamily="50" charset="-128"/>
                        </a:rPr>
                        <a:t>あり</a:t>
                      </a:r>
                    </a:p>
                  </a:txBody>
                  <a:tcPr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ysDash"/>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FF0066">
                        <a:lumMod val="60000"/>
                        <a:lumOff val="40000"/>
                      </a:srgbClr>
                    </a:solidFill>
                  </a:tcPr>
                </a:tc>
                <a:tc>
                  <a:txBody>
                    <a:bodyPr/>
                    <a:lstStyle/>
                    <a:p>
                      <a:pPr algn="ctr"/>
                      <a:r>
                        <a:rPr kumimoji="1" lang="ja-JP" altLang="en-US" sz="1100" b="1">
                          <a:solidFill>
                            <a:schemeClr val="bg1"/>
                          </a:solidFill>
                          <a:latin typeface="Meiryo UI" panose="020B0604030504040204" pitchFamily="50" charset="-128"/>
                          <a:ea typeface="Meiryo UI" panose="020B0604030504040204" pitchFamily="50" charset="-128"/>
                        </a:rPr>
                        <a:t>求人応募</a:t>
                      </a:r>
                      <a:r>
                        <a:rPr kumimoji="1" lang="ja-JP" altLang="en-US" sz="1100" b="1" u="sng">
                          <a:solidFill>
                            <a:schemeClr val="bg1"/>
                          </a:solidFill>
                          <a:latin typeface="Meiryo UI" panose="020B0604030504040204" pitchFamily="50" charset="-128"/>
                          <a:ea typeface="Meiryo UI" panose="020B0604030504040204" pitchFamily="50" charset="-128"/>
                        </a:rPr>
                        <a:t>なし</a:t>
                      </a:r>
                      <a:endParaRPr kumimoji="1" lang="ja-JP" altLang="en-US" sz="1100" b="1" u="sng" dirty="0">
                        <a:solidFill>
                          <a:schemeClr val="bg1"/>
                        </a:solidFill>
                        <a:latin typeface="Meiryo UI" panose="020B0604030504040204" pitchFamily="50" charset="-128"/>
                        <a:ea typeface="Meiryo UI" panose="020B0604030504040204" pitchFamily="50" charset="-128"/>
                      </a:endParaRPr>
                    </a:p>
                  </a:txBody>
                  <a:tcPr anchor="ctr">
                    <a:lnL w="6350" cap="flat" cmpd="sng" algn="ctr">
                      <a:solidFill>
                        <a:sysClr val="window" lastClr="FFFFFF">
                          <a:lumMod val="50000"/>
                        </a:sysClr>
                      </a:solidFill>
                      <a:prstDash val="sysDash"/>
                      <a:round/>
                      <a:headEnd type="none" w="med" len="med"/>
                      <a:tailEnd type="none" w="med" len="med"/>
                    </a:lnL>
                    <a:lnR w="6350" cap="flat" cmpd="sng" algn="ctr">
                      <a:solidFill>
                        <a:sysClr val="window" lastClr="FFFFFF">
                          <a:lumMod val="50000"/>
                        </a:sysClr>
                      </a:solidFill>
                      <a:prstDash val="sysDash"/>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FF0066">
                        <a:lumMod val="60000"/>
                        <a:lumOff val="40000"/>
                      </a:srgbClr>
                    </a:solidFill>
                  </a:tcPr>
                </a:tc>
                <a:tc>
                  <a:txBody>
                    <a:bodyPr/>
                    <a:lstStyle/>
                    <a:p>
                      <a:pPr algn="ctr"/>
                      <a:r>
                        <a:rPr kumimoji="1" lang="ja-JP" altLang="en-US" sz="1100" b="1">
                          <a:solidFill>
                            <a:schemeClr val="bg1"/>
                          </a:solidFill>
                          <a:latin typeface="Meiryo UI" panose="020B0604030504040204" pitchFamily="50" charset="-128"/>
                          <a:ea typeface="Meiryo UI" panose="020B0604030504040204" pitchFamily="50" charset="-128"/>
                        </a:rPr>
                        <a:t>求人応募</a:t>
                      </a:r>
                      <a:r>
                        <a:rPr kumimoji="1" lang="ja-JP" altLang="en-US" sz="1100" b="1" u="sng">
                          <a:solidFill>
                            <a:schemeClr val="bg1"/>
                          </a:solidFill>
                          <a:latin typeface="Meiryo UI" panose="020B0604030504040204" pitchFamily="50" charset="-128"/>
                          <a:ea typeface="Meiryo UI" panose="020B0604030504040204" pitchFamily="50" charset="-128"/>
                        </a:rPr>
                        <a:t>なし</a:t>
                      </a:r>
                      <a:endParaRPr kumimoji="1" lang="ja-JP" altLang="en-US" sz="1100" b="1" u="sng" dirty="0">
                        <a:solidFill>
                          <a:schemeClr val="bg1"/>
                        </a:solidFill>
                        <a:latin typeface="Meiryo UI" panose="020B0604030504040204" pitchFamily="50" charset="-128"/>
                        <a:ea typeface="Meiryo UI" panose="020B0604030504040204" pitchFamily="50" charset="-128"/>
                      </a:endParaRPr>
                    </a:p>
                  </a:txBody>
                  <a:tcPr anchor="ctr">
                    <a:lnL w="6350" cap="flat" cmpd="sng" algn="ctr">
                      <a:solidFill>
                        <a:sysClr val="window" lastClr="FFFFFF">
                          <a:lumMod val="50000"/>
                        </a:sysClr>
                      </a:solidFill>
                      <a:prstDash val="sysDash"/>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FF0066">
                        <a:lumMod val="60000"/>
                        <a:lumOff val="40000"/>
                      </a:srgbClr>
                    </a:solidFill>
                  </a:tcPr>
                </a:tc>
                <a:tc>
                  <a:txBody>
                    <a:bodyPr/>
                    <a:lstStyle/>
                    <a:p>
                      <a:pPr algn="ctr"/>
                      <a:r>
                        <a:rPr kumimoji="1" lang="ja-JP" altLang="en-US" sz="1100" b="1">
                          <a:solidFill>
                            <a:schemeClr val="bg1"/>
                          </a:solidFill>
                          <a:latin typeface="Meiryo UI" panose="020B0604030504040204" pitchFamily="50" charset="-128"/>
                          <a:ea typeface="Meiryo UI" panose="020B0604030504040204" pitchFamily="50" charset="-128"/>
                        </a:rPr>
                        <a:t>求人応募</a:t>
                      </a:r>
                      <a:r>
                        <a:rPr kumimoji="1" lang="ja-JP" altLang="en-US" sz="1100" b="1" u="sng">
                          <a:solidFill>
                            <a:schemeClr val="bg1"/>
                          </a:solidFill>
                          <a:latin typeface="Meiryo UI" panose="020B0604030504040204" pitchFamily="50" charset="-128"/>
                          <a:ea typeface="Meiryo UI" panose="020B0604030504040204" pitchFamily="50" charset="-128"/>
                        </a:rPr>
                        <a:t>なし</a:t>
                      </a:r>
                      <a:endParaRPr kumimoji="1" lang="ja-JP" altLang="en-US" sz="1100" b="1" u="sng" dirty="0">
                        <a:solidFill>
                          <a:schemeClr val="bg1"/>
                        </a:solidFill>
                        <a:latin typeface="Meiryo UI" panose="020B0604030504040204" pitchFamily="50" charset="-128"/>
                        <a:ea typeface="Meiryo UI" panose="020B0604030504040204" pitchFamily="50" charset="-128"/>
                      </a:endParaRPr>
                    </a:p>
                  </a:txBody>
                  <a:tcPr anchor="ctr">
                    <a:lnL w="6350" cap="flat" cmpd="sng" algn="ctr">
                      <a:solidFill>
                        <a:sysClr val="window" lastClr="FFFFFF">
                          <a:lumMod val="50000"/>
                        </a:sys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rgbClr val="5DAEFF">
                        <a:lumMod val="60000"/>
                        <a:lumOff val="40000"/>
                      </a:srgbClr>
                    </a:solidFill>
                  </a:tcPr>
                </a:tc>
                <a:extLst>
                  <a:ext uri="{0D108BD9-81ED-4DB2-BD59-A6C34878D82A}">
                    <a16:rowId xmlns:a16="http://schemas.microsoft.com/office/drawing/2014/main" val="4115238285"/>
                  </a:ext>
                </a:extLst>
              </a:tr>
              <a:tr h="491476">
                <a:tc>
                  <a:txBody>
                    <a:bodyPr/>
                    <a:lstStyle>
                      <a:lvl1pPr marL="0" algn="l" defTabSz="914400" rtl="0" eaLnBrk="1" latinLnBrk="0" hangingPunct="1">
                        <a:defRPr kumimoji="1" sz="1800" kern="1200">
                          <a:solidFill>
                            <a:schemeClr val="dk1"/>
                          </a:solidFill>
                          <a:latin typeface="Segoe UI"/>
                          <a:ea typeface="メイリオ"/>
                        </a:defRPr>
                      </a:lvl1pPr>
                      <a:lvl2pPr marL="457200" algn="l" defTabSz="914400" rtl="0" eaLnBrk="1" latinLnBrk="0" hangingPunct="1">
                        <a:defRPr kumimoji="1" sz="1800" kern="1200">
                          <a:solidFill>
                            <a:schemeClr val="dk1"/>
                          </a:solidFill>
                          <a:latin typeface="Segoe UI"/>
                          <a:ea typeface="メイリオ"/>
                        </a:defRPr>
                      </a:lvl2pPr>
                      <a:lvl3pPr marL="914400" algn="l" defTabSz="914400" rtl="0" eaLnBrk="1" latinLnBrk="0" hangingPunct="1">
                        <a:defRPr kumimoji="1" sz="1800" kern="1200">
                          <a:solidFill>
                            <a:schemeClr val="dk1"/>
                          </a:solidFill>
                          <a:latin typeface="Segoe UI"/>
                          <a:ea typeface="メイリオ"/>
                        </a:defRPr>
                      </a:lvl3pPr>
                      <a:lvl4pPr marL="1371600" algn="l" defTabSz="914400" rtl="0" eaLnBrk="1" latinLnBrk="0" hangingPunct="1">
                        <a:defRPr kumimoji="1" sz="1800" kern="1200">
                          <a:solidFill>
                            <a:schemeClr val="dk1"/>
                          </a:solidFill>
                          <a:latin typeface="Segoe UI"/>
                          <a:ea typeface="メイリオ"/>
                        </a:defRPr>
                      </a:lvl4pPr>
                      <a:lvl5pPr marL="1828800" algn="l" defTabSz="914400" rtl="0" eaLnBrk="1" latinLnBrk="0" hangingPunct="1">
                        <a:defRPr kumimoji="1" sz="1800" kern="1200">
                          <a:solidFill>
                            <a:schemeClr val="dk1"/>
                          </a:solidFill>
                          <a:latin typeface="Segoe UI"/>
                          <a:ea typeface="メイリオ"/>
                        </a:defRPr>
                      </a:lvl5pPr>
                      <a:lvl6pPr marL="2286000" algn="l" defTabSz="914400" rtl="0" eaLnBrk="1" latinLnBrk="0" hangingPunct="1">
                        <a:defRPr kumimoji="1" sz="1800" kern="1200">
                          <a:solidFill>
                            <a:schemeClr val="dk1"/>
                          </a:solidFill>
                          <a:latin typeface="Segoe UI"/>
                          <a:ea typeface="メイリオ"/>
                        </a:defRPr>
                      </a:lvl6pPr>
                      <a:lvl7pPr marL="2743200" algn="l" defTabSz="914400" rtl="0" eaLnBrk="1" latinLnBrk="0" hangingPunct="1">
                        <a:defRPr kumimoji="1" sz="1800" kern="1200">
                          <a:solidFill>
                            <a:schemeClr val="dk1"/>
                          </a:solidFill>
                          <a:latin typeface="Segoe UI"/>
                          <a:ea typeface="メイリオ"/>
                        </a:defRPr>
                      </a:lvl7pPr>
                      <a:lvl8pPr marL="3200400" algn="l" defTabSz="914400" rtl="0" eaLnBrk="1" latinLnBrk="0" hangingPunct="1">
                        <a:defRPr kumimoji="1" sz="1800" kern="1200">
                          <a:solidFill>
                            <a:schemeClr val="dk1"/>
                          </a:solidFill>
                          <a:latin typeface="Segoe UI"/>
                          <a:ea typeface="メイリオ"/>
                        </a:defRPr>
                      </a:lvl8pPr>
                      <a:lvl9pPr marL="3657600" algn="l" defTabSz="914400" rtl="0" eaLnBrk="1" latinLnBrk="0" hangingPunct="1">
                        <a:defRPr kumimoji="1" sz="1800" kern="1200">
                          <a:solidFill>
                            <a:schemeClr val="dk1"/>
                          </a:solidFill>
                          <a:latin typeface="Segoe UI"/>
                          <a:ea typeface="メイリオ"/>
                        </a:defRPr>
                      </a:lvl9pP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基本属性情報</a:t>
                      </a:r>
                    </a:p>
                  </a:txBody>
                  <a:tcPr anchor="ctr">
                    <a:lnL w="12700" cap="flat" cmpd="sng" algn="ctr">
                      <a:no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kumimoji="1" sz="1800" kern="1200">
                          <a:solidFill>
                            <a:schemeClr val="dk1"/>
                          </a:solidFill>
                          <a:latin typeface="Segoe UI"/>
                          <a:ea typeface="メイリオ"/>
                        </a:defRPr>
                      </a:lvl1pPr>
                      <a:lvl2pPr marL="457200" algn="l" defTabSz="914400" rtl="0" eaLnBrk="1" latinLnBrk="0" hangingPunct="1">
                        <a:defRPr kumimoji="1" sz="1800" kern="1200">
                          <a:solidFill>
                            <a:schemeClr val="dk1"/>
                          </a:solidFill>
                          <a:latin typeface="Segoe UI"/>
                          <a:ea typeface="メイリオ"/>
                        </a:defRPr>
                      </a:lvl2pPr>
                      <a:lvl3pPr marL="914400" algn="l" defTabSz="914400" rtl="0" eaLnBrk="1" latinLnBrk="0" hangingPunct="1">
                        <a:defRPr kumimoji="1" sz="1800" kern="1200">
                          <a:solidFill>
                            <a:schemeClr val="dk1"/>
                          </a:solidFill>
                          <a:latin typeface="Segoe UI"/>
                          <a:ea typeface="メイリオ"/>
                        </a:defRPr>
                      </a:lvl3pPr>
                      <a:lvl4pPr marL="1371600" algn="l" defTabSz="914400" rtl="0" eaLnBrk="1" latinLnBrk="0" hangingPunct="1">
                        <a:defRPr kumimoji="1" sz="1800" kern="1200">
                          <a:solidFill>
                            <a:schemeClr val="dk1"/>
                          </a:solidFill>
                          <a:latin typeface="Segoe UI"/>
                          <a:ea typeface="メイリオ"/>
                        </a:defRPr>
                      </a:lvl4pPr>
                      <a:lvl5pPr marL="1828800" algn="l" defTabSz="914400" rtl="0" eaLnBrk="1" latinLnBrk="0" hangingPunct="1">
                        <a:defRPr kumimoji="1" sz="1800" kern="1200">
                          <a:solidFill>
                            <a:schemeClr val="dk1"/>
                          </a:solidFill>
                          <a:latin typeface="Segoe UI"/>
                          <a:ea typeface="メイリオ"/>
                        </a:defRPr>
                      </a:lvl5pPr>
                      <a:lvl6pPr marL="2286000" algn="l" defTabSz="914400" rtl="0" eaLnBrk="1" latinLnBrk="0" hangingPunct="1">
                        <a:defRPr kumimoji="1" sz="1800" kern="1200">
                          <a:solidFill>
                            <a:schemeClr val="dk1"/>
                          </a:solidFill>
                          <a:latin typeface="Segoe UI"/>
                          <a:ea typeface="メイリオ"/>
                        </a:defRPr>
                      </a:lvl6pPr>
                      <a:lvl7pPr marL="2743200" algn="l" defTabSz="914400" rtl="0" eaLnBrk="1" latinLnBrk="0" hangingPunct="1">
                        <a:defRPr kumimoji="1" sz="1800" kern="1200">
                          <a:solidFill>
                            <a:schemeClr val="dk1"/>
                          </a:solidFill>
                          <a:latin typeface="Segoe UI"/>
                          <a:ea typeface="メイリオ"/>
                        </a:defRPr>
                      </a:lvl7pPr>
                      <a:lvl8pPr marL="3200400" algn="l" defTabSz="914400" rtl="0" eaLnBrk="1" latinLnBrk="0" hangingPunct="1">
                        <a:defRPr kumimoji="1" sz="1800" kern="1200">
                          <a:solidFill>
                            <a:schemeClr val="dk1"/>
                          </a:solidFill>
                          <a:latin typeface="Segoe UI"/>
                          <a:ea typeface="メイリオ"/>
                        </a:defRPr>
                      </a:lvl8pPr>
                      <a:lvl9pPr marL="3657600" algn="l" defTabSz="914400" rtl="0" eaLnBrk="1" latinLnBrk="0" hangingPunct="1">
                        <a:defRPr kumimoji="1" sz="1800" kern="1200">
                          <a:solidFill>
                            <a:schemeClr val="dk1"/>
                          </a:solidFill>
                          <a:latin typeface="Segoe UI"/>
                          <a:ea typeface="メイリオ"/>
                        </a:defRPr>
                      </a:lvl9pPr>
                    </a:lstStyle>
                    <a:p>
                      <a:pPr algn="ctr"/>
                      <a:r>
                        <a:rPr kumimoji="1" lang="ja-JP" altLang="en-US" sz="900" dirty="0">
                          <a:solidFill>
                            <a:schemeClr val="tx1"/>
                          </a:solidFill>
                          <a:latin typeface="Meiryo UI" panose="020B0604030504040204" pitchFamily="50" charset="-128"/>
                          <a:ea typeface="Meiryo UI" panose="020B0604030504040204" pitchFamily="50" charset="-128"/>
                        </a:rPr>
                        <a:t>管理職以外正社員が</a:t>
                      </a:r>
                      <a:r>
                        <a:rPr kumimoji="1" lang="en-US" altLang="ja-JP" sz="900" dirty="0">
                          <a:solidFill>
                            <a:schemeClr val="tx1"/>
                          </a:solidFill>
                          <a:latin typeface="Meiryo UI" panose="020B0604030504040204" pitchFamily="50" charset="-128"/>
                          <a:ea typeface="Meiryo UI" panose="020B0604030504040204" pitchFamily="50" charset="-128"/>
                        </a:rPr>
                        <a:t>6</a:t>
                      </a:r>
                      <a:r>
                        <a:rPr kumimoji="1" lang="ja-JP" altLang="en-US" sz="900" dirty="0">
                          <a:solidFill>
                            <a:schemeClr val="tx1"/>
                          </a:solidFill>
                          <a:latin typeface="Meiryo UI" panose="020B0604030504040204" pitchFamily="50" charset="-128"/>
                          <a:ea typeface="Meiryo UI" panose="020B0604030504040204" pitchFamily="50" charset="-128"/>
                        </a:rPr>
                        <a:t>割半ば。</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ja-JP" altLang="en-US" sz="900" dirty="0">
                          <a:solidFill>
                            <a:schemeClr val="tx1"/>
                          </a:solidFill>
                          <a:latin typeface="Meiryo UI" panose="020B0604030504040204" pitchFamily="50" charset="-128"/>
                          <a:ea typeface="Meiryo UI" panose="020B0604030504040204" pitchFamily="50" charset="-128"/>
                        </a:rPr>
                        <a:t>「必ず転職したい」が</a:t>
                      </a:r>
                      <a:r>
                        <a:rPr kumimoji="1" lang="en-US" altLang="ja-JP" sz="900" dirty="0">
                          <a:solidFill>
                            <a:schemeClr val="tx1"/>
                          </a:solidFill>
                          <a:latin typeface="Meiryo UI" panose="020B0604030504040204" pitchFamily="50" charset="-128"/>
                          <a:ea typeface="Meiryo UI" panose="020B0604030504040204" pitchFamily="50" charset="-128"/>
                        </a:rPr>
                        <a:t>5</a:t>
                      </a:r>
                      <a:r>
                        <a:rPr kumimoji="1" lang="ja-JP" altLang="en-US" sz="900" dirty="0">
                          <a:solidFill>
                            <a:schemeClr val="tx1"/>
                          </a:solidFill>
                          <a:latin typeface="Meiryo UI" panose="020B0604030504040204" pitchFamily="50" charset="-128"/>
                          <a:ea typeface="Meiryo UI" panose="020B0604030504040204" pitchFamily="50" charset="-128"/>
                        </a:rPr>
                        <a:t>割半ば。</a:t>
                      </a:r>
                    </a:p>
                  </a:txBody>
                  <a:tcPr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ysDash"/>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a:r>
                        <a:rPr kumimoji="1" lang="ja-JP" altLang="en-US" sz="900">
                          <a:solidFill>
                            <a:schemeClr val="tx1"/>
                          </a:solidFill>
                          <a:latin typeface="Meiryo UI" panose="020B0604030504040204" pitchFamily="50" charset="-128"/>
                          <a:ea typeface="Meiryo UI" panose="020B0604030504040204" pitchFamily="50" charset="-128"/>
                        </a:rPr>
                        <a:t>管理職以外正社員が</a:t>
                      </a:r>
                      <a:r>
                        <a:rPr kumimoji="1" lang="en-US" altLang="ja-JP" sz="900">
                          <a:solidFill>
                            <a:schemeClr val="tx1"/>
                          </a:solidFill>
                          <a:latin typeface="Meiryo UI" panose="020B0604030504040204" pitchFamily="50" charset="-128"/>
                          <a:ea typeface="Meiryo UI" panose="020B0604030504040204" pitchFamily="50" charset="-128"/>
                        </a:rPr>
                        <a:t>6</a:t>
                      </a:r>
                      <a:r>
                        <a:rPr kumimoji="1" lang="ja-JP" altLang="en-US" sz="900">
                          <a:solidFill>
                            <a:schemeClr val="tx1"/>
                          </a:solidFill>
                          <a:latin typeface="Meiryo UI" panose="020B0604030504040204" pitchFamily="50" charset="-128"/>
                          <a:ea typeface="Meiryo UI" panose="020B0604030504040204" pitchFamily="50" charset="-128"/>
                        </a:rPr>
                        <a:t>割強。</a:t>
                      </a:r>
                      <a:endParaRPr kumimoji="1" lang="en-US" altLang="ja-JP" sz="900">
                        <a:solidFill>
                          <a:schemeClr val="tx1"/>
                        </a:solidFill>
                        <a:latin typeface="Meiryo UI" panose="020B0604030504040204" pitchFamily="50" charset="-128"/>
                        <a:ea typeface="Meiryo UI" panose="020B0604030504040204" pitchFamily="50" charset="-128"/>
                      </a:endParaRPr>
                    </a:p>
                    <a:p>
                      <a:pPr algn="ctr"/>
                      <a:r>
                        <a:rPr kumimoji="1" lang="ja-JP" altLang="en-US" sz="900" b="1">
                          <a:solidFill>
                            <a:schemeClr val="tx1"/>
                          </a:solidFill>
                          <a:latin typeface="Meiryo UI" panose="020B0604030504040204" pitchFamily="50" charset="-128"/>
                          <a:ea typeface="Meiryo UI" panose="020B0604030504040204" pitchFamily="50" charset="-128"/>
                        </a:rPr>
                        <a:t>「必ず転職したい」が</a:t>
                      </a:r>
                      <a:r>
                        <a:rPr kumimoji="1" lang="en-US" altLang="ja-JP" sz="900" b="1">
                          <a:solidFill>
                            <a:schemeClr val="tx1"/>
                          </a:solidFill>
                          <a:latin typeface="Meiryo UI" panose="020B0604030504040204" pitchFamily="50" charset="-128"/>
                          <a:ea typeface="Meiryo UI" panose="020B0604030504040204" pitchFamily="50" charset="-128"/>
                        </a:rPr>
                        <a:t>4</a:t>
                      </a:r>
                      <a:r>
                        <a:rPr kumimoji="1" lang="ja-JP" altLang="en-US" sz="900" b="1">
                          <a:solidFill>
                            <a:schemeClr val="tx1"/>
                          </a:solidFill>
                          <a:latin typeface="Meiryo UI" panose="020B0604030504040204" pitchFamily="50" charset="-128"/>
                          <a:ea typeface="Meiryo UI" panose="020B0604030504040204" pitchFamily="50" charset="-128"/>
                        </a:rPr>
                        <a:t>割半ば</a:t>
                      </a:r>
                      <a:r>
                        <a:rPr kumimoji="1" lang="ja-JP" altLang="en-US" sz="900">
                          <a:solidFill>
                            <a:schemeClr val="tx1"/>
                          </a:solidFill>
                          <a:latin typeface="Meiryo UI" panose="020B0604030504040204" pitchFamily="50" charset="-128"/>
                          <a:ea typeface="Meiryo UI" panose="020B0604030504040204" pitchFamily="50" charset="-128"/>
                        </a:rPr>
                        <a:t>に留まる。</a:t>
                      </a:r>
                      <a:endParaRPr kumimoji="1" lang="ja-JP" altLang="en-US" sz="900" dirty="0">
                        <a:solidFill>
                          <a:schemeClr val="tx1"/>
                        </a:solidFill>
                        <a:latin typeface="Meiryo UI" panose="020B0604030504040204" pitchFamily="50" charset="-128"/>
                        <a:ea typeface="Meiryo UI" panose="020B0604030504040204" pitchFamily="50" charset="-128"/>
                      </a:endParaRPr>
                    </a:p>
                  </a:txBody>
                  <a:tcPr anchor="ctr">
                    <a:lnL w="6350" cap="flat" cmpd="sng" algn="ctr">
                      <a:solidFill>
                        <a:sysClr val="window" lastClr="FFFFFF">
                          <a:lumMod val="50000"/>
                        </a:sysClr>
                      </a:solidFill>
                      <a:prstDash val="sysDash"/>
                      <a:round/>
                      <a:headEnd type="none" w="med" len="med"/>
                      <a:tailEnd type="none" w="med" len="med"/>
                    </a:lnL>
                    <a:lnR w="6350" cap="flat" cmpd="sng" algn="ctr">
                      <a:solidFill>
                        <a:sysClr val="window" lastClr="FFFFFF">
                          <a:lumMod val="50000"/>
                        </a:sysClr>
                      </a:solidFill>
                      <a:prstDash val="sysDash"/>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a:r>
                        <a:rPr kumimoji="1" lang="ja-JP" altLang="en-US" sz="900" b="1">
                          <a:solidFill>
                            <a:schemeClr val="tx1"/>
                          </a:solidFill>
                          <a:latin typeface="Meiryo UI" panose="020B0604030504040204" pitchFamily="50" charset="-128"/>
                          <a:ea typeface="Meiryo UI" panose="020B0604030504040204" pitchFamily="50" charset="-128"/>
                        </a:rPr>
                        <a:t>管理職以外正社員が</a:t>
                      </a:r>
                      <a:r>
                        <a:rPr kumimoji="1" lang="en-US" altLang="ja-JP" sz="900" b="1">
                          <a:solidFill>
                            <a:schemeClr val="tx1"/>
                          </a:solidFill>
                          <a:latin typeface="Meiryo UI" panose="020B0604030504040204" pitchFamily="50" charset="-128"/>
                          <a:ea typeface="Meiryo UI" panose="020B0604030504040204" pitchFamily="50" charset="-128"/>
                        </a:rPr>
                        <a:t>3</a:t>
                      </a:r>
                      <a:r>
                        <a:rPr kumimoji="1" lang="ja-JP" altLang="en-US" sz="900" b="1">
                          <a:solidFill>
                            <a:schemeClr val="tx1"/>
                          </a:solidFill>
                          <a:latin typeface="Meiryo UI" panose="020B0604030504040204" pitchFamily="50" charset="-128"/>
                          <a:ea typeface="Meiryo UI" panose="020B0604030504040204" pitchFamily="50" charset="-128"/>
                        </a:rPr>
                        <a:t>割前半に留まり</a:t>
                      </a:r>
                      <a:r>
                        <a:rPr kumimoji="1" lang="ja-JP" altLang="en-US" sz="900">
                          <a:solidFill>
                            <a:schemeClr val="tx1"/>
                          </a:solidFill>
                          <a:latin typeface="Meiryo UI" panose="020B0604030504040204" pitchFamily="50" charset="-128"/>
                          <a:ea typeface="Meiryo UI" panose="020B0604030504040204" pitchFamily="50" charset="-128"/>
                        </a:rPr>
                        <a:t>、</a:t>
                      </a:r>
                      <a:endParaRPr kumimoji="1" lang="en-US" altLang="ja-JP" sz="900">
                        <a:solidFill>
                          <a:schemeClr val="tx1"/>
                        </a:solidFill>
                        <a:latin typeface="Meiryo UI" panose="020B0604030504040204" pitchFamily="50" charset="-128"/>
                        <a:ea typeface="Meiryo UI" panose="020B0604030504040204" pitchFamily="50" charset="-128"/>
                      </a:endParaRPr>
                    </a:p>
                    <a:p>
                      <a:pPr algn="ctr"/>
                      <a:r>
                        <a:rPr kumimoji="1" lang="ja-JP" altLang="en-US" sz="900">
                          <a:solidFill>
                            <a:schemeClr val="tx1"/>
                          </a:solidFill>
                          <a:latin typeface="Meiryo UI" panose="020B0604030504040204" pitchFamily="50" charset="-128"/>
                          <a:ea typeface="Meiryo UI" panose="020B0604030504040204" pitchFamily="50" charset="-128"/>
                        </a:rPr>
                        <a:t>管理職・公務員・派遣・契約・嘱託がやや多め。</a:t>
                      </a:r>
                      <a:endParaRPr kumimoji="1" lang="en-US" altLang="ja-JP" sz="900">
                        <a:solidFill>
                          <a:schemeClr val="tx1"/>
                        </a:solidFill>
                        <a:latin typeface="Meiryo UI" panose="020B0604030504040204" pitchFamily="50" charset="-128"/>
                        <a:ea typeface="Meiryo UI" panose="020B0604030504040204" pitchFamily="50" charset="-128"/>
                      </a:endParaRPr>
                    </a:p>
                    <a:p>
                      <a:pPr algn="ctr"/>
                      <a:r>
                        <a:rPr kumimoji="1" lang="ja-JP" altLang="en-US" sz="900">
                          <a:solidFill>
                            <a:schemeClr val="tx1"/>
                          </a:solidFill>
                          <a:latin typeface="Meiryo UI" panose="020B0604030504040204" pitchFamily="50" charset="-128"/>
                          <a:ea typeface="Meiryo UI" panose="020B0604030504040204" pitchFamily="50" charset="-128"/>
                        </a:rPr>
                        <a:t>「必ず転職したい」が</a:t>
                      </a:r>
                      <a:r>
                        <a:rPr kumimoji="1" lang="en-US" altLang="ja-JP" sz="900">
                          <a:solidFill>
                            <a:schemeClr val="tx1"/>
                          </a:solidFill>
                          <a:latin typeface="Meiryo UI" panose="020B0604030504040204" pitchFamily="50" charset="-128"/>
                          <a:ea typeface="Meiryo UI" panose="020B0604030504040204" pitchFamily="50" charset="-128"/>
                        </a:rPr>
                        <a:t>5</a:t>
                      </a:r>
                      <a:r>
                        <a:rPr kumimoji="1" lang="ja-JP" altLang="en-US" sz="900">
                          <a:solidFill>
                            <a:schemeClr val="tx1"/>
                          </a:solidFill>
                          <a:latin typeface="Meiryo UI" panose="020B0604030504040204" pitchFamily="50" charset="-128"/>
                          <a:ea typeface="Meiryo UI" panose="020B0604030504040204" pitchFamily="50" charset="-128"/>
                        </a:rPr>
                        <a:t>割弱。</a:t>
                      </a:r>
                      <a:endParaRPr kumimoji="1" lang="ja-JP" altLang="en-US" sz="900" dirty="0">
                        <a:solidFill>
                          <a:schemeClr val="tx1"/>
                        </a:solidFill>
                        <a:latin typeface="Meiryo UI" panose="020B0604030504040204" pitchFamily="50" charset="-128"/>
                        <a:ea typeface="Meiryo UI" panose="020B0604030504040204" pitchFamily="50" charset="-128"/>
                      </a:endParaRPr>
                    </a:p>
                  </a:txBody>
                  <a:tcPr anchor="ctr">
                    <a:lnL w="6350" cap="flat" cmpd="sng" algn="ctr">
                      <a:solidFill>
                        <a:sysClr val="window" lastClr="FFFFFF">
                          <a:lumMod val="50000"/>
                        </a:sysClr>
                      </a:solidFill>
                      <a:prstDash val="sysDash"/>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a:r>
                        <a:rPr kumimoji="1" lang="ja-JP" altLang="en-US" sz="900">
                          <a:solidFill>
                            <a:schemeClr val="tx1"/>
                          </a:solidFill>
                          <a:latin typeface="Meiryo UI" panose="020B0604030504040204" pitchFamily="50" charset="-128"/>
                          <a:ea typeface="Meiryo UI" panose="020B0604030504040204" pitchFamily="50" charset="-128"/>
                        </a:rPr>
                        <a:t>管理職以外正社員が</a:t>
                      </a:r>
                      <a:r>
                        <a:rPr kumimoji="1" lang="en-US" altLang="ja-JP" sz="900">
                          <a:solidFill>
                            <a:schemeClr val="tx1"/>
                          </a:solidFill>
                          <a:latin typeface="Meiryo UI" panose="020B0604030504040204" pitchFamily="50" charset="-128"/>
                          <a:ea typeface="Meiryo UI" panose="020B0604030504040204" pitchFamily="50" charset="-128"/>
                        </a:rPr>
                        <a:t>7</a:t>
                      </a:r>
                      <a:r>
                        <a:rPr kumimoji="1" lang="ja-JP" altLang="en-US" sz="900">
                          <a:solidFill>
                            <a:schemeClr val="tx1"/>
                          </a:solidFill>
                          <a:latin typeface="Meiryo UI" panose="020B0604030504040204" pitchFamily="50" charset="-128"/>
                          <a:ea typeface="Meiryo UI" panose="020B0604030504040204" pitchFamily="50" charset="-128"/>
                        </a:rPr>
                        <a:t>割弱。</a:t>
                      </a:r>
                      <a:endParaRPr kumimoji="1" lang="en-US" altLang="ja-JP" sz="900">
                        <a:solidFill>
                          <a:schemeClr val="tx1"/>
                        </a:solidFill>
                        <a:latin typeface="Meiryo UI" panose="020B0604030504040204" pitchFamily="50" charset="-128"/>
                        <a:ea typeface="Meiryo UI" panose="020B0604030504040204" pitchFamily="50" charset="-128"/>
                      </a:endParaRPr>
                    </a:p>
                    <a:p>
                      <a:pPr algn="ctr"/>
                      <a:r>
                        <a:rPr kumimoji="1" lang="ja-JP" altLang="en-US" sz="900" b="1">
                          <a:solidFill>
                            <a:schemeClr val="tx1"/>
                          </a:solidFill>
                          <a:latin typeface="Meiryo UI" panose="020B0604030504040204" pitchFamily="50" charset="-128"/>
                          <a:ea typeface="Meiryo UI" panose="020B0604030504040204" pitchFamily="50" charset="-128"/>
                        </a:rPr>
                        <a:t>「必ず転職したい」が</a:t>
                      </a:r>
                      <a:r>
                        <a:rPr kumimoji="1" lang="en-US" altLang="ja-JP" sz="900" b="1">
                          <a:solidFill>
                            <a:schemeClr val="tx1"/>
                          </a:solidFill>
                          <a:latin typeface="Meiryo UI" panose="020B0604030504040204" pitchFamily="50" charset="-128"/>
                          <a:ea typeface="Meiryo UI" panose="020B0604030504040204" pitchFamily="50" charset="-128"/>
                        </a:rPr>
                        <a:t>3</a:t>
                      </a:r>
                      <a:r>
                        <a:rPr kumimoji="1" lang="ja-JP" altLang="en-US" sz="900" b="1">
                          <a:solidFill>
                            <a:schemeClr val="tx1"/>
                          </a:solidFill>
                          <a:latin typeface="Meiryo UI" panose="020B0604030504040204" pitchFamily="50" charset="-128"/>
                          <a:ea typeface="Meiryo UI" panose="020B0604030504040204" pitchFamily="50" charset="-128"/>
                        </a:rPr>
                        <a:t>割弱</a:t>
                      </a:r>
                      <a:r>
                        <a:rPr kumimoji="1" lang="ja-JP" altLang="en-US" sz="900">
                          <a:solidFill>
                            <a:schemeClr val="tx1"/>
                          </a:solidFill>
                          <a:latin typeface="Meiryo UI" panose="020B0604030504040204" pitchFamily="50" charset="-128"/>
                          <a:ea typeface="Meiryo UI" panose="020B0604030504040204" pitchFamily="50" charset="-128"/>
                        </a:rPr>
                        <a:t>に留まる。</a:t>
                      </a:r>
                      <a:endParaRPr kumimoji="1" lang="ja-JP" altLang="en-US" sz="900" dirty="0">
                        <a:solidFill>
                          <a:schemeClr val="tx1"/>
                        </a:solidFill>
                        <a:latin typeface="Meiryo UI" panose="020B0604030504040204" pitchFamily="50" charset="-128"/>
                        <a:ea typeface="Meiryo UI" panose="020B0604030504040204" pitchFamily="50" charset="-128"/>
                      </a:endParaRPr>
                    </a:p>
                  </a:txBody>
                  <a:tcPr anchor="ctr">
                    <a:lnL w="6350" cap="flat" cmpd="sng" algn="ctr">
                      <a:solidFill>
                        <a:sysClr val="window" lastClr="FFFFFF">
                          <a:lumMod val="50000"/>
                        </a:sys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439041870"/>
                  </a:ext>
                </a:extLst>
              </a:tr>
              <a:tr h="456878">
                <a:tc>
                  <a:txBody>
                    <a:bodyPr/>
                    <a:lstStyle>
                      <a:lvl1pPr marL="0" algn="l" defTabSz="914400" rtl="0" eaLnBrk="1" latinLnBrk="0" hangingPunct="1">
                        <a:defRPr kumimoji="1" sz="1800" kern="1200">
                          <a:solidFill>
                            <a:schemeClr val="dk1"/>
                          </a:solidFill>
                          <a:latin typeface="Segoe UI"/>
                          <a:ea typeface="メイリオ"/>
                        </a:defRPr>
                      </a:lvl1pPr>
                      <a:lvl2pPr marL="457200" algn="l" defTabSz="914400" rtl="0" eaLnBrk="1" latinLnBrk="0" hangingPunct="1">
                        <a:defRPr kumimoji="1" sz="1800" kern="1200">
                          <a:solidFill>
                            <a:schemeClr val="dk1"/>
                          </a:solidFill>
                          <a:latin typeface="Segoe UI"/>
                          <a:ea typeface="メイリオ"/>
                        </a:defRPr>
                      </a:lvl2pPr>
                      <a:lvl3pPr marL="914400" algn="l" defTabSz="914400" rtl="0" eaLnBrk="1" latinLnBrk="0" hangingPunct="1">
                        <a:defRPr kumimoji="1" sz="1800" kern="1200">
                          <a:solidFill>
                            <a:schemeClr val="dk1"/>
                          </a:solidFill>
                          <a:latin typeface="Segoe UI"/>
                          <a:ea typeface="メイリオ"/>
                        </a:defRPr>
                      </a:lvl3pPr>
                      <a:lvl4pPr marL="1371600" algn="l" defTabSz="914400" rtl="0" eaLnBrk="1" latinLnBrk="0" hangingPunct="1">
                        <a:defRPr kumimoji="1" sz="1800" kern="1200">
                          <a:solidFill>
                            <a:schemeClr val="dk1"/>
                          </a:solidFill>
                          <a:latin typeface="Segoe UI"/>
                          <a:ea typeface="メイリオ"/>
                        </a:defRPr>
                      </a:lvl4pPr>
                      <a:lvl5pPr marL="1828800" algn="l" defTabSz="914400" rtl="0" eaLnBrk="1" latinLnBrk="0" hangingPunct="1">
                        <a:defRPr kumimoji="1" sz="1800" kern="1200">
                          <a:solidFill>
                            <a:schemeClr val="dk1"/>
                          </a:solidFill>
                          <a:latin typeface="Segoe UI"/>
                          <a:ea typeface="メイリオ"/>
                        </a:defRPr>
                      </a:lvl5pPr>
                      <a:lvl6pPr marL="2286000" algn="l" defTabSz="914400" rtl="0" eaLnBrk="1" latinLnBrk="0" hangingPunct="1">
                        <a:defRPr kumimoji="1" sz="1800" kern="1200">
                          <a:solidFill>
                            <a:schemeClr val="dk1"/>
                          </a:solidFill>
                          <a:latin typeface="Segoe UI"/>
                          <a:ea typeface="メイリオ"/>
                        </a:defRPr>
                      </a:lvl6pPr>
                      <a:lvl7pPr marL="2743200" algn="l" defTabSz="914400" rtl="0" eaLnBrk="1" latinLnBrk="0" hangingPunct="1">
                        <a:defRPr kumimoji="1" sz="1800" kern="1200">
                          <a:solidFill>
                            <a:schemeClr val="dk1"/>
                          </a:solidFill>
                          <a:latin typeface="Segoe UI"/>
                          <a:ea typeface="メイリオ"/>
                        </a:defRPr>
                      </a:lvl7pPr>
                      <a:lvl8pPr marL="3200400" algn="l" defTabSz="914400" rtl="0" eaLnBrk="1" latinLnBrk="0" hangingPunct="1">
                        <a:defRPr kumimoji="1" sz="1800" kern="1200">
                          <a:solidFill>
                            <a:schemeClr val="dk1"/>
                          </a:solidFill>
                          <a:latin typeface="Segoe UI"/>
                          <a:ea typeface="メイリオ"/>
                        </a:defRPr>
                      </a:lvl8pPr>
                      <a:lvl9pPr marL="3657600" algn="l" defTabSz="914400" rtl="0" eaLnBrk="1" latinLnBrk="0" hangingPunct="1">
                        <a:defRPr kumimoji="1" sz="1800" kern="1200">
                          <a:solidFill>
                            <a:schemeClr val="dk1"/>
                          </a:solidFill>
                          <a:latin typeface="Segoe UI"/>
                          <a:ea typeface="メイリオ"/>
                        </a:defRPr>
                      </a:lvl9pP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転職活動きっかけ</a:t>
                      </a:r>
                      <a:endParaRPr kumimoji="1" lang="en-US" altLang="ja-JP" sz="1100" b="1" dirty="0">
                        <a:solidFill>
                          <a:schemeClr val="tx1"/>
                        </a:solidFill>
                        <a:latin typeface="Meiryo UI" panose="020B0604030504040204" pitchFamily="50" charset="-128"/>
                        <a:ea typeface="Meiryo UI" panose="020B0604030504040204" pitchFamily="50" charset="-128"/>
                      </a:endParaRPr>
                    </a:p>
                  </a:txBody>
                  <a:tcPr anchor="ctr">
                    <a:lnL w="12700" cap="flat" cmpd="sng" algn="ctr">
                      <a:no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kumimoji="1" sz="1800" kern="1200">
                          <a:solidFill>
                            <a:schemeClr val="dk1"/>
                          </a:solidFill>
                          <a:latin typeface="Segoe UI"/>
                          <a:ea typeface="メイリオ"/>
                        </a:defRPr>
                      </a:lvl1pPr>
                      <a:lvl2pPr marL="457200" algn="l" defTabSz="914400" rtl="0" eaLnBrk="1" latinLnBrk="0" hangingPunct="1">
                        <a:defRPr kumimoji="1" sz="1800" kern="1200">
                          <a:solidFill>
                            <a:schemeClr val="dk1"/>
                          </a:solidFill>
                          <a:latin typeface="Segoe UI"/>
                          <a:ea typeface="メイリオ"/>
                        </a:defRPr>
                      </a:lvl2pPr>
                      <a:lvl3pPr marL="914400" algn="l" defTabSz="914400" rtl="0" eaLnBrk="1" latinLnBrk="0" hangingPunct="1">
                        <a:defRPr kumimoji="1" sz="1800" kern="1200">
                          <a:solidFill>
                            <a:schemeClr val="dk1"/>
                          </a:solidFill>
                          <a:latin typeface="Segoe UI"/>
                          <a:ea typeface="メイリオ"/>
                        </a:defRPr>
                      </a:lvl3pPr>
                      <a:lvl4pPr marL="1371600" algn="l" defTabSz="914400" rtl="0" eaLnBrk="1" latinLnBrk="0" hangingPunct="1">
                        <a:defRPr kumimoji="1" sz="1800" kern="1200">
                          <a:solidFill>
                            <a:schemeClr val="dk1"/>
                          </a:solidFill>
                          <a:latin typeface="Segoe UI"/>
                          <a:ea typeface="メイリオ"/>
                        </a:defRPr>
                      </a:lvl4pPr>
                      <a:lvl5pPr marL="1828800" algn="l" defTabSz="914400" rtl="0" eaLnBrk="1" latinLnBrk="0" hangingPunct="1">
                        <a:defRPr kumimoji="1" sz="1800" kern="1200">
                          <a:solidFill>
                            <a:schemeClr val="dk1"/>
                          </a:solidFill>
                          <a:latin typeface="Segoe UI"/>
                          <a:ea typeface="メイリオ"/>
                        </a:defRPr>
                      </a:lvl5pPr>
                      <a:lvl6pPr marL="2286000" algn="l" defTabSz="914400" rtl="0" eaLnBrk="1" latinLnBrk="0" hangingPunct="1">
                        <a:defRPr kumimoji="1" sz="1800" kern="1200">
                          <a:solidFill>
                            <a:schemeClr val="dk1"/>
                          </a:solidFill>
                          <a:latin typeface="Segoe UI"/>
                          <a:ea typeface="メイリオ"/>
                        </a:defRPr>
                      </a:lvl6pPr>
                      <a:lvl7pPr marL="2743200" algn="l" defTabSz="914400" rtl="0" eaLnBrk="1" latinLnBrk="0" hangingPunct="1">
                        <a:defRPr kumimoji="1" sz="1800" kern="1200">
                          <a:solidFill>
                            <a:schemeClr val="dk1"/>
                          </a:solidFill>
                          <a:latin typeface="Segoe UI"/>
                          <a:ea typeface="メイリオ"/>
                        </a:defRPr>
                      </a:lvl7pPr>
                      <a:lvl8pPr marL="3200400" algn="l" defTabSz="914400" rtl="0" eaLnBrk="1" latinLnBrk="0" hangingPunct="1">
                        <a:defRPr kumimoji="1" sz="1800" kern="1200">
                          <a:solidFill>
                            <a:schemeClr val="dk1"/>
                          </a:solidFill>
                          <a:latin typeface="Segoe UI"/>
                          <a:ea typeface="メイリオ"/>
                        </a:defRPr>
                      </a:lvl8pPr>
                      <a:lvl9pPr marL="3657600" algn="l" defTabSz="914400" rtl="0" eaLnBrk="1" latinLnBrk="0" hangingPunct="1">
                        <a:defRPr kumimoji="1" sz="1800" kern="1200">
                          <a:solidFill>
                            <a:schemeClr val="dk1"/>
                          </a:solidFill>
                          <a:latin typeface="Segoe UI"/>
                          <a:ea typeface="メイリオ"/>
                        </a:defRPr>
                      </a:lvl9pPr>
                    </a:lstStyle>
                    <a:p>
                      <a:pPr algn="ctr"/>
                      <a:r>
                        <a:rPr kumimoji="1" lang="ja-JP" altLang="en-US" sz="900" dirty="0">
                          <a:solidFill>
                            <a:schemeClr val="tx1"/>
                          </a:solidFill>
                          <a:latin typeface="Meiryo UI" panose="020B0604030504040204" pitchFamily="50" charset="-128"/>
                          <a:ea typeface="Meiryo UI" panose="020B0604030504040204" pitchFamily="50" charset="-128"/>
                        </a:rPr>
                        <a:t>「職場環境・人間関係」「給与」</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ja-JP" altLang="en-US" sz="900" dirty="0">
                          <a:solidFill>
                            <a:schemeClr val="tx1"/>
                          </a:solidFill>
                          <a:latin typeface="Meiryo UI" panose="020B0604030504040204" pitchFamily="50" charset="-128"/>
                          <a:ea typeface="Meiryo UI" panose="020B0604030504040204" pitchFamily="50" charset="-128"/>
                        </a:rPr>
                        <a:t>「会社の将来性」「仕事内容」</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ja-JP" altLang="en-US" sz="900" dirty="0">
                          <a:solidFill>
                            <a:schemeClr val="tx1"/>
                          </a:solidFill>
                          <a:latin typeface="Meiryo UI" panose="020B0604030504040204" pitchFamily="50" charset="-128"/>
                          <a:ea typeface="Meiryo UI" panose="020B0604030504040204" pitchFamily="50" charset="-128"/>
                        </a:rPr>
                        <a:t>への不満が高い。</a:t>
                      </a:r>
                    </a:p>
                  </a:txBody>
                  <a:tcPr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ysDash"/>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a:r>
                        <a:rPr kumimoji="1" lang="ja-JP" altLang="en-US" sz="900">
                          <a:solidFill>
                            <a:schemeClr val="tx1"/>
                          </a:solidFill>
                          <a:latin typeface="Meiryo UI" panose="020B0604030504040204" pitchFamily="50" charset="-128"/>
                          <a:ea typeface="Meiryo UI" panose="020B0604030504040204" pitchFamily="50" charset="-128"/>
                        </a:rPr>
                        <a:t>「職場環境・人間関係」「給与」</a:t>
                      </a:r>
                      <a:endParaRPr kumimoji="1" lang="en-US" altLang="ja-JP" sz="900">
                        <a:solidFill>
                          <a:schemeClr val="tx1"/>
                        </a:solidFill>
                        <a:latin typeface="Meiryo UI" panose="020B0604030504040204" pitchFamily="50" charset="-128"/>
                        <a:ea typeface="Meiryo UI" panose="020B0604030504040204" pitchFamily="50" charset="-128"/>
                      </a:endParaRPr>
                    </a:p>
                    <a:p>
                      <a:pPr algn="ctr"/>
                      <a:r>
                        <a:rPr kumimoji="1" lang="ja-JP" altLang="en-US" sz="900">
                          <a:solidFill>
                            <a:schemeClr val="tx1"/>
                          </a:solidFill>
                          <a:latin typeface="Meiryo UI" panose="020B0604030504040204" pitchFamily="50" charset="-128"/>
                          <a:ea typeface="Meiryo UI" panose="020B0604030504040204" pitchFamily="50" charset="-128"/>
                        </a:rPr>
                        <a:t>「会社の将来性」への不満が高く、</a:t>
                      </a:r>
                      <a:endParaRPr kumimoji="1" lang="en-US" altLang="ja-JP" sz="900">
                        <a:solidFill>
                          <a:schemeClr val="tx1"/>
                        </a:solidFill>
                        <a:latin typeface="Meiryo UI" panose="020B0604030504040204" pitchFamily="50" charset="-128"/>
                        <a:ea typeface="Meiryo UI" panose="020B0604030504040204" pitchFamily="50" charset="-128"/>
                      </a:endParaRPr>
                    </a:p>
                    <a:p>
                      <a:pPr algn="ctr"/>
                      <a:r>
                        <a:rPr kumimoji="1" lang="ja-JP" altLang="en-US" sz="900" b="1">
                          <a:solidFill>
                            <a:schemeClr val="tx1"/>
                          </a:solidFill>
                          <a:latin typeface="Meiryo UI" panose="020B0604030504040204" pitchFamily="50" charset="-128"/>
                          <a:ea typeface="Meiryo UI" panose="020B0604030504040204" pitchFamily="50" charset="-128"/>
                        </a:rPr>
                        <a:t>「仕事内容」の不満は低め</a:t>
                      </a:r>
                      <a:r>
                        <a:rPr kumimoji="1" lang="ja-JP" altLang="en-US" sz="900">
                          <a:solidFill>
                            <a:schemeClr val="tx1"/>
                          </a:solidFill>
                          <a:latin typeface="Meiryo UI" panose="020B0604030504040204" pitchFamily="50" charset="-128"/>
                          <a:ea typeface="Meiryo UI" panose="020B0604030504040204" pitchFamily="50" charset="-128"/>
                        </a:rPr>
                        <a:t>。</a:t>
                      </a:r>
                      <a:endParaRPr kumimoji="1" lang="ja-JP" altLang="en-US" sz="900" dirty="0">
                        <a:solidFill>
                          <a:schemeClr val="tx1"/>
                        </a:solidFill>
                        <a:latin typeface="Meiryo UI" panose="020B0604030504040204" pitchFamily="50" charset="-128"/>
                        <a:ea typeface="Meiryo UI" panose="020B0604030504040204" pitchFamily="50" charset="-128"/>
                      </a:endParaRPr>
                    </a:p>
                  </a:txBody>
                  <a:tcPr anchor="ctr">
                    <a:lnL w="6350" cap="flat" cmpd="sng" algn="ctr">
                      <a:solidFill>
                        <a:sysClr val="window" lastClr="FFFFFF">
                          <a:lumMod val="50000"/>
                        </a:sysClr>
                      </a:solidFill>
                      <a:prstDash val="sysDash"/>
                      <a:round/>
                      <a:headEnd type="none" w="med" len="med"/>
                      <a:tailEnd type="none" w="med" len="med"/>
                    </a:lnL>
                    <a:lnR w="6350" cap="flat" cmpd="sng" algn="ctr">
                      <a:solidFill>
                        <a:sysClr val="window" lastClr="FFFFFF">
                          <a:lumMod val="50000"/>
                        </a:sysClr>
                      </a:solidFill>
                      <a:prstDash val="sysDash"/>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a:r>
                        <a:rPr kumimoji="1" lang="ja-JP" altLang="en-US" sz="900" dirty="0">
                          <a:solidFill>
                            <a:schemeClr val="tx1"/>
                          </a:solidFill>
                          <a:latin typeface="Meiryo UI" panose="020B0604030504040204" pitchFamily="50" charset="-128"/>
                          <a:ea typeface="Meiryo UI" panose="020B0604030504040204" pitchFamily="50" charset="-128"/>
                        </a:rPr>
                        <a:t>「職場環境・人間関係」「給与」</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ja-JP" altLang="en-US" sz="900" dirty="0">
                          <a:solidFill>
                            <a:schemeClr val="tx1"/>
                          </a:solidFill>
                          <a:latin typeface="Meiryo UI" panose="020B0604030504040204" pitchFamily="50" charset="-128"/>
                          <a:ea typeface="Meiryo UI" panose="020B0604030504040204" pitchFamily="50" charset="-128"/>
                        </a:rPr>
                        <a:t>「仕事内容」への不満が高く、</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ja-JP" altLang="en-US" sz="900" b="1" dirty="0">
                          <a:solidFill>
                            <a:schemeClr val="tx1"/>
                          </a:solidFill>
                          <a:latin typeface="Meiryo UI" panose="020B0604030504040204" pitchFamily="50" charset="-128"/>
                          <a:ea typeface="Meiryo UI" panose="020B0604030504040204" pitchFamily="50" charset="-128"/>
                        </a:rPr>
                        <a:t>「会社の将来性」の不満は低め</a:t>
                      </a:r>
                      <a:r>
                        <a:rPr kumimoji="1" lang="ja-JP" altLang="en-US" sz="900" dirty="0">
                          <a:solidFill>
                            <a:schemeClr val="tx1"/>
                          </a:solidFill>
                          <a:latin typeface="Meiryo UI" panose="020B0604030504040204" pitchFamily="50" charset="-128"/>
                          <a:ea typeface="Meiryo UI" panose="020B0604030504040204" pitchFamily="50" charset="-128"/>
                        </a:rPr>
                        <a:t>。</a:t>
                      </a:r>
                    </a:p>
                  </a:txBody>
                  <a:tcPr anchor="ctr">
                    <a:lnL w="6350" cap="flat" cmpd="sng" algn="ctr">
                      <a:solidFill>
                        <a:sysClr val="window" lastClr="FFFFFF">
                          <a:lumMod val="50000"/>
                        </a:sysClr>
                      </a:solidFill>
                      <a:prstDash val="sysDash"/>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a:r>
                        <a:rPr kumimoji="1" lang="ja-JP" altLang="en-US" sz="900">
                          <a:solidFill>
                            <a:schemeClr val="tx1"/>
                          </a:solidFill>
                          <a:latin typeface="Meiryo UI" panose="020B0604030504040204" pitchFamily="50" charset="-128"/>
                          <a:ea typeface="Meiryo UI" panose="020B0604030504040204" pitchFamily="50" charset="-128"/>
                        </a:rPr>
                        <a:t>「職場環境・人間関係」「給与」</a:t>
                      </a:r>
                      <a:endParaRPr kumimoji="1" lang="en-US" altLang="ja-JP" sz="900">
                        <a:solidFill>
                          <a:schemeClr val="tx1"/>
                        </a:solidFill>
                        <a:latin typeface="Meiryo UI" panose="020B0604030504040204" pitchFamily="50" charset="-128"/>
                        <a:ea typeface="Meiryo UI" panose="020B0604030504040204" pitchFamily="50" charset="-128"/>
                      </a:endParaRPr>
                    </a:p>
                    <a:p>
                      <a:pPr algn="ctr"/>
                      <a:r>
                        <a:rPr kumimoji="1" lang="ja-JP" altLang="en-US" sz="900">
                          <a:solidFill>
                            <a:schemeClr val="tx1"/>
                          </a:solidFill>
                          <a:latin typeface="Meiryo UI" panose="020B0604030504040204" pitchFamily="50" charset="-128"/>
                          <a:ea typeface="Meiryo UI" panose="020B0604030504040204" pitchFamily="50" charset="-128"/>
                        </a:rPr>
                        <a:t>への不満が高く、</a:t>
                      </a:r>
                      <a:endParaRPr kumimoji="1" lang="en-US" altLang="ja-JP" sz="900">
                        <a:solidFill>
                          <a:schemeClr val="tx1"/>
                        </a:solidFill>
                        <a:latin typeface="Meiryo UI" panose="020B0604030504040204" pitchFamily="50" charset="-128"/>
                        <a:ea typeface="Meiryo UI" panose="020B0604030504040204" pitchFamily="50" charset="-128"/>
                      </a:endParaRPr>
                    </a:p>
                    <a:p>
                      <a:pPr algn="ctr"/>
                      <a:r>
                        <a:rPr kumimoji="1" lang="ja-JP" altLang="en-US" sz="900" b="1">
                          <a:solidFill>
                            <a:schemeClr val="tx1"/>
                          </a:solidFill>
                          <a:latin typeface="Meiryo UI" panose="020B0604030504040204" pitchFamily="50" charset="-128"/>
                          <a:ea typeface="Meiryo UI" panose="020B0604030504040204" pitchFamily="50" charset="-128"/>
                        </a:rPr>
                        <a:t>「仕事内容」の不満は低め</a:t>
                      </a:r>
                      <a:r>
                        <a:rPr kumimoji="1" lang="ja-JP" altLang="en-US" sz="900">
                          <a:solidFill>
                            <a:schemeClr val="tx1"/>
                          </a:solidFill>
                          <a:latin typeface="Meiryo UI" panose="020B0604030504040204" pitchFamily="50" charset="-128"/>
                          <a:ea typeface="Meiryo UI" panose="020B0604030504040204" pitchFamily="50" charset="-128"/>
                        </a:rPr>
                        <a:t>。</a:t>
                      </a:r>
                      <a:endParaRPr kumimoji="1" lang="ja-JP" altLang="en-US" sz="900" dirty="0">
                        <a:solidFill>
                          <a:schemeClr val="tx1"/>
                        </a:solidFill>
                        <a:latin typeface="Meiryo UI" panose="020B0604030504040204" pitchFamily="50" charset="-128"/>
                        <a:ea typeface="Meiryo UI" panose="020B0604030504040204" pitchFamily="50" charset="-128"/>
                      </a:endParaRPr>
                    </a:p>
                  </a:txBody>
                  <a:tcPr anchor="ctr">
                    <a:lnL w="6350" cap="flat" cmpd="sng" algn="ctr">
                      <a:solidFill>
                        <a:sysClr val="window" lastClr="FFFFFF">
                          <a:lumMod val="50000"/>
                        </a:sys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2467155608"/>
                  </a:ext>
                </a:extLst>
              </a:tr>
              <a:tr h="456878">
                <a:tc>
                  <a:txBody>
                    <a:bodyPr/>
                    <a:lstStyle>
                      <a:lvl1pPr marL="0" algn="l" defTabSz="914400" rtl="0" eaLnBrk="1" latinLnBrk="0" hangingPunct="1">
                        <a:defRPr kumimoji="1" sz="1800" kern="1200">
                          <a:solidFill>
                            <a:schemeClr val="dk1"/>
                          </a:solidFill>
                          <a:latin typeface="Segoe UI"/>
                          <a:ea typeface="メイリオ"/>
                        </a:defRPr>
                      </a:lvl1pPr>
                      <a:lvl2pPr marL="457200" algn="l" defTabSz="914400" rtl="0" eaLnBrk="1" latinLnBrk="0" hangingPunct="1">
                        <a:defRPr kumimoji="1" sz="1800" kern="1200">
                          <a:solidFill>
                            <a:schemeClr val="dk1"/>
                          </a:solidFill>
                          <a:latin typeface="Segoe UI"/>
                          <a:ea typeface="メイリオ"/>
                        </a:defRPr>
                      </a:lvl2pPr>
                      <a:lvl3pPr marL="914400" algn="l" defTabSz="914400" rtl="0" eaLnBrk="1" latinLnBrk="0" hangingPunct="1">
                        <a:defRPr kumimoji="1" sz="1800" kern="1200">
                          <a:solidFill>
                            <a:schemeClr val="dk1"/>
                          </a:solidFill>
                          <a:latin typeface="Segoe UI"/>
                          <a:ea typeface="メイリオ"/>
                        </a:defRPr>
                      </a:lvl3pPr>
                      <a:lvl4pPr marL="1371600" algn="l" defTabSz="914400" rtl="0" eaLnBrk="1" latinLnBrk="0" hangingPunct="1">
                        <a:defRPr kumimoji="1" sz="1800" kern="1200">
                          <a:solidFill>
                            <a:schemeClr val="dk1"/>
                          </a:solidFill>
                          <a:latin typeface="Segoe UI"/>
                          <a:ea typeface="メイリオ"/>
                        </a:defRPr>
                      </a:lvl4pPr>
                      <a:lvl5pPr marL="1828800" algn="l" defTabSz="914400" rtl="0" eaLnBrk="1" latinLnBrk="0" hangingPunct="1">
                        <a:defRPr kumimoji="1" sz="1800" kern="1200">
                          <a:solidFill>
                            <a:schemeClr val="dk1"/>
                          </a:solidFill>
                          <a:latin typeface="Segoe UI"/>
                          <a:ea typeface="メイリオ"/>
                        </a:defRPr>
                      </a:lvl5pPr>
                      <a:lvl6pPr marL="2286000" algn="l" defTabSz="914400" rtl="0" eaLnBrk="1" latinLnBrk="0" hangingPunct="1">
                        <a:defRPr kumimoji="1" sz="1800" kern="1200">
                          <a:solidFill>
                            <a:schemeClr val="dk1"/>
                          </a:solidFill>
                          <a:latin typeface="Segoe UI"/>
                          <a:ea typeface="メイリオ"/>
                        </a:defRPr>
                      </a:lvl6pPr>
                      <a:lvl7pPr marL="2743200" algn="l" defTabSz="914400" rtl="0" eaLnBrk="1" latinLnBrk="0" hangingPunct="1">
                        <a:defRPr kumimoji="1" sz="1800" kern="1200">
                          <a:solidFill>
                            <a:schemeClr val="dk1"/>
                          </a:solidFill>
                          <a:latin typeface="Segoe UI"/>
                          <a:ea typeface="メイリオ"/>
                        </a:defRPr>
                      </a:lvl7pPr>
                      <a:lvl8pPr marL="3200400" algn="l" defTabSz="914400" rtl="0" eaLnBrk="1" latinLnBrk="0" hangingPunct="1">
                        <a:defRPr kumimoji="1" sz="1800" kern="1200">
                          <a:solidFill>
                            <a:schemeClr val="dk1"/>
                          </a:solidFill>
                          <a:latin typeface="Segoe UI"/>
                          <a:ea typeface="メイリオ"/>
                        </a:defRPr>
                      </a:lvl8pPr>
                      <a:lvl9pPr marL="3657600" algn="l" defTabSz="914400" rtl="0" eaLnBrk="1" latinLnBrk="0" hangingPunct="1">
                        <a:defRPr kumimoji="1" sz="1800" kern="1200">
                          <a:solidFill>
                            <a:schemeClr val="dk1"/>
                          </a:solidFill>
                          <a:latin typeface="Segoe UI"/>
                          <a:ea typeface="メイリオ"/>
                        </a:defRPr>
                      </a:lvl9pP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転職で求めること</a:t>
                      </a:r>
                    </a:p>
                  </a:txBody>
                  <a:tcPr anchor="ctr">
                    <a:lnL w="12700" cap="flat" cmpd="sng" algn="ctr">
                      <a:no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kumimoji="1" sz="1800" kern="1200">
                          <a:solidFill>
                            <a:schemeClr val="dk1"/>
                          </a:solidFill>
                          <a:latin typeface="Segoe UI"/>
                          <a:ea typeface="メイリオ"/>
                        </a:defRPr>
                      </a:lvl1pPr>
                      <a:lvl2pPr marL="457200" algn="l" defTabSz="914400" rtl="0" eaLnBrk="1" latinLnBrk="0" hangingPunct="1">
                        <a:defRPr kumimoji="1" sz="1800" kern="1200">
                          <a:solidFill>
                            <a:schemeClr val="dk1"/>
                          </a:solidFill>
                          <a:latin typeface="Segoe UI"/>
                          <a:ea typeface="メイリオ"/>
                        </a:defRPr>
                      </a:lvl2pPr>
                      <a:lvl3pPr marL="914400" algn="l" defTabSz="914400" rtl="0" eaLnBrk="1" latinLnBrk="0" hangingPunct="1">
                        <a:defRPr kumimoji="1" sz="1800" kern="1200">
                          <a:solidFill>
                            <a:schemeClr val="dk1"/>
                          </a:solidFill>
                          <a:latin typeface="Segoe UI"/>
                          <a:ea typeface="メイリオ"/>
                        </a:defRPr>
                      </a:lvl3pPr>
                      <a:lvl4pPr marL="1371600" algn="l" defTabSz="914400" rtl="0" eaLnBrk="1" latinLnBrk="0" hangingPunct="1">
                        <a:defRPr kumimoji="1" sz="1800" kern="1200">
                          <a:solidFill>
                            <a:schemeClr val="dk1"/>
                          </a:solidFill>
                          <a:latin typeface="Segoe UI"/>
                          <a:ea typeface="メイリオ"/>
                        </a:defRPr>
                      </a:lvl4pPr>
                      <a:lvl5pPr marL="1828800" algn="l" defTabSz="914400" rtl="0" eaLnBrk="1" latinLnBrk="0" hangingPunct="1">
                        <a:defRPr kumimoji="1" sz="1800" kern="1200">
                          <a:solidFill>
                            <a:schemeClr val="dk1"/>
                          </a:solidFill>
                          <a:latin typeface="Segoe UI"/>
                          <a:ea typeface="メイリオ"/>
                        </a:defRPr>
                      </a:lvl5pPr>
                      <a:lvl6pPr marL="2286000" algn="l" defTabSz="914400" rtl="0" eaLnBrk="1" latinLnBrk="0" hangingPunct="1">
                        <a:defRPr kumimoji="1" sz="1800" kern="1200">
                          <a:solidFill>
                            <a:schemeClr val="dk1"/>
                          </a:solidFill>
                          <a:latin typeface="Segoe UI"/>
                          <a:ea typeface="メイリオ"/>
                        </a:defRPr>
                      </a:lvl6pPr>
                      <a:lvl7pPr marL="2743200" algn="l" defTabSz="914400" rtl="0" eaLnBrk="1" latinLnBrk="0" hangingPunct="1">
                        <a:defRPr kumimoji="1" sz="1800" kern="1200">
                          <a:solidFill>
                            <a:schemeClr val="dk1"/>
                          </a:solidFill>
                          <a:latin typeface="Segoe UI"/>
                          <a:ea typeface="メイリオ"/>
                        </a:defRPr>
                      </a:lvl7pPr>
                      <a:lvl8pPr marL="3200400" algn="l" defTabSz="914400" rtl="0" eaLnBrk="1" latinLnBrk="0" hangingPunct="1">
                        <a:defRPr kumimoji="1" sz="1800" kern="1200">
                          <a:solidFill>
                            <a:schemeClr val="dk1"/>
                          </a:solidFill>
                          <a:latin typeface="Segoe UI"/>
                          <a:ea typeface="メイリオ"/>
                        </a:defRPr>
                      </a:lvl8pPr>
                      <a:lvl9pPr marL="3657600" algn="l" defTabSz="914400" rtl="0" eaLnBrk="1" latinLnBrk="0" hangingPunct="1">
                        <a:defRPr kumimoji="1" sz="1800" kern="1200">
                          <a:solidFill>
                            <a:schemeClr val="dk1"/>
                          </a:solidFill>
                          <a:latin typeface="Segoe UI"/>
                          <a:ea typeface="メイリオ"/>
                        </a:defRPr>
                      </a:lvl9pPr>
                    </a:lstStyle>
                    <a:p>
                      <a:pPr algn="ctr"/>
                      <a:r>
                        <a:rPr kumimoji="1" lang="ja-JP" altLang="en-US" sz="900" dirty="0">
                          <a:solidFill>
                            <a:schemeClr val="tx1"/>
                          </a:solidFill>
                          <a:latin typeface="Meiryo UI" panose="020B0604030504040204" pitchFamily="50" charset="-128"/>
                          <a:ea typeface="Meiryo UI" panose="020B0604030504040204" pitchFamily="50" charset="-128"/>
                        </a:rPr>
                        <a:t>「給与水準」「勤務地」</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ja-JP" altLang="en-US" sz="900" dirty="0">
                          <a:solidFill>
                            <a:schemeClr val="tx1"/>
                          </a:solidFill>
                          <a:latin typeface="Meiryo UI" panose="020B0604030504040204" pitchFamily="50" charset="-128"/>
                          <a:ea typeface="Meiryo UI" panose="020B0604030504040204" pitchFamily="50" charset="-128"/>
                        </a:rPr>
                        <a:t>「プライベートの時間」が上位に並び、</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ja-JP" altLang="en-US" sz="900" dirty="0">
                          <a:solidFill>
                            <a:schemeClr val="tx1"/>
                          </a:solidFill>
                          <a:latin typeface="Meiryo UI" panose="020B0604030504040204" pitchFamily="50" charset="-128"/>
                          <a:ea typeface="Meiryo UI" panose="020B0604030504040204" pitchFamily="50" charset="-128"/>
                        </a:rPr>
                        <a:t>「やりたい仕事ができる」が続く。</a:t>
                      </a:r>
                    </a:p>
                  </a:txBody>
                  <a:tcPr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ysDash"/>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a:r>
                        <a:rPr kumimoji="1" lang="ja-JP" altLang="en-US" sz="900" dirty="0">
                          <a:solidFill>
                            <a:schemeClr val="tx1"/>
                          </a:solidFill>
                          <a:latin typeface="Meiryo UI" panose="020B0604030504040204" pitchFamily="50" charset="-128"/>
                          <a:ea typeface="Meiryo UI" panose="020B0604030504040204" pitchFamily="50" charset="-128"/>
                        </a:rPr>
                        <a:t>「給与水準」「勤務地」</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ja-JP" altLang="en-US" sz="900" dirty="0">
                          <a:solidFill>
                            <a:schemeClr val="tx1"/>
                          </a:solidFill>
                          <a:latin typeface="Meiryo UI" panose="020B0604030504040204" pitchFamily="50" charset="-128"/>
                          <a:ea typeface="Meiryo UI" panose="020B0604030504040204" pitchFamily="50" charset="-128"/>
                        </a:rPr>
                        <a:t>「プライベートの時間」が上位に並ぶ。</a:t>
                      </a:r>
                    </a:p>
                  </a:txBody>
                  <a:tcPr anchor="ctr">
                    <a:lnL w="6350" cap="flat" cmpd="sng" algn="ctr">
                      <a:solidFill>
                        <a:sysClr val="window" lastClr="FFFFFF">
                          <a:lumMod val="50000"/>
                        </a:sysClr>
                      </a:solidFill>
                      <a:prstDash val="sysDash"/>
                      <a:round/>
                      <a:headEnd type="none" w="med" len="med"/>
                      <a:tailEnd type="none" w="med" len="med"/>
                    </a:lnL>
                    <a:lnR w="6350" cap="flat" cmpd="sng" algn="ctr">
                      <a:solidFill>
                        <a:sysClr val="window" lastClr="FFFFFF">
                          <a:lumMod val="50000"/>
                        </a:sysClr>
                      </a:solidFill>
                      <a:prstDash val="sysDash"/>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a:r>
                        <a:rPr kumimoji="1" lang="ja-JP" altLang="en-US" sz="900" dirty="0">
                          <a:solidFill>
                            <a:schemeClr val="tx1"/>
                          </a:solidFill>
                          <a:latin typeface="Meiryo UI" panose="020B0604030504040204" pitchFamily="50" charset="-128"/>
                          <a:ea typeface="Meiryo UI" panose="020B0604030504040204" pitchFamily="50" charset="-128"/>
                        </a:rPr>
                        <a:t>「給与水準」「勤務地」</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ja-JP" altLang="en-US" sz="900" dirty="0">
                          <a:solidFill>
                            <a:schemeClr val="tx1"/>
                          </a:solidFill>
                          <a:latin typeface="Meiryo UI" panose="020B0604030504040204" pitchFamily="50" charset="-128"/>
                          <a:ea typeface="Meiryo UI" panose="020B0604030504040204" pitchFamily="50" charset="-128"/>
                        </a:rPr>
                        <a:t>「プライベートの時間」が上位に並び、</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ja-JP" altLang="en-US" sz="900" b="1" dirty="0">
                          <a:solidFill>
                            <a:schemeClr val="tx1"/>
                          </a:solidFill>
                          <a:latin typeface="Meiryo UI" panose="020B0604030504040204" pitchFamily="50" charset="-128"/>
                          <a:ea typeface="Meiryo UI" panose="020B0604030504040204" pitchFamily="50" charset="-128"/>
                        </a:rPr>
                        <a:t>「やりたい仕事ができる」</a:t>
                      </a:r>
                      <a:r>
                        <a:rPr kumimoji="1" lang="ja-JP" altLang="en-US" sz="900" dirty="0">
                          <a:solidFill>
                            <a:schemeClr val="tx1"/>
                          </a:solidFill>
                          <a:latin typeface="Meiryo UI" panose="020B0604030504040204" pitchFamily="50" charset="-128"/>
                          <a:ea typeface="Meiryo UI" panose="020B0604030504040204" pitchFamily="50" charset="-128"/>
                        </a:rPr>
                        <a:t>が続く。</a:t>
                      </a:r>
                    </a:p>
                  </a:txBody>
                  <a:tcPr anchor="ctr">
                    <a:lnL w="6350" cap="flat" cmpd="sng" algn="ctr">
                      <a:solidFill>
                        <a:sysClr val="window" lastClr="FFFFFF">
                          <a:lumMod val="50000"/>
                        </a:sysClr>
                      </a:solidFill>
                      <a:prstDash val="sysDash"/>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ysDot"/>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a:r>
                        <a:rPr kumimoji="1" lang="ja-JP" altLang="en-US" sz="900" dirty="0">
                          <a:solidFill>
                            <a:schemeClr val="tx1"/>
                          </a:solidFill>
                          <a:latin typeface="Meiryo UI" panose="020B0604030504040204" pitchFamily="50" charset="-128"/>
                          <a:ea typeface="Meiryo UI" panose="020B0604030504040204" pitchFamily="50" charset="-128"/>
                        </a:rPr>
                        <a:t>「給与水準」「勤務地」</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ja-JP" altLang="en-US" sz="900" dirty="0">
                          <a:solidFill>
                            <a:schemeClr val="tx1"/>
                          </a:solidFill>
                          <a:latin typeface="Meiryo UI" panose="020B0604030504040204" pitchFamily="50" charset="-128"/>
                          <a:ea typeface="Meiryo UI" panose="020B0604030504040204" pitchFamily="50" charset="-128"/>
                        </a:rPr>
                        <a:t>「プライベートの時間」が上位に並び、</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ja-JP" altLang="en-US" sz="900" b="1" dirty="0">
                          <a:solidFill>
                            <a:schemeClr val="tx1"/>
                          </a:solidFill>
                          <a:latin typeface="Meiryo UI" panose="020B0604030504040204" pitchFamily="50" charset="-128"/>
                          <a:ea typeface="Meiryo UI" panose="020B0604030504040204" pitchFamily="50" charset="-128"/>
                        </a:rPr>
                        <a:t>「やりたい仕事ができる」は低め</a:t>
                      </a:r>
                      <a:r>
                        <a:rPr kumimoji="1" lang="ja-JP" altLang="en-US" sz="900" dirty="0">
                          <a:solidFill>
                            <a:schemeClr val="tx1"/>
                          </a:solidFill>
                          <a:latin typeface="Meiryo UI" panose="020B0604030504040204" pitchFamily="50" charset="-128"/>
                          <a:ea typeface="Meiryo UI" panose="020B0604030504040204" pitchFamily="50" charset="-128"/>
                        </a:rPr>
                        <a:t>。</a:t>
                      </a:r>
                    </a:p>
                  </a:txBody>
                  <a:tcPr anchor="ctr">
                    <a:lnL w="6350" cap="flat" cmpd="sng" algn="ctr">
                      <a:solidFill>
                        <a:sysClr val="window" lastClr="FFFFFF">
                          <a:lumMod val="50000"/>
                        </a:sys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ysDot"/>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715507979"/>
                  </a:ext>
                </a:extLst>
              </a:tr>
              <a:tr h="456878">
                <a:tc>
                  <a:txBody>
                    <a:bodyPr/>
                    <a:lstStyle>
                      <a:lvl1pPr marL="0" algn="l" defTabSz="914400" rtl="0" eaLnBrk="1" latinLnBrk="0" hangingPunct="1">
                        <a:defRPr kumimoji="1" sz="1800" kern="1200">
                          <a:solidFill>
                            <a:schemeClr val="dk1"/>
                          </a:solidFill>
                          <a:latin typeface="Segoe UI"/>
                          <a:ea typeface="メイリオ"/>
                        </a:defRPr>
                      </a:lvl1pPr>
                      <a:lvl2pPr marL="457200" algn="l" defTabSz="914400" rtl="0" eaLnBrk="1" latinLnBrk="0" hangingPunct="1">
                        <a:defRPr kumimoji="1" sz="1800" kern="1200">
                          <a:solidFill>
                            <a:schemeClr val="dk1"/>
                          </a:solidFill>
                          <a:latin typeface="Segoe UI"/>
                          <a:ea typeface="メイリオ"/>
                        </a:defRPr>
                      </a:lvl2pPr>
                      <a:lvl3pPr marL="914400" algn="l" defTabSz="914400" rtl="0" eaLnBrk="1" latinLnBrk="0" hangingPunct="1">
                        <a:defRPr kumimoji="1" sz="1800" kern="1200">
                          <a:solidFill>
                            <a:schemeClr val="dk1"/>
                          </a:solidFill>
                          <a:latin typeface="Segoe UI"/>
                          <a:ea typeface="メイリオ"/>
                        </a:defRPr>
                      </a:lvl3pPr>
                      <a:lvl4pPr marL="1371600" algn="l" defTabSz="914400" rtl="0" eaLnBrk="1" latinLnBrk="0" hangingPunct="1">
                        <a:defRPr kumimoji="1" sz="1800" kern="1200">
                          <a:solidFill>
                            <a:schemeClr val="dk1"/>
                          </a:solidFill>
                          <a:latin typeface="Segoe UI"/>
                          <a:ea typeface="メイリオ"/>
                        </a:defRPr>
                      </a:lvl4pPr>
                      <a:lvl5pPr marL="1828800" algn="l" defTabSz="914400" rtl="0" eaLnBrk="1" latinLnBrk="0" hangingPunct="1">
                        <a:defRPr kumimoji="1" sz="1800" kern="1200">
                          <a:solidFill>
                            <a:schemeClr val="dk1"/>
                          </a:solidFill>
                          <a:latin typeface="Segoe UI"/>
                          <a:ea typeface="メイリオ"/>
                        </a:defRPr>
                      </a:lvl5pPr>
                      <a:lvl6pPr marL="2286000" algn="l" defTabSz="914400" rtl="0" eaLnBrk="1" latinLnBrk="0" hangingPunct="1">
                        <a:defRPr kumimoji="1" sz="1800" kern="1200">
                          <a:solidFill>
                            <a:schemeClr val="dk1"/>
                          </a:solidFill>
                          <a:latin typeface="Segoe UI"/>
                          <a:ea typeface="メイリオ"/>
                        </a:defRPr>
                      </a:lvl6pPr>
                      <a:lvl7pPr marL="2743200" algn="l" defTabSz="914400" rtl="0" eaLnBrk="1" latinLnBrk="0" hangingPunct="1">
                        <a:defRPr kumimoji="1" sz="1800" kern="1200">
                          <a:solidFill>
                            <a:schemeClr val="dk1"/>
                          </a:solidFill>
                          <a:latin typeface="Segoe UI"/>
                          <a:ea typeface="メイリオ"/>
                        </a:defRPr>
                      </a:lvl7pPr>
                      <a:lvl8pPr marL="3200400" algn="l" defTabSz="914400" rtl="0" eaLnBrk="1" latinLnBrk="0" hangingPunct="1">
                        <a:defRPr kumimoji="1" sz="1800" kern="1200">
                          <a:solidFill>
                            <a:schemeClr val="dk1"/>
                          </a:solidFill>
                          <a:latin typeface="Segoe UI"/>
                          <a:ea typeface="メイリオ"/>
                        </a:defRPr>
                      </a:lvl8pPr>
                      <a:lvl9pPr marL="3657600" algn="l" defTabSz="914400" rtl="0" eaLnBrk="1" latinLnBrk="0" hangingPunct="1">
                        <a:defRPr kumimoji="1" sz="1800" kern="1200">
                          <a:solidFill>
                            <a:schemeClr val="dk1"/>
                          </a:solidFill>
                          <a:latin typeface="Segoe UI"/>
                          <a:ea typeface="メイリオ"/>
                        </a:defRPr>
                      </a:lvl9pP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転職サービス認知</a:t>
                      </a:r>
                    </a:p>
                  </a:txBody>
                  <a:tcPr anchor="ctr">
                    <a:lnL w="12700" cap="flat" cmpd="sng" algn="ctr">
                      <a:no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ysClr val="window" lastClr="FFFFFF">
                        <a:lumMod val="75000"/>
                      </a:sysClr>
                    </a:solidFill>
                  </a:tcPr>
                </a:tc>
                <a:tc gridSpan="4">
                  <a:txBody>
                    <a:bodyPr/>
                    <a:lstStyle>
                      <a:lvl1pPr marL="0" algn="l" defTabSz="914400" rtl="0" eaLnBrk="1" latinLnBrk="0" hangingPunct="1">
                        <a:defRPr kumimoji="1" sz="1800" kern="1200">
                          <a:solidFill>
                            <a:schemeClr val="dk1"/>
                          </a:solidFill>
                          <a:latin typeface="Segoe UI"/>
                          <a:ea typeface="メイリオ"/>
                        </a:defRPr>
                      </a:lvl1pPr>
                      <a:lvl2pPr marL="457200" algn="l" defTabSz="914400" rtl="0" eaLnBrk="1" latinLnBrk="0" hangingPunct="1">
                        <a:defRPr kumimoji="1" sz="1800" kern="1200">
                          <a:solidFill>
                            <a:schemeClr val="dk1"/>
                          </a:solidFill>
                          <a:latin typeface="Segoe UI"/>
                          <a:ea typeface="メイリオ"/>
                        </a:defRPr>
                      </a:lvl2pPr>
                      <a:lvl3pPr marL="914400" algn="l" defTabSz="914400" rtl="0" eaLnBrk="1" latinLnBrk="0" hangingPunct="1">
                        <a:defRPr kumimoji="1" sz="1800" kern="1200">
                          <a:solidFill>
                            <a:schemeClr val="dk1"/>
                          </a:solidFill>
                          <a:latin typeface="Segoe UI"/>
                          <a:ea typeface="メイリオ"/>
                        </a:defRPr>
                      </a:lvl3pPr>
                      <a:lvl4pPr marL="1371600" algn="l" defTabSz="914400" rtl="0" eaLnBrk="1" latinLnBrk="0" hangingPunct="1">
                        <a:defRPr kumimoji="1" sz="1800" kern="1200">
                          <a:solidFill>
                            <a:schemeClr val="dk1"/>
                          </a:solidFill>
                          <a:latin typeface="Segoe UI"/>
                          <a:ea typeface="メイリオ"/>
                        </a:defRPr>
                      </a:lvl4pPr>
                      <a:lvl5pPr marL="1828800" algn="l" defTabSz="914400" rtl="0" eaLnBrk="1" latinLnBrk="0" hangingPunct="1">
                        <a:defRPr kumimoji="1" sz="1800" kern="1200">
                          <a:solidFill>
                            <a:schemeClr val="dk1"/>
                          </a:solidFill>
                          <a:latin typeface="Segoe UI"/>
                          <a:ea typeface="メイリオ"/>
                        </a:defRPr>
                      </a:lvl5pPr>
                      <a:lvl6pPr marL="2286000" algn="l" defTabSz="914400" rtl="0" eaLnBrk="1" latinLnBrk="0" hangingPunct="1">
                        <a:defRPr kumimoji="1" sz="1800" kern="1200">
                          <a:solidFill>
                            <a:schemeClr val="dk1"/>
                          </a:solidFill>
                          <a:latin typeface="Segoe UI"/>
                          <a:ea typeface="メイリオ"/>
                        </a:defRPr>
                      </a:lvl6pPr>
                      <a:lvl7pPr marL="2743200" algn="l" defTabSz="914400" rtl="0" eaLnBrk="1" latinLnBrk="0" hangingPunct="1">
                        <a:defRPr kumimoji="1" sz="1800" kern="1200">
                          <a:solidFill>
                            <a:schemeClr val="dk1"/>
                          </a:solidFill>
                          <a:latin typeface="Segoe UI"/>
                          <a:ea typeface="メイリオ"/>
                        </a:defRPr>
                      </a:lvl7pPr>
                      <a:lvl8pPr marL="3200400" algn="l" defTabSz="914400" rtl="0" eaLnBrk="1" latinLnBrk="0" hangingPunct="1">
                        <a:defRPr kumimoji="1" sz="1800" kern="1200">
                          <a:solidFill>
                            <a:schemeClr val="dk1"/>
                          </a:solidFill>
                          <a:latin typeface="Segoe UI"/>
                          <a:ea typeface="メイリオ"/>
                        </a:defRPr>
                      </a:lvl8pPr>
                      <a:lvl9pPr marL="3657600" algn="l" defTabSz="914400" rtl="0" eaLnBrk="1" latinLnBrk="0" hangingPunct="1">
                        <a:defRPr kumimoji="1" sz="1800" kern="1200">
                          <a:solidFill>
                            <a:schemeClr val="dk1"/>
                          </a:solidFill>
                          <a:latin typeface="Segoe UI"/>
                          <a:ea typeface="メイリオ"/>
                        </a:defRPr>
                      </a:lvl9pPr>
                    </a:lstStyle>
                    <a:p>
                      <a:pPr algn="ctr"/>
                      <a:r>
                        <a:rPr kumimoji="1" lang="ja-JP" altLang="en-US" sz="900" dirty="0">
                          <a:solidFill>
                            <a:schemeClr val="tx1"/>
                          </a:solidFill>
                          <a:latin typeface="Meiryo UI" panose="020B0604030504040204" pitchFamily="50" charset="-128"/>
                          <a:ea typeface="Meiryo UI" panose="020B0604030504040204" pitchFamily="50" charset="-128"/>
                        </a:rPr>
                        <a:t>いずれも「マイナビ転職」「</a:t>
                      </a:r>
                      <a:r>
                        <a:rPr kumimoji="1" lang="en-US" altLang="ja-JP" sz="900" dirty="0">
                          <a:solidFill>
                            <a:schemeClr val="tx1"/>
                          </a:solidFill>
                          <a:latin typeface="Meiryo UI" panose="020B0604030504040204" pitchFamily="50" charset="-128"/>
                          <a:ea typeface="Meiryo UI" panose="020B0604030504040204" pitchFamily="50" charset="-128"/>
                        </a:rPr>
                        <a:t>Indeed</a:t>
                      </a:r>
                      <a:r>
                        <a:rPr kumimoji="1" lang="ja-JP" altLang="en-US" sz="900" dirty="0">
                          <a:solidFill>
                            <a:schemeClr val="tx1"/>
                          </a:solidFill>
                          <a:latin typeface="Meiryo UI" panose="020B0604030504040204" pitchFamily="50" charset="-128"/>
                          <a:ea typeface="Meiryo UI" panose="020B0604030504040204" pitchFamily="50" charset="-128"/>
                        </a:rPr>
                        <a:t>」「</a:t>
                      </a:r>
                      <a:r>
                        <a:rPr kumimoji="1" lang="en-US" altLang="ja-JP" sz="900" dirty="0">
                          <a:solidFill>
                            <a:schemeClr val="tx1"/>
                          </a:solidFill>
                          <a:latin typeface="Meiryo UI" panose="020B0604030504040204" pitchFamily="50" charset="-128"/>
                          <a:ea typeface="Meiryo UI" panose="020B0604030504040204" pitchFamily="50" charset="-128"/>
                        </a:rPr>
                        <a:t>RNN</a:t>
                      </a:r>
                      <a:r>
                        <a:rPr kumimoji="1" lang="ja-JP" altLang="en-US" sz="900" dirty="0">
                          <a:solidFill>
                            <a:schemeClr val="tx1"/>
                          </a:solidFill>
                          <a:latin typeface="Meiryo UI" panose="020B0604030504040204" pitchFamily="50" charset="-128"/>
                          <a:ea typeface="Meiryo UI" panose="020B0604030504040204" pitchFamily="50" charset="-128"/>
                        </a:rPr>
                        <a:t>」「</a:t>
                      </a:r>
                      <a:r>
                        <a:rPr kumimoji="1" lang="en-US" altLang="ja-JP" sz="900" dirty="0">
                          <a:solidFill>
                            <a:schemeClr val="tx1"/>
                          </a:solidFill>
                          <a:latin typeface="Meiryo UI" panose="020B0604030504040204" pitchFamily="50" charset="-128"/>
                          <a:ea typeface="Meiryo UI" panose="020B0604030504040204" pitchFamily="50" charset="-128"/>
                        </a:rPr>
                        <a:t>doda</a:t>
                      </a:r>
                      <a:r>
                        <a:rPr kumimoji="1" lang="ja-JP" altLang="en-US" sz="900" dirty="0">
                          <a:solidFill>
                            <a:schemeClr val="tx1"/>
                          </a:solidFill>
                          <a:latin typeface="Meiryo UI" panose="020B0604030504040204" pitchFamily="50" charset="-128"/>
                          <a:ea typeface="Meiryo UI" panose="020B0604030504040204" pitchFamily="50" charset="-128"/>
                        </a:rPr>
                        <a:t>」「エン転職」といった転職サイトの認知率は</a:t>
                      </a:r>
                      <a:r>
                        <a:rPr kumimoji="1" lang="en-US" altLang="ja-JP" sz="900" dirty="0">
                          <a:solidFill>
                            <a:schemeClr val="tx1"/>
                          </a:solidFill>
                          <a:latin typeface="Meiryo UI" panose="020B0604030504040204" pitchFamily="50" charset="-128"/>
                          <a:ea typeface="Meiryo UI" panose="020B0604030504040204" pitchFamily="50" charset="-128"/>
                        </a:rPr>
                        <a:t>8</a:t>
                      </a:r>
                      <a:r>
                        <a:rPr kumimoji="1" lang="ja-JP" altLang="en-US" sz="900" dirty="0">
                          <a:solidFill>
                            <a:schemeClr val="tx1"/>
                          </a:solidFill>
                          <a:latin typeface="Meiryo UI" panose="020B0604030504040204" pitchFamily="50" charset="-128"/>
                          <a:ea typeface="Meiryo UI" panose="020B0604030504040204" pitchFamily="50" charset="-128"/>
                        </a:rPr>
                        <a:t>割前後で高く、「</a:t>
                      </a:r>
                      <a:r>
                        <a:rPr kumimoji="1" lang="en-US" altLang="ja-JP" sz="900" dirty="0">
                          <a:solidFill>
                            <a:schemeClr val="tx1"/>
                          </a:solidFill>
                          <a:latin typeface="Meiryo UI" panose="020B0604030504040204" pitchFamily="50" charset="-128"/>
                          <a:ea typeface="Meiryo UI" panose="020B0604030504040204" pitchFamily="50" charset="-128"/>
                        </a:rPr>
                        <a:t>BIZREACH</a:t>
                      </a:r>
                      <a:r>
                        <a:rPr kumimoji="1" lang="ja-JP" altLang="en-US" sz="900" dirty="0">
                          <a:solidFill>
                            <a:schemeClr val="tx1"/>
                          </a:solidFill>
                          <a:latin typeface="Meiryo UI" panose="020B0604030504040204" pitchFamily="50" charset="-128"/>
                          <a:ea typeface="Meiryo UI" panose="020B0604030504040204" pitchFamily="50" charset="-128"/>
                        </a:rPr>
                        <a:t>」も同程度。</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en-US" altLang="ja-JP" sz="900" dirty="0">
                          <a:solidFill>
                            <a:schemeClr val="tx1"/>
                          </a:solidFill>
                          <a:latin typeface="Meiryo UI" panose="020B0604030504040204" pitchFamily="50" charset="-128"/>
                          <a:ea typeface="Meiryo UI" panose="020B0604030504040204" pitchFamily="50" charset="-128"/>
                        </a:rPr>
                        <a:t>RAG</a:t>
                      </a:r>
                      <a:r>
                        <a:rPr kumimoji="1" lang="ja-JP" altLang="en-US" sz="900" dirty="0">
                          <a:solidFill>
                            <a:schemeClr val="tx1"/>
                          </a:solidFill>
                          <a:latin typeface="Meiryo UI" panose="020B0604030504040204" pitchFamily="50" charset="-128"/>
                          <a:ea typeface="Meiryo UI" panose="020B0604030504040204" pitchFamily="50" charset="-128"/>
                        </a:rPr>
                        <a:t>以外のエージェントサービスの認知は「マイナビエージェント」の認知率が</a:t>
                      </a:r>
                      <a:r>
                        <a:rPr kumimoji="1" lang="en-US" altLang="ja-JP" sz="900" dirty="0">
                          <a:solidFill>
                            <a:schemeClr val="tx1"/>
                          </a:solidFill>
                          <a:latin typeface="Meiryo UI" panose="020B0604030504040204" pitchFamily="50" charset="-128"/>
                          <a:ea typeface="Meiryo UI" panose="020B0604030504040204" pitchFamily="50" charset="-128"/>
                        </a:rPr>
                        <a:t>7</a:t>
                      </a:r>
                      <a:r>
                        <a:rPr kumimoji="1" lang="ja-JP" altLang="en-US" sz="900" dirty="0">
                          <a:solidFill>
                            <a:schemeClr val="tx1"/>
                          </a:solidFill>
                          <a:latin typeface="Meiryo UI" panose="020B0604030504040204" pitchFamily="50" charset="-128"/>
                          <a:ea typeface="Meiryo UI" panose="020B0604030504040204" pitchFamily="50" charset="-128"/>
                        </a:rPr>
                        <a:t>割台で比較的高いもののその他のサービスは低い（特に面談希望なしでは低い）。</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ja-JP" altLang="en-US" sz="900" b="0" dirty="0">
                          <a:solidFill>
                            <a:schemeClr val="tx1"/>
                          </a:solidFill>
                          <a:latin typeface="Meiryo UI" panose="020B0604030504040204" pitchFamily="50" charset="-128"/>
                          <a:ea typeface="Meiryo UI" panose="020B0604030504040204" pitchFamily="50" charset="-128"/>
                        </a:rPr>
                        <a:t>「</a:t>
                      </a:r>
                      <a:r>
                        <a:rPr kumimoji="1" lang="en-US" altLang="ja-JP" sz="900" b="0" dirty="0">
                          <a:solidFill>
                            <a:schemeClr val="tx1"/>
                          </a:solidFill>
                          <a:latin typeface="Meiryo UI" panose="020B0604030504040204" pitchFamily="50" charset="-128"/>
                          <a:ea typeface="Meiryo UI" panose="020B0604030504040204" pitchFamily="50" charset="-128"/>
                        </a:rPr>
                        <a:t>RDS</a:t>
                      </a:r>
                      <a:r>
                        <a:rPr kumimoji="1" lang="ja-JP" altLang="en-US" sz="900" b="0" dirty="0">
                          <a:solidFill>
                            <a:schemeClr val="tx1"/>
                          </a:solidFill>
                          <a:latin typeface="Meiryo UI" panose="020B0604030504040204" pitchFamily="50" charset="-128"/>
                          <a:ea typeface="Meiryo UI" panose="020B0604030504040204" pitchFamily="50" charset="-128"/>
                        </a:rPr>
                        <a:t>」も全体で</a:t>
                      </a:r>
                      <a:r>
                        <a:rPr kumimoji="1" lang="en-US" altLang="ja-JP" sz="900" b="0" dirty="0">
                          <a:solidFill>
                            <a:schemeClr val="tx1"/>
                          </a:solidFill>
                          <a:latin typeface="Meiryo UI" panose="020B0604030504040204" pitchFamily="50" charset="-128"/>
                          <a:ea typeface="Meiryo UI" panose="020B0604030504040204" pitchFamily="50" charset="-128"/>
                        </a:rPr>
                        <a:t>56%</a:t>
                      </a:r>
                      <a:r>
                        <a:rPr kumimoji="1" lang="ja-JP" altLang="en-US" sz="900" b="0" dirty="0">
                          <a:solidFill>
                            <a:schemeClr val="tx1"/>
                          </a:solidFill>
                          <a:latin typeface="Meiryo UI" panose="020B0604030504040204" pitchFamily="50" charset="-128"/>
                          <a:ea typeface="Meiryo UI" panose="020B0604030504040204" pitchFamily="50" charset="-128"/>
                        </a:rPr>
                        <a:t>の認知率に留まる。</a:t>
                      </a:r>
                      <a:endParaRPr kumimoji="1" lang="en-US" altLang="ja-JP" sz="900" b="0" dirty="0">
                        <a:solidFill>
                          <a:schemeClr val="tx1"/>
                        </a:solidFill>
                        <a:latin typeface="Meiryo UI" panose="020B0604030504040204" pitchFamily="50" charset="-128"/>
                        <a:ea typeface="Meiryo UI" panose="020B0604030504040204" pitchFamily="50" charset="-128"/>
                      </a:endParaRPr>
                    </a:p>
                  </a:txBody>
                  <a:tcPr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ysDot"/>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12700" cap="flat" cmpd="sng" algn="ctr">
                      <a:solidFill>
                        <a:schemeClr val="bg1">
                          <a:lumMod val="50000"/>
                        </a:schemeClr>
                      </a:solidFill>
                      <a:prstDash val="sysDot"/>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lnL w="6350" cap="flat" cmpd="sng" algn="ctr">
                      <a:solidFill>
                        <a:sysClr val="window" lastClr="FFFFFF">
                          <a:lumMod val="50000"/>
                        </a:sysClr>
                      </a:solidFill>
                      <a:prstDash val="sysDot"/>
                      <a:round/>
                      <a:headEnd type="none" w="med" len="med"/>
                      <a:tailEnd type="none" w="med" len="med"/>
                    </a:lnL>
                    <a:lnT w="6350" cap="flat" cmpd="sng" algn="ctr">
                      <a:solidFill>
                        <a:sysClr val="window" lastClr="FFFFFF">
                          <a:lumMod val="50000"/>
                        </a:sysClr>
                      </a:solidFill>
                      <a:prstDash val="sysDot"/>
                      <a:round/>
                      <a:headEnd type="none" w="med" len="med"/>
                      <a:tailEnd type="none" w="med" len="med"/>
                    </a:lnT>
                  </a:tcPr>
                </a:tc>
                <a:extLst>
                  <a:ext uri="{0D108BD9-81ED-4DB2-BD59-A6C34878D82A}">
                    <a16:rowId xmlns:a16="http://schemas.microsoft.com/office/drawing/2014/main" val="2963282283"/>
                  </a:ext>
                </a:extLst>
              </a:tr>
              <a:tr h="456878">
                <a:tc>
                  <a:txBody>
                    <a:bodyPr/>
                    <a:lstStyle>
                      <a:lvl1pPr marL="0" algn="l" defTabSz="914400" rtl="0" eaLnBrk="1" latinLnBrk="0" hangingPunct="1">
                        <a:defRPr kumimoji="1" sz="1800" kern="1200">
                          <a:solidFill>
                            <a:schemeClr val="dk1"/>
                          </a:solidFill>
                          <a:latin typeface="Segoe UI"/>
                          <a:ea typeface="メイリオ"/>
                        </a:defRPr>
                      </a:lvl1pPr>
                      <a:lvl2pPr marL="457200" algn="l" defTabSz="914400" rtl="0" eaLnBrk="1" latinLnBrk="0" hangingPunct="1">
                        <a:defRPr kumimoji="1" sz="1800" kern="1200">
                          <a:solidFill>
                            <a:schemeClr val="dk1"/>
                          </a:solidFill>
                          <a:latin typeface="Segoe UI"/>
                          <a:ea typeface="メイリオ"/>
                        </a:defRPr>
                      </a:lvl2pPr>
                      <a:lvl3pPr marL="914400" algn="l" defTabSz="914400" rtl="0" eaLnBrk="1" latinLnBrk="0" hangingPunct="1">
                        <a:defRPr kumimoji="1" sz="1800" kern="1200">
                          <a:solidFill>
                            <a:schemeClr val="dk1"/>
                          </a:solidFill>
                          <a:latin typeface="Segoe UI"/>
                          <a:ea typeface="メイリオ"/>
                        </a:defRPr>
                      </a:lvl3pPr>
                      <a:lvl4pPr marL="1371600" algn="l" defTabSz="914400" rtl="0" eaLnBrk="1" latinLnBrk="0" hangingPunct="1">
                        <a:defRPr kumimoji="1" sz="1800" kern="1200">
                          <a:solidFill>
                            <a:schemeClr val="dk1"/>
                          </a:solidFill>
                          <a:latin typeface="Segoe UI"/>
                          <a:ea typeface="メイリオ"/>
                        </a:defRPr>
                      </a:lvl4pPr>
                      <a:lvl5pPr marL="1828800" algn="l" defTabSz="914400" rtl="0" eaLnBrk="1" latinLnBrk="0" hangingPunct="1">
                        <a:defRPr kumimoji="1" sz="1800" kern="1200">
                          <a:solidFill>
                            <a:schemeClr val="dk1"/>
                          </a:solidFill>
                          <a:latin typeface="Segoe UI"/>
                          <a:ea typeface="メイリオ"/>
                        </a:defRPr>
                      </a:lvl5pPr>
                      <a:lvl6pPr marL="2286000" algn="l" defTabSz="914400" rtl="0" eaLnBrk="1" latinLnBrk="0" hangingPunct="1">
                        <a:defRPr kumimoji="1" sz="1800" kern="1200">
                          <a:solidFill>
                            <a:schemeClr val="dk1"/>
                          </a:solidFill>
                          <a:latin typeface="Segoe UI"/>
                          <a:ea typeface="メイリオ"/>
                        </a:defRPr>
                      </a:lvl6pPr>
                      <a:lvl7pPr marL="2743200" algn="l" defTabSz="914400" rtl="0" eaLnBrk="1" latinLnBrk="0" hangingPunct="1">
                        <a:defRPr kumimoji="1" sz="1800" kern="1200">
                          <a:solidFill>
                            <a:schemeClr val="dk1"/>
                          </a:solidFill>
                          <a:latin typeface="Segoe UI"/>
                          <a:ea typeface="メイリオ"/>
                        </a:defRPr>
                      </a:lvl7pPr>
                      <a:lvl8pPr marL="3200400" algn="l" defTabSz="914400" rtl="0" eaLnBrk="1" latinLnBrk="0" hangingPunct="1">
                        <a:defRPr kumimoji="1" sz="1800" kern="1200">
                          <a:solidFill>
                            <a:schemeClr val="dk1"/>
                          </a:solidFill>
                          <a:latin typeface="Segoe UI"/>
                          <a:ea typeface="メイリオ"/>
                        </a:defRPr>
                      </a:lvl8pPr>
                      <a:lvl9pPr marL="3657600" algn="l" defTabSz="914400" rtl="0" eaLnBrk="1" latinLnBrk="0" hangingPunct="1">
                        <a:defRPr kumimoji="1" sz="1800" kern="1200">
                          <a:solidFill>
                            <a:schemeClr val="dk1"/>
                          </a:solidFill>
                          <a:latin typeface="Segoe UI"/>
                          <a:ea typeface="メイリオ"/>
                        </a:defRPr>
                      </a:lvl9pP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転職サービス理解</a:t>
                      </a:r>
                    </a:p>
                  </a:txBody>
                  <a:tcPr anchor="ctr">
                    <a:lnL w="12700" cap="flat" cmpd="sng" algn="ctr">
                      <a:no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ysClr val="window" lastClr="FFFFFF">
                        <a:lumMod val="75000"/>
                      </a:sysClr>
                    </a:solidFill>
                  </a:tcPr>
                </a:tc>
                <a:tc gridSpan="3">
                  <a:txBody>
                    <a:bodyPr/>
                    <a:lstStyle>
                      <a:lvl1pPr marL="0" algn="l" defTabSz="914400" rtl="0" eaLnBrk="1" latinLnBrk="0" hangingPunct="1">
                        <a:defRPr kumimoji="1" sz="1800" kern="1200">
                          <a:solidFill>
                            <a:schemeClr val="dk1"/>
                          </a:solidFill>
                          <a:latin typeface="Segoe UI"/>
                          <a:ea typeface="メイリオ"/>
                        </a:defRPr>
                      </a:lvl1pPr>
                      <a:lvl2pPr marL="457200" algn="l" defTabSz="914400" rtl="0" eaLnBrk="1" latinLnBrk="0" hangingPunct="1">
                        <a:defRPr kumimoji="1" sz="1800" kern="1200">
                          <a:solidFill>
                            <a:schemeClr val="dk1"/>
                          </a:solidFill>
                          <a:latin typeface="Segoe UI"/>
                          <a:ea typeface="メイリオ"/>
                        </a:defRPr>
                      </a:lvl2pPr>
                      <a:lvl3pPr marL="914400" algn="l" defTabSz="914400" rtl="0" eaLnBrk="1" latinLnBrk="0" hangingPunct="1">
                        <a:defRPr kumimoji="1" sz="1800" kern="1200">
                          <a:solidFill>
                            <a:schemeClr val="dk1"/>
                          </a:solidFill>
                          <a:latin typeface="Segoe UI"/>
                          <a:ea typeface="メイリオ"/>
                        </a:defRPr>
                      </a:lvl3pPr>
                      <a:lvl4pPr marL="1371600" algn="l" defTabSz="914400" rtl="0" eaLnBrk="1" latinLnBrk="0" hangingPunct="1">
                        <a:defRPr kumimoji="1" sz="1800" kern="1200">
                          <a:solidFill>
                            <a:schemeClr val="dk1"/>
                          </a:solidFill>
                          <a:latin typeface="Segoe UI"/>
                          <a:ea typeface="メイリオ"/>
                        </a:defRPr>
                      </a:lvl4pPr>
                      <a:lvl5pPr marL="1828800" algn="l" defTabSz="914400" rtl="0" eaLnBrk="1" latinLnBrk="0" hangingPunct="1">
                        <a:defRPr kumimoji="1" sz="1800" kern="1200">
                          <a:solidFill>
                            <a:schemeClr val="dk1"/>
                          </a:solidFill>
                          <a:latin typeface="Segoe UI"/>
                          <a:ea typeface="メイリオ"/>
                        </a:defRPr>
                      </a:lvl5pPr>
                      <a:lvl6pPr marL="2286000" algn="l" defTabSz="914400" rtl="0" eaLnBrk="1" latinLnBrk="0" hangingPunct="1">
                        <a:defRPr kumimoji="1" sz="1800" kern="1200">
                          <a:solidFill>
                            <a:schemeClr val="dk1"/>
                          </a:solidFill>
                          <a:latin typeface="Segoe UI"/>
                          <a:ea typeface="メイリオ"/>
                        </a:defRPr>
                      </a:lvl6pPr>
                      <a:lvl7pPr marL="2743200" algn="l" defTabSz="914400" rtl="0" eaLnBrk="1" latinLnBrk="0" hangingPunct="1">
                        <a:defRPr kumimoji="1" sz="1800" kern="1200">
                          <a:solidFill>
                            <a:schemeClr val="dk1"/>
                          </a:solidFill>
                          <a:latin typeface="Segoe UI"/>
                          <a:ea typeface="メイリオ"/>
                        </a:defRPr>
                      </a:lvl7pPr>
                      <a:lvl8pPr marL="3200400" algn="l" defTabSz="914400" rtl="0" eaLnBrk="1" latinLnBrk="0" hangingPunct="1">
                        <a:defRPr kumimoji="1" sz="1800" kern="1200">
                          <a:solidFill>
                            <a:schemeClr val="dk1"/>
                          </a:solidFill>
                          <a:latin typeface="Segoe UI"/>
                          <a:ea typeface="メイリオ"/>
                        </a:defRPr>
                      </a:lvl8pPr>
                      <a:lvl9pPr marL="3657600" algn="l" defTabSz="914400" rtl="0" eaLnBrk="1" latinLnBrk="0" hangingPunct="1">
                        <a:defRPr kumimoji="1" sz="1800" kern="1200">
                          <a:solidFill>
                            <a:schemeClr val="dk1"/>
                          </a:solidFill>
                          <a:latin typeface="Segoe UI"/>
                          <a:ea typeface="メイリオ"/>
                        </a:defRPr>
                      </a:lvl9pPr>
                    </a:lstStyle>
                    <a:p>
                      <a:pPr algn="ctr"/>
                      <a:r>
                        <a:rPr kumimoji="1" lang="en-US" altLang="ja-JP" sz="900" b="1" dirty="0">
                          <a:solidFill>
                            <a:schemeClr val="tx1"/>
                          </a:solidFill>
                          <a:latin typeface="Meiryo UI" panose="020B0604030504040204" pitchFamily="50" charset="-128"/>
                          <a:ea typeface="Meiryo UI" panose="020B0604030504040204" pitchFamily="50" charset="-128"/>
                        </a:rPr>
                        <a:t>RAG</a:t>
                      </a:r>
                      <a:r>
                        <a:rPr kumimoji="1" lang="ja-JP" altLang="en-US" sz="900" b="1" dirty="0">
                          <a:solidFill>
                            <a:schemeClr val="tx1"/>
                          </a:solidFill>
                          <a:latin typeface="Meiryo UI" panose="020B0604030504040204" pitchFamily="50" charset="-128"/>
                          <a:ea typeface="Meiryo UI" panose="020B0604030504040204" pitchFamily="50" charset="-128"/>
                        </a:rPr>
                        <a:t>がエージェントサービス的機能を持っていると</a:t>
                      </a:r>
                      <a:r>
                        <a:rPr kumimoji="1" lang="en-US" altLang="ja-JP" sz="900" b="1" dirty="0">
                          <a:solidFill>
                            <a:schemeClr val="tx1"/>
                          </a:solidFill>
                          <a:latin typeface="Meiryo UI" panose="020B0604030504040204" pitchFamily="50" charset="-128"/>
                          <a:ea typeface="Meiryo UI" panose="020B0604030504040204" pitchFamily="50" charset="-128"/>
                        </a:rPr>
                        <a:t>85%</a:t>
                      </a:r>
                      <a:r>
                        <a:rPr kumimoji="1" lang="ja-JP" altLang="en-US" sz="900" b="1" dirty="0">
                          <a:solidFill>
                            <a:schemeClr val="tx1"/>
                          </a:solidFill>
                          <a:latin typeface="Meiryo UI" panose="020B0604030504040204" pitchFamily="50" charset="-128"/>
                          <a:ea typeface="Meiryo UI" panose="020B0604030504040204" pitchFamily="50" charset="-128"/>
                        </a:rPr>
                        <a:t>が理解</a:t>
                      </a:r>
                      <a:r>
                        <a:rPr kumimoji="1" lang="ja-JP" altLang="en-US" sz="900" dirty="0">
                          <a:solidFill>
                            <a:schemeClr val="tx1"/>
                          </a:solidFill>
                          <a:latin typeface="Meiryo UI" panose="020B0604030504040204" pitchFamily="50" charset="-128"/>
                          <a:ea typeface="Meiryo UI" panose="020B0604030504040204" pitchFamily="50" charset="-128"/>
                        </a:rPr>
                        <a:t>している。</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ja-JP" altLang="en-US" sz="900" dirty="0">
                          <a:solidFill>
                            <a:schemeClr val="tx1"/>
                          </a:solidFill>
                          <a:latin typeface="Meiryo UI" panose="020B0604030504040204" pitchFamily="50" charset="-128"/>
                          <a:ea typeface="Meiryo UI" panose="020B0604030504040204" pitchFamily="50" charset="-128"/>
                        </a:rPr>
                        <a:t>ダイレクトリクルーティングサービス的機能については、</a:t>
                      </a:r>
                      <a:r>
                        <a:rPr kumimoji="1" lang="en-US" altLang="ja-JP" sz="900" dirty="0">
                          <a:solidFill>
                            <a:schemeClr val="tx1"/>
                          </a:solidFill>
                          <a:latin typeface="Meiryo UI" panose="020B0604030504040204" pitchFamily="50" charset="-128"/>
                          <a:ea typeface="Meiryo UI" panose="020B0604030504040204" pitchFamily="50" charset="-128"/>
                        </a:rPr>
                        <a:t>RAG</a:t>
                      </a:r>
                      <a:r>
                        <a:rPr kumimoji="1" lang="ja-JP" altLang="en-US" sz="900" dirty="0">
                          <a:solidFill>
                            <a:schemeClr val="tx1"/>
                          </a:solidFill>
                          <a:latin typeface="Meiryo UI" panose="020B0604030504040204" pitchFamily="50" charset="-128"/>
                          <a:ea typeface="Meiryo UI" panose="020B0604030504040204" pitchFamily="50" charset="-128"/>
                        </a:rPr>
                        <a:t>が</a:t>
                      </a:r>
                      <a:r>
                        <a:rPr kumimoji="1" lang="en-US" altLang="ja-JP" sz="900" dirty="0">
                          <a:solidFill>
                            <a:schemeClr val="tx1"/>
                          </a:solidFill>
                          <a:latin typeface="Meiryo UI" panose="020B0604030504040204" pitchFamily="50" charset="-128"/>
                          <a:ea typeface="Meiryo UI" panose="020B0604030504040204" pitchFamily="50" charset="-128"/>
                        </a:rPr>
                        <a:t>5</a:t>
                      </a:r>
                      <a:r>
                        <a:rPr kumimoji="1" lang="ja-JP" altLang="en-US" sz="900" dirty="0">
                          <a:solidFill>
                            <a:schemeClr val="tx1"/>
                          </a:solidFill>
                          <a:latin typeface="Meiryo UI" panose="020B0604030504040204" pitchFamily="50" charset="-128"/>
                          <a:ea typeface="Meiryo UI" panose="020B0604030504040204" pitchFamily="50" charset="-128"/>
                        </a:rPr>
                        <a:t>割強持っていると認識しているのに対し、</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en-US" altLang="ja-JP" sz="900" dirty="0">
                          <a:solidFill>
                            <a:schemeClr val="tx1"/>
                          </a:solidFill>
                          <a:latin typeface="Meiryo UI" panose="020B0604030504040204" pitchFamily="50" charset="-128"/>
                          <a:ea typeface="Meiryo UI" panose="020B0604030504040204" pitchFamily="50" charset="-128"/>
                        </a:rPr>
                        <a:t>RDS</a:t>
                      </a:r>
                      <a:r>
                        <a:rPr kumimoji="1" lang="ja-JP" altLang="en-US" sz="900" dirty="0">
                          <a:solidFill>
                            <a:schemeClr val="tx1"/>
                          </a:solidFill>
                          <a:latin typeface="Meiryo UI" panose="020B0604030504040204" pitchFamily="50" charset="-128"/>
                          <a:ea typeface="Meiryo UI" panose="020B0604030504040204" pitchFamily="50" charset="-128"/>
                        </a:rPr>
                        <a:t>では</a:t>
                      </a:r>
                      <a:r>
                        <a:rPr kumimoji="1" lang="en-US" altLang="ja-JP" sz="900" dirty="0">
                          <a:solidFill>
                            <a:schemeClr val="tx1"/>
                          </a:solidFill>
                          <a:latin typeface="Meiryo UI" panose="020B0604030504040204" pitchFamily="50" charset="-128"/>
                          <a:ea typeface="Meiryo UI" panose="020B0604030504040204" pitchFamily="50" charset="-128"/>
                        </a:rPr>
                        <a:t>3</a:t>
                      </a:r>
                      <a:r>
                        <a:rPr kumimoji="1" lang="ja-JP" altLang="en-US" sz="900" dirty="0">
                          <a:solidFill>
                            <a:schemeClr val="tx1"/>
                          </a:solidFill>
                          <a:latin typeface="Meiryo UI" panose="020B0604030504040204" pitchFamily="50" charset="-128"/>
                          <a:ea typeface="Meiryo UI" panose="020B0604030504040204" pitchFamily="50" charset="-128"/>
                        </a:rPr>
                        <a:t>割半ばに留まる。</a:t>
                      </a:r>
                    </a:p>
                  </a:txBody>
                  <a:tcPr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12700" cap="flat" cmpd="sng" algn="ctr">
                      <a:solidFill>
                        <a:schemeClr val="bg1">
                          <a:lumMod val="50000"/>
                        </a:schemeClr>
                      </a:solidFill>
                      <a:prstDash val="sysDot"/>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hMerge="1">
                  <a:txBody>
                    <a:bodyPr/>
                    <a:lstStyle/>
                    <a:p>
                      <a:endParaRPr kumimoji="1" lang="ja-JP" altLang="en-US"/>
                    </a:p>
                  </a:txBody>
                  <a:tcPr/>
                </a:tc>
                <a:tc hMerge="1">
                  <a:txBody>
                    <a:bodyPr/>
                    <a:lstStyle/>
                    <a:p>
                      <a:endParaRPr kumimoji="1" lang="ja-JP" altLang="en-US"/>
                    </a:p>
                  </a:txBody>
                  <a:tcPr/>
                </a:tc>
                <a:tc>
                  <a:txBody>
                    <a:bodyPr/>
                    <a:lstStyle/>
                    <a:p>
                      <a:pPr algn="ctr"/>
                      <a:r>
                        <a:rPr kumimoji="1" lang="en-US" altLang="ja-JP" sz="900" b="1" dirty="0">
                          <a:solidFill>
                            <a:schemeClr val="tx1"/>
                          </a:solidFill>
                          <a:latin typeface="Meiryo UI" panose="020B0604030504040204" pitchFamily="50" charset="-128"/>
                          <a:ea typeface="Meiryo UI" panose="020B0604030504040204" pitchFamily="50" charset="-128"/>
                        </a:rPr>
                        <a:t>RAG</a:t>
                      </a:r>
                      <a:r>
                        <a:rPr kumimoji="1" lang="ja-JP" altLang="en-US" sz="900" b="1" dirty="0">
                          <a:solidFill>
                            <a:schemeClr val="tx1"/>
                          </a:solidFill>
                          <a:latin typeface="Meiryo UI" panose="020B0604030504040204" pitchFamily="50" charset="-128"/>
                          <a:ea typeface="Meiryo UI" panose="020B0604030504040204" pitchFamily="50" charset="-128"/>
                        </a:rPr>
                        <a:t>がエージェントサービス的機能を持っていると理解は</a:t>
                      </a:r>
                      <a:r>
                        <a:rPr kumimoji="1" lang="en-US" altLang="ja-JP" sz="900" b="1" dirty="0">
                          <a:solidFill>
                            <a:schemeClr val="tx1"/>
                          </a:solidFill>
                          <a:latin typeface="Meiryo UI" panose="020B0604030504040204" pitchFamily="50" charset="-128"/>
                          <a:ea typeface="Meiryo UI" panose="020B0604030504040204" pitchFamily="50" charset="-128"/>
                        </a:rPr>
                        <a:t>6</a:t>
                      </a:r>
                      <a:r>
                        <a:rPr kumimoji="1" lang="ja-JP" altLang="en-US" sz="900" b="1" dirty="0">
                          <a:solidFill>
                            <a:schemeClr val="tx1"/>
                          </a:solidFill>
                          <a:latin typeface="Meiryo UI" panose="020B0604030504040204" pitchFamily="50" charset="-128"/>
                          <a:ea typeface="Meiryo UI" panose="020B0604030504040204" pitchFamily="50" charset="-128"/>
                        </a:rPr>
                        <a:t>割半ば</a:t>
                      </a:r>
                      <a:r>
                        <a:rPr kumimoji="1" lang="ja-JP" altLang="en-US" sz="900" b="0" dirty="0">
                          <a:solidFill>
                            <a:schemeClr val="tx1"/>
                          </a:solidFill>
                          <a:latin typeface="Meiryo UI" panose="020B0604030504040204" pitchFamily="50" charset="-128"/>
                          <a:ea typeface="Meiryo UI" panose="020B0604030504040204" pitchFamily="50" charset="-128"/>
                        </a:rPr>
                        <a:t>に留まる。</a:t>
                      </a:r>
                      <a:endParaRPr kumimoji="1" lang="en-US" altLang="ja-JP" sz="900" b="0" dirty="0">
                        <a:solidFill>
                          <a:schemeClr val="tx1"/>
                        </a:solidFill>
                        <a:latin typeface="Meiryo UI" panose="020B0604030504040204" pitchFamily="50" charset="-128"/>
                        <a:ea typeface="Meiryo UI" panose="020B0604030504040204" pitchFamily="50" charset="-128"/>
                      </a:endParaRPr>
                    </a:p>
                    <a:p>
                      <a:pPr algn="ctr"/>
                      <a:r>
                        <a:rPr kumimoji="1" lang="ja-JP" altLang="en-US" sz="900" b="0" dirty="0">
                          <a:solidFill>
                            <a:schemeClr val="tx1"/>
                          </a:solidFill>
                          <a:latin typeface="Meiryo UI" panose="020B0604030504040204" pitchFamily="50" charset="-128"/>
                          <a:ea typeface="Meiryo UI" panose="020B0604030504040204" pitchFamily="50" charset="-128"/>
                        </a:rPr>
                        <a:t>全体的にサービス理解は進んでいない。</a:t>
                      </a:r>
                      <a:endParaRPr kumimoji="1" lang="ja-JP" altLang="en-US" sz="900" dirty="0">
                        <a:solidFill>
                          <a:schemeClr val="tx1"/>
                        </a:solidFill>
                        <a:latin typeface="Meiryo UI" panose="020B0604030504040204" pitchFamily="50" charset="-128"/>
                        <a:ea typeface="Meiryo UI" panose="020B0604030504040204" pitchFamily="50" charset="-128"/>
                      </a:endParaRPr>
                    </a:p>
                  </a:txBody>
                  <a:tcPr anchor="ctr">
                    <a:lnL w="6350" cap="flat" cmpd="sng" algn="ctr">
                      <a:solidFill>
                        <a:sysClr val="window" lastClr="FFFFFF">
                          <a:lumMod val="50000"/>
                        </a:sys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50000"/>
                        </a:schemeClr>
                      </a:solidFill>
                      <a:prstDash val="sysDot"/>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3696728398"/>
                  </a:ext>
                </a:extLst>
              </a:tr>
              <a:tr h="456878">
                <a:tc>
                  <a:txBody>
                    <a:bodyPr/>
                    <a:lstStyle>
                      <a:lvl1pPr marL="0" algn="l" defTabSz="914400" rtl="0" eaLnBrk="1" latinLnBrk="0" hangingPunct="1">
                        <a:defRPr kumimoji="1" sz="1800" kern="1200">
                          <a:solidFill>
                            <a:schemeClr val="dk1"/>
                          </a:solidFill>
                          <a:latin typeface="Segoe UI"/>
                          <a:ea typeface="メイリオ"/>
                        </a:defRPr>
                      </a:lvl1pPr>
                      <a:lvl2pPr marL="457200" algn="l" defTabSz="914400" rtl="0" eaLnBrk="1" latinLnBrk="0" hangingPunct="1">
                        <a:defRPr kumimoji="1" sz="1800" kern="1200">
                          <a:solidFill>
                            <a:schemeClr val="dk1"/>
                          </a:solidFill>
                          <a:latin typeface="Segoe UI"/>
                          <a:ea typeface="メイリオ"/>
                        </a:defRPr>
                      </a:lvl2pPr>
                      <a:lvl3pPr marL="914400" algn="l" defTabSz="914400" rtl="0" eaLnBrk="1" latinLnBrk="0" hangingPunct="1">
                        <a:defRPr kumimoji="1" sz="1800" kern="1200">
                          <a:solidFill>
                            <a:schemeClr val="dk1"/>
                          </a:solidFill>
                          <a:latin typeface="Segoe UI"/>
                          <a:ea typeface="メイリオ"/>
                        </a:defRPr>
                      </a:lvl3pPr>
                      <a:lvl4pPr marL="1371600" algn="l" defTabSz="914400" rtl="0" eaLnBrk="1" latinLnBrk="0" hangingPunct="1">
                        <a:defRPr kumimoji="1" sz="1800" kern="1200">
                          <a:solidFill>
                            <a:schemeClr val="dk1"/>
                          </a:solidFill>
                          <a:latin typeface="Segoe UI"/>
                          <a:ea typeface="メイリオ"/>
                        </a:defRPr>
                      </a:lvl4pPr>
                      <a:lvl5pPr marL="1828800" algn="l" defTabSz="914400" rtl="0" eaLnBrk="1" latinLnBrk="0" hangingPunct="1">
                        <a:defRPr kumimoji="1" sz="1800" kern="1200">
                          <a:solidFill>
                            <a:schemeClr val="dk1"/>
                          </a:solidFill>
                          <a:latin typeface="Segoe UI"/>
                          <a:ea typeface="メイリオ"/>
                        </a:defRPr>
                      </a:lvl5pPr>
                      <a:lvl6pPr marL="2286000" algn="l" defTabSz="914400" rtl="0" eaLnBrk="1" latinLnBrk="0" hangingPunct="1">
                        <a:defRPr kumimoji="1" sz="1800" kern="1200">
                          <a:solidFill>
                            <a:schemeClr val="dk1"/>
                          </a:solidFill>
                          <a:latin typeface="Segoe UI"/>
                          <a:ea typeface="メイリオ"/>
                        </a:defRPr>
                      </a:lvl6pPr>
                      <a:lvl7pPr marL="2743200" algn="l" defTabSz="914400" rtl="0" eaLnBrk="1" latinLnBrk="0" hangingPunct="1">
                        <a:defRPr kumimoji="1" sz="1800" kern="1200">
                          <a:solidFill>
                            <a:schemeClr val="dk1"/>
                          </a:solidFill>
                          <a:latin typeface="Segoe UI"/>
                          <a:ea typeface="メイリオ"/>
                        </a:defRPr>
                      </a:lvl7pPr>
                      <a:lvl8pPr marL="3200400" algn="l" defTabSz="914400" rtl="0" eaLnBrk="1" latinLnBrk="0" hangingPunct="1">
                        <a:defRPr kumimoji="1" sz="1800" kern="1200">
                          <a:solidFill>
                            <a:schemeClr val="dk1"/>
                          </a:solidFill>
                          <a:latin typeface="Segoe UI"/>
                          <a:ea typeface="メイリオ"/>
                        </a:defRPr>
                      </a:lvl8pPr>
                      <a:lvl9pPr marL="3657600" algn="l" defTabSz="914400" rtl="0" eaLnBrk="1" latinLnBrk="0" hangingPunct="1">
                        <a:defRPr kumimoji="1" sz="1800" kern="1200">
                          <a:solidFill>
                            <a:schemeClr val="dk1"/>
                          </a:solidFill>
                          <a:latin typeface="Segoe UI"/>
                          <a:ea typeface="メイリオ"/>
                        </a:defRPr>
                      </a:lvl9pP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転職サービス登録</a:t>
                      </a:r>
                    </a:p>
                  </a:txBody>
                  <a:tcPr anchor="ctr">
                    <a:lnL w="12700" cap="flat" cmpd="sng" algn="ctr">
                      <a:no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75000"/>
                      </a:sysClr>
                    </a:solidFill>
                  </a:tcPr>
                </a:tc>
                <a:tc gridSpan="3">
                  <a:txBody>
                    <a:bodyPr/>
                    <a:lstStyle>
                      <a:lvl1pPr marL="0" algn="l" defTabSz="914400" rtl="0" eaLnBrk="1" latinLnBrk="0" hangingPunct="1">
                        <a:defRPr kumimoji="1" sz="1800" kern="1200">
                          <a:solidFill>
                            <a:schemeClr val="dk1"/>
                          </a:solidFill>
                          <a:latin typeface="Segoe UI"/>
                          <a:ea typeface="メイリオ"/>
                        </a:defRPr>
                      </a:lvl1pPr>
                      <a:lvl2pPr marL="457200" algn="l" defTabSz="914400" rtl="0" eaLnBrk="1" latinLnBrk="0" hangingPunct="1">
                        <a:defRPr kumimoji="1" sz="1800" kern="1200">
                          <a:solidFill>
                            <a:schemeClr val="dk1"/>
                          </a:solidFill>
                          <a:latin typeface="Segoe UI"/>
                          <a:ea typeface="メイリオ"/>
                        </a:defRPr>
                      </a:lvl2pPr>
                      <a:lvl3pPr marL="914400" algn="l" defTabSz="914400" rtl="0" eaLnBrk="1" latinLnBrk="0" hangingPunct="1">
                        <a:defRPr kumimoji="1" sz="1800" kern="1200">
                          <a:solidFill>
                            <a:schemeClr val="dk1"/>
                          </a:solidFill>
                          <a:latin typeface="Segoe UI"/>
                          <a:ea typeface="メイリオ"/>
                        </a:defRPr>
                      </a:lvl3pPr>
                      <a:lvl4pPr marL="1371600" algn="l" defTabSz="914400" rtl="0" eaLnBrk="1" latinLnBrk="0" hangingPunct="1">
                        <a:defRPr kumimoji="1" sz="1800" kern="1200">
                          <a:solidFill>
                            <a:schemeClr val="dk1"/>
                          </a:solidFill>
                          <a:latin typeface="Segoe UI"/>
                          <a:ea typeface="メイリオ"/>
                        </a:defRPr>
                      </a:lvl4pPr>
                      <a:lvl5pPr marL="1828800" algn="l" defTabSz="914400" rtl="0" eaLnBrk="1" latinLnBrk="0" hangingPunct="1">
                        <a:defRPr kumimoji="1" sz="1800" kern="1200">
                          <a:solidFill>
                            <a:schemeClr val="dk1"/>
                          </a:solidFill>
                          <a:latin typeface="Segoe UI"/>
                          <a:ea typeface="メイリオ"/>
                        </a:defRPr>
                      </a:lvl5pPr>
                      <a:lvl6pPr marL="2286000" algn="l" defTabSz="914400" rtl="0" eaLnBrk="1" latinLnBrk="0" hangingPunct="1">
                        <a:defRPr kumimoji="1" sz="1800" kern="1200">
                          <a:solidFill>
                            <a:schemeClr val="dk1"/>
                          </a:solidFill>
                          <a:latin typeface="Segoe UI"/>
                          <a:ea typeface="メイリオ"/>
                        </a:defRPr>
                      </a:lvl6pPr>
                      <a:lvl7pPr marL="2743200" algn="l" defTabSz="914400" rtl="0" eaLnBrk="1" latinLnBrk="0" hangingPunct="1">
                        <a:defRPr kumimoji="1" sz="1800" kern="1200">
                          <a:solidFill>
                            <a:schemeClr val="dk1"/>
                          </a:solidFill>
                          <a:latin typeface="Segoe UI"/>
                          <a:ea typeface="メイリオ"/>
                        </a:defRPr>
                      </a:lvl7pPr>
                      <a:lvl8pPr marL="3200400" algn="l" defTabSz="914400" rtl="0" eaLnBrk="1" latinLnBrk="0" hangingPunct="1">
                        <a:defRPr kumimoji="1" sz="1800" kern="1200">
                          <a:solidFill>
                            <a:schemeClr val="dk1"/>
                          </a:solidFill>
                          <a:latin typeface="Segoe UI"/>
                          <a:ea typeface="メイリオ"/>
                        </a:defRPr>
                      </a:lvl8pPr>
                      <a:lvl9pPr marL="3657600" algn="l" defTabSz="914400" rtl="0" eaLnBrk="1" latinLnBrk="0" hangingPunct="1">
                        <a:defRPr kumimoji="1" sz="1800" kern="1200">
                          <a:solidFill>
                            <a:schemeClr val="dk1"/>
                          </a:solidFill>
                          <a:latin typeface="Segoe UI"/>
                          <a:ea typeface="メイリオ"/>
                        </a:defRPr>
                      </a:lvl9pPr>
                    </a:lstStyle>
                    <a:p>
                      <a:pPr algn="ctr"/>
                      <a:r>
                        <a:rPr kumimoji="1" lang="en-US" altLang="ja-JP" sz="900" dirty="0">
                          <a:solidFill>
                            <a:schemeClr val="tx1"/>
                          </a:solidFill>
                          <a:latin typeface="Meiryo UI" panose="020B0604030504040204" pitchFamily="50" charset="-128"/>
                          <a:ea typeface="Meiryo UI" panose="020B0604030504040204" pitchFamily="50" charset="-128"/>
                        </a:rPr>
                        <a:t>RAG</a:t>
                      </a:r>
                      <a:r>
                        <a:rPr kumimoji="1" lang="ja-JP" altLang="en-US" sz="900" dirty="0">
                          <a:solidFill>
                            <a:schemeClr val="tx1"/>
                          </a:solidFill>
                          <a:latin typeface="Meiryo UI" panose="020B0604030504040204" pitchFamily="50" charset="-128"/>
                          <a:ea typeface="Meiryo UI" panose="020B0604030504040204" pitchFamily="50" charset="-128"/>
                        </a:rPr>
                        <a:t>以外では「</a:t>
                      </a:r>
                      <a:r>
                        <a:rPr kumimoji="1" lang="en-US" altLang="ja-JP" sz="900" dirty="0">
                          <a:solidFill>
                            <a:schemeClr val="tx1"/>
                          </a:solidFill>
                          <a:latin typeface="Meiryo UI" panose="020B0604030504040204" pitchFamily="50" charset="-128"/>
                          <a:ea typeface="Meiryo UI" panose="020B0604030504040204" pitchFamily="50" charset="-128"/>
                        </a:rPr>
                        <a:t>RNN</a:t>
                      </a:r>
                      <a:r>
                        <a:rPr kumimoji="1" lang="ja-JP" altLang="en-US" sz="900" dirty="0">
                          <a:solidFill>
                            <a:schemeClr val="tx1"/>
                          </a:solidFill>
                          <a:latin typeface="Meiryo UI" panose="020B0604030504040204" pitchFamily="50" charset="-128"/>
                          <a:ea typeface="Meiryo UI" panose="020B0604030504040204" pitchFamily="50" charset="-128"/>
                        </a:rPr>
                        <a:t>」が</a:t>
                      </a:r>
                      <a:r>
                        <a:rPr kumimoji="1" lang="en-US" altLang="ja-JP" sz="900" dirty="0">
                          <a:solidFill>
                            <a:schemeClr val="tx1"/>
                          </a:solidFill>
                          <a:latin typeface="Meiryo UI" panose="020B0604030504040204" pitchFamily="50" charset="-128"/>
                          <a:ea typeface="Meiryo UI" panose="020B0604030504040204" pitchFamily="50" charset="-128"/>
                        </a:rPr>
                        <a:t>4</a:t>
                      </a:r>
                      <a:r>
                        <a:rPr kumimoji="1" lang="ja-JP" altLang="en-US" sz="900" dirty="0">
                          <a:solidFill>
                            <a:schemeClr val="tx1"/>
                          </a:solidFill>
                          <a:latin typeface="Meiryo UI" panose="020B0604030504040204" pitchFamily="50" charset="-128"/>
                          <a:ea typeface="Meiryo UI" panose="020B0604030504040204" pitchFamily="50" charset="-128"/>
                        </a:rPr>
                        <a:t>割強で</a:t>
                      </a:r>
                      <a:r>
                        <a:rPr kumimoji="1" lang="en-US" altLang="ja-JP" sz="900" dirty="0">
                          <a:solidFill>
                            <a:schemeClr val="tx1"/>
                          </a:solidFill>
                          <a:latin typeface="Meiryo UI" panose="020B0604030504040204" pitchFamily="50" charset="-128"/>
                          <a:ea typeface="Meiryo UI" panose="020B0604030504040204" pitchFamily="50" charset="-128"/>
                        </a:rPr>
                        <a:t>TOP</a:t>
                      </a:r>
                      <a:r>
                        <a:rPr kumimoji="1" lang="ja-JP" altLang="en-US" sz="900" dirty="0">
                          <a:solidFill>
                            <a:schemeClr val="tx1"/>
                          </a:solidFill>
                          <a:latin typeface="Meiryo UI" panose="020B0604030504040204" pitchFamily="50" charset="-128"/>
                          <a:ea typeface="Meiryo UI" panose="020B0604030504040204" pitchFamily="50" charset="-128"/>
                        </a:rPr>
                        <a:t>。「</a:t>
                      </a:r>
                      <a:r>
                        <a:rPr kumimoji="1" lang="en-US" altLang="ja-JP" sz="900" dirty="0">
                          <a:solidFill>
                            <a:schemeClr val="tx1"/>
                          </a:solidFill>
                          <a:latin typeface="Meiryo UI" panose="020B0604030504040204" pitchFamily="50" charset="-128"/>
                          <a:ea typeface="Meiryo UI" panose="020B0604030504040204" pitchFamily="50" charset="-128"/>
                        </a:rPr>
                        <a:t>BIZREACH</a:t>
                      </a:r>
                      <a:r>
                        <a:rPr kumimoji="1" lang="ja-JP" altLang="en-US" sz="900" dirty="0">
                          <a:solidFill>
                            <a:schemeClr val="tx1"/>
                          </a:solidFill>
                          <a:latin typeface="Meiryo UI" panose="020B0604030504040204" pitchFamily="50" charset="-128"/>
                          <a:ea typeface="Meiryo UI" panose="020B0604030504040204" pitchFamily="50" charset="-128"/>
                        </a:rPr>
                        <a:t>」「</a:t>
                      </a:r>
                      <a:r>
                        <a:rPr kumimoji="1" lang="en-US" altLang="ja-JP" sz="900" dirty="0">
                          <a:solidFill>
                            <a:schemeClr val="tx1"/>
                          </a:solidFill>
                          <a:latin typeface="Meiryo UI" panose="020B0604030504040204" pitchFamily="50" charset="-128"/>
                          <a:ea typeface="Meiryo UI" panose="020B0604030504040204" pitchFamily="50" charset="-128"/>
                        </a:rPr>
                        <a:t>doda</a:t>
                      </a:r>
                      <a:r>
                        <a:rPr kumimoji="1" lang="ja-JP" altLang="en-US" sz="900" dirty="0">
                          <a:solidFill>
                            <a:schemeClr val="tx1"/>
                          </a:solidFill>
                          <a:latin typeface="Meiryo UI" panose="020B0604030504040204" pitchFamily="50" charset="-128"/>
                          <a:ea typeface="Meiryo UI" panose="020B0604030504040204" pitchFamily="50" charset="-128"/>
                        </a:rPr>
                        <a:t>」「マイナビ転職」が続く。</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ja-JP" altLang="en-US" sz="900" b="1" dirty="0">
                          <a:solidFill>
                            <a:schemeClr val="tx1"/>
                          </a:solidFill>
                          <a:latin typeface="Meiryo UI" panose="020B0604030504040204" pitchFamily="50" charset="-128"/>
                          <a:ea typeface="Meiryo UI" panose="020B0604030504040204" pitchFamily="50" charset="-128"/>
                        </a:rPr>
                        <a:t>他エージェントサービスはいずれも</a:t>
                      </a:r>
                      <a:r>
                        <a:rPr kumimoji="1" lang="en-US" altLang="ja-JP" sz="900" b="1" dirty="0">
                          <a:solidFill>
                            <a:schemeClr val="tx1"/>
                          </a:solidFill>
                          <a:latin typeface="Meiryo UI" panose="020B0604030504040204" pitchFamily="50" charset="-128"/>
                          <a:ea typeface="Meiryo UI" panose="020B0604030504040204" pitchFamily="50" charset="-128"/>
                        </a:rPr>
                        <a:t>2</a:t>
                      </a:r>
                      <a:r>
                        <a:rPr kumimoji="1" lang="ja-JP" altLang="en-US" sz="900" b="1" dirty="0">
                          <a:solidFill>
                            <a:schemeClr val="tx1"/>
                          </a:solidFill>
                          <a:latin typeface="Meiryo UI" panose="020B0604030504040204" pitchFamily="50" charset="-128"/>
                          <a:ea typeface="Meiryo UI" panose="020B0604030504040204" pitchFamily="50" charset="-128"/>
                        </a:rPr>
                        <a:t>割以下程度に留まり、エージェントサービスとの併用は多くない</a:t>
                      </a:r>
                      <a:r>
                        <a:rPr kumimoji="1" lang="ja-JP" altLang="en-US" sz="900" dirty="0">
                          <a:solidFill>
                            <a:schemeClr val="tx1"/>
                          </a:solidFill>
                          <a:latin typeface="Meiryo UI" panose="020B0604030504040204" pitchFamily="50" charset="-128"/>
                          <a:ea typeface="Meiryo UI" panose="020B0604030504040204" pitchFamily="50" charset="-128"/>
                        </a:rPr>
                        <a:t>様子。</a:t>
                      </a:r>
                      <a:br>
                        <a:rPr kumimoji="1" lang="en-US" altLang="ja-JP" sz="900" dirty="0">
                          <a:solidFill>
                            <a:schemeClr val="tx1"/>
                          </a:solidFill>
                          <a:latin typeface="Meiryo UI" panose="020B0604030504040204" pitchFamily="50" charset="-128"/>
                          <a:ea typeface="Meiryo UI" panose="020B0604030504040204" pitchFamily="50" charset="-128"/>
                        </a:rPr>
                      </a:br>
                      <a:r>
                        <a:rPr kumimoji="1" lang="ja-JP" altLang="en-US" sz="900" dirty="0">
                          <a:solidFill>
                            <a:schemeClr val="tx1"/>
                          </a:solidFill>
                          <a:latin typeface="Meiryo UI" panose="020B0604030504040204" pitchFamily="50" charset="-128"/>
                          <a:ea typeface="Meiryo UI" panose="020B0604030504040204" pitchFamily="50" charset="-128"/>
                        </a:rPr>
                        <a:t>面談希望なしと比較すると、サービスカテゴリごとに使い分ける登録者が多いことが推察される。</a:t>
                      </a:r>
                      <a:endParaRPr kumimoji="1" lang="en-US" altLang="ja-JP" sz="900" dirty="0">
                        <a:solidFill>
                          <a:schemeClr val="tx1"/>
                        </a:solidFill>
                        <a:latin typeface="Meiryo UI" panose="020B0604030504040204" pitchFamily="50" charset="-128"/>
                        <a:ea typeface="Meiryo UI" panose="020B0604030504040204" pitchFamily="50" charset="-128"/>
                      </a:endParaRPr>
                    </a:p>
                  </a:txBody>
                  <a:tcPr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hMerge="1">
                  <a:txBody>
                    <a:bodyPr/>
                    <a:lstStyle/>
                    <a:p>
                      <a:endParaRPr kumimoji="1" lang="ja-JP" altLang="en-US"/>
                    </a:p>
                  </a:txBody>
                  <a:tcPr/>
                </a:tc>
                <a:tc hMerge="1">
                  <a:txBody>
                    <a:bodyPr/>
                    <a:lstStyle/>
                    <a:p>
                      <a:endParaRPr kumimoji="1" lang="ja-JP" altLang="en-US"/>
                    </a:p>
                  </a:txBody>
                  <a:tcPr/>
                </a:tc>
                <a:tc>
                  <a:txBody>
                    <a:bodyPr/>
                    <a:lstStyle/>
                    <a:p>
                      <a:pPr algn="ctr"/>
                      <a:r>
                        <a:rPr kumimoji="1" lang="ja-JP" altLang="en-US" sz="900" dirty="0">
                          <a:solidFill>
                            <a:schemeClr val="tx1"/>
                          </a:solidFill>
                          <a:latin typeface="Meiryo UI" panose="020B0604030504040204" pitchFamily="50" charset="-128"/>
                          <a:ea typeface="Meiryo UI" panose="020B0604030504040204" pitchFamily="50" charset="-128"/>
                        </a:rPr>
                        <a:t>「</a:t>
                      </a:r>
                      <a:r>
                        <a:rPr kumimoji="1" lang="en-US" altLang="ja-JP" sz="900" dirty="0">
                          <a:solidFill>
                            <a:schemeClr val="tx1"/>
                          </a:solidFill>
                          <a:latin typeface="Meiryo UI" panose="020B0604030504040204" pitchFamily="50" charset="-128"/>
                          <a:ea typeface="Meiryo UI" panose="020B0604030504040204" pitchFamily="50" charset="-128"/>
                        </a:rPr>
                        <a:t>RNN</a:t>
                      </a:r>
                      <a:r>
                        <a:rPr kumimoji="1" lang="ja-JP" altLang="en-US" sz="900" dirty="0">
                          <a:solidFill>
                            <a:schemeClr val="tx1"/>
                          </a:solidFill>
                          <a:latin typeface="Meiryo UI" panose="020B0604030504040204" pitchFamily="50" charset="-128"/>
                          <a:ea typeface="Meiryo UI" panose="020B0604030504040204" pitchFamily="50" charset="-128"/>
                        </a:rPr>
                        <a:t>」「</a:t>
                      </a:r>
                      <a:r>
                        <a:rPr kumimoji="1" lang="en-US" altLang="ja-JP" sz="900" dirty="0">
                          <a:solidFill>
                            <a:schemeClr val="tx1"/>
                          </a:solidFill>
                          <a:latin typeface="Meiryo UI" panose="020B0604030504040204" pitchFamily="50" charset="-128"/>
                          <a:ea typeface="Meiryo UI" panose="020B0604030504040204" pitchFamily="50" charset="-128"/>
                        </a:rPr>
                        <a:t>BIZREACH</a:t>
                      </a:r>
                      <a:r>
                        <a:rPr kumimoji="1" lang="ja-JP" altLang="en-US" sz="900" dirty="0">
                          <a:solidFill>
                            <a:schemeClr val="tx1"/>
                          </a:solidFill>
                          <a:latin typeface="Meiryo UI" panose="020B0604030504040204" pitchFamily="50" charset="-128"/>
                          <a:ea typeface="Meiryo UI" panose="020B0604030504040204" pitchFamily="50" charset="-128"/>
                        </a:rPr>
                        <a:t>」が</a:t>
                      </a:r>
                      <a:r>
                        <a:rPr kumimoji="1" lang="en-US" altLang="ja-JP" sz="900" dirty="0">
                          <a:solidFill>
                            <a:schemeClr val="tx1"/>
                          </a:solidFill>
                          <a:latin typeface="Meiryo UI" panose="020B0604030504040204" pitchFamily="50" charset="-128"/>
                          <a:ea typeface="Meiryo UI" panose="020B0604030504040204" pitchFamily="50" charset="-128"/>
                        </a:rPr>
                        <a:t>3</a:t>
                      </a:r>
                      <a:r>
                        <a:rPr kumimoji="1" lang="ja-JP" altLang="en-US" sz="900" dirty="0">
                          <a:solidFill>
                            <a:schemeClr val="tx1"/>
                          </a:solidFill>
                          <a:latin typeface="Meiryo UI" panose="020B0604030504040204" pitchFamily="50" charset="-128"/>
                          <a:ea typeface="Meiryo UI" panose="020B0604030504040204" pitchFamily="50" charset="-128"/>
                        </a:rPr>
                        <a:t>割弱で</a:t>
                      </a:r>
                      <a:r>
                        <a:rPr kumimoji="1" lang="en-US" altLang="ja-JP" sz="900" dirty="0">
                          <a:solidFill>
                            <a:schemeClr val="tx1"/>
                          </a:solidFill>
                          <a:latin typeface="Meiryo UI" panose="020B0604030504040204" pitchFamily="50" charset="-128"/>
                          <a:ea typeface="Meiryo UI" panose="020B0604030504040204" pitchFamily="50" charset="-128"/>
                        </a:rPr>
                        <a:t>TOP</a:t>
                      </a:r>
                      <a:r>
                        <a:rPr kumimoji="1" lang="ja-JP" altLang="en-US" sz="900" dirty="0">
                          <a:solidFill>
                            <a:schemeClr val="tx1"/>
                          </a:solidFill>
                          <a:latin typeface="Meiryo UI" panose="020B0604030504040204" pitchFamily="50" charset="-128"/>
                          <a:ea typeface="Meiryo UI" panose="020B0604030504040204" pitchFamily="50" charset="-128"/>
                        </a:rPr>
                        <a:t>だが、他エージェントサービス含め</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ja-JP" altLang="en-US" sz="900" b="1" dirty="0">
                          <a:solidFill>
                            <a:schemeClr val="tx1"/>
                          </a:solidFill>
                          <a:latin typeface="Meiryo UI" panose="020B0604030504040204" pitchFamily="50" charset="-128"/>
                          <a:ea typeface="Meiryo UI" panose="020B0604030504040204" pitchFamily="50" charset="-128"/>
                        </a:rPr>
                        <a:t>面談希望ありより併用していない</a:t>
                      </a:r>
                      <a:r>
                        <a:rPr kumimoji="1" lang="ja-JP" altLang="en-US" sz="900" dirty="0">
                          <a:solidFill>
                            <a:schemeClr val="tx1"/>
                          </a:solidFill>
                          <a:latin typeface="Meiryo UI" panose="020B0604030504040204" pitchFamily="50" charset="-128"/>
                          <a:ea typeface="Meiryo UI" panose="020B0604030504040204" pitchFamily="50" charset="-128"/>
                        </a:rPr>
                        <a:t>。</a:t>
                      </a:r>
                      <a:endParaRPr kumimoji="1" lang="en-US" altLang="ja-JP" sz="900" dirty="0">
                        <a:solidFill>
                          <a:schemeClr val="tx1"/>
                        </a:solidFill>
                        <a:latin typeface="Meiryo UI" panose="020B0604030504040204" pitchFamily="50" charset="-128"/>
                        <a:ea typeface="Meiryo UI" panose="020B0604030504040204" pitchFamily="50" charset="-128"/>
                      </a:endParaRPr>
                    </a:p>
                  </a:txBody>
                  <a:tcPr anchor="ctr">
                    <a:lnL w="6350" cap="flat" cmpd="sng" algn="ctr">
                      <a:solidFill>
                        <a:sysClr val="window" lastClr="FFFFFF">
                          <a:lumMod val="50000"/>
                        </a:sys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6350" cap="flat" cmpd="sng" algn="ctr">
                      <a:solidFill>
                        <a:sysClr val="window" lastClr="FFFFFF">
                          <a:lumMod val="50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2437021686"/>
                  </a:ext>
                </a:extLst>
              </a:tr>
              <a:tr h="456878">
                <a:tc>
                  <a:txBody>
                    <a:bodyPr/>
                    <a:lstStyle>
                      <a:lvl1pPr marL="0" algn="l" defTabSz="914400" rtl="0" eaLnBrk="1" latinLnBrk="0" hangingPunct="1">
                        <a:defRPr kumimoji="1" sz="1800" kern="1200">
                          <a:solidFill>
                            <a:schemeClr val="dk1"/>
                          </a:solidFill>
                          <a:latin typeface="Segoe UI"/>
                          <a:ea typeface="メイリオ"/>
                        </a:defRPr>
                      </a:lvl1pPr>
                      <a:lvl2pPr marL="457200" algn="l" defTabSz="914400" rtl="0" eaLnBrk="1" latinLnBrk="0" hangingPunct="1">
                        <a:defRPr kumimoji="1" sz="1800" kern="1200">
                          <a:solidFill>
                            <a:schemeClr val="dk1"/>
                          </a:solidFill>
                          <a:latin typeface="Segoe UI"/>
                          <a:ea typeface="メイリオ"/>
                        </a:defRPr>
                      </a:lvl2pPr>
                      <a:lvl3pPr marL="914400" algn="l" defTabSz="914400" rtl="0" eaLnBrk="1" latinLnBrk="0" hangingPunct="1">
                        <a:defRPr kumimoji="1" sz="1800" kern="1200">
                          <a:solidFill>
                            <a:schemeClr val="dk1"/>
                          </a:solidFill>
                          <a:latin typeface="Segoe UI"/>
                          <a:ea typeface="メイリオ"/>
                        </a:defRPr>
                      </a:lvl3pPr>
                      <a:lvl4pPr marL="1371600" algn="l" defTabSz="914400" rtl="0" eaLnBrk="1" latinLnBrk="0" hangingPunct="1">
                        <a:defRPr kumimoji="1" sz="1800" kern="1200">
                          <a:solidFill>
                            <a:schemeClr val="dk1"/>
                          </a:solidFill>
                          <a:latin typeface="Segoe UI"/>
                          <a:ea typeface="メイリオ"/>
                        </a:defRPr>
                      </a:lvl4pPr>
                      <a:lvl5pPr marL="1828800" algn="l" defTabSz="914400" rtl="0" eaLnBrk="1" latinLnBrk="0" hangingPunct="1">
                        <a:defRPr kumimoji="1" sz="1800" kern="1200">
                          <a:solidFill>
                            <a:schemeClr val="dk1"/>
                          </a:solidFill>
                          <a:latin typeface="Segoe UI"/>
                          <a:ea typeface="メイリオ"/>
                        </a:defRPr>
                      </a:lvl5pPr>
                      <a:lvl6pPr marL="2286000" algn="l" defTabSz="914400" rtl="0" eaLnBrk="1" latinLnBrk="0" hangingPunct="1">
                        <a:defRPr kumimoji="1" sz="1800" kern="1200">
                          <a:solidFill>
                            <a:schemeClr val="dk1"/>
                          </a:solidFill>
                          <a:latin typeface="Segoe UI"/>
                          <a:ea typeface="メイリオ"/>
                        </a:defRPr>
                      </a:lvl6pPr>
                      <a:lvl7pPr marL="2743200" algn="l" defTabSz="914400" rtl="0" eaLnBrk="1" latinLnBrk="0" hangingPunct="1">
                        <a:defRPr kumimoji="1" sz="1800" kern="1200">
                          <a:solidFill>
                            <a:schemeClr val="dk1"/>
                          </a:solidFill>
                          <a:latin typeface="Segoe UI"/>
                          <a:ea typeface="メイリオ"/>
                        </a:defRPr>
                      </a:lvl7pPr>
                      <a:lvl8pPr marL="3200400" algn="l" defTabSz="914400" rtl="0" eaLnBrk="1" latinLnBrk="0" hangingPunct="1">
                        <a:defRPr kumimoji="1" sz="1800" kern="1200">
                          <a:solidFill>
                            <a:schemeClr val="dk1"/>
                          </a:solidFill>
                          <a:latin typeface="Segoe UI"/>
                          <a:ea typeface="メイリオ"/>
                        </a:defRPr>
                      </a:lvl8pPr>
                      <a:lvl9pPr marL="3657600" algn="l" defTabSz="914400" rtl="0" eaLnBrk="1" latinLnBrk="0" hangingPunct="1">
                        <a:defRPr kumimoji="1" sz="1800" kern="1200">
                          <a:solidFill>
                            <a:schemeClr val="dk1"/>
                          </a:solidFill>
                          <a:latin typeface="Segoe UI"/>
                          <a:ea typeface="メイリオ"/>
                        </a:defRPr>
                      </a:lvl9pPr>
                    </a:lstStyle>
                    <a:p>
                      <a:pPr algn="ctr"/>
                      <a:r>
                        <a:rPr kumimoji="1" lang="en-US" altLang="ja-JP" sz="1100" b="1" dirty="0">
                          <a:solidFill>
                            <a:schemeClr val="tx1"/>
                          </a:solidFill>
                          <a:latin typeface="Meiryo UI" panose="020B0604030504040204" pitchFamily="50" charset="-128"/>
                          <a:ea typeface="Meiryo UI" panose="020B0604030504040204" pitchFamily="50" charset="-128"/>
                        </a:rPr>
                        <a:t>RAG</a:t>
                      </a:r>
                      <a:r>
                        <a:rPr kumimoji="1" lang="ja-JP" altLang="en-US" sz="1100" b="1" dirty="0">
                          <a:solidFill>
                            <a:schemeClr val="tx1"/>
                          </a:solidFill>
                          <a:latin typeface="Meiryo UI" panose="020B0604030504040204" pitchFamily="50" charset="-128"/>
                          <a:ea typeface="Meiryo UI" panose="020B0604030504040204" pitchFamily="50" charset="-128"/>
                        </a:rPr>
                        <a:t>登録時の期待</a:t>
                      </a:r>
                    </a:p>
                  </a:txBody>
                  <a:tcPr anchor="ctr">
                    <a:lnL w="12700" cap="flat" cmpd="sng" algn="ctr">
                      <a:no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kumimoji="1" sz="1800" kern="1200">
                          <a:solidFill>
                            <a:schemeClr val="dk1"/>
                          </a:solidFill>
                          <a:latin typeface="Segoe UI"/>
                          <a:ea typeface="メイリオ"/>
                        </a:defRPr>
                      </a:lvl1pPr>
                      <a:lvl2pPr marL="457200" algn="l" defTabSz="914400" rtl="0" eaLnBrk="1" latinLnBrk="0" hangingPunct="1">
                        <a:defRPr kumimoji="1" sz="1800" kern="1200">
                          <a:solidFill>
                            <a:schemeClr val="dk1"/>
                          </a:solidFill>
                          <a:latin typeface="Segoe UI"/>
                          <a:ea typeface="メイリオ"/>
                        </a:defRPr>
                      </a:lvl2pPr>
                      <a:lvl3pPr marL="914400" algn="l" defTabSz="914400" rtl="0" eaLnBrk="1" latinLnBrk="0" hangingPunct="1">
                        <a:defRPr kumimoji="1" sz="1800" kern="1200">
                          <a:solidFill>
                            <a:schemeClr val="dk1"/>
                          </a:solidFill>
                          <a:latin typeface="Segoe UI"/>
                          <a:ea typeface="メイリオ"/>
                        </a:defRPr>
                      </a:lvl3pPr>
                      <a:lvl4pPr marL="1371600" algn="l" defTabSz="914400" rtl="0" eaLnBrk="1" latinLnBrk="0" hangingPunct="1">
                        <a:defRPr kumimoji="1" sz="1800" kern="1200">
                          <a:solidFill>
                            <a:schemeClr val="dk1"/>
                          </a:solidFill>
                          <a:latin typeface="Segoe UI"/>
                          <a:ea typeface="メイリオ"/>
                        </a:defRPr>
                      </a:lvl4pPr>
                      <a:lvl5pPr marL="1828800" algn="l" defTabSz="914400" rtl="0" eaLnBrk="1" latinLnBrk="0" hangingPunct="1">
                        <a:defRPr kumimoji="1" sz="1800" kern="1200">
                          <a:solidFill>
                            <a:schemeClr val="dk1"/>
                          </a:solidFill>
                          <a:latin typeface="Segoe UI"/>
                          <a:ea typeface="メイリオ"/>
                        </a:defRPr>
                      </a:lvl5pPr>
                      <a:lvl6pPr marL="2286000" algn="l" defTabSz="914400" rtl="0" eaLnBrk="1" latinLnBrk="0" hangingPunct="1">
                        <a:defRPr kumimoji="1" sz="1800" kern="1200">
                          <a:solidFill>
                            <a:schemeClr val="dk1"/>
                          </a:solidFill>
                          <a:latin typeface="Segoe UI"/>
                          <a:ea typeface="メイリオ"/>
                        </a:defRPr>
                      </a:lvl6pPr>
                      <a:lvl7pPr marL="2743200" algn="l" defTabSz="914400" rtl="0" eaLnBrk="1" latinLnBrk="0" hangingPunct="1">
                        <a:defRPr kumimoji="1" sz="1800" kern="1200">
                          <a:solidFill>
                            <a:schemeClr val="dk1"/>
                          </a:solidFill>
                          <a:latin typeface="Segoe UI"/>
                          <a:ea typeface="メイリオ"/>
                        </a:defRPr>
                      </a:lvl7pPr>
                      <a:lvl8pPr marL="3200400" algn="l" defTabSz="914400" rtl="0" eaLnBrk="1" latinLnBrk="0" hangingPunct="1">
                        <a:defRPr kumimoji="1" sz="1800" kern="1200">
                          <a:solidFill>
                            <a:schemeClr val="dk1"/>
                          </a:solidFill>
                          <a:latin typeface="Segoe UI"/>
                          <a:ea typeface="メイリオ"/>
                        </a:defRPr>
                      </a:lvl8pPr>
                      <a:lvl9pPr marL="3657600" algn="l" defTabSz="914400" rtl="0" eaLnBrk="1" latinLnBrk="0" hangingPunct="1">
                        <a:defRPr kumimoji="1" sz="1800" kern="1200">
                          <a:solidFill>
                            <a:schemeClr val="dk1"/>
                          </a:solidFill>
                          <a:latin typeface="Segoe UI"/>
                          <a:ea typeface="メイリオ"/>
                        </a:defRPr>
                      </a:lvl9pPr>
                    </a:lstStyle>
                    <a:p>
                      <a:pPr algn="ctr"/>
                      <a:r>
                        <a:rPr kumimoji="1" lang="ja-JP" altLang="en-US" sz="900" dirty="0">
                          <a:solidFill>
                            <a:schemeClr val="tx1"/>
                          </a:solidFill>
                          <a:latin typeface="Meiryo UI" panose="020B0604030504040204" pitchFamily="50" charset="-128"/>
                          <a:ea typeface="Meiryo UI" panose="020B0604030504040204" pitchFamily="50" charset="-128"/>
                        </a:rPr>
                        <a:t>「書類サポート」が最も高く</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ja-JP" altLang="en-US" sz="900" dirty="0">
                          <a:solidFill>
                            <a:schemeClr val="tx1"/>
                          </a:solidFill>
                          <a:latin typeface="Meiryo UI" panose="020B0604030504040204" pitchFamily="50" charset="-128"/>
                          <a:ea typeface="Meiryo UI" panose="020B0604030504040204" pitchFamily="50" charset="-128"/>
                        </a:rPr>
                        <a:t>「応募・エントリーのしやすさ」</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ja-JP" altLang="en-US" sz="900" dirty="0">
                          <a:solidFill>
                            <a:schemeClr val="tx1"/>
                          </a:solidFill>
                          <a:latin typeface="Meiryo UI" panose="020B0604030504040204" pitchFamily="50" charset="-128"/>
                          <a:ea typeface="Meiryo UI" panose="020B0604030504040204" pitchFamily="50" charset="-128"/>
                        </a:rPr>
                        <a:t>「求人情報量」が続く。</a:t>
                      </a:r>
                    </a:p>
                  </a:txBody>
                  <a:tcPr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ysDash"/>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a:r>
                        <a:rPr kumimoji="1" lang="ja-JP" altLang="en-US" sz="900" b="1">
                          <a:solidFill>
                            <a:schemeClr val="tx1"/>
                          </a:solidFill>
                          <a:latin typeface="Meiryo UI" panose="020B0604030504040204" pitchFamily="50" charset="-128"/>
                          <a:ea typeface="Meiryo UI" panose="020B0604030504040204" pitchFamily="50" charset="-128"/>
                        </a:rPr>
                        <a:t>「求人情報量」が</a:t>
                      </a:r>
                      <a:r>
                        <a:rPr kumimoji="1" lang="en-US" altLang="ja-JP" sz="900" b="1">
                          <a:solidFill>
                            <a:schemeClr val="tx1"/>
                          </a:solidFill>
                          <a:latin typeface="Meiryo UI" panose="020B0604030504040204" pitchFamily="50" charset="-128"/>
                          <a:ea typeface="Meiryo UI" panose="020B0604030504040204" pitchFamily="50" charset="-128"/>
                        </a:rPr>
                        <a:t>55%</a:t>
                      </a:r>
                      <a:r>
                        <a:rPr kumimoji="1" lang="ja-JP" altLang="en-US" sz="900" b="1">
                          <a:solidFill>
                            <a:schemeClr val="tx1"/>
                          </a:solidFill>
                          <a:latin typeface="Meiryo UI" panose="020B0604030504040204" pitchFamily="50" charset="-128"/>
                          <a:ea typeface="Meiryo UI" panose="020B0604030504040204" pitchFamily="50" charset="-128"/>
                        </a:rPr>
                        <a:t>で突出</a:t>
                      </a:r>
                      <a:r>
                        <a:rPr kumimoji="1" lang="ja-JP" altLang="en-US" sz="900">
                          <a:solidFill>
                            <a:schemeClr val="tx1"/>
                          </a:solidFill>
                          <a:latin typeface="Meiryo UI" panose="020B0604030504040204" pitchFamily="50" charset="-128"/>
                          <a:ea typeface="Meiryo UI" panose="020B0604030504040204" pitchFamily="50" charset="-128"/>
                        </a:rPr>
                        <a:t>。</a:t>
                      </a:r>
                      <a:endParaRPr kumimoji="1" lang="en-US" altLang="ja-JP" sz="900">
                        <a:solidFill>
                          <a:schemeClr val="tx1"/>
                        </a:solidFill>
                        <a:latin typeface="Meiryo UI" panose="020B0604030504040204" pitchFamily="50" charset="-128"/>
                        <a:ea typeface="Meiryo UI" panose="020B0604030504040204" pitchFamily="50" charset="-128"/>
                      </a:endParaRPr>
                    </a:p>
                    <a:p>
                      <a:pPr algn="ctr"/>
                      <a:r>
                        <a:rPr kumimoji="1" lang="ja-JP" altLang="en-US" sz="900">
                          <a:solidFill>
                            <a:schemeClr val="tx1"/>
                          </a:solidFill>
                          <a:latin typeface="Meiryo UI" panose="020B0604030504040204" pitchFamily="50" charset="-128"/>
                          <a:ea typeface="Meiryo UI" panose="020B0604030504040204" pitchFamily="50" charset="-128"/>
                        </a:rPr>
                        <a:t>「応募・エントリーのしやすさ」</a:t>
                      </a:r>
                      <a:endParaRPr kumimoji="1" lang="en-US" altLang="ja-JP" sz="900">
                        <a:solidFill>
                          <a:schemeClr val="tx1"/>
                        </a:solidFill>
                        <a:latin typeface="Meiryo UI" panose="020B0604030504040204" pitchFamily="50" charset="-128"/>
                        <a:ea typeface="Meiryo UI" panose="020B0604030504040204" pitchFamily="50" charset="-128"/>
                      </a:endParaRPr>
                    </a:p>
                    <a:p>
                      <a:pPr algn="ctr"/>
                      <a:r>
                        <a:rPr kumimoji="1" lang="ja-JP" altLang="en-US" sz="900">
                          <a:solidFill>
                            <a:schemeClr val="tx1"/>
                          </a:solidFill>
                          <a:latin typeface="Meiryo UI" panose="020B0604030504040204" pitchFamily="50" charset="-128"/>
                          <a:ea typeface="Meiryo UI" panose="020B0604030504040204" pitchFamily="50" charset="-128"/>
                        </a:rPr>
                        <a:t>「書類サポート」は求人応募ありより低い。</a:t>
                      </a:r>
                      <a:endParaRPr kumimoji="1" lang="ja-JP" altLang="en-US" sz="900" dirty="0">
                        <a:solidFill>
                          <a:schemeClr val="tx1"/>
                        </a:solidFill>
                        <a:latin typeface="Meiryo UI" panose="020B0604030504040204" pitchFamily="50" charset="-128"/>
                        <a:ea typeface="Meiryo UI" panose="020B0604030504040204" pitchFamily="50" charset="-128"/>
                      </a:endParaRPr>
                    </a:p>
                  </a:txBody>
                  <a:tcPr anchor="ctr">
                    <a:lnL w="6350" cap="flat" cmpd="sng" algn="ctr">
                      <a:solidFill>
                        <a:sysClr val="window" lastClr="FFFFFF">
                          <a:lumMod val="50000"/>
                        </a:sysClr>
                      </a:solidFill>
                      <a:prstDash val="sysDash"/>
                      <a:round/>
                      <a:headEnd type="none" w="med" len="med"/>
                      <a:tailEnd type="none" w="med" len="med"/>
                    </a:lnL>
                    <a:lnR w="6350" cap="flat" cmpd="sng" algn="ctr">
                      <a:solidFill>
                        <a:sysClr val="window" lastClr="FFFFFF">
                          <a:lumMod val="50000"/>
                        </a:sysClr>
                      </a:solidFill>
                      <a:prstDash val="sysDash"/>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a:r>
                        <a:rPr kumimoji="1" lang="ja-JP" altLang="en-US" sz="900">
                          <a:solidFill>
                            <a:schemeClr val="tx1"/>
                          </a:solidFill>
                          <a:latin typeface="Meiryo UI" panose="020B0604030504040204" pitchFamily="50" charset="-128"/>
                          <a:ea typeface="Meiryo UI" panose="020B0604030504040204" pitchFamily="50" charset="-128"/>
                        </a:rPr>
                        <a:t>「求人情報量」「書類サポート」が</a:t>
                      </a:r>
                      <a:endParaRPr kumimoji="1" lang="en-US" altLang="ja-JP" sz="900">
                        <a:solidFill>
                          <a:schemeClr val="tx1"/>
                        </a:solidFill>
                        <a:latin typeface="Meiryo UI" panose="020B0604030504040204" pitchFamily="50" charset="-128"/>
                        <a:ea typeface="Meiryo UI" panose="020B0604030504040204" pitchFamily="50" charset="-128"/>
                      </a:endParaRPr>
                    </a:p>
                    <a:p>
                      <a:pPr algn="ctr"/>
                      <a:r>
                        <a:rPr kumimoji="1" lang="en-US" altLang="ja-JP" sz="900">
                          <a:solidFill>
                            <a:schemeClr val="tx1"/>
                          </a:solidFill>
                          <a:latin typeface="Meiryo UI" panose="020B0604030504040204" pitchFamily="50" charset="-128"/>
                          <a:ea typeface="Meiryo UI" panose="020B0604030504040204" pitchFamily="50" charset="-128"/>
                        </a:rPr>
                        <a:t>4</a:t>
                      </a:r>
                      <a:r>
                        <a:rPr kumimoji="1" lang="ja-JP" altLang="en-US" sz="900">
                          <a:solidFill>
                            <a:schemeClr val="tx1"/>
                          </a:solidFill>
                          <a:latin typeface="Meiryo UI" panose="020B0604030504040204" pitchFamily="50" charset="-128"/>
                          <a:ea typeface="Meiryo UI" panose="020B0604030504040204" pitchFamily="50" charset="-128"/>
                        </a:rPr>
                        <a:t>割半ば～後半で</a:t>
                      </a:r>
                      <a:r>
                        <a:rPr kumimoji="1" lang="en-US" altLang="ja-JP" sz="900">
                          <a:solidFill>
                            <a:schemeClr val="tx1"/>
                          </a:solidFill>
                          <a:latin typeface="Meiryo UI" panose="020B0604030504040204" pitchFamily="50" charset="-128"/>
                          <a:ea typeface="Meiryo UI" panose="020B0604030504040204" pitchFamily="50" charset="-128"/>
                        </a:rPr>
                        <a:t>TOP</a:t>
                      </a:r>
                      <a:r>
                        <a:rPr kumimoji="1" lang="ja-JP" altLang="en-US" sz="900">
                          <a:solidFill>
                            <a:schemeClr val="tx1"/>
                          </a:solidFill>
                          <a:latin typeface="Meiryo UI" panose="020B0604030504040204" pitchFamily="50" charset="-128"/>
                          <a:ea typeface="Meiryo UI" panose="020B0604030504040204" pitchFamily="50" charset="-128"/>
                        </a:rPr>
                        <a:t>。</a:t>
                      </a:r>
                      <a:endParaRPr kumimoji="1" lang="en-US" altLang="ja-JP" sz="900">
                        <a:solidFill>
                          <a:schemeClr val="tx1"/>
                        </a:solidFill>
                        <a:latin typeface="Meiryo UI" panose="020B0604030504040204" pitchFamily="50" charset="-128"/>
                        <a:ea typeface="Meiryo UI" panose="020B0604030504040204" pitchFamily="50" charset="-128"/>
                      </a:endParaRPr>
                    </a:p>
                    <a:p>
                      <a:pPr algn="ctr"/>
                      <a:r>
                        <a:rPr kumimoji="1" lang="ja-JP" altLang="en-US" sz="900">
                          <a:solidFill>
                            <a:schemeClr val="tx1"/>
                          </a:solidFill>
                          <a:latin typeface="Meiryo UI" panose="020B0604030504040204" pitchFamily="50" charset="-128"/>
                          <a:ea typeface="Meiryo UI" panose="020B0604030504040204" pitchFamily="50" charset="-128"/>
                        </a:rPr>
                        <a:t>「応募・エントリーのしやすさ」はやや低い。</a:t>
                      </a:r>
                      <a:endParaRPr kumimoji="1" lang="ja-JP" altLang="en-US" sz="900" dirty="0">
                        <a:solidFill>
                          <a:schemeClr val="tx1"/>
                        </a:solidFill>
                        <a:latin typeface="Meiryo UI" panose="020B0604030504040204" pitchFamily="50" charset="-128"/>
                        <a:ea typeface="Meiryo UI" panose="020B0604030504040204" pitchFamily="50" charset="-128"/>
                      </a:endParaRPr>
                    </a:p>
                  </a:txBody>
                  <a:tcPr anchor="ctr">
                    <a:lnL w="6350" cap="flat" cmpd="sng" algn="ctr">
                      <a:solidFill>
                        <a:sysClr val="window" lastClr="FFFFFF">
                          <a:lumMod val="50000"/>
                        </a:sysClr>
                      </a:solidFill>
                      <a:prstDash val="sysDash"/>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1">
                          <a:solidFill>
                            <a:schemeClr val="tx1"/>
                          </a:solidFill>
                          <a:latin typeface="Meiryo UI" panose="020B0604030504040204" pitchFamily="50" charset="-128"/>
                          <a:ea typeface="Meiryo UI" panose="020B0604030504040204" pitchFamily="50" charset="-128"/>
                        </a:rPr>
                        <a:t>「応募・エントリーのしやすさ」が</a:t>
                      </a:r>
                      <a:r>
                        <a:rPr kumimoji="1" lang="en-US" altLang="ja-JP" sz="900" b="1">
                          <a:solidFill>
                            <a:schemeClr val="tx1"/>
                          </a:solidFill>
                          <a:latin typeface="Meiryo UI" panose="020B0604030504040204" pitchFamily="50" charset="-128"/>
                          <a:ea typeface="Meiryo UI" panose="020B0604030504040204" pitchFamily="50" charset="-128"/>
                        </a:rPr>
                        <a:t>TOP</a:t>
                      </a:r>
                      <a:r>
                        <a:rPr kumimoji="1" lang="ja-JP" altLang="en-US" sz="900">
                          <a:solidFill>
                            <a:schemeClr val="tx1"/>
                          </a:solidFill>
                          <a:latin typeface="Meiryo UI" panose="020B0604030504040204" pitchFamily="50" charset="-128"/>
                          <a:ea typeface="Meiryo UI" panose="020B0604030504040204" pitchFamily="50" charset="-128"/>
                        </a:rPr>
                        <a:t>。</a:t>
                      </a:r>
                      <a:endParaRPr kumimoji="1" lang="en-US" altLang="ja-JP" sz="900">
                        <a:solidFill>
                          <a:schemeClr val="tx1"/>
                        </a:solidFill>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a:solidFill>
                            <a:schemeClr val="tx1"/>
                          </a:solidFill>
                          <a:latin typeface="Meiryo UI" panose="020B0604030504040204" pitchFamily="50" charset="-128"/>
                          <a:ea typeface="Meiryo UI" panose="020B0604030504040204" pitchFamily="50" charset="-128"/>
                        </a:rPr>
                        <a:t>全体的に面談希望ありより低めで、</a:t>
                      </a:r>
                      <a:endParaRPr kumimoji="1" lang="en-US" altLang="ja-JP" sz="900">
                        <a:solidFill>
                          <a:schemeClr val="tx1"/>
                        </a:solidFill>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1">
                          <a:solidFill>
                            <a:schemeClr val="tx1"/>
                          </a:solidFill>
                          <a:latin typeface="Meiryo UI" panose="020B0604030504040204" pitchFamily="50" charset="-128"/>
                          <a:ea typeface="Meiryo UI" panose="020B0604030504040204" pitchFamily="50" charset="-128"/>
                        </a:rPr>
                        <a:t>「書類サポート」は</a:t>
                      </a:r>
                      <a:r>
                        <a:rPr kumimoji="1" lang="en-US" altLang="ja-JP" sz="900" b="1">
                          <a:solidFill>
                            <a:schemeClr val="tx1"/>
                          </a:solidFill>
                          <a:latin typeface="Meiryo UI" panose="020B0604030504040204" pitchFamily="50" charset="-128"/>
                          <a:ea typeface="Meiryo UI" panose="020B0604030504040204" pitchFamily="50" charset="-128"/>
                        </a:rPr>
                        <a:t>2</a:t>
                      </a:r>
                      <a:r>
                        <a:rPr kumimoji="1" lang="ja-JP" altLang="en-US" sz="900" b="1">
                          <a:solidFill>
                            <a:schemeClr val="tx1"/>
                          </a:solidFill>
                          <a:latin typeface="Meiryo UI" panose="020B0604030504040204" pitchFamily="50" charset="-128"/>
                          <a:ea typeface="Meiryo UI" panose="020B0604030504040204" pitchFamily="50" charset="-128"/>
                        </a:rPr>
                        <a:t>割弱</a:t>
                      </a:r>
                      <a:r>
                        <a:rPr kumimoji="1" lang="ja-JP" altLang="en-US" sz="900" b="0">
                          <a:solidFill>
                            <a:schemeClr val="tx1"/>
                          </a:solidFill>
                          <a:latin typeface="Meiryo UI" panose="020B0604030504040204" pitchFamily="50" charset="-128"/>
                          <a:ea typeface="Meiryo UI" panose="020B0604030504040204" pitchFamily="50" charset="-128"/>
                        </a:rPr>
                        <a:t>に留まる。</a:t>
                      </a:r>
                      <a:endParaRPr kumimoji="1" lang="ja-JP" altLang="en-US" sz="900" dirty="0">
                        <a:solidFill>
                          <a:schemeClr val="tx1"/>
                        </a:solidFill>
                        <a:latin typeface="Meiryo UI" panose="020B0604030504040204" pitchFamily="50" charset="-128"/>
                        <a:ea typeface="Meiryo UI" panose="020B0604030504040204" pitchFamily="50" charset="-128"/>
                      </a:endParaRPr>
                    </a:p>
                  </a:txBody>
                  <a:tcPr anchor="ctr">
                    <a:lnL w="6350" cap="flat" cmpd="sng" algn="ctr">
                      <a:solidFill>
                        <a:sysClr val="window" lastClr="FFFFFF">
                          <a:lumMod val="50000"/>
                        </a:sys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ysClr val="window" lastClr="FFFFFF">
                          <a:lumMod val="50000"/>
                        </a:sysClr>
                      </a:solidFill>
                      <a:prstDash val="solid"/>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3356682348"/>
                  </a:ext>
                </a:extLst>
              </a:tr>
              <a:tr h="456878">
                <a:tc>
                  <a:txBody>
                    <a:bodyPr/>
                    <a:lstStyle>
                      <a:lvl1pPr marL="0" algn="l" defTabSz="914400" rtl="0" eaLnBrk="1" latinLnBrk="0" hangingPunct="1">
                        <a:defRPr kumimoji="1" sz="1800" kern="1200">
                          <a:solidFill>
                            <a:schemeClr val="dk1"/>
                          </a:solidFill>
                          <a:latin typeface="Segoe UI"/>
                          <a:ea typeface="メイリオ"/>
                        </a:defRPr>
                      </a:lvl1pPr>
                      <a:lvl2pPr marL="457200" algn="l" defTabSz="914400" rtl="0" eaLnBrk="1" latinLnBrk="0" hangingPunct="1">
                        <a:defRPr kumimoji="1" sz="1800" kern="1200">
                          <a:solidFill>
                            <a:schemeClr val="dk1"/>
                          </a:solidFill>
                          <a:latin typeface="Segoe UI"/>
                          <a:ea typeface="メイリオ"/>
                        </a:defRPr>
                      </a:lvl2pPr>
                      <a:lvl3pPr marL="914400" algn="l" defTabSz="914400" rtl="0" eaLnBrk="1" latinLnBrk="0" hangingPunct="1">
                        <a:defRPr kumimoji="1" sz="1800" kern="1200">
                          <a:solidFill>
                            <a:schemeClr val="dk1"/>
                          </a:solidFill>
                          <a:latin typeface="Segoe UI"/>
                          <a:ea typeface="メイリオ"/>
                        </a:defRPr>
                      </a:lvl3pPr>
                      <a:lvl4pPr marL="1371600" algn="l" defTabSz="914400" rtl="0" eaLnBrk="1" latinLnBrk="0" hangingPunct="1">
                        <a:defRPr kumimoji="1" sz="1800" kern="1200">
                          <a:solidFill>
                            <a:schemeClr val="dk1"/>
                          </a:solidFill>
                          <a:latin typeface="Segoe UI"/>
                          <a:ea typeface="メイリオ"/>
                        </a:defRPr>
                      </a:lvl4pPr>
                      <a:lvl5pPr marL="1828800" algn="l" defTabSz="914400" rtl="0" eaLnBrk="1" latinLnBrk="0" hangingPunct="1">
                        <a:defRPr kumimoji="1" sz="1800" kern="1200">
                          <a:solidFill>
                            <a:schemeClr val="dk1"/>
                          </a:solidFill>
                          <a:latin typeface="Segoe UI"/>
                          <a:ea typeface="メイリオ"/>
                        </a:defRPr>
                      </a:lvl5pPr>
                      <a:lvl6pPr marL="2286000" algn="l" defTabSz="914400" rtl="0" eaLnBrk="1" latinLnBrk="0" hangingPunct="1">
                        <a:defRPr kumimoji="1" sz="1800" kern="1200">
                          <a:solidFill>
                            <a:schemeClr val="dk1"/>
                          </a:solidFill>
                          <a:latin typeface="Segoe UI"/>
                          <a:ea typeface="メイリオ"/>
                        </a:defRPr>
                      </a:lvl6pPr>
                      <a:lvl7pPr marL="2743200" algn="l" defTabSz="914400" rtl="0" eaLnBrk="1" latinLnBrk="0" hangingPunct="1">
                        <a:defRPr kumimoji="1" sz="1800" kern="1200">
                          <a:solidFill>
                            <a:schemeClr val="dk1"/>
                          </a:solidFill>
                          <a:latin typeface="Segoe UI"/>
                          <a:ea typeface="メイリオ"/>
                        </a:defRPr>
                      </a:lvl7pPr>
                      <a:lvl8pPr marL="3200400" algn="l" defTabSz="914400" rtl="0" eaLnBrk="1" latinLnBrk="0" hangingPunct="1">
                        <a:defRPr kumimoji="1" sz="1800" kern="1200">
                          <a:solidFill>
                            <a:schemeClr val="dk1"/>
                          </a:solidFill>
                          <a:latin typeface="Segoe UI"/>
                          <a:ea typeface="メイリオ"/>
                        </a:defRPr>
                      </a:lvl8pPr>
                      <a:lvl9pPr marL="3657600" algn="l" defTabSz="914400" rtl="0" eaLnBrk="1" latinLnBrk="0" hangingPunct="1">
                        <a:defRPr kumimoji="1" sz="1800" kern="1200">
                          <a:solidFill>
                            <a:schemeClr val="dk1"/>
                          </a:solidFill>
                          <a:latin typeface="Segoe UI"/>
                          <a:ea typeface="メイリオ"/>
                        </a:defRPr>
                      </a:lvl9pP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面談への期待</a:t>
                      </a:r>
                    </a:p>
                  </a:txBody>
                  <a:tcPr anchor="ctr">
                    <a:lnL w="12700" cap="flat" cmpd="sng" algn="ctr">
                      <a:no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kumimoji="1" sz="1800" kern="1200">
                          <a:solidFill>
                            <a:schemeClr val="dk1"/>
                          </a:solidFill>
                          <a:latin typeface="Segoe UI"/>
                          <a:ea typeface="メイリオ"/>
                        </a:defRPr>
                      </a:lvl1pPr>
                      <a:lvl2pPr marL="457200" algn="l" defTabSz="914400" rtl="0" eaLnBrk="1" latinLnBrk="0" hangingPunct="1">
                        <a:defRPr kumimoji="1" sz="1800" kern="1200">
                          <a:solidFill>
                            <a:schemeClr val="dk1"/>
                          </a:solidFill>
                          <a:latin typeface="Segoe UI"/>
                          <a:ea typeface="メイリオ"/>
                        </a:defRPr>
                      </a:lvl2pPr>
                      <a:lvl3pPr marL="914400" algn="l" defTabSz="914400" rtl="0" eaLnBrk="1" latinLnBrk="0" hangingPunct="1">
                        <a:defRPr kumimoji="1" sz="1800" kern="1200">
                          <a:solidFill>
                            <a:schemeClr val="dk1"/>
                          </a:solidFill>
                          <a:latin typeface="Segoe UI"/>
                          <a:ea typeface="メイリオ"/>
                        </a:defRPr>
                      </a:lvl3pPr>
                      <a:lvl4pPr marL="1371600" algn="l" defTabSz="914400" rtl="0" eaLnBrk="1" latinLnBrk="0" hangingPunct="1">
                        <a:defRPr kumimoji="1" sz="1800" kern="1200">
                          <a:solidFill>
                            <a:schemeClr val="dk1"/>
                          </a:solidFill>
                          <a:latin typeface="Segoe UI"/>
                          <a:ea typeface="メイリオ"/>
                        </a:defRPr>
                      </a:lvl4pPr>
                      <a:lvl5pPr marL="1828800" algn="l" defTabSz="914400" rtl="0" eaLnBrk="1" latinLnBrk="0" hangingPunct="1">
                        <a:defRPr kumimoji="1" sz="1800" kern="1200">
                          <a:solidFill>
                            <a:schemeClr val="dk1"/>
                          </a:solidFill>
                          <a:latin typeface="Segoe UI"/>
                          <a:ea typeface="メイリオ"/>
                        </a:defRPr>
                      </a:lvl5pPr>
                      <a:lvl6pPr marL="2286000" algn="l" defTabSz="914400" rtl="0" eaLnBrk="1" latinLnBrk="0" hangingPunct="1">
                        <a:defRPr kumimoji="1" sz="1800" kern="1200">
                          <a:solidFill>
                            <a:schemeClr val="dk1"/>
                          </a:solidFill>
                          <a:latin typeface="Segoe UI"/>
                          <a:ea typeface="メイリオ"/>
                        </a:defRPr>
                      </a:lvl6pPr>
                      <a:lvl7pPr marL="2743200" algn="l" defTabSz="914400" rtl="0" eaLnBrk="1" latinLnBrk="0" hangingPunct="1">
                        <a:defRPr kumimoji="1" sz="1800" kern="1200">
                          <a:solidFill>
                            <a:schemeClr val="dk1"/>
                          </a:solidFill>
                          <a:latin typeface="Segoe UI"/>
                          <a:ea typeface="メイリオ"/>
                        </a:defRPr>
                      </a:lvl7pPr>
                      <a:lvl8pPr marL="3200400" algn="l" defTabSz="914400" rtl="0" eaLnBrk="1" latinLnBrk="0" hangingPunct="1">
                        <a:defRPr kumimoji="1" sz="1800" kern="1200">
                          <a:solidFill>
                            <a:schemeClr val="dk1"/>
                          </a:solidFill>
                          <a:latin typeface="Segoe UI"/>
                          <a:ea typeface="メイリオ"/>
                        </a:defRPr>
                      </a:lvl8pPr>
                      <a:lvl9pPr marL="3657600" algn="l" defTabSz="914400" rtl="0" eaLnBrk="1" latinLnBrk="0" hangingPunct="1">
                        <a:defRPr kumimoji="1" sz="1800" kern="1200">
                          <a:solidFill>
                            <a:schemeClr val="dk1"/>
                          </a:solidFill>
                          <a:latin typeface="Segoe UI"/>
                          <a:ea typeface="メイリオ"/>
                        </a:defRPr>
                      </a:lvl9pPr>
                    </a:lstStyle>
                    <a:p>
                      <a:pPr algn="ctr"/>
                      <a:r>
                        <a:rPr kumimoji="1" lang="ja-JP" altLang="en-US" sz="900" dirty="0">
                          <a:solidFill>
                            <a:schemeClr val="tx1"/>
                          </a:solidFill>
                          <a:latin typeface="Meiryo UI" panose="020B0604030504040204" pitchFamily="50" charset="-128"/>
                          <a:ea typeface="Meiryo UI" panose="020B0604030504040204" pitchFamily="50" charset="-128"/>
                        </a:rPr>
                        <a:t>「希望にあった求人の紹介」に加え、</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ja-JP" altLang="en-US" sz="900" b="1" dirty="0">
                          <a:solidFill>
                            <a:schemeClr val="tx1"/>
                          </a:solidFill>
                          <a:latin typeface="Meiryo UI" panose="020B0604030504040204" pitchFamily="50" charset="-128"/>
                          <a:ea typeface="Meiryo UI" panose="020B0604030504040204" pitchFamily="50" charset="-128"/>
                        </a:rPr>
                        <a:t>「書類の添削・アドバイス」「面接対策」</a:t>
                      </a:r>
                      <a:endParaRPr kumimoji="1" lang="en-US" altLang="ja-JP" sz="900" b="1" dirty="0">
                        <a:solidFill>
                          <a:schemeClr val="tx1"/>
                        </a:solidFill>
                        <a:latin typeface="Meiryo UI" panose="020B0604030504040204" pitchFamily="50" charset="-128"/>
                        <a:ea typeface="Meiryo UI" panose="020B0604030504040204" pitchFamily="50" charset="-128"/>
                      </a:endParaRPr>
                    </a:p>
                    <a:p>
                      <a:pPr algn="ctr"/>
                      <a:r>
                        <a:rPr kumimoji="1" lang="ja-JP" altLang="en-US" sz="900" b="1" dirty="0">
                          <a:solidFill>
                            <a:schemeClr val="tx1"/>
                          </a:solidFill>
                          <a:latin typeface="Meiryo UI" panose="020B0604030504040204" pitchFamily="50" charset="-128"/>
                          <a:ea typeface="Meiryo UI" panose="020B0604030504040204" pitchFamily="50" charset="-128"/>
                        </a:rPr>
                        <a:t>といった実践的な期待</a:t>
                      </a:r>
                      <a:r>
                        <a:rPr kumimoji="1" lang="ja-JP" altLang="en-US" sz="900" dirty="0">
                          <a:solidFill>
                            <a:schemeClr val="tx1"/>
                          </a:solidFill>
                          <a:latin typeface="Meiryo UI" panose="020B0604030504040204" pitchFamily="50" charset="-128"/>
                          <a:ea typeface="Meiryo UI" panose="020B0604030504040204" pitchFamily="50" charset="-128"/>
                        </a:rPr>
                        <a:t>が高い。</a:t>
                      </a:r>
                    </a:p>
                  </a:txBody>
                  <a:tcPr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ysDash"/>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a:r>
                        <a:rPr kumimoji="1" lang="ja-JP" altLang="en-US" sz="900">
                          <a:solidFill>
                            <a:schemeClr val="tx1"/>
                          </a:solidFill>
                          <a:latin typeface="Meiryo UI" panose="020B0604030504040204" pitchFamily="50" charset="-128"/>
                          <a:ea typeface="Meiryo UI" panose="020B0604030504040204" pitchFamily="50" charset="-128"/>
                        </a:rPr>
                        <a:t>「希望にあった求人の紹介」に加え、</a:t>
                      </a:r>
                      <a:endParaRPr kumimoji="1" lang="en-US" altLang="ja-JP" sz="900">
                        <a:solidFill>
                          <a:schemeClr val="tx1"/>
                        </a:solidFill>
                        <a:latin typeface="Meiryo UI" panose="020B0604030504040204" pitchFamily="50" charset="-128"/>
                        <a:ea typeface="Meiryo UI" panose="020B0604030504040204" pitchFamily="50" charset="-128"/>
                      </a:endParaRPr>
                    </a:p>
                    <a:p>
                      <a:pPr algn="ctr"/>
                      <a:r>
                        <a:rPr kumimoji="1" lang="ja-JP" altLang="en-US" sz="900" b="1">
                          <a:solidFill>
                            <a:schemeClr val="tx1"/>
                          </a:solidFill>
                          <a:latin typeface="Meiryo UI" panose="020B0604030504040204" pitchFamily="50" charset="-128"/>
                          <a:ea typeface="Meiryo UI" panose="020B0604030504040204" pitchFamily="50" charset="-128"/>
                        </a:rPr>
                        <a:t>「親身に相談にのってくれる」</a:t>
                      </a:r>
                      <a:endParaRPr kumimoji="1" lang="en-US" altLang="ja-JP" sz="900" b="1">
                        <a:solidFill>
                          <a:schemeClr val="tx1"/>
                        </a:solidFill>
                        <a:latin typeface="Meiryo UI" panose="020B0604030504040204" pitchFamily="50" charset="-128"/>
                        <a:ea typeface="Meiryo UI" panose="020B0604030504040204" pitchFamily="50" charset="-128"/>
                      </a:endParaRPr>
                    </a:p>
                    <a:p>
                      <a:pPr algn="ctr"/>
                      <a:r>
                        <a:rPr kumimoji="1" lang="ja-JP" altLang="en-US" sz="900" b="1">
                          <a:solidFill>
                            <a:schemeClr val="tx1"/>
                          </a:solidFill>
                          <a:latin typeface="Meiryo UI" panose="020B0604030504040204" pitchFamily="50" charset="-128"/>
                          <a:ea typeface="Meiryo UI" panose="020B0604030504040204" pitchFamily="50" charset="-128"/>
                        </a:rPr>
                        <a:t>「柔軟な対応」「市場価値確認」</a:t>
                      </a:r>
                      <a:r>
                        <a:rPr kumimoji="1" lang="ja-JP" altLang="en-US" sz="900">
                          <a:solidFill>
                            <a:schemeClr val="tx1"/>
                          </a:solidFill>
                          <a:latin typeface="Meiryo UI" panose="020B0604030504040204" pitchFamily="50" charset="-128"/>
                          <a:ea typeface="Meiryo UI" panose="020B0604030504040204" pitchFamily="50" charset="-128"/>
                        </a:rPr>
                        <a:t>が高め。</a:t>
                      </a:r>
                      <a:endParaRPr kumimoji="1" lang="ja-JP" altLang="en-US" sz="900" dirty="0">
                        <a:solidFill>
                          <a:schemeClr val="tx1"/>
                        </a:solidFill>
                        <a:latin typeface="Meiryo UI" panose="020B0604030504040204" pitchFamily="50" charset="-128"/>
                        <a:ea typeface="Meiryo UI" panose="020B0604030504040204" pitchFamily="50" charset="-128"/>
                      </a:endParaRPr>
                    </a:p>
                  </a:txBody>
                  <a:tcPr anchor="ctr">
                    <a:lnL w="6350" cap="flat" cmpd="sng" algn="ctr">
                      <a:solidFill>
                        <a:sysClr val="window" lastClr="FFFFFF">
                          <a:lumMod val="50000"/>
                        </a:sysClr>
                      </a:solidFill>
                      <a:prstDash val="sysDash"/>
                      <a:round/>
                      <a:headEnd type="none" w="med" len="med"/>
                      <a:tailEnd type="none" w="med" len="med"/>
                    </a:lnL>
                    <a:lnR w="6350" cap="flat" cmpd="sng" algn="ctr">
                      <a:solidFill>
                        <a:sysClr val="window" lastClr="FFFFFF">
                          <a:lumMod val="50000"/>
                        </a:sysClr>
                      </a:solidFill>
                      <a:prstDash val="sysDash"/>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a:r>
                        <a:rPr kumimoji="1" lang="ja-JP" altLang="en-US" sz="900" b="1">
                          <a:solidFill>
                            <a:schemeClr val="tx1"/>
                          </a:solidFill>
                          <a:latin typeface="Meiryo UI" panose="020B0604030504040204" pitchFamily="50" charset="-128"/>
                          <a:ea typeface="Meiryo UI" panose="020B0604030504040204" pitchFamily="50" charset="-128"/>
                        </a:rPr>
                        <a:t>「希望にあった求人の紹介」が</a:t>
                      </a:r>
                      <a:br>
                        <a:rPr kumimoji="1" lang="en-US" altLang="ja-JP" sz="900" b="1">
                          <a:solidFill>
                            <a:schemeClr val="tx1"/>
                          </a:solidFill>
                          <a:latin typeface="Meiryo UI" panose="020B0604030504040204" pitchFamily="50" charset="-128"/>
                          <a:ea typeface="Meiryo UI" panose="020B0604030504040204" pitchFamily="50" charset="-128"/>
                        </a:rPr>
                      </a:br>
                      <a:r>
                        <a:rPr kumimoji="1" lang="en-US" altLang="ja-JP" sz="900" b="1">
                          <a:solidFill>
                            <a:schemeClr val="tx1"/>
                          </a:solidFill>
                          <a:latin typeface="Meiryo UI" panose="020B0604030504040204" pitchFamily="50" charset="-128"/>
                          <a:ea typeface="Meiryo UI" panose="020B0604030504040204" pitchFamily="50" charset="-128"/>
                        </a:rPr>
                        <a:t>6</a:t>
                      </a:r>
                      <a:r>
                        <a:rPr kumimoji="1" lang="ja-JP" altLang="en-US" sz="900" b="1">
                          <a:solidFill>
                            <a:schemeClr val="tx1"/>
                          </a:solidFill>
                          <a:latin typeface="Meiryo UI" panose="020B0604030504040204" pitchFamily="50" charset="-128"/>
                          <a:ea typeface="Meiryo UI" panose="020B0604030504040204" pitchFamily="50" charset="-128"/>
                        </a:rPr>
                        <a:t>割を超え突出</a:t>
                      </a:r>
                      <a:r>
                        <a:rPr kumimoji="1" lang="ja-JP" altLang="en-US" sz="900">
                          <a:solidFill>
                            <a:schemeClr val="tx1"/>
                          </a:solidFill>
                          <a:latin typeface="Meiryo UI" panose="020B0604030504040204" pitchFamily="50" charset="-128"/>
                          <a:ea typeface="Meiryo UI" panose="020B0604030504040204" pitchFamily="50" charset="-128"/>
                        </a:rPr>
                        <a:t>しており、</a:t>
                      </a:r>
                      <a:endParaRPr kumimoji="1" lang="en-US" altLang="ja-JP" sz="900">
                        <a:solidFill>
                          <a:schemeClr val="tx1"/>
                        </a:solidFill>
                        <a:latin typeface="Meiryo UI" panose="020B0604030504040204" pitchFamily="50" charset="-128"/>
                        <a:ea typeface="Meiryo UI" panose="020B0604030504040204" pitchFamily="50" charset="-128"/>
                      </a:endParaRPr>
                    </a:p>
                    <a:p>
                      <a:pPr algn="ctr"/>
                      <a:r>
                        <a:rPr kumimoji="1" lang="ja-JP" altLang="en-US" sz="900">
                          <a:solidFill>
                            <a:schemeClr val="tx1"/>
                          </a:solidFill>
                          <a:latin typeface="Meiryo UI" panose="020B0604030504040204" pitchFamily="50" charset="-128"/>
                          <a:ea typeface="Meiryo UI" panose="020B0604030504040204" pitchFamily="50" charset="-128"/>
                        </a:rPr>
                        <a:t>それ以外の期待はあまり高くない。</a:t>
                      </a:r>
                      <a:endParaRPr kumimoji="1" lang="ja-JP" altLang="en-US" sz="900" dirty="0">
                        <a:solidFill>
                          <a:schemeClr val="tx1"/>
                        </a:solidFill>
                        <a:latin typeface="Meiryo UI" panose="020B0604030504040204" pitchFamily="50" charset="-128"/>
                        <a:ea typeface="Meiryo UI" panose="020B0604030504040204" pitchFamily="50" charset="-128"/>
                      </a:endParaRPr>
                    </a:p>
                  </a:txBody>
                  <a:tcPr anchor="ctr">
                    <a:lnL w="6350" cap="flat" cmpd="sng" algn="ctr">
                      <a:solidFill>
                        <a:sysClr val="window" lastClr="FFFFFF">
                          <a:lumMod val="50000"/>
                        </a:sysClr>
                      </a:solidFill>
                      <a:prstDash val="sysDash"/>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a:r>
                        <a:rPr kumimoji="1" lang="ja-JP" altLang="en-US" sz="1200" b="0">
                          <a:solidFill>
                            <a:schemeClr val="tx1"/>
                          </a:solidFill>
                          <a:latin typeface="Meiryo UI" panose="020B0604030504040204" pitchFamily="50" charset="-128"/>
                          <a:ea typeface="Meiryo UI" panose="020B0604030504040204" pitchFamily="50" charset="-128"/>
                        </a:rPr>
                        <a:t>ー</a:t>
                      </a:r>
                      <a:endParaRPr kumimoji="1" lang="ja-JP" altLang="en-US" sz="900" dirty="0">
                        <a:solidFill>
                          <a:schemeClr val="tx1"/>
                        </a:solidFill>
                        <a:latin typeface="Meiryo UI" panose="020B0604030504040204" pitchFamily="50" charset="-128"/>
                        <a:ea typeface="Meiryo UI" panose="020B0604030504040204" pitchFamily="50" charset="-128"/>
                      </a:endParaRPr>
                    </a:p>
                  </a:txBody>
                  <a:tcPr anchor="ctr">
                    <a:lnL w="6350" cap="flat" cmpd="sng" algn="ctr">
                      <a:solidFill>
                        <a:sysClr val="window" lastClr="FFFFFF">
                          <a:lumMod val="50000"/>
                        </a:sys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6350" cap="flat" cmpd="sng" algn="ctr">
                      <a:solidFill>
                        <a:sysClr val="window" lastClr="FFFFFF">
                          <a:lumMod val="50000"/>
                        </a:sysClr>
                      </a:solidFill>
                      <a:prstDash val="sysDash"/>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621036740"/>
                  </a:ext>
                </a:extLst>
              </a:tr>
              <a:tr h="830688">
                <a:tc>
                  <a:txBody>
                    <a:bodyPr/>
                    <a:lstStyle>
                      <a:lvl1pPr marL="0" algn="l" defTabSz="914400" rtl="0" eaLnBrk="1" latinLnBrk="0" hangingPunct="1">
                        <a:defRPr kumimoji="1" sz="1800" kern="1200">
                          <a:solidFill>
                            <a:schemeClr val="dk1"/>
                          </a:solidFill>
                          <a:latin typeface="Segoe UI"/>
                          <a:ea typeface="メイリオ"/>
                        </a:defRPr>
                      </a:lvl1pPr>
                      <a:lvl2pPr marL="457200" algn="l" defTabSz="914400" rtl="0" eaLnBrk="1" latinLnBrk="0" hangingPunct="1">
                        <a:defRPr kumimoji="1" sz="1800" kern="1200">
                          <a:solidFill>
                            <a:schemeClr val="dk1"/>
                          </a:solidFill>
                          <a:latin typeface="Segoe UI"/>
                          <a:ea typeface="メイリオ"/>
                        </a:defRPr>
                      </a:lvl2pPr>
                      <a:lvl3pPr marL="914400" algn="l" defTabSz="914400" rtl="0" eaLnBrk="1" latinLnBrk="0" hangingPunct="1">
                        <a:defRPr kumimoji="1" sz="1800" kern="1200">
                          <a:solidFill>
                            <a:schemeClr val="dk1"/>
                          </a:solidFill>
                          <a:latin typeface="Segoe UI"/>
                          <a:ea typeface="メイリオ"/>
                        </a:defRPr>
                      </a:lvl3pPr>
                      <a:lvl4pPr marL="1371600" algn="l" defTabSz="914400" rtl="0" eaLnBrk="1" latinLnBrk="0" hangingPunct="1">
                        <a:defRPr kumimoji="1" sz="1800" kern="1200">
                          <a:solidFill>
                            <a:schemeClr val="dk1"/>
                          </a:solidFill>
                          <a:latin typeface="Segoe UI"/>
                          <a:ea typeface="メイリオ"/>
                        </a:defRPr>
                      </a:lvl4pPr>
                      <a:lvl5pPr marL="1828800" algn="l" defTabSz="914400" rtl="0" eaLnBrk="1" latinLnBrk="0" hangingPunct="1">
                        <a:defRPr kumimoji="1" sz="1800" kern="1200">
                          <a:solidFill>
                            <a:schemeClr val="dk1"/>
                          </a:solidFill>
                          <a:latin typeface="Segoe UI"/>
                          <a:ea typeface="メイリオ"/>
                        </a:defRPr>
                      </a:lvl5pPr>
                      <a:lvl6pPr marL="2286000" algn="l" defTabSz="914400" rtl="0" eaLnBrk="1" latinLnBrk="0" hangingPunct="1">
                        <a:defRPr kumimoji="1" sz="1800" kern="1200">
                          <a:solidFill>
                            <a:schemeClr val="dk1"/>
                          </a:solidFill>
                          <a:latin typeface="Segoe UI"/>
                          <a:ea typeface="メイリオ"/>
                        </a:defRPr>
                      </a:lvl6pPr>
                      <a:lvl7pPr marL="2743200" algn="l" defTabSz="914400" rtl="0" eaLnBrk="1" latinLnBrk="0" hangingPunct="1">
                        <a:defRPr kumimoji="1" sz="1800" kern="1200">
                          <a:solidFill>
                            <a:schemeClr val="dk1"/>
                          </a:solidFill>
                          <a:latin typeface="Segoe UI"/>
                          <a:ea typeface="メイリオ"/>
                        </a:defRPr>
                      </a:lvl7pPr>
                      <a:lvl8pPr marL="3200400" algn="l" defTabSz="914400" rtl="0" eaLnBrk="1" latinLnBrk="0" hangingPunct="1">
                        <a:defRPr kumimoji="1" sz="1800" kern="1200">
                          <a:solidFill>
                            <a:schemeClr val="dk1"/>
                          </a:solidFill>
                          <a:latin typeface="Segoe UI"/>
                          <a:ea typeface="メイリオ"/>
                        </a:defRPr>
                      </a:lvl8pPr>
                      <a:lvl9pPr marL="3657600" algn="l" defTabSz="914400" rtl="0" eaLnBrk="1" latinLnBrk="0" hangingPunct="1">
                        <a:defRPr kumimoji="1" sz="1800" kern="1200">
                          <a:solidFill>
                            <a:schemeClr val="dk1"/>
                          </a:solidFill>
                          <a:latin typeface="Segoe UI"/>
                          <a:ea typeface="メイリオ"/>
                        </a:defRPr>
                      </a:lvl9pP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未活動要因</a:t>
                      </a:r>
                    </a:p>
                  </a:txBody>
                  <a:tcPr anchor="ctr">
                    <a:lnL w="12700" cap="flat" cmpd="sng" algn="ctr">
                      <a:noFill/>
                      <a:prstDash val="solid"/>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kumimoji="1" sz="1800" kern="1200">
                          <a:solidFill>
                            <a:schemeClr val="dk1"/>
                          </a:solidFill>
                          <a:latin typeface="Segoe UI"/>
                          <a:ea typeface="メイリオ"/>
                        </a:defRPr>
                      </a:lvl1pPr>
                      <a:lvl2pPr marL="457200" algn="l" defTabSz="914400" rtl="0" eaLnBrk="1" latinLnBrk="0" hangingPunct="1">
                        <a:defRPr kumimoji="1" sz="1800" kern="1200">
                          <a:solidFill>
                            <a:schemeClr val="dk1"/>
                          </a:solidFill>
                          <a:latin typeface="Segoe UI"/>
                          <a:ea typeface="メイリオ"/>
                        </a:defRPr>
                      </a:lvl2pPr>
                      <a:lvl3pPr marL="914400" algn="l" defTabSz="914400" rtl="0" eaLnBrk="1" latinLnBrk="0" hangingPunct="1">
                        <a:defRPr kumimoji="1" sz="1800" kern="1200">
                          <a:solidFill>
                            <a:schemeClr val="dk1"/>
                          </a:solidFill>
                          <a:latin typeface="Segoe UI"/>
                          <a:ea typeface="メイリオ"/>
                        </a:defRPr>
                      </a:lvl3pPr>
                      <a:lvl4pPr marL="1371600" algn="l" defTabSz="914400" rtl="0" eaLnBrk="1" latinLnBrk="0" hangingPunct="1">
                        <a:defRPr kumimoji="1" sz="1800" kern="1200">
                          <a:solidFill>
                            <a:schemeClr val="dk1"/>
                          </a:solidFill>
                          <a:latin typeface="Segoe UI"/>
                          <a:ea typeface="メイリオ"/>
                        </a:defRPr>
                      </a:lvl4pPr>
                      <a:lvl5pPr marL="1828800" algn="l" defTabSz="914400" rtl="0" eaLnBrk="1" latinLnBrk="0" hangingPunct="1">
                        <a:defRPr kumimoji="1" sz="1800" kern="1200">
                          <a:solidFill>
                            <a:schemeClr val="dk1"/>
                          </a:solidFill>
                          <a:latin typeface="Segoe UI"/>
                          <a:ea typeface="メイリオ"/>
                        </a:defRPr>
                      </a:lvl5pPr>
                      <a:lvl6pPr marL="2286000" algn="l" defTabSz="914400" rtl="0" eaLnBrk="1" latinLnBrk="0" hangingPunct="1">
                        <a:defRPr kumimoji="1" sz="1800" kern="1200">
                          <a:solidFill>
                            <a:schemeClr val="dk1"/>
                          </a:solidFill>
                          <a:latin typeface="Segoe UI"/>
                          <a:ea typeface="メイリオ"/>
                        </a:defRPr>
                      </a:lvl6pPr>
                      <a:lvl7pPr marL="2743200" algn="l" defTabSz="914400" rtl="0" eaLnBrk="1" latinLnBrk="0" hangingPunct="1">
                        <a:defRPr kumimoji="1" sz="1800" kern="1200">
                          <a:solidFill>
                            <a:schemeClr val="dk1"/>
                          </a:solidFill>
                          <a:latin typeface="Segoe UI"/>
                          <a:ea typeface="メイリオ"/>
                        </a:defRPr>
                      </a:lvl7pPr>
                      <a:lvl8pPr marL="3200400" algn="l" defTabSz="914400" rtl="0" eaLnBrk="1" latinLnBrk="0" hangingPunct="1">
                        <a:defRPr kumimoji="1" sz="1800" kern="1200">
                          <a:solidFill>
                            <a:schemeClr val="dk1"/>
                          </a:solidFill>
                          <a:latin typeface="Segoe UI"/>
                          <a:ea typeface="メイリオ"/>
                        </a:defRPr>
                      </a:lvl8pPr>
                      <a:lvl9pPr marL="3657600" algn="l" defTabSz="914400" rtl="0" eaLnBrk="1" latinLnBrk="0" hangingPunct="1">
                        <a:defRPr kumimoji="1" sz="1800" kern="1200">
                          <a:solidFill>
                            <a:schemeClr val="dk1"/>
                          </a:solidFill>
                          <a:latin typeface="Segoe UI"/>
                          <a:ea typeface="メイリオ"/>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dirty="0">
                          <a:solidFill>
                            <a:schemeClr val="tx1"/>
                          </a:solidFill>
                          <a:latin typeface="Meiryo UI" panose="020B0604030504040204" pitchFamily="50" charset="-128"/>
                          <a:ea typeface="Meiryo UI" panose="020B0604030504040204" pitchFamily="50" charset="-128"/>
                        </a:rPr>
                        <a:t>ー</a:t>
                      </a:r>
                    </a:p>
                  </a:txBody>
                  <a:tcPr anchor="ctr">
                    <a:lnL w="6350" cap="flat" cmpd="sng" algn="ctr">
                      <a:solidFill>
                        <a:sysClr val="window" lastClr="FFFFFF">
                          <a:lumMod val="50000"/>
                        </a:sysClr>
                      </a:solidFill>
                      <a:prstDash val="solid"/>
                      <a:round/>
                      <a:headEnd type="none" w="med" len="med"/>
                      <a:tailEnd type="none" w="med" len="med"/>
                    </a:lnL>
                    <a:lnR w="6350" cap="flat" cmpd="sng" algn="ctr">
                      <a:solidFill>
                        <a:sysClr val="window" lastClr="FFFFFF">
                          <a:lumMod val="50000"/>
                        </a:sysClr>
                      </a:solidFill>
                      <a:prstDash val="sysDash"/>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a:r>
                        <a:rPr kumimoji="1" lang="ja-JP" altLang="en-US" sz="900" dirty="0">
                          <a:solidFill>
                            <a:schemeClr val="tx1"/>
                          </a:solidFill>
                          <a:latin typeface="Meiryo UI" panose="020B0604030504040204" pitchFamily="50" charset="-128"/>
                          <a:ea typeface="Meiryo UI" panose="020B0604030504040204" pitchFamily="50" charset="-128"/>
                        </a:rPr>
                        <a:t>求人応募なし→</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ja-JP" altLang="en-US" sz="900" b="1" dirty="0">
                          <a:solidFill>
                            <a:schemeClr val="tx1"/>
                          </a:solidFill>
                          <a:latin typeface="Meiryo UI" panose="020B0604030504040204" pitchFamily="50" charset="-128"/>
                          <a:ea typeface="Meiryo UI" panose="020B0604030504040204" pitchFamily="50" charset="-128"/>
                        </a:rPr>
                        <a:t>「転職活動を始めるか気持ちが固まっていなかった」</a:t>
                      </a:r>
                      <a:r>
                        <a:rPr kumimoji="1" lang="ja-JP" altLang="en-US" sz="900" dirty="0">
                          <a:solidFill>
                            <a:schemeClr val="tx1"/>
                          </a:solidFill>
                          <a:latin typeface="Meiryo UI" panose="020B0604030504040204" pitchFamily="50" charset="-128"/>
                          <a:ea typeface="Meiryo UI" panose="020B0604030504040204" pitchFamily="50" charset="-128"/>
                        </a:rPr>
                        <a:t>が</a:t>
                      </a:r>
                      <a:r>
                        <a:rPr kumimoji="1" lang="en-US" altLang="ja-JP" sz="900" dirty="0">
                          <a:solidFill>
                            <a:schemeClr val="tx1"/>
                          </a:solidFill>
                          <a:latin typeface="Meiryo UI" panose="020B0604030504040204" pitchFamily="50" charset="-128"/>
                          <a:ea typeface="Meiryo UI" panose="020B0604030504040204" pitchFamily="50" charset="-128"/>
                        </a:rPr>
                        <a:t>32%</a:t>
                      </a:r>
                      <a:r>
                        <a:rPr kumimoji="1" lang="ja-JP" altLang="en-US" sz="900" dirty="0">
                          <a:solidFill>
                            <a:schemeClr val="tx1"/>
                          </a:solidFill>
                          <a:latin typeface="Meiryo UI" panose="020B0604030504040204" pitchFamily="50" charset="-128"/>
                          <a:ea typeface="Meiryo UI" panose="020B0604030504040204" pitchFamily="50" charset="-128"/>
                        </a:rPr>
                        <a:t>で</a:t>
                      </a:r>
                      <a:r>
                        <a:rPr kumimoji="1" lang="en-US" altLang="ja-JP" sz="900" dirty="0">
                          <a:solidFill>
                            <a:schemeClr val="tx1"/>
                          </a:solidFill>
                          <a:latin typeface="Meiryo UI" panose="020B0604030504040204" pitchFamily="50" charset="-128"/>
                          <a:ea typeface="Meiryo UI" panose="020B0604030504040204" pitchFamily="50" charset="-128"/>
                        </a:rPr>
                        <a:t>TOP</a:t>
                      </a:r>
                      <a:r>
                        <a:rPr kumimoji="1" lang="ja-JP" altLang="en-US" sz="900" dirty="0">
                          <a:solidFill>
                            <a:schemeClr val="tx1"/>
                          </a:solidFill>
                          <a:latin typeface="Meiryo UI" panose="020B0604030504040204" pitchFamily="50" charset="-128"/>
                          <a:ea typeface="Meiryo UI" panose="020B0604030504040204" pitchFamily="50" charset="-128"/>
                        </a:rPr>
                        <a:t>で、他は低め。</a:t>
                      </a:r>
                      <a:endParaRPr kumimoji="1" lang="ja-JP" altLang="en-US" sz="900" b="0" dirty="0">
                        <a:solidFill>
                          <a:schemeClr val="tx1"/>
                        </a:solidFill>
                        <a:latin typeface="Meiryo UI" panose="020B0604030504040204" pitchFamily="50" charset="-128"/>
                        <a:ea typeface="Meiryo UI" panose="020B0604030504040204" pitchFamily="50" charset="-128"/>
                      </a:endParaRPr>
                    </a:p>
                  </a:txBody>
                  <a:tcPr anchor="ctr">
                    <a:lnL w="6350" cap="flat" cmpd="sng" algn="ctr">
                      <a:solidFill>
                        <a:sysClr val="window" lastClr="FFFFFF">
                          <a:lumMod val="50000"/>
                        </a:sysClr>
                      </a:solidFill>
                      <a:prstDash val="sysDash"/>
                      <a:round/>
                      <a:headEnd type="none" w="med" len="med"/>
                      <a:tailEnd type="none" w="med" len="med"/>
                    </a:lnL>
                    <a:lnR w="6350" cap="flat" cmpd="sng" algn="ctr">
                      <a:solidFill>
                        <a:sysClr val="window" lastClr="FFFFFF">
                          <a:lumMod val="50000"/>
                        </a:sysClr>
                      </a:solidFill>
                      <a:prstDash val="sysDash"/>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a:r>
                        <a:rPr kumimoji="1" lang="ja-JP" altLang="en-US" sz="900" dirty="0">
                          <a:solidFill>
                            <a:schemeClr val="tx1"/>
                          </a:solidFill>
                          <a:latin typeface="Meiryo UI" panose="020B0604030504040204" pitchFamily="50" charset="-128"/>
                          <a:ea typeface="Meiryo UI" panose="020B0604030504040204" pitchFamily="50" charset="-128"/>
                        </a:rPr>
                        <a:t>面談実施なし→</a:t>
                      </a:r>
                      <a:endParaRPr kumimoji="1" lang="en-US" altLang="ja-JP" sz="900" dirty="0">
                        <a:solidFill>
                          <a:schemeClr val="tx1"/>
                        </a:solidFill>
                        <a:latin typeface="Meiryo UI" panose="020B0604030504040204" pitchFamily="50" charset="-128"/>
                        <a:ea typeface="Meiryo UI" panose="020B0604030504040204" pitchFamily="50" charset="-128"/>
                      </a:endParaRPr>
                    </a:p>
                    <a:p>
                      <a:pPr algn="ctr"/>
                      <a:r>
                        <a:rPr kumimoji="1" lang="ja-JP" altLang="en-US" sz="900" b="0" dirty="0">
                          <a:solidFill>
                            <a:schemeClr val="tx1"/>
                          </a:solidFill>
                          <a:latin typeface="Meiryo UI" panose="020B0604030504040204" pitchFamily="50" charset="-128"/>
                          <a:ea typeface="Meiryo UI" panose="020B0604030504040204" pitchFamily="50" charset="-128"/>
                        </a:rPr>
                        <a:t>「時間確保できず</a:t>
                      </a:r>
                      <a:r>
                        <a:rPr kumimoji="1" lang="en-US" altLang="ja-JP" sz="900" b="0" dirty="0">
                          <a:solidFill>
                            <a:schemeClr val="tx1"/>
                          </a:solidFill>
                          <a:latin typeface="Meiryo UI" panose="020B0604030504040204" pitchFamily="50" charset="-128"/>
                          <a:ea typeface="Meiryo UI" panose="020B0604030504040204" pitchFamily="50" charset="-128"/>
                        </a:rPr>
                        <a:t>/</a:t>
                      </a:r>
                      <a:r>
                        <a:rPr kumimoji="1" lang="ja-JP" altLang="en-US" sz="900" b="0" dirty="0">
                          <a:solidFill>
                            <a:schemeClr val="tx1"/>
                          </a:solidFill>
                          <a:latin typeface="Meiryo UI" panose="020B0604030504040204" pitchFamily="50" charset="-128"/>
                          <a:ea typeface="Meiryo UI" panose="020B0604030504040204" pitchFamily="50" charset="-128"/>
                        </a:rPr>
                        <a:t>スケジュールあわず」</a:t>
                      </a:r>
                      <a:endParaRPr kumimoji="1" lang="en-US" altLang="ja-JP" sz="900" b="0" dirty="0">
                        <a:solidFill>
                          <a:schemeClr val="tx1"/>
                        </a:solidFill>
                        <a:latin typeface="Meiryo UI" panose="020B0604030504040204" pitchFamily="50" charset="-128"/>
                        <a:ea typeface="Meiryo UI" panose="020B0604030504040204" pitchFamily="50" charset="-128"/>
                      </a:endParaRPr>
                    </a:p>
                    <a:p>
                      <a:pPr algn="ctr"/>
                      <a:r>
                        <a:rPr kumimoji="1" lang="ja-JP" altLang="en-US" sz="900" b="0" dirty="0">
                          <a:solidFill>
                            <a:schemeClr val="tx1"/>
                          </a:solidFill>
                          <a:latin typeface="Meiryo UI" panose="020B0604030504040204" pitchFamily="50" charset="-128"/>
                          <a:ea typeface="Meiryo UI" panose="020B0604030504040204" pitchFamily="50" charset="-128"/>
                        </a:rPr>
                        <a:t>「転職時期が先</a:t>
                      </a:r>
                      <a:r>
                        <a:rPr kumimoji="1" lang="en-US" altLang="ja-JP" sz="900" b="0" dirty="0">
                          <a:solidFill>
                            <a:schemeClr val="tx1"/>
                          </a:solidFill>
                          <a:latin typeface="Meiryo UI" panose="020B0604030504040204" pitchFamily="50" charset="-128"/>
                          <a:ea typeface="Meiryo UI" panose="020B0604030504040204" pitchFamily="50" charset="-128"/>
                        </a:rPr>
                        <a:t>/</a:t>
                      </a:r>
                      <a:r>
                        <a:rPr kumimoji="1" lang="ja-JP" altLang="en-US" sz="900" b="0" dirty="0">
                          <a:solidFill>
                            <a:schemeClr val="tx1"/>
                          </a:solidFill>
                          <a:latin typeface="Meiryo UI" panose="020B0604030504040204" pitchFamily="50" charset="-128"/>
                          <a:ea typeface="Meiryo UI" panose="020B0604030504040204" pitchFamily="50" charset="-128"/>
                        </a:rPr>
                        <a:t>未定で面談を</a:t>
                      </a:r>
                      <a:br>
                        <a:rPr kumimoji="1" lang="en-US" altLang="ja-JP" sz="900" b="0" dirty="0">
                          <a:solidFill>
                            <a:schemeClr val="tx1"/>
                          </a:solidFill>
                          <a:latin typeface="Meiryo UI" panose="020B0604030504040204" pitchFamily="50" charset="-128"/>
                          <a:ea typeface="Meiryo UI" panose="020B0604030504040204" pitchFamily="50" charset="-128"/>
                        </a:rPr>
                      </a:br>
                      <a:r>
                        <a:rPr kumimoji="1" lang="ja-JP" altLang="en-US" sz="900" b="0" dirty="0">
                          <a:solidFill>
                            <a:schemeClr val="tx1"/>
                          </a:solidFill>
                          <a:latin typeface="Meiryo UI" panose="020B0604030504040204" pitchFamily="50" charset="-128"/>
                          <a:ea typeface="Meiryo UI" panose="020B0604030504040204" pitchFamily="50" charset="-128"/>
                        </a:rPr>
                        <a:t>してよいか迷った</a:t>
                      </a:r>
                      <a:r>
                        <a:rPr kumimoji="1" lang="en-US" altLang="ja-JP" sz="900" b="0" dirty="0">
                          <a:solidFill>
                            <a:schemeClr val="tx1"/>
                          </a:solidFill>
                          <a:latin typeface="Meiryo UI" panose="020B0604030504040204" pitchFamily="50" charset="-128"/>
                          <a:ea typeface="Meiryo UI" panose="020B0604030504040204" pitchFamily="50" charset="-128"/>
                        </a:rPr>
                        <a:t>/</a:t>
                      </a:r>
                      <a:r>
                        <a:rPr kumimoji="1" lang="ja-JP" altLang="en-US" sz="900" b="0" dirty="0">
                          <a:solidFill>
                            <a:schemeClr val="tx1"/>
                          </a:solidFill>
                          <a:latin typeface="Meiryo UI" panose="020B0604030504040204" pitchFamily="50" charset="-128"/>
                          <a:ea typeface="Meiryo UI" panose="020B0604030504040204" pitchFamily="50" charset="-128"/>
                        </a:rPr>
                        <a:t>不要」</a:t>
                      </a:r>
                    </a:p>
                  </a:txBody>
                  <a:tcPr anchor="ctr">
                    <a:lnL w="6350" cap="flat" cmpd="sng" algn="ctr">
                      <a:solidFill>
                        <a:sysClr val="window" lastClr="FFFFFF">
                          <a:lumMod val="50000"/>
                        </a:sysClr>
                      </a:solidFill>
                      <a:prstDash val="sysDash"/>
                      <a:round/>
                      <a:headEnd type="none" w="med" len="med"/>
                      <a:tailEnd type="none" w="med" len="med"/>
                    </a:lnL>
                    <a:lnR w="6350" cap="flat" cmpd="sng" algn="ctr">
                      <a:solidFill>
                        <a:sysClr val="window" lastClr="FFFFFF">
                          <a:lumMod val="50000"/>
                        </a:sysClr>
                      </a:solidFill>
                      <a:prstDash val="solid"/>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a:r>
                        <a:rPr kumimoji="1" lang="ja-JP" altLang="en-US" sz="900" dirty="0">
                          <a:solidFill>
                            <a:schemeClr val="tx1"/>
                          </a:solidFill>
                          <a:latin typeface="Meiryo UI" panose="020B0604030504040204" pitchFamily="50" charset="-128"/>
                          <a:ea typeface="Meiryo UI" panose="020B0604030504040204" pitchFamily="50" charset="-128"/>
                        </a:rPr>
                        <a:t>面談希望なし→</a:t>
                      </a:r>
                      <a:r>
                        <a:rPr kumimoji="1" lang="ja-JP" altLang="en-US" sz="900" b="1" dirty="0">
                          <a:solidFill>
                            <a:schemeClr val="tx1"/>
                          </a:solidFill>
                          <a:latin typeface="Meiryo UI" panose="020B0604030504040204" pitchFamily="50" charset="-128"/>
                          <a:ea typeface="Meiryo UI" panose="020B0604030504040204" pitchFamily="50" charset="-128"/>
                        </a:rPr>
                        <a:t>「自分のペースで</a:t>
                      </a:r>
                      <a:br>
                        <a:rPr kumimoji="1" lang="en-US" altLang="ja-JP" sz="900" b="1" dirty="0">
                          <a:solidFill>
                            <a:schemeClr val="tx1"/>
                          </a:solidFill>
                          <a:latin typeface="Meiryo UI" panose="020B0604030504040204" pitchFamily="50" charset="-128"/>
                          <a:ea typeface="Meiryo UI" panose="020B0604030504040204" pitchFamily="50" charset="-128"/>
                        </a:rPr>
                      </a:br>
                      <a:r>
                        <a:rPr kumimoji="1" lang="ja-JP" altLang="en-US" sz="900" b="1" dirty="0">
                          <a:solidFill>
                            <a:schemeClr val="tx1"/>
                          </a:solidFill>
                          <a:latin typeface="Meiryo UI" panose="020B0604030504040204" pitchFamily="50" charset="-128"/>
                          <a:ea typeface="Meiryo UI" panose="020B0604030504040204" pitchFamily="50" charset="-128"/>
                        </a:rPr>
                        <a:t>転職活動を進めたい」「転職時期が先</a:t>
                      </a:r>
                      <a:r>
                        <a:rPr kumimoji="1" lang="en-US" altLang="ja-JP" sz="900" b="1" dirty="0">
                          <a:solidFill>
                            <a:schemeClr val="tx1"/>
                          </a:solidFill>
                          <a:latin typeface="Meiryo UI" panose="020B0604030504040204" pitchFamily="50" charset="-128"/>
                          <a:ea typeface="Meiryo UI" panose="020B0604030504040204" pitchFamily="50" charset="-128"/>
                        </a:rPr>
                        <a:t>/</a:t>
                      </a:r>
                      <a:r>
                        <a:rPr kumimoji="1" lang="ja-JP" altLang="en-US" sz="900" b="1" dirty="0">
                          <a:solidFill>
                            <a:schemeClr val="tx1"/>
                          </a:solidFill>
                          <a:latin typeface="Meiryo UI" panose="020B0604030504040204" pitchFamily="50" charset="-128"/>
                          <a:ea typeface="Meiryo UI" panose="020B0604030504040204" pitchFamily="50" charset="-128"/>
                        </a:rPr>
                        <a:t>未定」「情報収集目的」</a:t>
                      </a:r>
                      <a:endParaRPr kumimoji="1" lang="en-US" altLang="ja-JP" sz="900" b="1" dirty="0">
                        <a:solidFill>
                          <a:schemeClr val="tx1"/>
                        </a:solidFill>
                        <a:latin typeface="Meiryo UI" panose="020B0604030504040204" pitchFamily="50" charset="-128"/>
                        <a:ea typeface="Meiryo UI" panose="020B0604030504040204" pitchFamily="50" charset="-128"/>
                      </a:endParaRPr>
                    </a:p>
                    <a:p>
                      <a:pPr algn="ctr"/>
                      <a:r>
                        <a:rPr kumimoji="1" lang="ja-JP" altLang="en-US" sz="900" dirty="0">
                          <a:solidFill>
                            <a:schemeClr val="tx1"/>
                          </a:solidFill>
                          <a:latin typeface="Meiryo UI" panose="020B0604030504040204" pitchFamily="50" charset="-128"/>
                          <a:ea typeface="Meiryo UI" panose="020B0604030504040204" pitchFamily="50" charset="-128"/>
                        </a:rPr>
                        <a:t>求人応募なし→</a:t>
                      </a:r>
                      <a:r>
                        <a:rPr kumimoji="1" lang="ja-JP" altLang="en-US" sz="900" b="1" dirty="0">
                          <a:solidFill>
                            <a:schemeClr val="tx1"/>
                          </a:solidFill>
                          <a:latin typeface="Meiryo UI" panose="020B0604030504040204" pitchFamily="50" charset="-128"/>
                          <a:ea typeface="Meiryo UI" panose="020B0604030504040204" pitchFamily="50" charset="-128"/>
                        </a:rPr>
                        <a:t>「気になる求人はあったが応募に踏み切れなかった」</a:t>
                      </a:r>
                      <a:br>
                        <a:rPr kumimoji="1" lang="en-US" altLang="ja-JP" sz="900" b="1" dirty="0">
                          <a:solidFill>
                            <a:schemeClr val="tx1"/>
                          </a:solidFill>
                          <a:latin typeface="Meiryo UI" panose="020B0604030504040204" pitchFamily="50" charset="-128"/>
                          <a:ea typeface="Meiryo UI" panose="020B0604030504040204" pitchFamily="50" charset="-128"/>
                        </a:rPr>
                      </a:br>
                      <a:r>
                        <a:rPr kumimoji="1" lang="ja-JP" altLang="en-US" sz="900" b="1" dirty="0">
                          <a:solidFill>
                            <a:schemeClr val="tx1"/>
                          </a:solidFill>
                          <a:latin typeface="Meiryo UI" panose="020B0604030504040204" pitchFamily="50" charset="-128"/>
                          <a:ea typeface="Meiryo UI" panose="020B0604030504040204" pitchFamily="50" charset="-128"/>
                        </a:rPr>
                        <a:t>「希望する求人が見つからなかった」</a:t>
                      </a:r>
                      <a:endParaRPr kumimoji="1" lang="ja-JP" altLang="en-US" sz="900" b="0" dirty="0">
                        <a:solidFill>
                          <a:schemeClr val="tx1"/>
                        </a:solidFill>
                        <a:latin typeface="Meiryo UI" panose="020B0604030504040204" pitchFamily="50" charset="-128"/>
                        <a:ea typeface="Meiryo UI" panose="020B0604030504040204" pitchFamily="50" charset="-128"/>
                      </a:endParaRPr>
                    </a:p>
                  </a:txBody>
                  <a:tcPr anchor="ctr">
                    <a:lnL w="6350" cap="flat" cmpd="sng" algn="ctr">
                      <a:solidFill>
                        <a:sysClr val="window" lastClr="FFFFFF">
                          <a:lumMod val="50000"/>
                        </a:sys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ysClr val="window" lastClr="FFFFFF">
                          <a:lumMod val="50000"/>
                        </a:sysClr>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4014633631"/>
                  </a:ext>
                </a:extLst>
              </a:tr>
            </a:tbl>
          </a:graphicData>
        </a:graphic>
      </p:graphicFrame>
    </p:spTree>
    <p:extLst>
      <p:ext uri="{BB962C8B-B14F-4D97-AF65-F5344CB8AC3E}">
        <p14:creationId xmlns:p14="http://schemas.microsoft.com/office/powerpoint/2010/main" val="3081633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761158B7-8BBD-A8FD-4BCD-0329FCAE8A61}"/>
              </a:ext>
            </a:extLst>
          </p:cNvPr>
          <p:cNvSpPr>
            <a:spLocks noGrp="1"/>
          </p:cNvSpPr>
          <p:nvPr>
            <p:ph sz="quarter" idx="14"/>
          </p:nvPr>
        </p:nvSpPr>
        <p:spPr>
          <a:xfrm>
            <a:off x="360363" y="773474"/>
            <a:ext cx="11447462" cy="675632"/>
          </a:xfrm>
        </p:spPr>
        <p:txBody>
          <a:bodyPr>
            <a:normAutofit/>
          </a:bodyPr>
          <a:lstStyle/>
          <a:p>
            <a:pPr marL="285750" indent="-285750">
              <a:buFont typeface="Wingdings" panose="05000000000000000000" pitchFamily="2" charset="2"/>
              <a:buChar char="ü"/>
            </a:pPr>
            <a:r>
              <a:rPr kumimoji="1" lang="ja-JP" altLang="en-US" sz="1200" dirty="0"/>
              <a:t>面談希望ありの中でも、面談実施なしの</a:t>
            </a:r>
            <a:r>
              <a:rPr kumimoji="1" lang="en-US" altLang="ja-JP" sz="1200" dirty="0"/>
              <a:t>CS</a:t>
            </a:r>
            <a:r>
              <a:rPr kumimoji="1" lang="ja-JP" altLang="en-US" sz="1200" dirty="0"/>
              <a:t>は年齢・年収が高めな属性が多い。背景としては職種の専門性や職務クラスの高さ</a:t>
            </a:r>
            <a:r>
              <a:rPr kumimoji="1" lang="en-US" altLang="ja-JP" sz="1200" dirty="0"/>
              <a:t>(</a:t>
            </a:r>
            <a:r>
              <a:rPr kumimoji="1" lang="ja-JP" altLang="en-US" sz="1200" dirty="0"/>
              <a:t>管理職</a:t>
            </a:r>
            <a:r>
              <a:rPr kumimoji="1" lang="en-US" altLang="ja-JP" sz="1200" dirty="0"/>
              <a:t>)</a:t>
            </a:r>
            <a:r>
              <a:rPr lang="ja-JP" altLang="en-US" sz="1200" dirty="0"/>
              <a:t>が</a:t>
            </a:r>
            <a:r>
              <a:rPr kumimoji="1" lang="ja-JP" altLang="en-US" sz="1200" dirty="0"/>
              <a:t>あると推察。一方</a:t>
            </a:r>
            <a:r>
              <a:rPr kumimoji="1" lang="en-US" altLang="ja-JP" sz="1200" dirty="0"/>
              <a:t>300</a:t>
            </a:r>
            <a:r>
              <a:rPr kumimoji="1" lang="ja-JP" altLang="en-US" sz="1200" dirty="0"/>
              <a:t>万未満と年収帯が低めな層も</a:t>
            </a:r>
            <a:r>
              <a:rPr lang="en-US" altLang="ja-JP" sz="1200" dirty="0"/>
              <a:t>3</a:t>
            </a:r>
            <a:r>
              <a:rPr lang="ja-JP" altLang="en-US" sz="1200" dirty="0"/>
              <a:t>割程度存在しており</a:t>
            </a:r>
            <a:r>
              <a:rPr kumimoji="1" lang="ja-JP" altLang="en-US" sz="1200" dirty="0"/>
              <a:t>、</a:t>
            </a:r>
            <a:r>
              <a:rPr lang="ja-JP" altLang="en-US" sz="1200" dirty="0"/>
              <a:t>二極化</a:t>
            </a:r>
            <a:r>
              <a:rPr kumimoji="1" lang="ja-JP" altLang="en-US" sz="1200" dirty="0"/>
              <a:t>している可能性。</a:t>
            </a:r>
            <a:r>
              <a:rPr kumimoji="1" lang="en-US" altLang="ja-JP" sz="1200" dirty="0"/>
              <a:t>(</a:t>
            </a:r>
            <a:r>
              <a:rPr lang="ja-JP" altLang="en-US" sz="1200" dirty="0"/>
              <a:t>詳細</a:t>
            </a:r>
            <a:r>
              <a:rPr lang="en-US" altLang="ja-JP" sz="1200" dirty="0"/>
              <a:t>p.11</a:t>
            </a:r>
            <a:r>
              <a:rPr kumimoji="1" lang="en-US" altLang="ja-JP" sz="1200" dirty="0"/>
              <a:t>)</a:t>
            </a:r>
          </a:p>
        </p:txBody>
      </p:sp>
      <p:sp>
        <p:nvSpPr>
          <p:cNvPr id="3" name="テキスト プレースホルダー 2">
            <a:extLst>
              <a:ext uri="{FF2B5EF4-FFF2-40B4-BE49-F238E27FC236}">
                <a16:creationId xmlns:a16="http://schemas.microsoft.com/office/drawing/2014/main" id="{276F8952-7770-29EB-33F2-F26B9BF4B7C2}"/>
              </a:ext>
            </a:extLst>
          </p:cNvPr>
          <p:cNvSpPr>
            <a:spLocks noGrp="1"/>
          </p:cNvSpPr>
          <p:nvPr>
            <p:ph type="body" sz="quarter" idx="13"/>
          </p:nvPr>
        </p:nvSpPr>
        <p:spPr/>
        <p:txBody>
          <a:bodyPr/>
          <a:lstStyle/>
          <a:p>
            <a:r>
              <a:rPr lang="ja-JP" altLang="en-US" dirty="0"/>
              <a:t>活動ステータス別サマリ：</a:t>
            </a:r>
            <a:r>
              <a:rPr kumimoji="1" lang="ja-JP" altLang="en-US" dirty="0"/>
              <a:t>面談希望あり＞面談実施</a:t>
            </a:r>
            <a:r>
              <a:rPr kumimoji="1" lang="ja-JP" altLang="en-US" dirty="0">
                <a:solidFill>
                  <a:srgbClr val="FF0000"/>
                </a:solidFill>
              </a:rPr>
              <a:t>なし</a:t>
            </a:r>
            <a:r>
              <a:rPr kumimoji="1" lang="en-US" altLang="ja-JP" dirty="0"/>
              <a:t>【</a:t>
            </a:r>
            <a:r>
              <a:rPr kumimoji="1" lang="ja-JP" altLang="en-US" dirty="0"/>
              <a:t>全体傾向</a:t>
            </a:r>
            <a:r>
              <a:rPr kumimoji="1" lang="en-US" altLang="ja-JP" dirty="0"/>
              <a:t>】</a:t>
            </a:r>
            <a:endParaRPr kumimoji="1" lang="ja-JP" altLang="en-US" dirty="0"/>
          </a:p>
        </p:txBody>
      </p:sp>
      <p:sp>
        <p:nvSpPr>
          <p:cNvPr id="4" name="フッター プレースホルダー 3">
            <a:extLst>
              <a:ext uri="{FF2B5EF4-FFF2-40B4-BE49-F238E27FC236}">
                <a16:creationId xmlns:a16="http://schemas.microsoft.com/office/drawing/2014/main" id="{B72DD35E-4034-B434-C065-6EFA37336942}"/>
              </a:ext>
            </a:extLst>
          </p:cNvPr>
          <p:cNvSpPr>
            <a:spLocks noGrp="1"/>
          </p:cNvSpPr>
          <p:nvPr>
            <p:ph type="ftr" sz="quarter" idx="3"/>
          </p:nvPr>
        </p:nvSpPr>
        <p:spPr>
          <a:xfrm>
            <a:off x="4038600" y="6364575"/>
            <a:ext cx="4114800" cy="365125"/>
          </a:xfrm>
        </p:spPr>
        <p:txBody>
          <a:bodyPr/>
          <a:lstStyle/>
          <a:p>
            <a:r>
              <a:rPr lang="en" altLang="ja-JP"/>
              <a:t>(C) Recruit Co., Ltd. All rights reserved. </a:t>
            </a:r>
            <a:endParaRPr lang="ja-JP" altLang="en-US"/>
          </a:p>
        </p:txBody>
      </p:sp>
      <p:sp>
        <p:nvSpPr>
          <p:cNvPr id="5" name="スライド番号プレースホルダー 4">
            <a:extLst>
              <a:ext uri="{FF2B5EF4-FFF2-40B4-BE49-F238E27FC236}">
                <a16:creationId xmlns:a16="http://schemas.microsoft.com/office/drawing/2014/main" id="{5C0D21FF-AAAA-668B-A241-C80D5A5C4973}"/>
              </a:ext>
            </a:extLst>
          </p:cNvPr>
          <p:cNvSpPr>
            <a:spLocks noGrp="1"/>
          </p:cNvSpPr>
          <p:nvPr>
            <p:ph type="sldNum" sz="quarter" idx="4"/>
          </p:nvPr>
        </p:nvSpPr>
        <p:spPr/>
        <p:txBody>
          <a:bodyPr/>
          <a:lstStyle/>
          <a:p>
            <a:fld id="{EDD55F78-D87A-074E-B5DA-6C9B598DD91F}" type="slidenum">
              <a:rPr lang="ja-JP" altLang="en-US" smtClean="0"/>
              <a:pPr/>
              <a:t>7</a:t>
            </a:fld>
            <a:endParaRPr lang="ja-JP" altLang="en-US"/>
          </a:p>
        </p:txBody>
      </p:sp>
      <p:sp>
        <p:nvSpPr>
          <p:cNvPr id="415" name="正方形/長方形 414">
            <a:extLst>
              <a:ext uri="{FF2B5EF4-FFF2-40B4-BE49-F238E27FC236}">
                <a16:creationId xmlns:a16="http://schemas.microsoft.com/office/drawing/2014/main" id="{12504F31-4EA8-692C-2374-5280D09CF0CB}"/>
              </a:ext>
            </a:extLst>
          </p:cNvPr>
          <p:cNvSpPr/>
          <p:nvPr/>
        </p:nvSpPr>
        <p:spPr>
          <a:xfrm>
            <a:off x="4273365" y="3963383"/>
            <a:ext cx="3621458" cy="2012711"/>
          </a:xfrm>
          <a:prstGeom prst="rect">
            <a:avLst/>
          </a:prstGeom>
          <a:solidFill>
            <a:srgbClr val="EFF1F5"/>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l"/>
            <a:r>
              <a:rPr kumimoji="1" lang="ja-JP" altLang="en-US" sz="1050" b="1" u="sng" dirty="0">
                <a:solidFill>
                  <a:schemeClr val="tx1"/>
                </a:solidFill>
              </a:rPr>
              <a:t>■転職を検討したきっかけ（</a:t>
            </a:r>
            <a:r>
              <a:rPr kumimoji="1" lang="en-US" altLang="ja-JP" sz="1050" b="1" u="sng" dirty="0">
                <a:solidFill>
                  <a:schemeClr val="tx1"/>
                </a:solidFill>
              </a:rPr>
              <a:t>MA</a:t>
            </a:r>
          </a:p>
          <a:p>
            <a:pPr algn="l"/>
            <a:r>
              <a:rPr kumimoji="1" lang="ja-JP" altLang="en-US" sz="1050" dirty="0">
                <a:solidFill>
                  <a:schemeClr val="tx1"/>
                </a:solidFill>
              </a:rPr>
              <a:t>∟上位</a:t>
            </a:r>
            <a:r>
              <a:rPr kumimoji="1" lang="en-US" altLang="ja-JP" sz="1050" dirty="0">
                <a:solidFill>
                  <a:schemeClr val="tx1"/>
                </a:solidFill>
              </a:rPr>
              <a:t>3</a:t>
            </a:r>
            <a:r>
              <a:rPr kumimoji="1" lang="ja-JP" altLang="en-US" sz="1050" dirty="0">
                <a:solidFill>
                  <a:schemeClr val="tx1"/>
                </a:solidFill>
              </a:rPr>
              <a:t>項目</a:t>
            </a:r>
            <a:endParaRPr kumimoji="1" lang="en-US" altLang="ja-JP" sz="1050" dirty="0">
              <a:solidFill>
                <a:schemeClr val="tx1"/>
              </a:solidFill>
            </a:endParaRPr>
          </a:p>
          <a:p>
            <a:pPr algn="l"/>
            <a:r>
              <a:rPr lang="ja-JP" altLang="en-US" sz="1050" dirty="0">
                <a:solidFill>
                  <a:schemeClr val="tx1"/>
                </a:solidFill>
              </a:rPr>
              <a:t>・給与額</a:t>
            </a:r>
            <a:r>
              <a:rPr lang="en-US" altLang="ja-JP" sz="1050" dirty="0">
                <a:solidFill>
                  <a:schemeClr val="tx1"/>
                </a:solidFill>
              </a:rPr>
              <a:t>(</a:t>
            </a:r>
            <a:r>
              <a:rPr lang="ja-JP" altLang="en-US" sz="1050" dirty="0">
                <a:solidFill>
                  <a:schemeClr val="tx1"/>
                </a:solidFill>
              </a:rPr>
              <a:t>生活上の不足</a:t>
            </a:r>
            <a:r>
              <a:rPr lang="en-US" altLang="ja-JP" sz="1050" dirty="0">
                <a:solidFill>
                  <a:schemeClr val="tx1"/>
                </a:solidFill>
              </a:rPr>
              <a:t>)/</a:t>
            </a:r>
            <a:r>
              <a:rPr lang="ja-JP" altLang="en-US" sz="1050" dirty="0">
                <a:solidFill>
                  <a:schemeClr val="tx1"/>
                </a:solidFill>
              </a:rPr>
              <a:t>仕事内容への不満：</a:t>
            </a:r>
            <a:r>
              <a:rPr lang="en-US" altLang="ja-JP" sz="1050" dirty="0">
                <a:solidFill>
                  <a:schemeClr val="tx1"/>
                </a:solidFill>
              </a:rPr>
              <a:t>36</a:t>
            </a:r>
            <a:r>
              <a:rPr lang="ja-JP" altLang="en-US" sz="1050" dirty="0">
                <a:solidFill>
                  <a:schemeClr val="tx1"/>
                </a:solidFill>
              </a:rPr>
              <a:t>％</a:t>
            </a:r>
            <a:endParaRPr lang="en-US" altLang="ja-JP" sz="1050" dirty="0">
              <a:solidFill>
                <a:schemeClr val="tx1"/>
              </a:solidFill>
            </a:endParaRPr>
          </a:p>
          <a:p>
            <a:pPr algn="l"/>
            <a:r>
              <a:rPr lang="ja-JP" altLang="en-US" sz="1050" dirty="0">
                <a:solidFill>
                  <a:schemeClr val="tx1"/>
                </a:solidFill>
              </a:rPr>
              <a:t>・職場環境</a:t>
            </a:r>
            <a:r>
              <a:rPr lang="en-US" altLang="ja-JP" sz="1050" dirty="0">
                <a:solidFill>
                  <a:schemeClr val="tx1"/>
                </a:solidFill>
              </a:rPr>
              <a:t>/</a:t>
            </a:r>
            <a:r>
              <a:rPr lang="ja-JP" altLang="en-US" sz="1050" dirty="0">
                <a:solidFill>
                  <a:schemeClr val="tx1"/>
                </a:solidFill>
              </a:rPr>
              <a:t>人間関係への不満：</a:t>
            </a:r>
            <a:r>
              <a:rPr lang="en-US" altLang="ja-JP" sz="1050" dirty="0">
                <a:solidFill>
                  <a:schemeClr val="tx1"/>
                </a:solidFill>
              </a:rPr>
              <a:t>35</a:t>
            </a:r>
            <a:r>
              <a:rPr lang="ja-JP" altLang="en-US" sz="1050" dirty="0">
                <a:solidFill>
                  <a:schemeClr val="tx1"/>
                </a:solidFill>
              </a:rPr>
              <a:t>％</a:t>
            </a:r>
            <a:endParaRPr lang="en-US" altLang="ja-JP" sz="1050" dirty="0">
              <a:solidFill>
                <a:schemeClr val="tx1"/>
              </a:solidFill>
            </a:endParaRPr>
          </a:p>
          <a:p>
            <a:pPr algn="l"/>
            <a:r>
              <a:rPr lang="ja-JP" altLang="en-US" sz="1050" dirty="0">
                <a:solidFill>
                  <a:schemeClr val="tx1"/>
                </a:solidFill>
              </a:rPr>
              <a:t>　</a:t>
            </a:r>
            <a:r>
              <a:rPr lang="en-US" altLang="ja-JP" sz="1050" dirty="0">
                <a:solidFill>
                  <a:srgbClr val="FF0000"/>
                </a:solidFill>
              </a:rPr>
              <a:t>※</a:t>
            </a:r>
            <a:r>
              <a:rPr lang="ja-JP" altLang="en-US" sz="1050" dirty="0">
                <a:solidFill>
                  <a:srgbClr val="FF0000"/>
                </a:solidFill>
              </a:rPr>
              <a:t>主な理由としては</a:t>
            </a:r>
            <a:r>
              <a:rPr lang="en-US" altLang="ja-JP" sz="1050" dirty="0">
                <a:solidFill>
                  <a:srgbClr val="FF0000"/>
                </a:solidFill>
              </a:rPr>
              <a:t>1</a:t>
            </a:r>
            <a:r>
              <a:rPr lang="ja-JP" altLang="en-US" sz="1050" dirty="0">
                <a:solidFill>
                  <a:srgbClr val="FF0000"/>
                </a:solidFill>
              </a:rPr>
              <a:t>位</a:t>
            </a:r>
            <a:endParaRPr lang="en-US" altLang="ja-JP" sz="1050" dirty="0">
              <a:solidFill>
                <a:srgbClr val="FF0000"/>
              </a:solidFill>
            </a:endParaRPr>
          </a:p>
          <a:p>
            <a:pPr algn="l"/>
            <a:endParaRPr kumimoji="1" lang="en-US" altLang="ja-JP" sz="1050" dirty="0">
              <a:solidFill>
                <a:schemeClr val="tx1"/>
              </a:solidFill>
            </a:endParaRPr>
          </a:p>
          <a:p>
            <a:pPr algn="l"/>
            <a:r>
              <a:rPr lang="ja-JP" altLang="en-US" sz="1050" dirty="0">
                <a:solidFill>
                  <a:schemeClr val="tx1"/>
                </a:solidFill>
              </a:rPr>
              <a:t>∟面談希望あり内で開きのある項目</a:t>
            </a:r>
            <a:endParaRPr lang="en-US" altLang="ja-JP" sz="1050" dirty="0">
              <a:solidFill>
                <a:schemeClr val="tx1"/>
              </a:solidFill>
            </a:endParaRPr>
          </a:p>
          <a:p>
            <a:pPr algn="l"/>
            <a:r>
              <a:rPr kumimoji="1" lang="ja-JP" altLang="en-US" sz="1050" dirty="0">
                <a:solidFill>
                  <a:schemeClr val="tx1"/>
                </a:solidFill>
              </a:rPr>
              <a:t>・会社の将来性への不満</a:t>
            </a:r>
            <a:r>
              <a:rPr lang="ja-JP" altLang="en-US" sz="1050" dirty="0">
                <a:solidFill>
                  <a:schemeClr val="tx1"/>
                </a:solidFill>
              </a:rPr>
              <a:t>：面談実施あり</a:t>
            </a:r>
            <a:r>
              <a:rPr lang="en-US" altLang="ja-JP" sz="1050" dirty="0">
                <a:solidFill>
                  <a:schemeClr val="tx1"/>
                </a:solidFill>
              </a:rPr>
              <a:t>-18pt</a:t>
            </a:r>
            <a:endParaRPr kumimoji="1" lang="en-US" altLang="ja-JP" sz="1050" dirty="0">
              <a:solidFill>
                <a:schemeClr val="tx1"/>
              </a:solidFill>
            </a:endParaRPr>
          </a:p>
          <a:p>
            <a:pPr algn="l"/>
            <a:r>
              <a:rPr kumimoji="1" lang="ja-JP" altLang="en-US" sz="1050" dirty="0">
                <a:solidFill>
                  <a:schemeClr val="tx1"/>
                </a:solidFill>
              </a:rPr>
              <a:t>・業務に対する給与水準の不満：</a:t>
            </a:r>
            <a:r>
              <a:rPr lang="ja-JP" altLang="en-US" sz="1050" dirty="0">
                <a:solidFill>
                  <a:schemeClr val="tx1"/>
                </a:solidFill>
              </a:rPr>
              <a:t>面談実施あり</a:t>
            </a:r>
            <a:r>
              <a:rPr lang="en-US" altLang="ja-JP" sz="1050" dirty="0">
                <a:solidFill>
                  <a:schemeClr val="tx1"/>
                </a:solidFill>
              </a:rPr>
              <a:t>-16pt</a:t>
            </a:r>
          </a:p>
          <a:p>
            <a:r>
              <a:rPr lang="ja-JP" altLang="en-US" sz="1050" dirty="0">
                <a:solidFill>
                  <a:schemeClr val="tx1"/>
                </a:solidFill>
              </a:rPr>
              <a:t>・身近な人の転職：面談実施あり</a:t>
            </a:r>
            <a:r>
              <a:rPr lang="en-US" altLang="ja-JP" sz="1050" dirty="0">
                <a:solidFill>
                  <a:schemeClr val="tx1"/>
                </a:solidFill>
              </a:rPr>
              <a:t>-11pt</a:t>
            </a:r>
            <a:endParaRPr kumimoji="1" lang="en-US" altLang="ja-JP" sz="1050" dirty="0">
              <a:solidFill>
                <a:schemeClr val="tx1"/>
              </a:solidFill>
            </a:endParaRPr>
          </a:p>
        </p:txBody>
      </p:sp>
      <p:sp>
        <p:nvSpPr>
          <p:cNvPr id="9" name="正方形/長方形 8">
            <a:extLst>
              <a:ext uri="{FF2B5EF4-FFF2-40B4-BE49-F238E27FC236}">
                <a16:creationId xmlns:a16="http://schemas.microsoft.com/office/drawing/2014/main" id="{6EFC4B08-64E7-4DF1-1AA3-5E2922CC4B73}"/>
              </a:ext>
            </a:extLst>
          </p:cNvPr>
          <p:cNvSpPr/>
          <p:nvPr/>
        </p:nvSpPr>
        <p:spPr>
          <a:xfrm>
            <a:off x="8021519" y="3963383"/>
            <a:ext cx="3621458" cy="2012711"/>
          </a:xfrm>
          <a:prstGeom prst="rect">
            <a:avLst/>
          </a:prstGeom>
          <a:solidFill>
            <a:srgbClr val="EFF1F5"/>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l"/>
            <a:r>
              <a:rPr kumimoji="1" lang="ja-JP" altLang="en-US" sz="1050" b="1" u="sng" dirty="0">
                <a:solidFill>
                  <a:schemeClr val="tx1"/>
                </a:solidFill>
              </a:rPr>
              <a:t>■転職先へ求めるもの（</a:t>
            </a:r>
            <a:r>
              <a:rPr kumimoji="1" lang="en-US" altLang="ja-JP" sz="1050" b="1" u="sng" dirty="0">
                <a:solidFill>
                  <a:schemeClr val="tx1"/>
                </a:solidFill>
              </a:rPr>
              <a:t>MA</a:t>
            </a:r>
          </a:p>
          <a:p>
            <a:pPr algn="l"/>
            <a:r>
              <a:rPr lang="ja-JP" altLang="en-US" sz="1050" dirty="0">
                <a:solidFill>
                  <a:schemeClr val="tx1"/>
                </a:solidFill>
              </a:rPr>
              <a:t>∟上位</a:t>
            </a:r>
            <a:r>
              <a:rPr lang="en-US" altLang="ja-JP" sz="1050" dirty="0">
                <a:solidFill>
                  <a:schemeClr val="tx1"/>
                </a:solidFill>
              </a:rPr>
              <a:t>3</a:t>
            </a:r>
            <a:r>
              <a:rPr lang="ja-JP" altLang="en-US" sz="1050" dirty="0">
                <a:solidFill>
                  <a:schemeClr val="tx1"/>
                </a:solidFill>
              </a:rPr>
              <a:t>項目</a:t>
            </a:r>
            <a:endParaRPr lang="en-US" altLang="ja-JP" sz="1050" dirty="0">
              <a:solidFill>
                <a:schemeClr val="tx1"/>
              </a:solidFill>
            </a:endParaRPr>
          </a:p>
          <a:p>
            <a:pPr algn="l"/>
            <a:r>
              <a:rPr kumimoji="1" lang="ja-JP" altLang="en-US" sz="1050" dirty="0">
                <a:solidFill>
                  <a:schemeClr val="tx1"/>
                </a:solidFill>
              </a:rPr>
              <a:t>・求める給与水準である：</a:t>
            </a:r>
            <a:r>
              <a:rPr kumimoji="1" lang="en-US" altLang="ja-JP" sz="1050" dirty="0">
                <a:solidFill>
                  <a:schemeClr val="tx1"/>
                </a:solidFill>
              </a:rPr>
              <a:t>49</a:t>
            </a:r>
            <a:r>
              <a:rPr kumimoji="1" lang="ja-JP" altLang="en-US" sz="1050" dirty="0">
                <a:solidFill>
                  <a:schemeClr val="tx1"/>
                </a:solidFill>
              </a:rPr>
              <a:t>％</a:t>
            </a:r>
            <a:endParaRPr kumimoji="1" lang="en-US" altLang="ja-JP" sz="1050" dirty="0">
              <a:solidFill>
                <a:schemeClr val="tx1"/>
              </a:solidFill>
            </a:endParaRPr>
          </a:p>
          <a:p>
            <a:pPr algn="l"/>
            <a:r>
              <a:rPr kumimoji="1" lang="ja-JP" altLang="en-US" sz="1050" dirty="0">
                <a:solidFill>
                  <a:schemeClr val="tx1"/>
                </a:solidFill>
              </a:rPr>
              <a:t>・プライベートの時間を確保できる：</a:t>
            </a:r>
            <a:r>
              <a:rPr lang="en-US" altLang="ja-JP" sz="1050" dirty="0">
                <a:solidFill>
                  <a:schemeClr val="tx1"/>
                </a:solidFill>
              </a:rPr>
              <a:t>3</a:t>
            </a:r>
            <a:r>
              <a:rPr kumimoji="1" lang="en-US" altLang="ja-JP" sz="1050" dirty="0">
                <a:solidFill>
                  <a:schemeClr val="tx1"/>
                </a:solidFill>
              </a:rPr>
              <a:t>5</a:t>
            </a:r>
            <a:r>
              <a:rPr kumimoji="1" lang="ja-JP" altLang="en-US" sz="1050" dirty="0">
                <a:solidFill>
                  <a:schemeClr val="tx1"/>
                </a:solidFill>
              </a:rPr>
              <a:t>％</a:t>
            </a:r>
            <a:endParaRPr kumimoji="1" lang="en-US" altLang="ja-JP" sz="1050" dirty="0">
              <a:solidFill>
                <a:schemeClr val="tx1"/>
              </a:solidFill>
            </a:endParaRPr>
          </a:p>
          <a:p>
            <a:pPr algn="l"/>
            <a:r>
              <a:rPr kumimoji="1" lang="ja-JP" altLang="en-US" sz="1050" dirty="0">
                <a:solidFill>
                  <a:schemeClr val="tx1"/>
                </a:solidFill>
              </a:rPr>
              <a:t>・勤務地の場所が自分に合う</a:t>
            </a:r>
            <a:r>
              <a:rPr kumimoji="1" lang="en-US" altLang="ja-JP" sz="1050" dirty="0">
                <a:solidFill>
                  <a:schemeClr val="tx1"/>
                </a:solidFill>
              </a:rPr>
              <a:t>(</a:t>
            </a:r>
            <a:r>
              <a:rPr lang="ja-JP" altLang="en-US" sz="1050" dirty="0">
                <a:solidFill>
                  <a:schemeClr val="tx1"/>
                </a:solidFill>
              </a:rPr>
              <a:t>転勤有無含</a:t>
            </a:r>
            <a:r>
              <a:rPr lang="en-US" altLang="ja-JP" sz="1050" dirty="0">
                <a:solidFill>
                  <a:schemeClr val="tx1"/>
                </a:solidFill>
              </a:rPr>
              <a:t>)</a:t>
            </a:r>
            <a:r>
              <a:rPr kumimoji="1" lang="ja-JP" altLang="en-US" sz="1050" dirty="0">
                <a:solidFill>
                  <a:schemeClr val="tx1"/>
                </a:solidFill>
              </a:rPr>
              <a:t>：</a:t>
            </a:r>
            <a:r>
              <a:rPr kumimoji="1" lang="en-US" altLang="ja-JP" sz="1050" dirty="0">
                <a:solidFill>
                  <a:schemeClr val="tx1"/>
                </a:solidFill>
              </a:rPr>
              <a:t>33</a:t>
            </a:r>
            <a:r>
              <a:rPr kumimoji="1" lang="ja-JP" altLang="en-US" sz="1050" dirty="0">
                <a:solidFill>
                  <a:schemeClr val="tx1"/>
                </a:solidFill>
              </a:rPr>
              <a:t>％</a:t>
            </a:r>
            <a:endParaRPr kumimoji="1" lang="en-US" altLang="ja-JP" sz="1050" dirty="0">
              <a:solidFill>
                <a:schemeClr val="tx1"/>
              </a:solidFill>
            </a:endParaRPr>
          </a:p>
          <a:p>
            <a:pPr algn="l"/>
            <a:endParaRPr lang="en-US" altLang="ja-JP" sz="1050" dirty="0">
              <a:solidFill>
                <a:schemeClr val="tx1"/>
              </a:solidFill>
            </a:endParaRPr>
          </a:p>
          <a:p>
            <a:r>
              <a:rPr lang="ja-JP" altLang="en-US" sz="1050" dirty="0">
                <a:solidFill>
                  <a:schemeClr val="tx1"/>
                </a:solidFill>
              </a:rPr>
              <a:t>∟面談希望あり内で開きのある項目</a:t>
            </a:r>
            <a:endParaRPr lang="en-US" altLang="ja-JP" sz="1050" dirty="0">
              <a:solidFill>
                <a:schemeClr val="tx1"/>
              </a:solidFill>
            </a:endParaRPr>
          </a:p>
          <a:p>
            <a:pPr algn="l"/>
            <a:r>
              <a:rPr kumimoji="1" lang="ja-JP" altLang="en-US" sz="1050" dirty="0">
                <a:solidFill>
                  <a:schemeClr val="tx1"/>
                </a:solidFill>
              </a:rPr>
              <a:t>・勤務地の場所が自分に合う</a:t>
            </a:r>
            <a:r>
              <a:rPr lang="en-US" altLang="ja-JP" sz="1050" dirty="0">
                <a:solidFill>
                  <a:schemeClr val="tx1"/>
                </a:solidFill>
              </a:rPr>
              <a:t> </a:t>
            </a:r>
            <a:r>
              <a:rPr lang="ja-JP" altLang="en-US" sz="1050" dirty="0">
                <a:solidFill>
                  <a:schemeClr val="tx1"/>
                </a:solidFill>
              </a:rPr>
              <a:t>：面談実施あり＋</a:t>
            </a:r>
            <a:r>
              <a:rPr lang="en-US" altLang="ja-JP" sz="1050" dirty="0">
                <a:solidFill>
                  <a:schemeClr val="tx1"/>
                </a:solidFill>
              </a:rPr>
              <a:t>13pt</a:t>
            </a:r>
            <a:endParaRPr kumimoji="1" lang="en-US" altLang="ja-JP" sz="1050" dirty="0">
              <a:solidFill>
                <a:schemeClr val="tx1"/>
              </a:solidFill>
            </a:endParaRPr>
          </a:p>
          <a:p>
            <a:pPr algn="l"/>
            <a:r>
              <a:rPr kumimoji="1" lang="ja-JP" altLang="en-US" sz="1050" dirty="0">
                <a:solidFill>
                  <a:schemeClr val="tx1"/>
                </a:solidFill>
              </a:rPr>
              <a:t>・テレワーク可能：</a:t>
            </a:r>
            <a:r>
              <a:rPr lang="ja-JP" altLang="en-US" sz="1050" dirty="0">
                <a:solidFill>
                  <a:schemeClr val="tx1"/>
                </a:solidFill>
              </a:rPr>
              <a:t>面談実施あり</a:t>
            </a:r>
            <a:r>
              <a:rPr lang="en-US" altLang="ja-JP" sz="1050" dirty="0">
                <a:solidFill>
                  <a:schemeClr val="tx1"/>
                </a:solidFill>
              </a:rPr>
              <a:t>-11pt</a:t>
            </a:r>
          </a:p>
          <a:p>
            <a:r>
              <a:rPr lang="ja-JP" altLang="en-US" sz="1050" dirty="0">
                <a:solidFill>
                  <a:schemeClr val="tx1"/>
                </a:solidFill>
              </a:rPr>
              <a:t>・</a:t>
            </a:r>
            <a:r>
              <a:rPr kumimoji="1" lang="ja-JP" altLang="en-US" sz="1050" dirty="0">
                <a:solidFill>
                  <a:schemeClr val="tx1"/>
                </a:solidFill>
              </a:rPr>
              <a:t>プライベートの時間を確保できる</a:t>
            </a:r>
            <a:r>
              <a:rPr lang="ja-JP" altLang="en-US" sz="1050" dirty="0">
                <a:solidFill>
                  <a:schemeClr val="tx1"/>
                </a:solidFill>
              </a:rPr>
              <a:t>：面談実施あり＋</a:t>
            </a:r>
            <a:r>
              <a:rPr lang="en-US" altLang="ja-JP" sz="1050" dirty="0">
                <a:solidFill>
                  <a:schemeClr val="tx1"/>
                </a:solidFill>
              </a:rPr>
              <a:t>8pt</a:t>
            </a:r>
            <a:endParaRPr kumimoji="1" lang="en-US" altLang="ja-JP" sz="1050" dirty="0">
              <a:solidFill>
                <a:schemeClr val="tx1"/>
              </a:solidFill>
            </a:endParaRPr>
          </a:p>
        </p:txBody>
      </p:sp>
      <p:graphicFrame>
        <p:nvGraphicFramePr>
          <p:cNvPr id="6" name="表 5">
            <a:extLst>
              <a:ext uri="{FF2B5EF4-FFF2-40B4-BE49-F238E27FC236}">
                <a16:creationId xmlns:a16="http://schemas.microsoft.com/office/drawing/2014/main" id="{E4BAAD58-7505-2AB3-F1CE-58F08E0B3565}"/>
              </a:ext>
            </a:extLst>
          </p:cNvPr>
          <p:cNvGraphicFramePr>
            <a:graphicFrameLocks noGrp="1"/>
          </p:cNvGraphicFramePr>
          <p:nvPr>
            <p:extLst>
              <p:ext uri="{D42A27DB-BD31-4B8C-83A1-F6EECF244321}">
                <p14:modId xmlns:p14="http://schemas.microsoft.com/office/powerpoint/2010/main" val="3102335291"/>
              </p:ext>
            </p:extLst>
          </p:nvPr>
        </p:nvGraphicFramePr>
        <p:xfrm>
          <a:off x="551957" y="1449105"/>
          <a:ext cx="11064274" cy="2372616"/>
        </p:xfrm>
        <a:graphic>
          <a:graphicData uri="http://schemas.openxmlformats.org/drawingml/2006/table">
            <a:tbl>
              <a:tblPr/>
              <a:tblGrid>
                <a:gridCol w="717486">
                  <a:extLst>
                    <a:ext uri="{9D8B030D-6E8A-4147-A177-3AD203B41FA5}">
                      <a16:colId xmlns:a16="http://schemas.microsoft.com/office/drawing/2014/main" val="2614485849"/>
                    </a:ext>
                  </a:extLst>
                </a:gridCol>
                <a:gridCol w="707851">
                  <a:extLst>
                    <a:ext uri="{9D8B030D-6E8A-4147-A177-3AD203B41FA5}">
                      <a16:colId xmlns:a16="http://schemas.microsoft.com/office/drawing/2014/main" val="3334353859"/>
                    </a:ext>
                  </a:extLst>
                </a:gridCol>
                <a:gridCol w="609600">
                  <a:extLst>
                    <a:ext uri="{9D8B030D-6E8A-4147-A177-3AD203B41FA5}">
                      <a16:colId xmlns:a16="http://schemas.microsoft.com/office/drawing/2014/main" val="722972389"/>
                    </a:ext>
                  </a:extLst>
                </a:gridCol>
                <a:gridCol w="1172308">
                  <a:extLst>
                    <a:ext uri="{9D8B030D-6E8A-4147-A177-3AD203B41FA5}">
                      <a16:colId xmlns:a16="http://schemas.microsoft.com/office/drawing/2014/main" val="1695159306"/>
                    </a:ext>
                  </a:extLst>
                </a:gridCol>
                <a:gridCol w="539262">
                  <a:extLst>
                    <a:ext uri="{9D8B030D-6E8A-4147-A177-3AD203B41FA5}">
                      <a16:colId xmlns:a16="http://schemas.microsoft.com/office/drawing/2014/main" val="3166331884"/>
                    </a:ext>
                  </a:extLst>
                </a:gridCol>
                <a:gridCol w="1266092">
                  <a:extLst>
                    <a:ext uri="{9D8B030D-6E8A-4147-A177-3AD203B41FA5}">
                      <a16:colId xmlns:a16="http://schemas.microsoft.com/office/drawing/2014/main" val="899022694"/>
                    </a:ext>
                  </a:extLst>
                </a:gridCol>
                <a:gridCol w="1297354">
                  <a:extLst>
                    <a:ext uri="{9D8B030D-6E8A-4147-A177-3AD203B41FA5}">
                      <a16:colId xmlns:a16="http://schemas.microsoft.com/office/drawing/2014/main" val="1284780576"/>
                    </a:ext>
                  </a:extLst>
                </a:gridCol>
                <a:gridCol w="1555261">
                  <a:extLst>
                    <a:ext uri="{9D8B030D-6E8A-4147-A177-3AD203B41FA5}">
                      <a16:colId xmlns:a16="http://schemas.microsoft.com/office/drawing/2014/main" val="256702550"/>
                    </a:ext>
                  </a:extLst>
                </a:gridCol>
                <a:gridCol w="1016000">
                  <a:extLst>
                    <a:ext uri="{9D8B030D-6E8A-4147-A177-3AD203B41FA5}">
                      <a16:colId xmlns:a16="http://schemas.microsoft.com/office/drawing/2014/main" val="880031758"/>
                    </a:ext>
                  </a:extLst>
                </a:gridCol>
                <a:gridCol w="750277">
                  <a:extLst>
                    <a:ext uri="{9D8B030D-6E8A-4147-A177-3AD203B41FA5}">
                      <a16:colId xmlns:a16="http://schemas.microsoft.com/office/drawing/2014/main" val="1108741669"/>
                    </a:ext>
                  </a:extLst>
                </a:gridCol>
                <a:gridCol w="978678">
                  <a:extLst>
                    <a:ext uri="{9D8B030D-6E8A-4147-A177-3AD203B41FA5}">
                      <a16:colId xmlns:a16="http://schemas.microsoft.com/office/drawing/2014/main" val="3553561204"/>
                    </a:ext>
                  </a:extLst>
                </a:gridCol>
                <a:gridCol w="454105">
                  <a:extLst>
                    <a:ext uri="{9D8B030D-6E8A-4147-A177-3AD203B41FA5}">
                      <a16:colId xmlns:a16="http://schemas.microsoft.com/office/drawing/2014/main" val="1019960206"/>
                    </a:ext>
                  </a:extLst>
                </a:gridCol>
              </a:tblGrid>
              <a:tr h="342053">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1" lang="ja-JP" altLang="en-US" sz="9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面談希望</a:t>
                      </a:r>
                      <a:r>
                        <a:rPr kumimoji="1" lang="en-US" altLang="ja-JP" sz="9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t>
                      </a:r>
                      <a:r>
                        <a:rPr kumimoji="1" lang="ja-JP" altLang="en-US" sz="900" b="1"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面談実施有無</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hMerge="1">
                  <a:txBody>
                    <a:bodyPr/>
                    <a:lstStyle/>
                    <a:p>
                      <a:pPr algn="ctr" fontAlgn="ctr"/>
                      <a:r>
                        <a:rPr lang="ja-JP" altLang="en-US" sz="900" b="1" i="0" u="none" strike="noStrike" dirty="0">
                          <a:solidFill>
                            <a:srgbClr val="000000"/>
                          </a:solidFill>
                          <a:effectLst/>
                          <a:latin typeface="Meiryo UI" panose="020B0604030504040204" pitchFamily="50" charset="-128"/>
                          <a:ea typeface="Meiryo UI" panose="020B0604030504040204" pitchFamily="50" charset="-128"/>
                        </a:rPr>
                        <a:t>未活動ステータス別</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en-US" sz="900" b="1" i="0" u="none" strike="noStrike">
                          <a:solidFill>
                            <a:srgbClr val="000000"/>
                          </a:solidFill>
                          <a:effectLst/>
                          <a:latin typeface="Meiryo UI" panose="020B0604030504040204" pitchFamily="50" charset="-128"/>
                          <a:ea typeface="Meiryo UI" panose="020B0604030504040204" pitchFamily="50" charset="-128"/>
                        </a:rPr>
                        <a:t>WB</a:t>
                      </a:r>
                      <a:r>
                        <a:rPr lang="ja-JP" altLang="en-US" sz="900" b="1" i="0" u="none" strike="noStrike">
                          <a:solidFill>
                            <a:srgbClr val="000000"/>
                          </a:solidFill>
                          <a:effectLst/>
                          <a:latin typeface="Meiryo UI" panose="020B0604030504040204" pitchFamily="50" charset="-128"/>
                          <a:ea typeface="Meiryo UI" panose="020B0604030504040204" pitchFamily="50" charset="-128"/>
                        </a:rPr>
                        <a:t>後</a:t>
                      </a:r>
                      <a:r>
                        <a:rPr lang="en-US" sz="900" b="1" i="0" u="none" strike="noStrike">
                          <a:solidFill>
                            <a:srgbClr val="000000"/>
                          </a:solidFill>
                          <a:effectLst/>
                          <a:latin typeface="Meiryo UI" panose="020B0604030504040204" pitchFamily="50" charset="-128"/>
                          <a:ea typeface="Meiryo UI" panose="020B0604030504040204" pitchFamily="50" charset="-128"/>
                        </a:rPr>
                        <a:t>N</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年収</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年収概算</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職種</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zh-TW" altLang="en-US" sz="900" b="1" i="0" u="none" strike="noStrike">
                          <a:solidFill>
                            <a:srgbClr val="000000"/>
                          </a:solidFill>
                          <a:effectLst/>
                          <a:latin typeface="Meiryo UI" panose="020B0604030504040204" pitchFamily="50" charset="-128"/>
                          <a:ea typeface="Meiryo UI" panose="020B0604030504040204" pitchFamily="50" charset="-128"/>
                        </a:rPr>
                        <a:t>転職希望度合</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zh-TW" altLang="en-US" sz="900" b="1" i="0" u="none" strike="noStrike">
                          <a:solidFill>
                            <a:srgbClr val="000000"/>
                          </a:solidFill>
                          <a:effectLst/>
                          <a:latin typeface="Meiryo UI" panose="020B0604030504040204" pitchFamily="50" charset="-128"/>
                          <a:ea typeface="Meiryo UI" panose="020B0604030504040204" pitchFamily="50" charset="-128"/>
                        </a:rPr>
                        <a:t>転職希望時期</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転職回数</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転職回数概算</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年代</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年齢概算</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extLst>
                  <a:ext uri="{0D108BD9-81ED-4DB2-BD59-A6C34878D82A}">
                    <a16:rowId xmlns:a16="http://schemas.microsoft.com/office/drawing/2014/main" val="1355894729"/>
                  </a:ext>
                </a:extLst>
              </a:tr>
              <a:tr h="680551">
                <a:tc rowSpan="3">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面談希望あり</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合計</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126</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400-599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43%</a:t>
                      </a:r>
                      <a:br>
                        <a:rPr lang="en-US" altLang="ja-JP"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300</a:t>
                      </a:r>
                      <a:r>
                        <a:rPr lang="ja-JP" altLang="en-US" sz="900" b="0" i="0" u="none" strike="noStrike">
                          <a:solidFill>
                            <a:srgbClr val="000000"/>
                          </a:solidFill>
                          <a:effectLst/>
                          <a:latin typeface="Meiryo UI" panose="020B0604030504040204" pitchFamily="50" charset="-128"/>
                          <a:ea typeface="Meiryo UI" panose="020B0604030504040204" pitchFamily="50" charset="-128"/>
                        </a:rPr>
                        <a:t>未満：</a:t>
                      </a:r>
                      <a:r>
                        <a:rPr lang="en-US" altLang="ja-JP" sz="900" b="0" i="0" u="none" strike="noStrike">
                          <a:solidFill>
                            <a:srgbClr val="000000"/>
                          </a:solidFill>
                          <a:effectLst/>
                          <a:latin typeface="Meiryo UI" panose="020B0604030504040204" pitchFamily="50" charset="-128"/>
                          <a:ea typeface="Meiryo UI" panose="020B0604030504040204" pitchFamily="50" charset="-128"/>
                        </a:rPr>
                        <a:t>26%</a:t>
                      </a:r>
                      <a:br>
                        <a:rPr lang="en-US" altLang="ja-JP"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300-399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16%</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447.9</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企画・管理：</a:t>
                      </a:r>
                      <a:r>
                        <a:rPr lang="en-US" altLang="ja-JP" sz="900" b="0" i="0" u="none" strike="noStrike">
                          <a:solidFill>
                            <a:srgbClr val="000000"/>
                          </a:solidFill>
                          <a:effectLst/>
                          <a:latin typeface="Meiryo UI" panose="020B0604030504040204" pitchFamily="50" charset="-128"/>
                          <a:ea typeface="Meiryo UI" panose="020B0604030504040204" pitchFamily="50" charset="-128"/>
                        </a:rPr>
                        <a:t>25</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＞専門：</a:t>
                      </a:r>
                      <a:r>
                        <a:rPr lang="en-US" altLang="ja-JP" sz="900" b="0" i="0" u="none" strike="noStrike">
                          <a:solidFill>
                            <a:srgbClr val="000000"/>
                          </a:solidFill>
                          <a:effectLst/>
                          <a:latin typeface="Meiryo UI" panose="020B0604030504040204" pitchFamily="50" charset="-128"/>
                          <a:ea typeface="Meiryo UI" panose="020B0604030504040204" pitchFamily="50" charset="-128"/>
                        </a:rPr>
                        <a:t>20</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＞事務：</a:t>
                      </a:r>
                      <a:r>
                        <a:rPr lang="en-US" altLang="ja-JP" sz="900" b="0" i="0" u="none" strike="noStrike">
                          <a:solidFill>
                            <a:srgbClr val="000000"/>
                          </a:solidFill>
                          <a:effectLst/>
                          <a:latin typeface="Meiryo UI" panose="020B0604030504040204" pitchFamily="50" charset="-128"/>
                          <a:ea typeface="Meiryo UI" panose="020B0604030504040204" pitchFamily="50" charset="-128"/>
                        </a:rPr>
                        <a:t>16</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必ず転職したい：</a:t>
                      </a:r>
                      <a:r>
                        <a:rPr lang="en-US" altLang="ja-JP" sz="900" b="0" i="0" u="none" strike="noStrike">
                          <a:solidFill>
                            <a:srgbClr val="000000"/>
                          </a:solidFill>
                          <a:effectLst/>
                          <a:latin typeface="Meiryo UI" panose="020B0604030504040204" pitchFamily="50" charset="-128"/>
                          <a:ea typeface="Meiryo UI" panose="020B0604030504040204" pitchFamily="50" charset="-128"/>
                        </a:rPr>
                        <a:t>52</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＞希望に合えば：</a:t>
                      </a:r>
                      <a:r>
                        <a:rPr lang="en-US" altLang="ja-JP" sz="900" b="0" i="0" u="none" strike="noStrike">
                          <a:solidFill>
                            <a:srgbClr val="000000"/>
                          </a:solidFill>
                          <a:effectLst/>
                          <a:latin typeface="Meiryo UI" panose="020B0604030504040204" pitchFamily="50" charset="-128"/>
                          <a:ea typeface="Meiryo UI" panose="020B0604030504040204" pitchFamily="50" charset="-128"/>
                        </a:rPr>
                        <a:t>48</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3</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ヶ月以内：</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42</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＞明確な時期は無い：</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23</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4</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ヶ月月以内：</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22</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＞半年以上先：</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13</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０回：</a:t>
                      </a:r>
                      <a:r>
                        <a:rPr lang="en-US" altLang="ja-JP" sz="900" b="0" i="0" u="none" strike="noStrike">
                          <a:solidFill>
                            <a:srgbClr val="000000"/>
                          </a:solidFill>
                          <a:effectLst/>
                          <a:latin typeface="Meiryo UI" panose="020B0604030504040204" pitchFamily="50" charset="-128"/>
                          <a:ea typeface="Meiryo UI" panose="020B0604030504040204" pitchFamily="50" charset="-128"/>
                        </a:rPr>
                        <a:t>29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1</a:t>
                      </a:r>
                      <a:r>
                        <a:rPr lang="ja-JP" altLang="en-US" sz="900" b="0" i="0" u="none" strike="noStrike">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a:solidFill>
                            <a:srgbClr val="000000"/>
                          </a:solidFill>
                          <a:effectLst/>
                          <a:latin typeface="Meiryo UI" panose="020B0604030504040204" pitchFamily="50" charset="-128"/>
                          <a:ea typeface="Meiryo UI" panose="020B0604030504040204" pitchFamily="50" charset="-128"/>
                        </a:rPr>
                        <a:t>28</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2</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a:t>
                      </a:r>
                      <a:r>
                        <a:rPr lang="ja-JP" altLang="en-US" sz="900" b="0" i="0" u="none" strike="noStrike">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a:solidFill>
                            <a:srgbClr val="000000"/>
                          </a:solidFill>
                          <a:effectLst/>
                          <a:latin typeface="Meiryo UI" panose="020B0604030504040204" pitchFamily="50" charset="-128"/>
                          <a:ea typeface="Meiryo UI" panose="020B0604030504040204" pitchFamily="50" charset="-128"/>
                        </a:rPr>
                        <a:t>26</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1.88</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40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43</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36</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20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21</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37.3</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2372501534"/>
                  </a:ext>
                </a:extLst>
              </a:tr>
              <a:tr h="675006">
                <a:tc vMerge="1">
                  <a:txBody>
                    <a:bodyPr/>
                    <a:lstStyle/>
                    <a:p>
                      <a:endParaRPr kumimoji="1" lang="ja-JP" altLang="en-US"/>
                    </a:p>
                  </a:txBody>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面談実施あり</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FCE4D6"/>
                    </a:solidFill>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41</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400-599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39%</a:t>
                      </a:r>
                      <a:br>
                        <a:rPr lang="en-US" altLang="ja-JP"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300-399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br>
                        <a:rPr lang="en-US" altLang="ja-JP"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300</a:t>
                      </a:r>
                      <a:r>
                        <a:rPr lang="ja-JP" altLang="en-US" sz="900" b="0" i="0" u="none" strike="noStrike">
                          <a:solidFill>
                            <a:srgbClr val="000000"/>
                          </a:solidFill>
                          <a:effectLst/>
                          <a:latin typeface="Meiryo UI" panose="020B0604030504040204" pitchFamily="50" charset="-128"/>
                          <a:ea typeface="Meiryo UI" panose="020B0604030504040204" pitchFamily="50" charset="-128"/>
                        </a:rPr>
                        <a:t>未満：</a:t>
                      </a:r>
                      <a:r>
                        <a:rPr lang="en-US" altLang="ja-JP" sz="900" b="0" i="0" u="none" strike="noStrike">
                          <a:solidFill>
                            <a:srgbClr val="000000"/>
                          </a:solidFill>
                          <a:effectLst/>
                          <a:latin typeface="Meiryo UI" panose="020B0604030504040204" pitchFamily="50" charset="-128"/>
                          <a:ea typeface="Meiryo UI" panose="020B0604030504040204" pitchFamily="50" charset="-128"/>
                        </a:rPr>
                        <a:t>21%</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424.6</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企画・管理：</a:t>
                      </a:r>
                      <a:r>
                        <a:rPr lang="en-US" altLang="ja-JP" sz="900" b="0" i="0" u="none" strike="noStrike">
                          <a:solidFill>
                            <a:srgbClr val="000000"/>
                          </a:solidFill>
                          <a:effectLst/>
                          <a:latin typeface="Meiryo UI" panose="020B0604030504040204" pitchFamily="50" charset="-128"/>
                          <a:ea typeface="Meiryo UI" panose="020B0604030504040204" pitchFamily="50" charset="-128"/>
                        </a:rPr>
                        <a:t>26</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＞事務：</a:t>
                      </a:r>
                      <a:r>
                        <a:rPr lang="en-US" altLang="ja-JP" sz="900" b="0" i="0" u="none" strike="noStrike">
                          <a:solidFill>
                            <a:srgbClr val="000000"/>
                          </a:solidFill>
                          <a:effectLst/>
                          <a:latin typeface="Meiryo UI" panose="020B0604030504040204" pitchFamily="50" charset="-128"/>
                          <a:ea typeface="Meiryo UI" panose="020B0604030504040204" pitchFamily="50" charset="-128"/>
                        </a:rPr>
                        <a:t>20</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＞営業：</a:t>
                      </a:r>
                      <a:r>
                        <a:rPr lang="en-US" altLang="ja-JP" sz="900" b="0" i="0" u="none" strike="noStrike">
                          <a:solidFill>
                            <a:srgbClr val="000000"/>
                          </a:solidFill>
                          <a:effectLst/>
                          <a:latin typeface="Meiryo UI" panose="020B0604030504040204" pitchFamily="50" charset="-128"/>
                          <a:ea typeface="Meiryo UI" panose="020B0604030504040204" pitchFamily="50" charset="-128"/>
                        </a:rPr>
                        <a:t>15</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必ず転職したい：</a:t>
                      </a:r>
                      <a:r>
                        <a:rPr lang="en-US" altLang="ja-JP" sz="900" b="0" i="0" u="none" strike="noStrike">
                          <a:solidFill>
                            <a:srgbClr val="000000"/>
                          </a:solidFill>
                          <a:effectLst/>
                          <a:latin typeface="Meiryo UI" panose="020B0604030504040204" pitchFamily="50" charset="-128"/>
                          <a:ea typeface="Meiryo UI" panose="020B0604030504040204" pitchFamily="50" charset="-128"/>
                        </a:rPr>
                        <a:t>52</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＞希望に合えば：</a:t>
                      </a:r>
                      <a:r>
                        <a:rPr lang="en-US" altLang="ja-JP" sz="900" b="0" i="0" u="none" strike="noStrike">
                          <a:solidFill>
                            <a:srgbClr val="000000"/>
                          </a:solidFill>
                          <a:effectLst/>
                          <a:latin typeface="Meiryo UI" panose="020B0604030504040204" pitchFamily="50" charset="-128"/>
                          <a:ea typeface="Meiryo UI" panose="020B0604030504040204" pitchFamily="50" charset="-128"/>
                        </a:rPr>
                        <a:t>47</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a:t>
                      </a:r>
                      <a:r>
                        <a:rPr lang="ja-JP" altLang="en-US" sz="900" b="0" i="0" u="none" strike="noStrike">
                          <a:solidFill>
                            <a:srgbClr val="000000"/>
                          </a:solidFill>
                          <a:effectLst/>
                          <a:latin typeface="Meiryo UI" panose="020B0604030504040204" pitchFamily="50" charset="-128"/>
                          <a:ea typeface="Meiryo UI" panose="020B0604030504040204" pitchFamily="50" charset="-128"/>
                        </a:rPr>
                        <a:t>ヶ月以内：</a:t>
                      </a:r>
                      <a:r>
                        <a:rPr lang="en-US" altLang="ja-JP" sz="900" b="0" i="0" u="none" strike="noStrike">
                          <a:solidFill>
                            <a:srgbClr val="000000"/>
                          </a:solidFill>
                          <a:effectLst/>
                          <a:latin typeface="Meiryo UI" panose="020B0604030504040204" pitchFamily="50" charset="-128"/>
                          <a:ea typeface="Meiryo UI" panose="020B0604030504040204" pitchFamily="50" charset="-128"/>
                        </a:rPr>
                        <a:t>49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a:t>
                      </a:r>
                      <a:r>
                        <a:rPr lang="ja-JP" altLang="en-US" sz="900" b="0" i="0" u="none" strike="noStrike">
                          <a:solidFill>
                            <a:srgbClr val="000000"/>
                          </a:solidFill>
                          <a:effectLst/>
                          <a:latin typeface="Meiryo UI" panose="020B0604030504040204" pitchFamily="50" charset="-128"/>
                          <a:ea typeface="Meiryo UI" panose="020B0604030504040204" pitchFamily="50" charset="-128"/>
                        </a:rPr>
                        <a:t>ヶ月月以内：</a:t>
                      </a:r>
                      <a:r>
                        <a:rPr lang="en-US" altLang="ja-JP" sz="900" b="0" i="0" u="none" strike="noStrike">
                          <a:solidFill>
                            <a:srgbClr val="000000"/>
                          </a:solidFill>
                          <a:effectLst/>
                          <a:latin typeface="Meiryo UI" panose="020B0604030504040204" pitchFamily="50" charset="-128"/>
                          <a:ea typeface="Meiryo UI" panose="020B0604030504040204" pitchFamily="50" charset="-128"/>
                        </a:rPr>
                        <a:t>24</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＞明確な時期は無い：</a:t>
                      </a:r>
                      <a:r>
                        <a:rPr lang="en-US" altLang="ja-JP" sz="900" b="0" i="0" u="none" strike="noStrike">
                          <a:solidFill>
                            <a:srgbClr val="000000"/>
                          </a:solidFill>
                          <a:effectLst/>
                          <a:latin typeface="Meiryo UI" panose="020B0604030504040204" pitchFamily="50" charset="-128"/>
                          <a:ea typeface="Meiryo UI" panose="020B0604030504040204" pitchFamily="50" charset="-128"/>
                        </a:rPr>
                        <a:t>14</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＞半年以上先：</a:t>
                      </a:r>
                      <a:r>
                        <a:rPr lang="en-US" altLang="ja-JP" sz="900" b="0" i="0" u="none" strike="noStrike">
                          <a:solidFill>
                            <a:srgbClr val="000000"/>
                          </a:solidFill>
                          <a:effectLst/>
                          <a:latin typeface="Meiryo UI" panose="020B0604030504040204" pitchFamily="50" charset="-128"/>
                          <a:ea typeface="Meiryo UI" panose="020B0604030504040204" pitchFamily="50" charset="-128"/>
                        </a:rPr>
                        <a:t>14</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2</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a:t>
                      </a:r>
                      <a:r>
                        <a:rPr lang="ja-JP" altLang="en-US" sz="900" b="0" i="0" u="none" strike="noStrike">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a:solidFill>
                            <a:srgbClr val="000000"/>
                          </a:solidFill>
                          <a:effectLst/>
                          <a:latin typeface="Meiryo UI" panose="020B0604030504040204" pitchFamily="50" charset="-128"/>
                          <a:ea typeface="Meiryo UI" panose="020B0604030504040204" pitchFamily="50" charset="-128"/>
                        </a:rPr>
                        <a:t>37</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＞０回：</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1</a:t>
                      </a:r>
                      <a:r>
                        <a:rPr lang="ja-JP" altLang="en-US" sz="900" b="0" i="0" u="none" strike="noStrike">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a:solidFill>
                            <a:srgbClr val="000000"/>
                          </a:solidFill>
                          <a:effectLst/>
                          <a:latin typeface="Meiryo UI" panose="020B0604030504040204" pitchFamily="50" charset="-128"/>
                          <a:ea typeface="Meiryo UI" panose="020B0604030504040204" pitchFamily="50" charset="-128"/>
                        </a:rPr>
                        <a:t>19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1.98</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43</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20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31</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25</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34.4</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2560330745"/>
                  </a:ext>
                </a:extLst>
              </a:tr>
              <a:tr h="675006">
                <a:tc vMerge="1">
                  <a:txBody>
                    <a:bodyPr/>
                    <a:lstStyle/>
                    <a:p>
                      <a:endParaRPr kumimoji="1" lang="ja-JP" altLang="en-US"/>
                    </a:p>
                  </a:txBody>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面談実施なし</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84</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400-599</a:t>
                      </a:r>
                      <a:r>
                        <a:rPr lang="ja-JP" altLang="en-US" sz="900" b="1" i="0" u="none" strike="noStrike" dirty="0">
                          <a:solidFill>
                            <a:srgbClr val="FF0000"/>
                          </a:solidFill>
                          <a:effectLst/>
                          <a:latin typeface="Meiryo UI" panose="020B0604030504040204" pitchFamily="50" charset="-128"/>
                          <a:ea typeface="Meiryo UI" panose="020B0604030504040204" pitchFamily="50" charset="-128"/>
                        </a:rPr>
                        <a:t>：</a:t>
                      </a: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45%</a:t>
                      </a:r>
                      <a:br>
                        <a:rPr lang="en-US" altLang="ja-JP" sz="900" b="1" i="0" u="none" strike="noStrike" dirty="0">
                          <a:solidFill>
                            <a:srgbClr val="FF0000"/>
                          </a:solidFill>
                          <a:effectLst/>
                          <a:latin typeface="Meiryo UI" panose="020B0604030504040204" pitchFamily="50" charset="-128"/>
                          <a:ea typeface="Meiryo UI" panose="020B0604030504040204" pitchFamily="50" charset="-128"/>
                        </a:rPr>
                      </a:br>
                      <a:r>
                        <a:rPr lang="ja-JP" altLang="en-US" sz="900" b="1" i="0" u="none" strike="noStrike" dirty="0">
                          <a:solidFill>
                            <a:srgbClr val="FF0000"/>
                          </a:solidFill>
                          <a:effectLst/>
                          <a:latin typeface="Meiryo UI" panose="020B0604030504040204" pitchFamily="50" charset="-128"/>
                          <a:ea typeface="Meiryo UI" panose="020B0604030504040204" pitchFamily="50" charset="-128"/>
                        </a:rPr>
                        <a:t>＞</a:t>
                      </a: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300</a:t>
                      </a:r>
                      <a:r>
                        <a:rPr lang="ja-JP" altLang="en-US" sz="900" b="1" i="0" u="none" strike="noStrike" dirty="0">
                          <a:solidFill>
                            <a:srgbClr val="FF0000"/>
                          </a:solidFill>
                          <a:effectLst/>
                          <a:latin typeface="Meiryo UI" panose="020B0604030504040204" pitchFamily="50" charset="-128"/>
                          <a:ea typeface="Meiryo UI" panose="020B0604030504040204" pitchFamily="50" charset="-128"/>
                        </a:rPr>
                        <a:t>未満：</a:t>
                      </a: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28%</a:t>
                      </a:r>
                      <a:br>
                        <a:rPr lang="en-US" altLang="ja-JP"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600-799</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10%</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459.3</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900" b="1" i="0" u="none" strike="noStrike" dirty="0">
                          <a:solidFill>
                            <a:srgbClr val="FF0000"/>
                          </a:solidFill>
                          <a:effectLst/>
                          <a:latin typeface="Meiryo UI" panose="020B0604030504040204" pitchFamily="50" charset="-128"/>
                          <a:ea typeface="Meiryo UI" panose="020B0604030504040204" pitchFamily="50" charset="-128"/>
                        </a:rPr>
                        <a:t>専門：</a:t>
                      </a: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27</a:t>
                      </a:r>
                      <a:r>
                        <a:rPr lang="ja-JP" altLang="en-US" sz="900" b="1" i="0" u="none" strike="noStrike" dirty="0">
                          <a:solidFill>
                            <a:srgbClr val="FF0000"/>
                          </a:solidFill>
                          <a:effectLst/>
                          <a:latin typeface="Meiryo UI" panose="020B0604030504040204" pitchFamily="50" charset="-128"/>
                          <a:ea typeface="Meiryo UI" panose="020B0604030504040204" pitchFamily="50" charset="-128"/>
                        </a:rPr>
                        <a:t>％</a:t>
                      </a:r>
                      <a:br>
                        <a:rPr lang="ja-JP" altLang="en-US" sz="900" b="1" i="0" u="none" strike="noStrike" dirty="0">
                          <a:solidFill>
                            <a:srgbClr val="FF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＞企画・管理：</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25</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＞事務：</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14</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必ず転職したい：</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52</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＞希望に合えば：</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48</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a:t>
                      </a:r>
                      <a:r>
                        <a:rPr lang="ja-JP" altLang="en-US" sz="900" b="0" i="0" u="none" strike="noStrike">
                          <a:solidFill>
                            <a:srgbClr val="000000"/>
                          </a:solidFill>
                          <a:effectLst/>
                          <a:latin typeface="Meiryo UI" panose="020B0604030504040204" pitchFamily="50" charset="-128"/>
                          <a:ea typeface="Meiryo UI" panose="020B0604030504040204" pitchFamily="50" charset="-128"/>
                        </a:rPr>
                        <a:t>ヶ月以内：</a:t>
                      </a:r>
                      <a:r>
                        <a:rPr lang="en-US" altLang="ja-JP" sz="900" b="0" i="0" u="none" strike="noStrike">
                          <a:solidFill>
                            <a:srgbClr val="000000"/>
                          </a:solidFill>
                          <a:effectLst/>
                          <a:latin typeface="Meiryo UI" panose="020B0604030504040204" pitchFamily="50" charset="-128"/>
                          <a:ea typeface="Meiryo UI" panose="020B0604030504040204" pitchFamily="50" charset="-128"/>
                        </a:rPr>
                        <a:t>39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＞明確な時期は無い：</a:t>
                      </a:r>
                      <a:r>
                        <a:rPr lang="en-US" altLang="ja-JP" sz="900" b="0" i="0" u="none" strike="noStrike">
                          <a:solidFill>
                            <a:srgbClr val="000000"/>
                          </a:solidFill>
                          <a:effectLst/>
                          <a:latin typeface="Meiryo UI" panose="020B0604030504040204" pitchFamily="50" charset="-128"/>
                          <a:ea typeface="Meiryo UI" panose="020B0604030504040204" pitchFamily="50" charset="-128"/>
                        </a:rPr>
                        <a:t>28</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a:t>
                      </a:r>
                      <a:r>
                        <a:rPr lang="ja-JP" altLang="en-US" sz="900" b="0" i="0" u="none" strike="noStrike">
                          <a:solidFill>
                            <a:srgbClr val="000000"/>
                          </a:solidFill>
                          <a:effectLst/>
                          <a:latin typeface="Meiryo UI" panose="020B0604030504040204" pitchFamily="50" charset="-128"/>
                          <a:ea typeface="Meiryo UI" panose="020B0604030504040204" pitchFamily="50" charset="-128"/>
                        </a:rPr>
                        <a:t>ヶ月月以内：</a:t>
                      </a:r>
                      <a:r>
                        <a:rPr lang="en-US" altLang="ja-JP" sz="900" b="0" i="0" u="none" strike="noStrike">
                          <a:solidFill>
                            <a:srgbClr val="000000"/>
                          </a:solidFill>
                          <a:effectLst/>
                          <a:latin typeface="Meiryo UI" panose="020B0604030504040204" pitchFamily="50" charset="-128"/>
                          <a:ea typeface="Meiryo UI" panose="020B0604030504040204" pitchFamily="50" charset="-128"/>
                        </a:rPr>
                        <a:t>21</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＞半年以上先：</a:t>
                      </a:r>
                      <a:r>
                        <a:rPr lang="en-US" altLang="ja-JP" sz="900" b="0" i="0" u="none" strike="noStrike">
                          <a:solidFill>
                            <a:srgbClr val="000000"/>
                          </a:solidFill>
                          <a:effectLst/>
                          <a:latin typeface="Meiryo UI" panose="020B0604030504040204" pitchFamily="50" charset="-128"/>
                          <a:ea typeface="Meiryo UI" panose="020B0604030504040204" pitchFamily="50" charset="-128"/>
                        </a:rPr>
                        <a:t>13</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1</a:t>
                      </a:r>
                      <a:r>
                        <a:rPr lang="ja-JP" altLang="en-US" sz="900" b="0" i="0" u="none" strike="noStrike">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a:solidFill>
                            <a:srgbClr val="000000"/>
                          </a:solidFill>
                          <a:effectLst/>
                          <a:latin typeface="Meiryo UI" panose="020B0604030504040204" pitchFamily="50" charset="-128"/>
                          <a:ea typeface="Meiryo UI" panose="020B0604030504040204" pitchFamily="50" charset="-128"/>
                        </a:rPr>
                        <a:t>33</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en-US" altLang="ja-JP" sz="900" b="0" i="0" u="none" strike="noStrike">
                          <a:solidFill>
                            <a:srgbClr val="000000"/>
                          </a:solidFill>
                          <a:effectLst/>
                          <a:latin typeface="Meiryo UI" panose="020B0604030504040204" pitchFamily="50" charset="-128"/>
                          <a:ea typeface="Meiryo UI" panose="020B0604030504040204" pitchFamily="50" charset="-128"/>
                        </a:rPr>
                        <a:t>&gt;0</a:t>
                      </a:r>
                      <a:r>
                        <a:rPr lang="ja-JP" altLang="en-US" sz="900" b="0" i="0" u="none" strike="noStrike">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a:solidFill>
                            <a:srgbClr val="000000"/>
                          </a:solidFill>
                          <a:effectLst/>
                          <a:latin typeface="Meiryo UI" panose="020B0604030504040204" pitchFamily="50" charset="-128"/>
                          <a:ea typeface="Meiryo UI" panose="020B0604030504040204" pitchFamily="50" charset="-128"/>
                        </a:rPr>
                        <a:t>29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en-US" altLang="ja-JP" sz="900" b="0" i="0" u="none" strike="noStrike">
                          <a:solidFill>
                            <a:srgbClr val="000000"/>
                          </a:solidFill>
                          <a:effectLst/>
                          <a:latin typeface="Meiryo UI" panose="020B0604030504040204" pitchFamily="50" charset="-128"/>
                          <a:ea typeface="Meiryo UI" panose="020B0604030504040204" pitchFamily="50" charset="-128"/>
                        </a:rPr>
                        <a:t>&gt;2~4</a:t>
                      </a:r>
                      <a:r>
                        <a:rPr lang="ja-JP" altLang="en-US" sz="900" b="0" i="0" u="none" strike="noStrike">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a:solidFill>
                            <a:srgbClr val="000000"/>
                          </a:solidFill>
                          <a:effectLst/>
                          <a:latin typeface="Meiryo UI" panose="020B0604030504040204" pitchFamily="50" charset="-128"/>
                          <a:ea typeface="Meiryo UI" panose="020B0604030504040204" pitchFamily="50" charset="-128"/>
                        </a:rPr>
                        <a:t>21</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1.83</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40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52</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32</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20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15</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38.7</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41609890"/>
                  </a:ext>
                </a:extLst>
              </a:tr>
            </a:tbl>
          </a:graphicData>
        </a:graphic>
      </p:graphicFrame>
      <p:sp>
        <p:nvSpPr>
          <p:cNvPr id="7" name="正方形/長方形 6">
            <a:extLst>
              <a:ext uri="{FF2B5EF4-FFF2-40B4-BE49-F238E27FC236}">
                <a16:creationId xmlns:a16="http://schemas.microsoft.com/office/drawing/2014/main" id="{836B02C7-F610-63AD-DB78-850690D2F6DE}"/>
              </a:ext>
            </a:extLst>
          </p:cNvPr>
          <p:cNvSpPr/>
          <p:nvPr/>
        </p:nvSpPr>
        <p:spPr>
          <a:xfrm>
            <a:off x="1273293" y="3162656"/>
            <a:ext cx="10342937" cy="659065"/>
          </a:xfrm>
          <a:prstGeom prst="rect">
            <a:avLst/>
          </a:prstGeom>
          <a:noFill/>
          <a:ln w="28575"/>
        </p:spPr>
        <p:style>
          <a:lnRef idx="2">
            <a:schemeClr val="accent3"/>
          </a:lnRef>
          <a:fillRef idx="1">
            <a:schemeClr val="lt1"/>
          </a:fillRef>
          <a:effectRef idx="0">
            <a:schemeClr val="accent3"/>
          </a:effectRef>
          <a:fontRef idx="minor">
            <a:schemeClr val="dk1"/>
          </a:fontRef>
        </p:style>
        <p:txBody>
          <a:bodyPr rtlCol="0" anchor="t"/>
          <a:lstStyle/>
          <a:p>
            <a:pPr algn="l"/>
            <a:endParaRPr kumimoji="1" lang="ja-JP" altLang="en-US" sz="1050">
              <a:solidFill>
                <a:schemeClr val="tx1"/>
              </a:solidFill>
            </a:endParaRPr>
          </a:p>
        </p:txBody>
      </p:sp>
      <p:sp>
        <p:nvSpPr>
          <p:cNvPr id="10" name="正方形/長方形 9">
            <a:extLst>
              <a:ext uri="{FF2B5EF4-FFF2-40B4-BE49-F238E27FC236}">
                <a16:creationId xmlns:a16="http://schemas.microsoft.com/office/drawing/2014/main" id="{A4D55F37-A6DB-676D-3380-6CE5ADA32959}"/>
              </a:ext>
            </a:extLst>
          </p:cNvPr>
          <p:cNvSpPr/>
          <p:nvPr/>
        </p:nvSpPr>
        <p:spPr>
          <a:xfrm>
            <a:off x="549023" y="3963383"/>
            <a:ext cx="3621458" cy="2012711"/>
          </a:xfrm>
          <a:prstGeom prst="rect">
            <a:avLst/>
          </a:prstGeom>
          <a:solidFill>
            <a:srgbClr val="EFF1F5"/>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l"/>
            <a:r>
              <a:rPr kumimoji="1" lang="ja-JP" altLang="en-US" sz="1050" b="1" u="sng" dirty="0">
                <a:solidFill>
                  <a:schemeClr val="tx1"/>
                </a:solidFill>
              </a:rPr>
              <a:t>■</a:t>
            </a:r>
            <a:r>
              <a:rPr kumimoji="1" lang="en-US" altLang="ja-JP" sz="1050" b="1" u="sng" dirty="0">
                <a:solidFill>
                  <a:schemeClr val="tx1"/>
                </a:solidFill>
              </a:rPr>
              <a:t>RAG</a:t>
            </a:r>
            <a:r>
              <a:rPr kumimoji="1" lang="ja-JP" altLang="en-US" sz="1050" b="1" u="sng" dirty="0">
                <a:solidFill>
                  <a:schemeClr val="tx1"/>
                </a:solidFill>
              </a:rPr>
              <a:t>へのサービス理解</a:t>
            </a:r>
            <a:endParaRPr kumimoji="1" lang="en-US" altLang="ja-JP" sz="1050" b="1" u="sng" dirty="0">
              <a:solidFill>
                <a:schemeClr val="tx1"/>
              </a:solidFill>
            </a:endParaRPr>
          </a:p>
          <a:p>
            <a:pPr algn="l"/>
            <a:endParaRPr kumimoji="1" lang="en-US" altLang="ja-JP" sz="1050" b="1" u="sng" dirty="0">
              <a:solidFill>
                <a:schemeClr val="tx1"/>
              </a:solidFill>
            </a:endParaRPr>
          </a:p>
          <a:p>
            <a:pPr algn="l"/>
            <a:r>
              <a:rPr lang="ja-JP" altLang="en-US" sz="1050" dirty="0">
                <a:solidFill>
                  <a:schemeClr val="tx1"/>
                </a:solidFill>
              </a:rPr>
              <a:t>・求人掲載があり自分で検索</a:t>
            </a:r>
            <a:r>
              <a:rPr lang="en-US" altLang="ja-JP" sz="1050" dirty="0">
                <a:solidFill>
                  <a:schemeClr val="tx1"/>
                </a:solidFill>
              </a:rPr>
              <a:t>/</a:t>
            </a:r>
            <a:r>
              <a:rPr lang="ja-JP" altLang="en-US" sz="1050" dirty="0">
                <a:solidFill>
                  <a:schemeClr val="tx1"/>
                </a:solidFill>
              </a:rPr>
              <a:t>応募</a:t>
            </a:r>
            <a:r>
              <a:rPr lang="en-US" altLang="ja-JP" sz="1050" dirty="0">
                <a:solidFill>
                  <a:schemeClr val="tx1"/>
                </a:solidFill>
              </a:rPr>
              <a:t>【</a:t>
            </a:r>
            <a:r>
              <a:rPr lang="ja-JP" altLang="en-US" sz="1050" dirty="0">
                <a:solidFill>
                  <a:schemeClr val="tx1"/>
                </a:solidFill>
              </a:rPr>
              <a:t>転職サイト機能</a:t>
            </a:r>
            <a:r>
              <a:rPr lang="en-US" altLang="ja-JP" sz="1050" dirty="0">
                <a:solidFill>
                  <a:schemeClr val="tx1"/>
                </a:solidFill>
              </a:rPr>
              <a:t>】</a:t>
            </a:r>
            <a:r>
              <a:rPr lang="ja-JP" altLang="en-US" sz="1050" dirty="0">
                <a:solidFill>
                  <a:schemeClr val="tx1"/>
                </a:solidFill>
              </a:rPr>
              <a:t>：　　</a:t>
            </a:r>
            <a:endParaRPr lang="en-US" altLang="ja-JP" sz="1050" dirty="0">
              <a:solidFill>
                <a:schemeClr val="tx1"/>
              </a:solidFill>
            </a:endParaRPr>
          </a:p>
          <a:p>
            <a:pPr algn="l"/>
            <a:r>
              <a:rPr lang="ja-JP" altLang="en-US" sz="1050" dirty="0">
                <a:solidFill>
                  <a:schemeClr val="tx1"/>
                </a:solidFill>
              </a:rPr>
              <a:t>　</a:t>
            </a:r>
            <a:r>
              <a:rPr lang="en-US" altLang="ja-JP" sz="1050" dirty="0">
                <a:solidFill>
                  <a:schemeClr val="tx1"/>
                </a:solidFill>
              </a:rPr>
              <a:t>66%</a:t>
            </a:r>
            <a:r>
              <a:rPr lang="ja-JP" altLang="en-US" sz="1050" dirty="0">
                <a:solidFill>
                  <a:schemeClr val="tx1"/>
                </a:solidFill>
              </a:rPr>
              <a:t>　</a:t>
            </a:r>
            <a:r>
              <a:rPr lang="en-US" altLang="ja-JP" sz="1050" dirty="0">
                <a:solidFill>
                  <a:schemeClr val="tx1"/>
                </a:solidFill>
              </a:rPr>
              <a:t>(</a:t>
            </a:r>
            <a:r>
              <a:rPr lang="ja-JP" altLang="en-US" sz="1050" dirty="0">
                <a:solidFill>
                  <a:schemeClr val="tx1"/>
                </a:solidFill>
              </a:rPr>
              <a:t>全体＋</a:t>
            </a:r>
            <a:r>
              <a:rPr lang="en-US" altLang="ja-JP" sz="1050" dirty="0">
                <a:solidFill>
                  <a:schemeClr val="tx1"/>
                </a:solidFill>
              </a:rPr>
              <a:t>13.3pt/</a:t>
            </a:r>
            <a:r>
              <a:rPr lang="ja-JP" altLang="en-US" sz="1050" dirty="0">
                <a:solidFill>
                  <a:schemeClr val="tx1"/>
                </a:solidFill>
              </a:rPr>
              <a:t>面談実施あり＋</a:t>
            </a:r>
            <a:r>
              <a:rPr lang="en-US" altLang="ja-JP" sz="1050" dirty="0">
                <a:solidFill>
                  <a:schemeClr val="tx1"/>
                </a:solidFill>
              </a:rPr>
              <a:t>4.9pt</a:t>
            </a:r>
          </a:p>
          <a:p>
            <a:pPr algn="l"/>
            <a:r>
              <a:rPr lang="ja-JP" altLang="en-US" sz="1050" dirty="0">
                <a:solidFill>
                  <a:schemeClr val="tx1"/>
                </a:solidFill>
              </a:rPr>
              <a:t>・</a:t>
            </a:r>
            <a:r>
              <a:rPr lang="en-US" altLang="ja-JP" sz="1050" dirty="0">
                <a:solidFill>
                  <a:schemeClr val="tx1"/>
                </a:solidFill>
              </a:rPr>
              <a:t>CA</a:t>
            </a:r>
            <a:r>
              <a:rPr lang="ja-JP" altLang="en-US" sz="1050" dirty="0">
                <a:solidFill>
                  <a:schemeClr val="tx1"/>
                </a:solidFill>
              </a:rPr>
              <a:t>が求人紹介</a:t>
            </a:r>
            <a:r>
              <a:rPr lang="en-US" altLang="ja-JP" sz="1050" dirty="0">
                <a:solidFill>
                  <a:schemeClr val="tx1"/>
                </a:solidFill>
              </a:rPr>
              <a:t>/</a:t>
            </a:r>
            <a:r>
              <a:rPr lang="ja-JP" altLang="en-US" sz="1050" dirty="0">
                <a:solidFill>
                  <a:schemeClr val="tx1"/>
                </a:solidFill>
              </a:rPr>
              <a:t>応募をサポート</a:t>
            </a:r>
            <a:r>
              <a:rPr lang="en-US" altLang="ja-JP" sz="1050" dirty="0">
                <a:solidFill>
                  <a:schemeClr val="tx1"/>
                </a:solidFill>
              </a:rPr>
              <a:t>【</a:t>
            </a:r>
            <a:r>
              <a:rPr lang="ja-JP" altLang="en-US" sz="1050" dirty="0">
                <a:solidFill>
                  <a:schemeClr val="tx1"/>
                </a:solidFill>
              </a:rPr>
              <a:t>エージェント機能</a:t>
            </a:r>
            <a:r>
              <a:rPr lang="en-US" altLang="ja-JP" sz="1050" dirty="0">
                <a:solidFill>
                  <a:schemeClr val="tx1"/>
                </a:solidFill>
              </a:rPr>
              <a:t>】</a:t>
            </a:r>
            <a:r>
              <a:rPr lang="ja-JP" altLang="en-US" sz="1050" dirty="0">
                <a:solidFill>
                  <a:schemeClr val="tx1"/>
                </a:solidFill>
              </a:rPr>
              <a:t>：</a:t>
            </a:r>
            <a:endParaRPr lang="en-US" altLang="ja-JP" sz="1050" dirty="0">
              <a:solidFill>
                <a:schemeClr val="tx1"/>
              </a:solidFill>
            </a:endParaRPr>
          </a:p>
          <a:p>
            <a:pPr algn="l"/>
            <a:r>
              <a:rPr lang="ja-JP" altLang="en-US" sz="1050" dirty="0">
                <a:solidFill>
                  <a:schemeClr val="tx1"/>
                </a:solidFill>
              </a:rPr>
              <a:t>　</a:t>
            </a:r>
            <a:r>
              <a:rPr lang="en-US" altLang="ja-JP" sz="1050" dirty="0">
                <a:solidFill>
                  <a:schemeClr val="tx1"/>
                </a:solidFill>
              </a:rPr>
              <a:t>83.9</a:t>
            </a:r>
            <a:r>
              <a:rPr lang="ja-JP" altLang="en-US" sz="1050" dirty="0">
                <a:solidFill>
                  <a:schemeClr val="tx1"/>
                </a:solidFill>
              </a:rPr>
              <a:t>％　</a:t>
            </a:r>
            <a:r>
              <a:rPr lang="en-US" altLang="ja-JP" sz="1050" dirty="0">
                <a:solidFill>
                  <a:schemeClr val="tx1"/>
                </a:solidFill>
              </a:rPr>
              <a:t>(</a:t>
            </a:r>
            <a:r>
              <a:rPr lang="ja-JP" altLang="en-US" sz="1050" dirty="0">
                <a:solidFill>
                  <a:schemeClr val="tx1"/>
                </a:solidFill>
              </a:rPr>
              <a:t>全体＋</a:t>
            </a:r>
            <a:r>
              <a:rPr lang="en-US" altLang="ja-JP" sz="1050" dirty="0">
                <a:solidFill>
                  <a:schemeClr val="tx1"/>
                </a:solidFill>
              </a:rPr>
              <a:t>9.3pt/</a:t>
            </a:r>
            <a:r>
              <a:rPr lang="ja-JP" altLang="en-US" sz="1050" dirty="0">
                <a:solidFill>
                  <a:schemeClr val="tx1"/>
                </a:solidFill>
              </a:rPr>
              <a:t>面談実施あり</a:t>
            </a:r>
            <a:r>
              <a:rPr lang="en-US" altLang="ja-JP" sz="1050" dirty="0">
                <a:solidFill>
                  <a:schemeClr val="tx1"/>
                </a:solidFill>
              </a:rPr>
              <a:t>―1.1pt</a:t>
            </a:r>
          </a:p>
          <a:p>
            <a:pPr algn="l"/>
            <a:r>
              <a:rPr kumimoji="1" lang="ja-JP" altLang="en-US" sz="1050" dirty="0">
                <a:solidFill>
                  <a:schemeClr val="tx1"/>
                </a:solidFill>
              </a:rPr>
              <a:t>・企業からオファーが届く</a:t>
            </a:r>
            <a:r>
              <a:rPr lang="en-US" altLang="ja-JP" sz="1050" dirty="0">
                <a:solidFill>
                  <a:schemeClr val="tx1"/>
                </a:solidFill>
              </a:rPr>
              <a:t>【</a:t>
            </a:r>
            <a:r>
              <a:rPr kumimoji="1" lang="ja-JP" altLang="en-US" sz="1050" dirty="0">
                <a:solidFill>
                  <a:schemeClr val="tx1"/>
                </a:solidFill>
              </a:rPr>
              <a:t>ダイレクトスカウト機能</a:t>
            </a:r>
            <a:r>
              <a:rPr lang="en-US" altLang="ja-JP" sz="1050" dirty="0">
                <a:solidFill>
                  <a:schemeClr val="tx1"/>
                </a:solidFill>
              </a:rPr>
              <a:t>】</a:t>
            </a:r>
            <a:r>
              <a:rPr kumimoji="1" lang="ja-JP" altLang="en-US" sz="1050" dirty="0">
                <a:solidFill>
                  <a:schemeClr val="tx1"/>
                </a:solidFill>
              </a:rPr>
              <a:t>：</a:t>
            </a:r>
            <a:r>
              <a:rPr lang="en-US" altLang="ja-JP" sz="1050" dirty="0">
                <a:solidFill>
                  <a:schemeClr val="tx1"/>
                </a:solidFill>
              </a:rPr>
              <a:t> 52.7</a:t>
            </a:r>
            <a:r>
              <a:rPr lang="ja-JP" altLang="en-US" sz="1050" dirty="0">
                <a:solidFill>
                  <a:schemeClr val="tx1"/>
                </a:solidFill>
              </a:rPr>
              <a:t>％　</a:t>
            </a:r>
            <a:r>
              <a:rPr lang="en-US" altLang="ja-JP" sz="1050" dirty="0">
                <a:solidFill>
                  <a:schemeClr val="tx1"/>
                </a:solidFill>
              </a:rPr>
              <a:t>(</a:t>
            </a:r>
            <a:r>
              <a:rPr lang="ja-JP" altLang="en-US" sz="1050" dirty="0">
                <a:solidFill>
                  <a:schemeClr val="tx1"/>
                </a:solidFill>
              </a:rPr>
              <a:t>全体＋</a:t>
            </a:r>
            <a:r>
              <a:rPr lang="en-US" altLang="ja-JP" sz="1050" dirty="0">
                <a:solidFill>
                  <a:schemeClr val="tx1"/>
                </a:solidFill>
              </a:rPr>
              <a:t>8.4pt/</a:t>
            </a:r>
            <a:r>
              <a:rPr lang="ja-JP" altLang="en-US" sz="1050" dirty="0">
                <a:solidFill>
                  <a:schemeClr val="tx1"/>
                </a:solidFill>
              </a:rPr>
              <a:t>面談実施あり＋</a:t>
            </a:r>
            <a:r>
              <a:rPr lang="en-US" altLang="ja-JP" sz="1050" dirty="0">
                <a:solidFill>
                  <a:schemeClr val="tx1"/>
                </a:solidFill>
              </a:rPr>
              <a:t>1.5pt</a:t>
            </a:r>
            <a:endParaRPr kumimoji="1" lang="en-US" altLang="ja-JP" sz="1050" dirty="0">
              <a:solidFill>
                <a:schemeClr val="tx1"/>
              </a:solidFill>
            </a:endParaRPr>
          </a:p>
        </p:txBody>
      </p:sp>
    </p:spTree>
    <p:extLst>
      <p:ext uri="{BB962C8B-B14F-4D97-AF65-F5344CB8AC3E}">
        <p14:creationId xmlns:p14="http://schemas.microsoft.com/office/powerpoint/2010/main" val="2305080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761158B7-8BBD-A8FD-4BCD-0329FCAE8A61}"/>
              </a:ext>
            </a:extLst>
          </p:cNvPr>
          <p:cNvSpPr>
            <a:spLocks noGrp="1"/>
          </p:cNvSpPr>
          <p:nvPr>
            <p:ph sz="quarter" idx="14"/>
          </p:nvPr>
        </p:nvSpPr>
        <p:spPr>
          <a:xfrm>
            <a:off x="360363" y="773474"/>
            <a:ext cx="11447462" cy="675632"/>
          </a:xfrm>
        </p:spPr>
        <p:txBody>
          <a:bodyPr>
            <a:normAutofit fontScale="77500" lnSpcReduction="20000"/>
          </a:bodyPr>
          <a:lstStyle/>
          <a:p>
            <a:pPr marL="285750" indent="-285750">
              <a:buFont typeface="Wingdings" panose="05000000000000000000" pitchFamily="2" charset="2"/>
              <a:buChar char="ü"/>
            </a:pPr>
            <a:r>
              <a:rPr kumimoji="1" lang="ja-JP" altLang="en-US" dirty="0"/>
              <a:t>面談希望ありの中でも、面談実施なしの</a:t>
            </a:r>
            <a:r>
              <a:rPr kumimoji="1" lang="en-US" altLang="ja-JP" dirty="0"/>
              <a:t>CS</a:t>
            </a:r>
            <a:r>
              <a:rPr kumimoji="1" lang="ja-JP" altLang="en-US" dirty="0"/>
              <a:t>は業種への専門的なアドバイス・希望に合う求人紹介への期待が高い</a:t>
            </a:r>
            <a:r>
              <a:rPr lang="ja-JP" altLang="en-US" dirty="0"/>
              <a:t>。一方活動全般の進め方や</a:t>
            </a:r>
            <a:r>
              <a:rPr lang="en-US" altLang="ja-JP" dirty="0"/>
              <a:t>CA</a:t>
            </a:r>
            <a:r>
              <a:rPr lang="ja-JP" altLang="en-US" dirty="0"/>
              <a:t>対応、書類</a:t>
            </a:r>
            <a:r>
              <a:rPr lang="en-US" altLang="ja-JP" dirty="0"/>
              <a:t>/</a:t>
            </a:r>
            <a:r>
              <a:rPr lang="ja-JP" altLang="en-US" dirty="0"/>
              <a:t>面接などの応募サポートへの期待は低め。</a:t>
            </a:r>
            <a:endParaRPr kumimoji="1" lang="en-US" altLang="ja-JP" dirty="0"/>
          </a:p>
          <a:p>
            <a:pPr marL="285750" indent="-285750">
              <a:buFont typeface="Wingdings" panose="05000000000000000000" pitchFamily="2" charset="2"/>
              <a:buChar char="ü"/>
            </a:pPr>
            <a:r>
              <a:rPr kumimoji="1" lang="ja-JP" altLang="en-US" dirty="0"/>
              <a:t>未面談理由としては「スケジュールが合わない」</a:t>
            </a:r>
            <a:r>
              <a:rPr lang="ja-JP" altLang="en-US" dirty="0"/>
              <a:t>が</a:t>
            </a:r>
            <a:r>
              <a:rPr lang="en-US" altLang="ja-JP" dirty="0"/>
              <a:t>4</a:t>
            </a:r>
            <a:r>
              <a:rPr lang="ja-JP" altLang="en-US" dirty="0"/>
              <a:t>割で職制上時間の見通しや融通が利きずらい環境が推察される。</a:t>
            </a:r>
            <a:r>
              <a:rPr kumimoji="1" lang="ja-JP" altLang="en-US" dirty="0"/>
              <a:t> 時期先</a:t>
            </a:r>
            <a:r>
              <a:rPr kumimoji="1" lang="en-US" altLang="ja-JP" dirty="0"/>
              <a:t>/</a:t>
            </a:r>
            <a:r>
              <a:rPr kumimoji="1" lang="ja-JP" altLang="en-US" dirty="0"/>
              <a:t>未定影響もあり。</a:t>
            </a:r>
            <a:endParaRPr lang="en-US" altLang="ja-JP" dirty="0"/>
          </a:p>
        </p:txBody>
      </p:sp>
      <p:sp>
        <p:nvSpPr>
          <p:cNvPr id="3" name="テキスト プレースホルダー 2">
            <a:extLst>
              <a:ext uri="{FF2B5EF4-FFF2-40B4-BE49-F238E27FC236}">
                <a16:creationId xmlns:a16="http://schemas.microsoft.com/office/drawing/2014/main" id="{276F8952-7770-29EB-33F2-F26B9BF4B7C2}"/>
              </a:ext>
            </a:extLst>
          </p:cNvPr>
          <p:cNvSpPr>
            <a:spLocks noGrp="1"/>
          </p:cNvSpPr>
          <p:nvPr>
            <p:ph type="body" sz="quarter" idx="13"/>
          </p:nvPr>
        </p:nvSpPr>
        <p:spPr/>
        <p:txBody>
          <a:bodyPr/>
          <a:lstStyle/>
          <a:p>
            <a:r>
              <a:rPr lang="ja-JP" altLang="en-US" dirty="0"/>
              <a:t>活動ステータス別サマリ：</a:t>
            </a:r>
            <a:r>
              <a:rPr kumimoji="1" lang="ja-JP" altLang="en-US" dirty="0"/>
              <a:t>面談希望あり＞面談実施</a:t>
            </a:r>
            <a:r>
              <a:rPr kumimoji="1" lang="ja-JP" altLang="en-US" dirty="0">
                <a:solidFill>
                  <a:srgbClr val="FF0000"/>
                </a:solidFill>
              </a:rPr>
              <a:t>なし</a:t>
            </a:r>
            <a:r>
              <a:rPr kumimoji="1" lang="en-US" altLang="ja-JP" dirty="0"/>
              <a:t>【</a:t>
            </a:r>
            <a:r>
              <a:rPr kumimoji="1" lang="ja-JP" altLang="en-US" dirty="0"/>
              <a:t>全体傾向</a:t>
            </a:r>
            <a:r>
              <a:rPr kumimoji="1" lang="en-US" altLang="ja-JP" dirty="0"/>
              <a:t>】</a:t>
            </a:r>
            <a:endParaRPr kumimoji="1" lang="ja-JP" altLang="en-US" dirty="0">
              <a:solidFill>
                <a:srgbClr val="FF0000"/>
              </a:solidFill>
            </a:endParaRPr>
          </a:p>
        </p:txBody>
      </p:sp>
      <p:sp>
        <p:nvSpPr>
          <p:cNvPr id="4" name="フッター プレースホルダー 3">
            <a:extLst>
              <a:ext uri="{FF2B5EF4-FFF2-40B4-BE49-F238E27FC236}">
                <a16:creationId xmlns:a16="http://schemas.microsoft.com/office/drawing/2014/main" id="{B72DD35E-4034-B434-C065-6EFA37336942}"/>
              </a:ext>
            </a:extLst>
          </p:cNvPr>
          <p:cNvSpPr>
            <a:spLocks noGrp="1"/>
          </p:cNvSpPr>
          <p:nvPr>
            <p:ph type="ftr" sz="quarter" idx="3"/>
          </p:nvPr>
        </p:nvSpPr>
        <p:spPr>
          <a:xfrm>
            <a:off x="4038600" y="6364575"/>
            <a:ext cx="4114800" cy="365125"/>
          </a:xfrm>
        </p:spPr>
        <p:txBody>
          <a:bodyPr/>
          <a:lstStyle/>
          <a:p>
            <a:r>
              <a:rPr lang="en" altLang="ja-JP"/>
              <a:t>(C) Recruit Co., Ltd. All rights reserved. </a:t>
            </a:r>
            <a:endParaRPr lang="ja-JP" altLang="en-US"/>
          </a:p>
        </p:txBody>
      </p:sp>
      <p:sp>
        <p:nvSpPr>
          <p:cNvPr id="5" name="スライド番号プレースホルダー 4">
            <a:extLst>
              <a:ext uri="{FF2B5EF4-FFF2-40B4-BE49-F238E27FC236}">
                <a16:creationId xmlns:a16="http://schemas.microsoft.com/office/drawing/2014/main" id="{5C0D21FF-AAAA-668B-A241-C80D5A5C4973}"/>
              </a:ext>
            </a:extLst>
          </p:cNvPr>
          <p:cNvSpPr>
            <a:spLocks noGrp="1"/>
          </p:cNvSpPr>
          <p:nvPr>
            <p:ph type="sldNum" sz="quarter" idx="4"/>
          </p:nvPr>
        </p:nvSpPr>
        <p:spPr/>
        <p:txBody>
          <a:bodyPr/>
          <a:lstStyle/>
          <a:p>
            <a:fld id="{EDD55F78-D87A-074E-B5DA-6C9B598DD91F}" type="slidenum">
              <a:rPr lang="ja-JP" altLang="en-US" smtClean="0"/>
              <a:pPr/>
              <a:t>8</a:t>
            </a:fld>
            <a:endParaRPr lang="ja-JP" altLang="en-US"/>
          </a:p>
        </p:txBody>
      </p:sp>
      <p:graphicFrame>
        <p:nvGraphicFramePr>
          <p:cNvPr id="12" name="グラフ 11">
            <a:extLst>
              <a:ext uri="{FF2B5EF4-FFF2-40B4-BE49-F238E27FC236}">
                <a16:creationId xmlns:a16="http://schemas.microsoft.com/office/drawing/2014/main" id="{FBDA4730-BF0B-154C-4212-8BF7CAFA2081}"/>
              </a:ext>
            </a:extLst>
          </p:cNvPr>
          <p:cNvGraphicFramePr>
            <a:graphicFrameLocks/>
          </p:cNvGraphicFramePr>
          <p:nvPr>
            <p:extLst>
              <p:ext uri="{D42A27DB-BD31-4B8C-83A1-F6EECF244321}">
                <p14:modId xmlns:p14="http://schemas.microsoft.com/office/powerpoint/2010/main" val="2859183211"/>
              </p:ext>
            </p:extLst>
          </p:nvPr>
        </p:nvGraphicFramePr>
        <p:xfrm>
          <a:off x="5899295" y="1449106"/>
          <a:ext cx="5908529" cy="4998587"/>
        </p:xfrm>
        <a:graphic>
          <a:graphicData uri="http://schemas.openxmlformats.org/drawingml/2006/chart">
            <c:chart xmlns:c="http://schemas.openxmlformats.org/drawingml/2006/chart" xmlns:r="http://schemas.openxmlformats.org/officeDocument/2006/relationships" r:id="rId2"/>
          </a:graphicData>
        </a:graphic>
      </p:graphicFrame>
      <p:sp>
        <p:nvSpPr>
          <p:cNvPr id="13" name="テキスト ボックス 12">
            <a:extLst>
              <a:ext uri="{FF2B5EF4-FFF2-40B4-BE49-F238E27FC236}">
                <a16:creationId xmlns:a16="http://schemas.microsoft.com/office/drawing/2014/main" id="{16D4DF22-1F7A-F3A7-F011-7B6919E78943}"/>
              </a:ext>
            </a:extLst>
          </p:cNvPr>
          <p:cNvSpPr txBox="1"/>
          <p:nvPr/>
        </p:nvSpPr>
        <p:spPr>
          <a:xfrm>
            <a:off x="6404096" y="1604940"/>
            <a:ext cx="4642338" cy="253916"/>
          </a:xfrm>
          <a:prstGeom prst="rect">
            <a:avLst/>
          </a:prstGeom>
          <a:noFill/>
        </p:spPr>
        <p:txBody>
          <a:bodyPr wrap="square" rtlCol="0">
            <a:spAutoFit/>
          </a:bodyPr>
          <a:lstStyle/>
          <a:p>
            <a:pPr algn="ctr"/>
            <a:r>
              <a:rPr kumimoji="1" lang="ja-JP" altLang="en-US" sz="1000" b="1" u="sng" dirty="0"/>
              <a:t>面談希望ありだが面談を実施しなかった理由</a:t>
            </a:r>
          </a:p>
        </p:txBody>
      </p:sp>
      <p:sp>
        <p:nvSpPr>
          <p:cNvPr id="14" name="正方形/長方形 13">
            <a:extLst>
              <a:ext uri="{FF2B5EF4-FFF2-40B4-BE49-F238E27FC236}">
                <a16:creationId xmlns:a16="http://schemas.microsoft.com/office/drawing/2014/main" id="{DFBD171C-2A39-54C0-4958-56ACF3273626}"/>
              </a:ext>
            </a:extLst>
          </p:cNvPr>
          <p:cNvSpPr/>
          <p:nvPr/>
        </p:nvSpPr>
        <p:spPr>
          <a:xfrm>
            <a:off x="6196986" y="1819781"/>
            <a:ext cx="1281723" cy="4588837"/>
          </a:xfrm>
          <a:prstGeom prst="rect">
            <a:avLst/>
          </a:prstGeom>
          <a:noFill/>
          <a:ln/>
        </p:spPr>
        <p:style>
          <a:lnRef idx="2">
            <a:schemeClr val="accent3"/>
          </a:lnRef>
          <a:fillRef idx="1">
            <a:schemeClr val="lt1"/>
          </a:fillRef>
          <a:effectRef idx="0">
            <a:schemeClr val="accent3"/>
          </a:effectRef>
          <a:fontRef idx="minor">
            <a:schemeClr val="dk1"/>
          </a:fontRef>
        </p:style>
        <p:txBody>
          <a:bodyPr rtlCol="0" anchor="t"/>
          <a:lstStyle/>
          <a:p>
            <a:pPr algn="l"/>
            <a:endParaRPr kumimoji="1" lang="ja-JP" altLang="en-US" sz="1050">
              <a:solidFill>
                <a:schemeClr val="tx1"/>
              </a:solidFill>
            </a:endParaRPr>
          </a:p>
        </p:txBody>
      </p:sp>
      <p:graphicFrame>
        <p:nvGraphicFramePr>
          <p:cNvPr id="9" name="グラフ 8">
            <a:extLst>
              <a:ext uri="{FF2B5EF4-FFF2-40B4-BE49-F238E27FC236}">
                <a16:creationId xmlns:a16="http://schemas.microsoft.com/office/drawing/2014/main" id="{22EAAC0B-DD28-7C8A-17F0-D1EFCE9B7640}"/>
              </a:ext>
            </a:extLst>
          </p:cNvPr>
          <p:cNvGraphicFramePr>
            <a:graphicFrameLocks/>
          </p:cNvGraphicFramePr>
          <p:nvPr>
            <p:extLst>
              <p:ext uri="{D42A27DB-BD31-4B8C-83A1-F6EECF244321}">
                <p14:modId xmlns:p14="http://schemas.microsoft.com/office/powerpoint/2010/main" val="1340159849"/>
              </p:ext>
            </p:extLst>
          </p:nvPr>
        </p:nvGraphicFramePr>
        <p:xfrm>
          <a:off x="392701" y="1449105"/>
          <a:ext cx="6331372" cy="4998587"/>
        </p:xfrm>
        <a:graphic>
          <a:graphicData uri="http://schemas.openxmlformats.org/drawingml/2006/chart">
            <c:chart xmlns:c="http://schemas.openxmlformats.org/drawingml/2006/chart" xmlns:r="http://schemas.openxmlformats.org/officeDocument/2006/relationships" r:id="rId3"/>
          </a:graphicData>
        </a:graphic>
      </p:graphicFrame>
      <p:sp>
        <p:nvSpPr>
          <p:cNvPr id="10" name="テキスト ボックス 9">
            <a:extLst>
              <a:ext uri="{FF2B5EF4-FFF2-40B4-BE49-F238E27FC236}">
                <a16:creationId xmlns:a16="http://schemas.microsoft.com/office/drawing/2014/main" id="{B9F66F5F-2DBC-A3B8-B7C9-53F98DAC187C}"/>
              </a:ext>
            </a:extLst>
          </p:cNvPr>
          <p:cNvSpPr txBox="1"/>
          <p:nvPr/>
        </p:nvSpPr>
        <p:spPr>
          <a:xfrm>
            <a:off x="824829" y="1610652"/>
            <a:ext cx="4642338" cy="253916"/>
          </a:xfrm>
          <a:prstGeom prst="rect">
            <a:avLst/>
          </a:prstGeom>
          <a:noFill/>
        </p:spPr>
        <p:txBody>
          <a:bodyPr wrap="square" rtlCol="0">
            <a:spAutoFit/>
          </a:bodyPr>
          <a:lstStyle/>
          <a:p>
            <a:pPr algn="ctr"/>
            <a:r>
              <a:rPr kumimoji="1" lang="ja-JP" altLang="en-US" sz="1000" b="1" u="sng" dirty="0"/>
              <a:t>面談</a:t>
            </a:r>
            <a:r>
              <a:rPr lang="ja-JP" altLang="en-US" sz="1000" b="1" u="sng" dirty="0"/>
              <a:t>への期待</a:t>
            </a:r>
            <a:endParaRPr kumimoji="1" lang="ja-JP" altLang="en-US" sz="1000" b="1" u="sng" dirty="0"/>
          </a:p>
        </p:txBody>
      </p:sp>
    </p:spTree>
    <p:extLst>
      <p:ext uri="{BB962C8B-B14F-4D97-AF65-F5344CB8AC3E}">
        <p14:creationId xmlns:p14="http://schemas.microsoft.com/office/powerpoint/2010/main" val="1898490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761158B7-8BBD-A8FD-4BCD-0329FCAE8A61}"/>
              </a:ext>
            </a:extLst>
          </p:cNvPr>
          <p:cNvSpPr>
            <a:spLocks noGrp="1"/>
          </p:cNvSpPr>
          <p:nvPr>
            <p:ph sz="quarter" idx="14"/>
          </p:nvPr>
        </p:nvSpPr>
        <p:spPr>
          <a:xfrm>
            <a:off x="360363" y="863999"/>
            <a:ext cx="11447462" cy="508885"/>
          </a:xfrm>
        </p:spPr>
        <p:txBody>
          <a:bodyPr>
            <a:normAutofit/>
          </a:bodyPr>
          <a:lstStyle/>
          <a:p>
            <a:pPr marL="285750" indent="-285750">
              <a:buFont typeface="Wingdings" panose="05000000000000000000" pitchFamily="2" charset="2"/>
              <a:buChar char="ü"/>
            </a:pPr>
            <a:r>
              <a:rPr lang="ja-JP" altLang="en-US" sz="1200" dirty="0"/>
              <a:t>登録時期待は求人の情報量や応募関連のサポートだが、活動を進めるか迷っている</a:t>
            </a:r>
            <a:r>
              <a:rPr lang="en-US" altLang="ja-JP" sz="1200" dirty="0"/>
              <a:t>/</a:t>
            </a:r>
            <a:r>
              <a:rPr lang="ja-JP" altLang="en-US" sz="1200" dirty="0"/>
              <a:t>求人を探すなど初期段階のサポートにもニーズがありそう。</a:t>
            </a:r>
            <a:endParaRPr lang="en-US" altLang="ja-JP" sz="1200" dirty="0"/>
          </a:p>
          <a:p>
            <a:pPr marL="285750" indent="-285750">
              <a:buFont typeface="Wingdings" panose="05000000000000000000" pitchFamily="2" charset="2"/>
              <a:buChar char="ü"/>
            </a:pPr>
            <a:r>
              <a:rPr kumimoji="1" lang="ja-JP" altLang="en-US" sz="1200" dirty="0"/>
              <a:t>もともと面談希望層ではあるため、</a:t>
            </a:r>
            <a:r>
              <a:rPr kumimoji="1" lang="en-US" altLang="ja-JP" sz="1200" dirty="0"/>
              <a:t>CA</a:t>
            </a:r>
            <a:r>
              <a:rPr kumimoji="1" lang="ja-JP" altLang="en-US" sz="1200" dirty="0"/>
              <a:t>サポートのニーズがメイン。面談実施層よりも利用のしやすさ</a:t>
            </a:r>
            <a:r>
              <a:rPr kumimoji="1" lang="en-US" altLang="ja-JP" sz="1200" dirty="0"/>
              <a:t>/</a:t>
            </a:r>
            <a:r>
              <a:rPr kumimoji="1" lang="ja-JP" altLang="en-US" sz="1200" dirty="0"/>
              <a:t>手軽さを重視するスコアが高い。</a:t>
            </a:r>
            <a:endParaRPr kumimoji="1" lang="en-US" altLang="ja-JP" sz="1200" dirty="0"/>
          </a:p>
        </p:txBody>
      </p:sp>
      <p:sp>
        <p:nvSpPr>
          <p:cNvPr id="3" name="テキスト プレースホルダー 2">
            <a:extLst>
              <a:ext uri="{FF2B5EF4-FFF2-40B4-BE49-F238E27FC236}">
                <a16:creationId xmlns:a16="http://schemas.microsoft.com/office/drawing/2014/main" id="{276F8952-7770-29EB-33F2-F26B9BF4B7C2}"/>
              </a:ext>
            </a:extLst>
          </p:cNvPr>
          <p:cNvSpPr>
            <a:spLocks noGrp="1"/>
          </p:cNvSpPr>
          <p:nvPr>
            <p:ph type="body" sz="quarter" idx="13"/>
          </p:nvPr>
        </p:nvSpPr>
        <p:spPr/>
        <p:txBody>
          <a:bodyPr/>
          <a:lstStyle/>
          <a:p>
            <a:r>
              <a:rPr lang="ja-JP" altLang="en-US" dirty="0"/>
              <a:t>活動ステータス別サマリ：</a:t>
            </a:r>
            <a:r>
              <a:rPr kumimoji="1" lang="ja-JP" altLang="en-US" dirty="0"/>
              <a:t>面談希望あり＞面談実施</a:t>
            </a:r>
            <a:r>
              <a:rPr kumimoji="1" lang="ja-JP" altLang="en-US" dirty="0">
                <a:solidFill>
                  <a:srgbClr val="FF0000"/>
                </a:solidFill>
              </a:rPr>
              <a:t>なし</a:t>
            </a:r>
            <a:r>
              <a:rPr kumimoji="1" lang="en-US" altLang="ja-JP" dirty="0"/>
              <a:t>【</a:t>
            </a:r>
            <a:r>
              <a:rPr kumimoji="1" lang="ja-JP" altLang="en-US" dirty="0"/>
              <a:t>全体傾向</a:t>
            </a:r>
            <a:r>
              <a:rPr kumimoji="1" lang="en-US" altLang="ja-JP" dirty="0"/>
              <a:t>】</a:t>
            </a:r>
            <a:endParaRPr kumimoji="1" lang="ja-JP" altLang="en-US" dirty="0">
              <a:solidFill>
                <a:srgbClr val="FF0000"/>
              </a:solidFill>
            </a:endParaRPr>
          </a:p>
        </p:txBody>
      </p:sp>
      <p:sp>
        <p:nvSpPr>
          <p:cNvPr id="4" name="フッター プレースホルダー 3">
            <a:extLst>
              <a:ext uri="{FF2B5EF4-FFF2-40B4-BE49-F238E27FC236}">
                <a16:creationId xmlns:a16="http://schemas.microsoft.com/office/drawing/2014/main" id="{B72DD35E-4034-B434-C065-6EFA37336942}"/>
              </a:ext>
            </a:extLst>
          </p:cNvPr>
          <p:cNvSpPr>
            <a:spLocks noGrp="1"/>
          </p:cNvSpPr>
          <p:nvPr>
            <p:ph type="ftr" sz="quarter" idx="3"/>
          </p:nvPr>
        </p:nvSpPr>
        <p:spPr/>
        <p:txBody>
          <a:bodyPr/>
          <a:lstStyle/>
          <a:p>
            <a:r>
              <a:rPr lang="en" altLang="ja-JP"/>
              <a:t>(C) Recruit Co., Ltd. All rights reserved. </a:t>
            </a:r>
            <a:endParaRPr lang="ja-JP" altLang="en-US"/>
          </a:p>
        </p:txBody>
      </p:sp>
      <p:sp>
        <p:nvSpPr>
          <p:cNvPr id="5" name="スライド番号プレースホルダー 4">
            <a:extLst>
              <a:ext uri="{FF2B5EF4-FFF2-40B4-BE49-F238E27FC236}">
                <a16:creationId xmlns:a16="http://schemas.microsoft.com/office/drawing/2014/main" id="{5C0D21FF-AAAA-668B-A241-C80D5A5C4973}"/>
              </a:ext>
            </a:extLst>
          </p:cNvPr>
          <p:cNvSpPr>
            <a:spLocks noGrp="1"/>
          </p:cNvSpPr>
          <p:nvPr>
            <p:ph type="sldNum" sz="quarter" idx="4"/>
          </p:nvPr>
        </p:nvSpPr>
        <p:spPr/>
        <p:txBody>
          <a:bodyPr/>
          <a:lstStyle/>
          <a:p>
            <a:fld id="{EDD55F78-D87A-074E-B5DA-6C9B598DD91F}" type="slidenum">
              <a:rPr lang="ja-JP" altLang="en-US" smtClean="0"/>
              <a:pPr/>
              <a:t>9</a:t>
            </a:fld>
            <a:endParaRPr lang="ja-JP" altLang="en-US"/>
          </a:p>
        </p:txBody>
      </p:sp>
      <p:sp>
        <p:nvSpPr>
          <p:cNvPr id="11" name="正方形/長方形 10">
            <a:extLst>
              <a:ext uri="{FF2B5EF4-FFF2-40B4-BE49-F238E27FC236}">
                <a16:creationId xmlns:a16="http://schemas.microsoft.com/office/drawing/2014/main" id="{3F2C77F7-A293-7EB0-2BD3-044F9A8B1670}"/>
              </a:ext>
            </a:extLst>
          </p:cNvPr>
          <p:cNvSpPr/>
          <p:nvPr/>
        </p:nvSpPr>
        <p:spPr>
          <a:xfrm>
            <a:off x="656311" y="1531452"/>
            <a:ext cx="3846218" cy="1929003"/>
          </a:xfrm>
          <a:prstGeom prst="rect">
            <a:avLst/>
          </a:prstGeom>
          <a:solidFill>
            <a:srgbClr val="EFF1F5"/>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l"/>
            <a:r>
              <a:rPr kumimoji="1" lang="ja-JP" altLang="en-US" sz="1050" b="1" u="sng" dirty="0">
                <a:solidFill>
                  <a:schemeClr val="tx1"/>
                </a:solidFill>
              </a:rPr>
              <a:t>■</a:t>
            </a:r>
            <a:r>
              <a:rPr kumimoji="1" lang="en-US" altLang="ja-JP" sz="1050" b="1" u="sng" dirty="0">
                <a:solidFill>
                  <a:schemeClr val="tx1"/>
                </a:solidFill>
              </a:rPr>
              <a:t>RAG</a:t>
            </a:r>
            <a:r>
              <a:rPr kumimoji="1" lang="ja-JP" altLang="en-US" sz="1050" b="1" u="sng" dirty="0">
                <a:solidFill>
                  <a:schemeClr val="tx1"/>
                </a:solidFill>
              </a:rPr>
              <a:t>エントリー時のサービス期待</a:t>
            </a:r>
            <a:endParaRPr kumimoji="1" lang="en-US" altLang="ja-JP" sz="1050" b="1" u="sng" dirty="0">
              <a:solidFill>
                <a:schemeClr val="tx1"/>
              </a:solidFill>
            </a:endParaRPr>
          </a:p>
          <a:p>
            <a:pPr algn="l"/>
            <a:r>
              <a:rPr lang="ja-JP" altLang="en-US" sz="1050" dirty="0">
                <a:solidFill>
                  <a:schemeClr val="tx1"/>
                </a:solidFill>
              </a:rPr>
              <a:t>∟上位</a:t>
            </a:r>
            <a:r>
              <a:rPr lang="en-US" altLang="ja-JP" sz="1050" dirty="0">
                <a:solidFill>
                  <a:schemeClr val="tx1"/>
                </a:solidFill>
              </a:rPr>
              <a:t>3</a:t>
            </a:r>
            <a:r>
              <a:rPr lang="ja-JP" altLang="en-US" sz="1050" dirty="0">
                <a:solidFill>
                  <a:schemeClr val="tx1"/>
                </a:solidFill>
              </a:rPr>
              <a:t>項目</a:t>
            </a:r>
            <a:endParaRPr lang="en-US" altLang="ja-JP" sz="1050" dirty="0">
              <a:solidFill>
                <a:schemeClr val="tx1"/>
              </a:solidFill>
            </a:endParaRPr>
          </a:p>
          <a:p>
            <a:pPr algn="l"/>
            <a:r>
              <a:rPr kumimoji="1" lang="ja-JP" altLang="en-US" sz="1050" dirty="0">
                <a:solidFill>
                  <a:schemeClr val="tx1"/>
                </a:solidFill>
              </a:rPr>
              <a:t>・求人に対する情報量が多い：</a:t>
            </a:r>
            <a:r>
              <a:rPr kumimoji="1" lang="en-US" altLang="ja-JP" sz="1050" dirty="0">
                <a:solidFill>
                  <a:schemeClr val="tx1"/>
                </a:solidFill>
              </a:rPr>
              <a:t>49</a:t>
            </a:r>
            <a:r>
              <a:rPr kumimoji="1" lang="ja-JP" altLang="en-US" sz="1050" dirty="0">
                <a:solidFill>
                  <a:schemeClr val="tx1"/>
                </a:solidFill>
              </a:rPr>
              <a:t>％</a:t>
            </a:r>
            <a:endParaRPr kumimoji="1" lang="en-US" altLang="ja-JP" sz="1050" dirty="0">
              <a:solidFill>
                <a:schemeClr val="tx1"/>
              </a:solidFill>
            </a:endParaRPr>
          </a:p>
          <a:p>
            <a:pPr algn="l"/>
            <a:r>
              <a:rPr lang="ja-JP" altLang="en-US" sz="1050" dirty="0">
                <a:solidFill>
                  <a:schemeClr val="tx1"/>
                </a:solidFill>
              </a:rPr>
              <a:t>・応募書類の作成サポート：</a:t>
            </a:r>
            <a:r>
              <a:rPr lang="en-US" altLang="ja-JP" sz="1050" dirty="0">
                <a:solidFill>
                  <a:schemeClr val="tx1"/>
                </a:solidFill>
              </a:rPr>
              <a:t>39</a:t>
            </a:r>
            <a:r>
              <a:rPr lang="ja-JP" altLang="en-US" sz="1050" dirty="0">
                <a:solidFill>
                  <a:schemeClr val="tx1"/>
                </a:solidFill>
              </a:rPr>
              <a:t>％</a:t>
            </a:r>
            <a:endParaRPr lang="en-US" altLang="ja-JP" sz="1050" dirty="0">
              <a:solidFill>
                <a:schemeClr val="tx1"/>
              </a:solidFill>
            </a:endParaRPr>
          </a:p>
          <a:p>
            <a:pPr algn="l"/>
            <a:r>
              <a:rPr kumimoji="1" lang="ja-JP" altLang="en-US" sz="1050" dirty="0">
                <a:solidFill>
                  <a:schemeClr val="tx1"/>
                </a:solidFill>
              </a:rPr>
              <a:t>・応募</a:t>
            </a:r>
            <a:r>
              <a:rPr kumimoji="1" lang="en-US" altLang="ja-JP" sz="1050" dirty="0">
                <a:solidFill>
                  <a:schemeClr val="tx1"/>
                </a:solidFill>
              </a:rPr>
              <a:t>/</a:t>
            </a:r>
            <a:r>
              <a:rPr kumimoji="1" lang="ja-JP" altLang="en-US" sz="1050" dirty="0">
                <a:solidFill>
                  <a:schemeClr val="tx1"/>
                </a:solidFill>
              </a:rPr>
              <a:t>エントリーがしやすい：</a:t>
            </a:r>
            <a:r>
              <a:rPr kumimoji="1" lang="en-US" altLang="ja-JP" sz="1050" dirty="0">
                <a:solidFill>
                  <a:schemeClr val="tx1"/>
                </a:solidFill>
              </a:rPr>
              <a:t>32</a:t>
            </a:r>
            <a:r>
              <a:rPr kumimoji="1" lang="ja-JP" altLang="en-US" sz="1050" dirty="0">
                <a:solidFill>
                  <a:schemeClr val="tx1"/>
                </a:solidFill>
              </a:rPr>
              <a:t>％</a:t>
            </a:r>
            <a:endParaRPr kumimoji="1" lang="en-US" altLang="ja-JP" sz="1050" dirty="0">
              <a:solidFill>
                <a:schemeClr val="tx1"/>
              </a:solidFill>
            </a:endParaRPr>
          </a:p>
          <a:p>
            <a:pPr algn="l"/>
            <a:endParaRPr lang="en-US" altLang="ja-JP" sz="1050" dirty="0">
              <a:solidFill>
                <a:schemeClr val="tx1"/>
              </a:solidFill>
            </a:endParaRPr>
          </a:p>
          <a:p>
            <a:pPr algn="l"/>
            <a:r>
              <a:rPr kumimoji="1" lang="ja-JP" altLang="en-US" sz="1050" dirty="0">
                <a:solidFill>
                  <a:schemeClr val="tx1"/>
                </a:solidFill>
              </a:rPr>
              <a:t>∟面談希望あり内で開きのある項目</a:t>
            </a:r>
            <a:endParaRPr kumimoji="1" lang="en-US" altLang="ja-JP" sz="1050" dirty="0">
              <a:solidFill>
                <a:schemeClr val="tx1"/>
              </a:solidFill>
            </a:endParaRPr>
          </a:p>
          <a:p>
            <a:pPr algn="l"/>
            <a:r>
              <a:rPr lang="ja-JP" altLang="en-US" sz="1050" dirty="0">
                <a:solidFill>
                  <a:schemeClr val="tx1"/>
                </a:solidFill>
              </a:rPr>
              <a:t>・担当者が真剣に向き合ってくれる：面談実施あり</a:t>
            </a:r>
            <a:r>
              <a:rPr lang="en-US" altLang="ja-JP" sz="1050" dirty="0">
                <a:solidFill>
                  <a:schemeClr val="tx1"/>
                </a:solidFill>
              </a:rPr>
              <a:t>-18pt</a:t>
            </a:r>
          </a:p>
          <a:p>
            <a:r>
              <a:rPr kumimoji="1" lang="ja-JP" altLang="en-US" sz="1050" dirty="0">
                <a:solidFill>
                  <a:schemeClr val="tx1"/>
                </a:solidFill>
              </a:rPr>
              <a:t>・</a:t>
            </a:r>
            <a:r>
              <a:rPr lang="ja-JP" altLang="en-US" sz="1050" dirty="0">
                <a:solidFill>
                  <a:schemeClr val="tx1"/>
                </a:solidFill>
              </a:rPr>
              <a:t>面接アドバイス：面談実施あり</a:t>
            </a:r>
            <a:r>
              <a:rPr lang="en-US" altLang="ja-JP" sz="1050" dirty="0">
                <a:solidFill>
                  <a:schemeClr val="tx1"/>
                </a:solidFill>
              </a:rPr>
              <a:t>-13pt</a:t>
            </a:r>
            <a:endParaRPr kumimoji="1" lang="en-US" altLang="ja-JP" sz="1050" dirty="0">
              <a:solidFill>
                <a:schemeClr val="tx1"/>
              </a:solidFill>
            </a:endParaRPr>
          </a:p>
          <a:p>
            <a:pPr algn="l"/>
            <a:r>
              <a:rPr lang="ja-JP" altLang="en-US" sz="1050" dirty="0">
                <a:solidFill>
                  <a:schemeClr val="tx1"/>
                </a:solidFill>
              </a:rPr>
              <a:t>・転職実績が豊富：面談実施あり</a:t>
            </a:r>
            <a:r>
              <a:rPr lang="en-US" altLang="ja-JP" sz="1050" dirty="0">
                <a:solidFill>
                  <a:schemeClr val="tx1"/>
                </a:solidFill>
              </a:rPr>
              <a:t>-12pt</a:t>
            </a:r>
            <a:endParaRPr kumimoji="1" lang="en-US" altLang="ja-JP" sz="1050" dirty="0">
              <a:solidFill>
                <a:schemeClr val="tx1"/>
              </a:solidFill>
            </a:endParaRPr>
          </a:p>
        </p:txBody>
      </p:sp>
      <p:graphicFrame>
        <p:nvGraphicFramePr>
          <p:cNvPr id="14" name="グラフ 13">
            <a:extLst>
              <a:ext uri="{FF2B5EF4-FFF2-40B4-BE49-F238E27FC236}">
                <a16:creationId xmlns:a16="http://schemas.microsoft.com/office/drawing/2014/main" id="{A546DAA1-DB1C-158D-D9C8-9601750EDB0A}"/>
              </a:ext>
            </a:extLst>
          </p:cNvPr>
          <p:cNvGraphicFramePr>
            <a:graphicFrameLocks/>
          </p:cNvGraphicFramePr>
          <p:nvPr>
            <p:extLst>
              <p:ext uri="{D42A27DB-BD31-4B8C-83A1-F6EECF244321}">
                <p14:modId xmlns:p14="http://schemas.microsoft.com/office/powerpoint/2010/main" val="2806045551"/>
              </p:ext>
            </p:extLst>
          </p:nvPr>
        </p:nvGraphicFramePr>
        <p:xfrm>
          <a:off x="4475857" y="1437669"/>
          <a:ext cx="7099358" cy="2233177"/>
        </p:xfrm>
        <a:graphic>
          <a:graphicData uri="http://schemas.openxmlformats.org/drawingml/2006/chart">
            <c:chart xmlns:c="http://schemas.openxmlformats.org/drawingml/2006/chart" xmlns:r="http://schemas.openxmlformats.org/officeDocument/2006/relationships" r:id="rId2"/>
          </a:graphicData>
        </a:graphic>
      </p:graphicFrame>
      <p:sp>
        <p:nvSpPr>
          <p:cNvPr id="13" name="テキスト ボックス 12">
            <a:extLst>
              <a:ext uri="{FF2B5EF4-FFF2-40B4-BE49-F238E27FC236}">
                <a16:creationId xmlns:a16="http://schemas.microsoft.com/office/drawing/2014/main" id="{8B7B8BF3-E6ED-246D-89F4-9EDA1AF1825B}"/>
              </a:ext>
            </a:extLst>
          </p:cNvPr>
          <p:cNvSpPr txBox="1"/>
          <p:nvPr/>
        </p:nvSpPr>
        <p:spPr>
          <a:xfrm>
            <a:off x="6096000" y="1372884"/>
            <a:ext cx="3543252" cy="253916"/>
          </a:xfrm>
          <a:prstGeom prst="rect">
            <a:avLst/>
          </a:prstGeom>
          <a:noFill/>
        </p:spPr>
        <p:txBody>
          <a:bodyPr wrap="square" rtlCol="0">
            <a:spAutoFit/>
          </a:bodyPr>
          <a:lstStyle/>
          <a:p>
            <a:pPr algn="ctr"/>
            <a:r>
              <a:rPr kumimoji="1" lang="ja-JP" altLang="en-US" sz="1000" b="1" u="sng" dirty="0"/>
              <a:t>転職活動中にサポートが欲しいと思った時</a:t>
            </a:r>
          </a:p>
        </p:txBody>
      </p:sp>
      <p:graphicFrame>
        <p:nvGraphicFramePr>
          <p:cNvPr id="15" name="表 15">
            <a:extLst>
              <a:ext uri="{FF2B5EF4-FFF2-40B4-BE49-F238E27FC236}">
                <a16:creationId xmlns:a16="http://schemas.microsoft.com/office/drawing/2014/main" id="{01F25F8C-E39E-5C67-10FF-649FEADB2D7A}"/>
              </a:ext>
            </a:extLst>
          </p:cNvPr>
          <p:cNvGraphicFramePr>
            <a:graphicFrameLocks noGrp="1"/>
          </p:cNvGraphicFramePr>
          <p:nvPr>
            <p:extLst>
              <p:ext uri="{D42A27DB-BD31-4B8C-83A1-F6EECF244321}">
                <p14:modId xmlns:p14="http://schemas.microsoft.com/office/powerpoint/2010/main" val="998480257"/>
              </p:ext>
            </p:extLst>
          </p:nvPr>
        </p:nvGraphicFramePr>
        <p:xfrm>
          <a:off x="656311" y="3829537"/>
          <a:ext cx="10855566" cy="2206464"/>
        </p:xfrm>
        <a:graphic>
          <a:graphicData uri="http://schemas.openxmlformats.org/drawingml/2006/table">
            <a:tbl>
              <a:tblPr firstRow="1" bandRow="1">
                <a:tableStyleId>{2D5ABB26-0587-4C30-8999-92F81FD0307C}</a:tableStyleId>
              </a:tblPr>
              <a:tblGrid>
                <a:gridCol w="1008366">
                  <a:extLst>
                    <a:ext uri="{9D8B030D-6E8A-4147-A177-3AD203B41FA5}">
                      <a16:colId xmlns:a16="http://schemas.microsoft.com/office/drawing/2014/main" val="2032334497"/>
                    </a:ext>
                  </a:extLst>
                </a:gridCol>
                <a:gridCol w="1273908">
                  <a:extLst>
                    <a:ext uri="{9D8B030D-6E8A-4147-A177-3AD203B41FA5}">
                      <a16:colId xmlns:a16="http://schemas.microsoft.com/office/drawing/2014/main" val="185690606"/>
                    </a:ext>
                  </a:extLst>
                </a:gridCol>
                <a:gridCol w="1273907">
                  <a:extLst>
                    <a:ext uri="{9D8B030D-6E8A-4147-A177-3AD203B41FA5}">
                      <a16:colId xmlns:a16="http://schemas.microsoft.com/office/drawing/2014/main" val="383090618"/>
                    </a:ext>
                  </a:extLst>
                </a:gridCol>
                <a:gridCol w="1268515">
                  <a:extLst>
                    <a:ext uri="{9D8B030D-6E8A-4147-A177-3AD203B41FA5}">
                      <a16:colId xmlns:a16="http://schemas.microsoft.com/office/drawing/2014/main" val="3614182275"/>
                    </a:ext>
                  </a:extLst>
                </a:gridCol>
                <a:gridCol w="1206174">
                  <a:extLst>
                    <a:ext uri="{9D8B030D-6E8A-4147-A177-3AD203B41FA5}">
                      <a16:colId xmlns:a16="http://schemas.microsoft.com/office/drawing/2014/main" val="3847822027"/>
                    </a:ext>
                  </a:extLst>
                </a:gridCol>
                <a:gridCol w="1206174">
                  <a:extLst>
                    <a:ext uri="{9D8B030D-6E8A-4147-A177-3AD203B41FA5}">
                      <a16:colId xmlns:a16="http://schemas.microsoft.com/office/drawing/2014/main" val="2204820772"/>
                    </a:ext>
                  </a:extLst>
                </a:gridCol>
                <a:gridCol w="1206174">
                  <a:extLst>
                    <a:ext uri="{9D8B030D-6E8A-4147-A177-3AD203B41FA5}">
                      <a16:colId xmlns:a16="http://schemas.microsoft.com/office/drawing/2014/main" val="2400484386"/>
                    </a:ext>
                  </a:extLst>
                </a:gridCol>
                <a:gridCol w="1206174">
                  <a:extLst>
                    <a:ext uri="{9D8B030D-6E8A-4147-A177-3AD203B41FA5}">
                      <a16:colId xmlns:a16="http://schemas.microsoft.com/office/drawing/2014/main" val="3280332275"/>
                    </a:ext>
                  </a:extLst>
                </a:gridCol>
                <a:gridCol w="1206174">
                  <a:extLst>
                    <a:ext uri="{9D8B030D-6E8A-4147-A177-3AD203B41FA5}">
                      <a16:colId xmlns:a16="http://schemas.microsoft.com/office/drawing/2014/main" val="635663444"/>
                    </a:ext>
                  </a:extLst>
                </a:gridCol>
              </a:tblGrid>
              <a:tr h="617416">
                <a:tc>
                  <a:txBody>
                    <a:bodyPr/>
                    <a:lstStyle/>
                    <a:p>
                      <a:pPr algn="ctr"/>
                      <a:endParaRPr kumimoji="1" lang="ja-JP" altLang="en-US" sz="1000" b="1" dirty="0">
                        <a:solidFill>
                          <a:schemeClr val="tx1"/>
                        </a:solidFill>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E1E5EB"/>
                    </a:solidFill>
                  </a:tcPr>
                </a:tc>
                <a:tc>
                  <a:txBody>
                    <a:bodyPr/>
                    <a:lstStyle/>
                    <a:p>
                      <a:pPr algn="ctr"/>
                      <a:r>
                        <a:rPr kumimoji="1" lang="ja-JP" altLang="en-US" sz="1000" b="1" dirty="0">
                          <a:solidFill>
                            <a:schemeClr val="tx1"/>
                          </a:solidFill>
                        </a:rPr>
                        <a:t>転職活動を進めるか迷っている</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E1E5EB"/>
                    </a:solidFill>
                  </a:tcPr>
                </a:tc>
                <a:tc>
                  <a:txBody>
                    <a:bodyPr/>
                    <a:lstStyle/>
                    <a:p>
                      <a:pPr algn="ctr"/>
                      <a:r>
                        <a:rPr kumimoji="1" lang="ja-JP" altLang="en-US" sz="1000" b="1" dirty="0">
                          <a:solidFill>
                            <a:schemeClr val="tx1"/>
                          </a:solidFill>
                        </a:rPr>
                        <a:t>求人を探す</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E1E5EB"/>
                    </a:solidFill>
                  </a:tcPr>
                </a:tc>
                <a:tc>
                  <a:txBody>
                    <a:bodyPr/>
                    <a:lstStyle/>
                    <a:p>
                      <a:pPr algn="ctr"/>
                      <a:r>
                        <a:rPr kumimoji="1" lang="ja-JP" altLang="en-US" sz="1000" b="1" dirty="0">
                          <a:solidFill>
                            <a:schemeClr val="tx1"/>
                          </a:solidFill>
                        </a:rPr>
                        <a:t>応募する求人を</a:t>
                      </a:r>
                      <a:endParaRPr kumimoji="1" lang="en-US" altLang="ja-JP" sz="1000" b="1" dirty="0">
                        <a:solidFill>
                          <a:schemeClr val="tx1"/>
                        </a:solidFill>
                      </a:endParaRPr>
                    </a:p>
                    <a:p>
                      <a:pPr algn="ctr"/>
                      <a:r>
                        <a:rPr kumimoji="1" lang="ja-JP" altLang="en-US" sz="1000" b="1" dirty="0">
                          <a:solidFill>
                            <a:schemeClr val="tx1"/>
                          </a:solidFill>
                        </a:rPr>
                        <a:t>決める</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E1E5EB"/>
                    </a:solidFill>
                  </a:tcPr>
                </a:tc>
                <a:tc>
                  <a:txBody>
                    <a:bodyPr/>
                    <a:lstStyle/>
                    <a:p>
                      <a:pPr algn="ctr"/>
                      <a:r>
                        <a:rPr kumimoji="1" lang="ja-JP" altLang="en-US" sz="1000" b="1" dirty="0">
                          <a:solidFill>
                            <a:schemeClr val="tx1"/>
                          </a:solidFill>
                        </a:rPr>
                        <a:t>応募書類の作成</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E1E5EB"/>
                    </a:solidFill>
                  </a:tcPr>
                </a:tc>
                <a:tc>
                  <a:txBody>
                    <a:bodyPr/>
                    <a:lstStyle/>
                    <a:p>
                      <a:pPr algn="ctr"/>
                      <a:r>
                        <a:rPr kumimoji="1" lang="ja-JP" altLang="en-US" sz="1000" b="1" dirty="0">
                          <a:solidFill>
                            <a:schemeClr val="tx1"/>
                          </a:solidFill>
                        </a:rPr>
                        <a:t>応募書類の添削</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E1E5EB"/>
                    </a:solidFill>
                  </a:tcPr>
                </a:tc>
                <a:tc>
                  <a:txBody>
                    <a:bodyPr/>
                    <a:lstStyle/>
                    <a:p>
                      <a:pPr algn="ctr"/>
                      <a:r>
                        <a:rPr kumimoji="1" lang="ja-JP" altLang="en-US" sz="1000" b="1" dirty="0">
                          <a:solidFill>
                            <a:schemeClr val="tx1"/>
                          </a:solidFill>
                        </a:rPr>
                        <a:t>選考が上手く</a:t>
                      </a:r>
                      <a:endParaRPr kumimoji="1" lang="en-US" altLang="ja-JP" sz="1000" b="1" dirty="0">
                        <a:solidFill>
                          <a:schemeClr val="tx1"/>
                        </a:solidFill>
                      </a:endParaRPr>
                    </a:p>
                    <a:p>
                      <a:pPr algn="ctr"/>
                      <a:r>
                        <a:rPr kumimoji="1" lang="ja-JP" altLang="en-US" sz="1000" b="1" dirty="0">
                          <a:solidFill>
                            <a:schemeClr val="tx1"/>
                          </a:solidFill>
                        </a:rPr>
                        <a:t>進まない</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E1E5EB"/>
                    </a:solidFill>
                  </a:tcPr>
                </a:tc>
                <a:tc>
                  <a:txBody>
                    <a:bodyPr/>
                    <a:lstStyle/>
                    <a:p>
                      <a:pPr algn="ctr"/>
                      <a:r>
                        <a:rPr kumimoji="1" lang="ja-JP" altLang="en-US" sz="1000" b="1" dirty="0">
                          <a:solidFill>
                            <a:schemeClr val="tx1"/>
                          </a:solidFill>
                        </a:rPr>
                        <a:t>面接対策</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E1E5EB"/>
                    </a:solidFill>
                  </a:tcPr>
                </a:tc>
                <a:tc>
                  <a:txBody>
                    <a:bodyPr/>
                    <a:lstStyle/>
                    <a:p>
                      <a:pPr algn="ctr"/>
                      <a:r>
                        <a:rPr kumimoji="1" lang="ja-JP" altLang="en-US" sz="1000" b="1" dirty="0">
                          <a:solidFill>
                            <a:schemeClr val="tx1"/>
                          </a:solidFill>
                        </a:rPr>
                        <a:t>内定</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E1E5EB"/>
                    </a:solidFill>
                  </a:tcPr>
                </a:tc>
                <a:extLst>
                  <a:ext uri="{0D108BD9-81ED-4DB2-BD59-A6C34878D82A}">
                    <a16:rowId xmlns:a16="http://schemas.microsoft.com/office/drawing/2014/main" val="322668385"/>
                  </a:ext>
                </a:extLst>
              </a:tr>
              <a:tr h="766088">
                <a:tc>
                  <a:txBody>
                    <a:bodyPr/>
                    <a:lstStyle/>
                    <a:p>
                      <a:pPr algn="ctr"/>
                      <a:r>
                        <a:rPr kumimoji="1" lang="ja-JP" altLang="en-US" sz="1000" b="1" dirty="0">
                          <a:solidFill>
                            <a:schemeClr val="tx1"/>
                          </a:solidFill>
                        </a:rPr>
                        <a:t>重視観点</a:t>
                      </a:r>
                      <a:endParaRPr kumimoji="1" lang="en-US" altLang="ja-JP" sz="1000" b="1" dirty="0">
                        <a:solidFill>
                          <a:schemeClr val="tx1"/>
                        </a:solidFill>
                      </a:endParaRPr>
                    </a:p>
                    <a:p>
                      <a:pPr algn="ctr"/>
                      <a:r>
                        <a:rPr kumimoji="1" lang="en-US" altLang="ja-JP" sz="800" b="1" dirty="0">
                          <a:solidFill>
                            <a:schemeClr val="tx1"/>
                          </a:solidFill>
                        </a:rPr>
                        <a:t>※</a:t>
                      </a:r>
                      <a:r>
                        <a:rPr kumimoji="1" lang="ja-JP" altLang="en-US" sz="800" b="1" dirty="0">
                          <a:solidFill>
                            <a:schemeClr val="tx1"/>
                          </a:solidFill>
                        </a:rPr>
                        <a:t>上位</a:t>
                      </a:r>
                      <a:r>
                        <a:rPr kumimoji="1" lang="en-US" altLang="ja-JP" sz="800" b="1" dirty="0">
                          <a:solidFill>
                            <a:schemeClr val="tx1"/>
                          </a:solidFill>
                        </a:rPr>
                        <a:t>3</a:t>
                      </a:r>
                      <a:r>
                        <a:rPr kumimoji="1" lang="ja-JP" altLang="en-US" sz="800" b="1" dirty="0">
                          <a:solidFill>
                            <a:schemeClr val="tx1"/>
                          </a:solidFill>
                        </a:rPr>
                        <a:t>項目</a:t>
                      </a:r>
                      <a:endParaRPr kumimoji="1" lang="en-US" altLang="ja-JP" sz="800" b="1" dirty="0">
                        <a:solidFill>
                          <a:schemeClr val="tx1"/>
                        </a:solidFill>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AAB5C6"/>
                    </a:solidFill>
                  </a:tcPr>
                </a:tc>
                <a:tc>
                  <a:txBody>
                    <a:bodyPr/>
                    <a:lstStyle/>
                    <a:p>
                      <a:pPr algn="l"/>
                      <a:r>
                        <a:rPr kumimoji="1" lang="ja-JP" altLang="en-US" sz="800" dirty="0">
                          <a:solidFill>
                            <a:schemeClr val="tx1"/>
                          </a:solidFill>
                        </a:rPr>
                        <a:t>・利用のしやすさ</a:t>
                      </a:r>
                      <a:r>
                        <a:rPr kumimoji="1" lang="en-US" altLang="ja-JP" sz="800" dirty="0">
                          <a:solidFill>
                            <a:schemeClr val="tx1"/>
                          </a:solidFill>
                        </a:rPr>
                        <a:t>/</a:t>
                      </a:r>
                      <a:r>
                        <a:rPr kumimoji="1" lang="ja-JP" altLang="en-US" sz="800" dirty="0">
                          <a:solidFill>
                            <a:schemeClr val="tx1"/>
                          </a:solidFill>
                        </a:rPr>
                        <a:t>手軽さ</a:t>
                      </a:r>
                      <a:endParaRPr kumimoji="1" lang="en-US" altLang="ja-JP" sz="800" dirty="0">
                        <a:solidFill>
                          <a:schemeClr val="tx1"/>
                        </a:solidFill>
                      </a:endParaRPr>
                    </a:p>
                    <a:p>
                      <a:pPr algn="l"/>
                      <a:r>
                        <a:rPr kumimoji="1" lang="ja-JP" altLang="en-US" sz="800" dirty="0">
                          <a:solidFill>
                            <a:schemeClr val="tx1"/>
                          </a:solidFill>
                        </a:rPr>
                        <a:t>・気持ちや立場に共感</a:t>
                      </a:r>
                      <a:r>
                        <a:rPr kumimoji="1" lang="en-US" altLang="ja-JP" sz="800" dirty="0">
                          <a:solidFill>
                            <a:schemeClr val="tx1"/>
                          </a:solidFill>
                        </a:rPr>
                        <a:t>/</a:t>
                      </a:r>
                      <a:r>
                        <a:rPr kumimoji="1" lang="ja-JP" altLang="en-US" sz="800" dirty="0">
                          <a:solidFill>
                            <a:schemeClr val="tx1"/>
                          </a:solidFill>
                        </a:rPr>
                        <a:t>理解してくれる</a:t>
                      </a:r>
                      <a:endParaRPr kumimoji="1" lang="en-US" altLang="ja-JP" sz="800" dirty="0">
                        <a:solidFill>
                          <a:schemeClr val="tx1"/>
                        </a:solidFill>
                      </a:endParaRPr>
                    </a:p>
                    <a:p>
                      <a:pPr algn="l"/>
                      <a:r>
                        <a:rPr kumimoji="1" lang="ja-JP" altLang="en-US" sz="800" dirty="0">
                          <a:solidFill>
                            <a:schemeClr val="tx1"/>
                          </a:solidFill>
                        </a:rPr>
                        <a:t>・信頼</a:t>
                      </a:r>
                      <a:r>
                        <a:rPr kumimoji="1" lang="en-US" altLang="ja-JP" sz="800" dirty="0">
                          <a:solidFill>
                            <a:schemeClr val="tx1"/>
                          </a:solidFill>
                        </a:rPr>
                        <a:t>/</a:t>
                      </a:r>
                      <a:r>
                        <a:rPr kumimoji="1" lang="ja-JP" altLang="en-US" sz="800" dirty="0">
                          <a:solidFill>
                            <a:schemeClr val="tx1"/>
                          </a:solidFill>
                        </a:rPr>
                        <a:t>安心感を得られる</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・利用のしやすさ</a:t>
                      </a:r>
                      <a:r>
                        <a:rPr kumimoji="1" lang="en-US" altLang="ja-JP" sz="800" dirty="0">
                          <a:solidFill>
                            <a:schemeClr val="tx1"/>
                          </a:solidFill>
                        </a:rPr>
                        <a:t>/</a:t>
                      </a:r>
                      <a:r>
                        <a:rPr kumimoji="1" lang="ja-JP" altLang="en-US" sz="800" dirty="0">
                          <a:solidFill>
                            <a:schemeClr val="tx1"/>
                          </a:solidFill>
                        </a:rPr>
                        <a:t>手軽さ</a:t>
                      </a:r>
                      <a:endParaRPr kumimoji="1" lang="en-US" altLang="ja-JP" sz="800" dirty="0">
                        <a:solidFill>
                          <a:schemeClr val="tx1"/>
                        </a:solidFill>
                      </a:endParaRPr>
                    </a:p>
                    <a:p>
                      <a:pPr algn="l"/>
                      <a:r>
                        <a:rPr kumimoji="1" lang="ja-JP" altLang="en-US" sz="800" dirty="0">
                          <a:solidFill>
                            <a:schemeClr val="tx1"/>
                          </a:solidFill>
                        </a:rPr>
                        <a:t>・正確な情報やサービスの提供</a:t>
                      </a:r>
                      <a:endParaRPr kumimoji="1" lang="en-US" altLang="ja-JP" sz="800" dirty="0">
                        <a:solidFill>
                          <a:schemeClr val="tx1"/>
                        </a:solidFill>
                      </a:endParaRPr>
                    </a:p>
                    <a:p>
                      <a:pPr algn="l"/>
                      <a:r>
                        <a:rPr kumimoji="1" lang="ja-JP" altLang="en-US" sz="800" dirty="0">
                          <a:solidFill>
                            <a:schemeClr val="tx1"/>
                          </a:solidFill>
                        </a:rPr>
                        <a:t>・ニーズへの柔軟な対応</a:t>
                      </a:r>
                      <a:endParaRPr kumimoji="1" lang="en-US" altLang="ja-JP" sz="800" dirty="0">
                        <a:solidFill>
                          <a:schemeClr val="tx1"/>
                        </a:solidFill>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algn="l"/>
                      <a:r>
                        <a:rPr kumimoji="1" lang="ja-JP" altLang="en-US" sz="800" dirty="0">
                          <a:solidFill>
                            <a:schemeClr val="tx1"/>
                          </a:solidFill>
                        </a:rPr>
                        <a:t>・信頼</a:t>
                      </a:r>
                      <a:r>
                        <a:rPr kumimoji="1" lang="en-US" altLang="ja-JP" sz="800" dirty="0">
                          <a:solidFill>
                            <a:schemeClr val="tx1"/>
                          </a:solidFill>
                        </a:rPr>
                        <a:t>/</a:t>
                      </a:r>
                      <a:r>
                        <a:rPr kumimoji="1" lang="ja-JP" altLang="en-US" sz="800" dirty="0">
                          <a:solidFill>
                            <a:schemeClr val="tx1"/>
                          </a:solidFill>
                        </a:rPr>
                        <a:t>安心感を得られる</a:t>
                      </a:r>
                      <a:endParaRPr kumimoji="1" lang="en-US" altLang="ja-JP" sz="800" dirty="0">
                        <a:solidFill>
                          <a:schemeClr val="tx1"/>
                        </a:solidFill>
                      </a:endParaRPr>
                    </a:p>
                    <a:p>
                      <a:pPr algn="l"/>
                      <a:r>
                        <a:rPr kumimoji="1" lang="ja-JP" altLang="en-US" sz="800" dirty="0">
                          <a:solidFill>
                            <a:schemeClr val="tx1"/>
                          </a:solidFill>
                        </a:rPr>
                        <a:t>・プロフェッショナルな知識やスキル</a:t>
                      </a:r>
                      <a:endParaRPr kumimoji="1" lang="en-US" altLang="ja-JP" sz="800" dirty="0">
                        <a:solidFill>
                          <a:schemeClr val="tx1"/>
                        </a:solidFill>
                      </a:endParaRPr>
                    </a:p>
                    <a:p>
                      <a:pPr algn="l"/>
                      <a:r>
                        <a:rPr kumimoji="1" lang="ja-JP" altLang="en-US" sz="800" dirty="0">
                          <a:solidFill>
                            <a:schemeClr val="tx1"/>
                          </a:solidFill>
                        </a:rPr>
                        <a:t>・正確な情報やサービス提供</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algn="l"/>
                      <a:r>
                        <a:rPr kumimoji="1" lang="ja-JP" altLang="en-US" sz="800" dirty="0">
                          <a:solidFill>
                            <a:schemeClr val="tx1"/>
                          </a:solidFill>
                        </a:rPr>
                        <a:t>・プロフェッショナルな知識やスキル</a:t>
                      </a:r>
                      <a:endParaRPr kumimoji="1" lang="en-US" altLang="ja-JP" sz="8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・信頼</a:t>
                      </a:r>
                      <a:r>
                        <a:rPr kumimoji="1" lang="en-US" altLang="ja-JP" sz="800" dirty="0">
                          <a:solidFill>
                            <a:schemeClr val="tx1"/>
                          </a:solidFill>
                        </a:rPr>
                        <a:t>/</a:t>
                      </a:r>
                      <a:r>
                        <a:rPr kumimoji="1" lang="ja-JP" altLang="en-US" sz="800" dirty="0">
                          <a:solidFill>
                            <a:schemeClr val="tx1"/>
                          </a:solidFill>
                        </a:rPr>
                        <a:t>安心感を得られる</a:t>
                      </a:r>
                      <a:endParaRPr kumimoji="1" lang="en-US" altLang="ja-JP" sz="800" dirty="0">
                        <a:solidFill>
                          <a:schemeClr val="tx1"/>
                        </a:solidFill>
                      </a:endParaRPr>
                    </a:p>
                    <a:p>
                      <a:pPr algn="l"/>
                      <a:r>
                        <a:rPr kumimoji="1" lang="ja-JP" altLang="en-US" sz="800" dirty="0">
                          <a:solidFill>
                            <a:schemeClr val="tx1"/>
                          </a:solidFill>
                        </a:rPr>
                        <a:t>・素早く回答が得られる</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algn="l"/>
                      <a:r>
                        <a:rPr kumimoji="1" lang="ja-JP" altLang="en-US" sz="800" dirty="0">
                          <a:solidFill>
                            <a:schemeClr val="tx1"/>
                          </a:solidFill>
                        </a:rPr>
                        <a:t>・プロフェッショナルな知識やスキル</a:t>
                      </a:r>
                      <a:endParaRPr kumimoji="1" lang="en-US" altLang="ja-JP" sz="8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・信頼</a:t>
                      </a:r>
                      <a:r>
                        <a:rPr kumimoji="1" lang="en-US" altLang="ja-JP" sz="800" dirty="0">
                          <a:solidFill>
                            <a:schemeClr val="tx1"/>
                          </a:solidFill>
                        </a:rPr>
                        <a:t>/</a:t>
                      </a:r>
                      <a:r>
                        <a:rPr kumimoji="1" lang="ja-JP" altLang="en-US" sz="800" dirty="0">
                          <a:solidFill>
                            <a:schemeClr val="tx1"/>
                          </a:solidFill>
                        </a:rPr>
                        <a:t>安心感を得られる</a:t>
                      </a:r>
                      <a:endParaRPr kumimoji="1" lang="en-US" altLang="ja-JP" sz="800" dirty="0">
                        <a:solidFill>
                          <a:schemeClr val="tx1"/>
                        </a:solidFill>
                      </a:endParaRPr>
                    </a:p>
                    <a:p>
                      <a:pPr algn="l"/>
                      <a:r>
                        <a:rPr kumimoji="1" lang="ja-JP" altLang="en-US" sz="800" dirty="0">
                          <a:solidFill>
                            <a:schemeClr val="tx1"/>
                          </a:solidFill>
                        </a:rPr>
                        <a:t>・素早く回答が得られる</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algn="l"/>
                      <a:r>
                        <a:rPr kumimoji="1" lang="ja-JP" altLang="en-US" sz="800" dirty="0">
                          <a:solidFill>
                            <a:schemeClr val="tx1"/>
                          </a:solidFill>
                        </a:rPr>
                        <a:t>・気持ちや立場に共感</a:t>
                      </a:r>
                      <a:r>
                        <a:rPr kumimoji="1" lang="en-US" altLang="ja-JP" sz="800" dirty="0">
                          <a:solidFill>
                            <a:schemeClr val="tx1"/>
                          </a:solidFill>
                        </a:rPr>
                        <a:t>/</a:t>
                      </a:r>
                      <a:r>
                        <a:rPr kumimoji="1" lang="ja-JP" altLang="en-US" sz="800" dirty="0">
                          <a:solidFill>
                            <a:schemeClr val="tx1"/>
                          </a:solidFill>
                        </a:rPr>
                        <a:t>理解してくれる</a:t>
                      </a:r>
                      <a:endParaRPr kumimoji="1" lang="en-US" altLang="ja-JP" sz="800" dirty="0">
                        <a:solidFill>
                          <a:schemeClr val="tx1"/>
                        </a:solidFill>
                      </a:endParaRPr>
                    </a:p>
                    <a:p>
                      <a:pPr algn="l"/>
                      <a:r>
                        <a:rPr kumimoji="1" lang="ja-JP" altLang="en-US" sz="800" dirty="0">
                          <a:solidFill>
                            <a:schemeClr val="tx1"/>
                          </a:solidFill>
                        </a:rPr>
                        <a:t>・信頼</a:t>
                      </a:r>
                      <a:r>
                        <a:rPr kumimoji="1" lang="en-US" altLang="ja-JP" sz="800" dirty="0">
                          <a:solidFill>
                            <a:schemeClr val="tx1"/>
                          </a:solidFill>
                        </a:rPr>
                        <a:t>/</a:t>
                      </a:r>
                      <a:r>
                        <a:rPr kumimoji="1" lang="ja-JP" altLang="en-US" sz="800" dirty="0">
                          <a:solidFill>
                            <a:schemeClr val="tx1"/>
                          </a:solidFill>
                        </a:rPr>
                        <a:t>安心感を得られる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・プロフェッショナルな知識やスキル</a:t>
                      </a:r>
                      <a:endParaRPr kumimoji="1" lang="en-US" altLang="ja-JP" sz="800" dirty="0">
                        <a:solidFill>
                          <a:schemeClr val="tx1"/>
                        </a:solidFill>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・プロフェッショナルな知識やスキル</a:t>
                      </a:r>
                      <a:endParaRPr kumimoji="1" lang="en-US" altLang="ja-JP" sz="8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・利用のしやすさ</a:t>
                      </a:r>
                      <a:r>
                        <a:rPr kumimoji="1" lang="en-US" altLang="ja-JP" sz="800" dirty="0">
                          <a:solidFill>
                            <a:schemeClr val="tx1"/>
                          </a:solidFill>
                        </a:rPr>
                        <a:t>/</a:t>
                      </a:r>
                      <a:r>
                        <a:rPr kumimoji="1" lang="ja-JP" altLang="en-US" sz="800" dirty="0">
                          <a:solidFill>
                            <a:schemeClr val="tx1"/>
                          </a:solidFill>
                        </a:rPr>
                        <a:t>手軽さ</a:t>
                      </a:r>
                      <a:endParaRPr kumimoji="1" lang="en-US" altLang="ja-JP" sz="8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・信頼</a:t>
                      </a:r>
                      <a:r>
                        <a:rPr kumimoji="1" lang="en-US" altLang="ja-JP" sz="800" dirty="0">
                          <a:solidFill>
                            <a:schemeClr val="tx1"/>
                          </a:solidFill>
                        </a:rPr>
                        <a:t>/</a:t>
                      </a:r>
                      <a:r>
                        <a:rPr kumimoji="1" lang="ja-JP" altLang="en-US" sz="800" dirty="0">
                          <a:solidFill>
                            <a:schemeClr val="tx1"/>
                          </a:solidFill>
                        </a:rPr>
                        <a:t>安心感を得られる</a:t>
                      </a:r>
                      <a:endParaRPr kumimoji="1" lang="en-US" altLang="ja-JP" sz="800" dirty="0">
                        <a:solidFill>
                          <a:schemeClr val="tx1"/>
                        </a:solidFill>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・信頼</a:t>
                      </a:r>
                      <a:r>
                        <a:rPr kumimoji="1" lang="en-US" altLang="ja-JP" sz="800" dirty="0">
                          <a:solidFill>
                            <a:schemeClr val="tx1"/>
                          </a:solidFill>
                        </a:rPr>
                        <a:t>/</a:t>
                      </a:r>
                      <a:r>
                        <a:rPr kumimoji="1" lang="ja-JP" altLang="en-US" sz="800" dirty="0">
                          <a:solidFill>
                            <a:schemeClr val="tx1"/>
                          </a:solidFill>
                        </a:rPr>
                        <a:t>安心感を得られる</a:t>
                      </a:r>
                      <a:endParaRPr kumimoji="1" lang="en-US" altLang="ja-JP" sz="8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・正確な情報やサービス提供</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・気持ちや立場に共感</a:t>
                      </a:r>
                      <a:r>
                        <a:rPr kumimoji="1" lang="en-US" altLang="ja-JP" sz="800" dirty="0">
                          <a:solidFill>
                            <a:schemeClr val="tx1"/>
                          </a:solidFill>
                        </a:rPr>
                        <a:t>/</a:t>
                      </a:r>
                      <a:r>
                        <a:rPr kumimoji="1" lang="ja-JP" altLang="en-US" sz="800" dirty="0">
                          <a:solidFill>
                            <a:schemeClr val="tx1"/>
                          </a:solidFill>
                        </a:rPr>
                        <a:t>理解してくれる</a:t>
                      </a:r>
                      <a:endParaRPr kumimoji="1" lang="en-US" altLang="ja-JP" sz="800" dirty="0">
                        <a:solidFill>
                          <a:schemeClr val="tx1"/>
                        </a:solidFill>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375519363"/>
                  </a:ext>
                </a:extLst>
              </a:tr>
              <a:tr h="766088">
                <a:tc>
                  <a:txBody>
                    <a:bodyPr/>
                    <a:lstStyle/>
                    <a:p>
                      <a:pPr algn="ctr"/>
                      <a:r>
                        <a:rPr kumimoji="1" lang="ja-JP" altLang="en-US" sz="1000" b="1" dirty="0">
                          <a:solidFill>
                            <a:schemeClr val="tx1"/>
                          </a:solidFill>
                        </a:rPr>
                        <a:t>希望する</a:t>
                      </a:r>
                      <a:endParaRPr kumimoji="1" lang="en-US" altLang="ja-JP" sz="1000" b="1" dirty="0">
                        <a:solidFill>
                          <a:schemeClr val="tx1"/>
                        </a:solidFill>
                      </a:endParaRPr>
                    </a:p>
                    <a:p>
                      <a:pPr algn="ctr"/>
                      <a:r>
                        <a:rPr kumimoji="1" lang="ja-JP" altLang="en-US" sz="1000" b="1" dirty="0">
                          <a:solidFill>
                            <a:schemeClr val="tx1"/>
                          </a:solidFill>
                        </a:rPr>
                        <a:t>サポート形態</a:t>
                      </a:r>
                      <a:endParaRPr kumimoji="1" lang="en-US" altLang="ja-JP" sz="1000" b="1"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1" dirty="0">
                          <a:solidFill>
                            <a:schemeClr val="tx1"/>
                          </a:solidFill>
                        </a:rPr>
                        <a:t>※</a:t>
                      </a:r>
                      <a:r>
                        <a:rPr kumimoji="1" lang="ja-JP" altLang="en-US" sz="800" b="1" dirty="0">
                          <a:solidFill>
                            <a:schemeClr val="tx1"/>
                          </a:solidFill>
                        </a:rPr>
                        <a:t>上位</a:t>
                      </a:r>
                      <a:r>
                        <a:rPr kumimoji="1" lang="en-US" altLang="ja-JP" sz="800" b="1" dirty="0">
                          <a:solidFill>
                            <a:schemeClr val="tx1"/>
                          </a:solidFill>
                        </a:rPr>
                        <a:t>3</a:t>
                      </a:r>
                      <a:r>
                        <a:rPr kumimoji="1" lang="ja-JP" altLang="en-US" sz="800" b="1" dirty="0">
                          <a:solidFill>
                            <a:schemeClr val="tx1"/>
                          </a:solidFill>
                        </a:rPr>
                        <a:t>項目</a:t>
                      </a:r>
                      <a:endParaRPr kumimoji="1" lang="en-US" altLang="ja-JP" sz="1000" b="1" dirty="0">
                        <a:solidFill>
                          <a:schemeClr val="tx1"/>
                        </a:solidFill>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AAB5C6"/>
                    </a:solidFill>
                  </a:tcPr>
                </a:tc>
                <a:tc>
                  <a:txBody>
                    <a:bodyPr/>
                    <a:lstStyle/>
                    <a:p>
                      <a:pPr algn="l"/>
                      <a:r>
                        <a:rPr kumimoji="1" lang="ja-JP" altLang="en-US" sz="800" dirty="0">
                          <a:solidFill>
                            <a:schemeClr val="tx1"/>
                          </a:solidFill>
                          <a:latin typeface="+mn-ea"/>
                          <a:ea typeface="+mn-ea"/>
                        </a:rPr>
                        <a:t>・</a:t>
                      </a:r>
                      <a:r>
                        <a:rPr kumimoji="1" lang="en-US" altLang="ja-JP" sz="800" dirty="0">
                          <a:solidFill>
                            <a:schemeClr val="tx1"/>
                          </a:solidFill>
                          <a:latin typeface="+mn-ea"/>
                          <a:ea typeface="+mn-ea"/>
                        </a:rPr>
                        <a:t>CA/</a:t>
                      </a:r>
                      <a:r>
                        <a:rPr kumimoji="1" lang="ja-JP" altLang="en-US" sz="800" dirty="0">
                          <a:solidFill>
                            <a:schemeClr val="tx1"/>
                          </a:solidFill>
                          <a:latin typeface="+mn-ea"/>
                          <a:ea typeface="+mn-ea"/>
                        </a:rPr>
                        <a:t>オンライン相談</a:t>
                      </a:r>
                      <a:endParaRPr kumimoji="1" lang="en-US" altLang="ja-JP" sz="800" dirty="0">
                        <a:solidFill>
                          <a:schemeClr val="tx1"/>
                        </a:solidFill>
                        <a:latin typeface="+mn-ea"/>
                        <a:ea typeface="+mn-ea"/>
                      </a:endParaRPr>
                    </a:p>
                    <a:p>
                      <a:pPr algn="l"/>
                      <a:r>
                        <a:rPr kumimoji="1" lang="ja-JP" altLang="en-US" sz="800" dirty="0">
                          <a:solidFill>
                            <a:schemeClr val="tx1"/>
                          </a:solidFill>
                          <a:latin typeface="+mn-ea"/>
                          <a:ea typeface="+mn-ea"/>
                        </a:rPr>
                        <a:t>・</a:t>
                      </a:r>
                      <a:r>
                        <a:rPr kumimoji="1" lang="en-US" altLang="ja-JP" sz="800" dirty="0">
                          <a:solidFill>
                            <a:schemeClr val="tx1"/>
                          </a:solidFill>
                          <a:latin typeface="+mn-ea"/>
                          <a:ea typeface="+mn-ea"/>
                        </a:rPr>
                        <a:t>CA/</a:t>
                      </a:r>
                      <a:r>
                        <a:rPr kumimoji="1" lang="ja-JP" altLang="en-US" sz="800" dirty="0">
                          <a:solidFill>
                            <a:schemeClr val="tx1"/>
                          </a:solidFill>
                          <a:latin typeface="+mn-ea"/>
                          <a:ea typeface="+mn-ea"/>
                        </a:rPr>
                        <a:t>メール</a:t>
                      </a:r>
                      <a:endParaRPr kumimoji="1" lang="en-US" altLang="ja-JP" sz="800" dirty="0">
                        <a:solidFill>
                          <a:schemeClr val="tx1"/>
                        </a:solidFill>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latin typeface="+mn-ea"/>
                          <a:ea typeface="+mn-ea"/>
                        </a:rPr>
                        <a:t>・</a:t>
                      </a:r>
                      <a:r>
                        <a:rPr kumimoji="1" lang="en-US" altLang="ja-JP" sz="800" dirty="0">
                          <a:solidFill>
                            <a:schemeClr val="tx1"/>
                          </a:solidFill>
                          <a:latin typeface="+mn-ea"/>
                          <a:ea typeface="+mn-ea"/>
                        </a:rPr>
                        <a:t>CA/</a:t>
                      </a:r>
                      <a:r>
                        <a:rPr kumimoji="1" lang="ja-JP" altLang="en-US" sz="800" dirty="0">
                          <a:solidFill>
                            <a:schemeClr val="tx1"/>
                          </a:solidFill>
                          <a:latin typeface="+mn-ea"/>
                          <a:ea typeface="+mn-ea"/>
                        </a:rPr>
                        <a:t>電話相談</a:t>
                      </a:r>
                      <a:endParaRPr kumimoji="1" lang="en-US" altLang="ja-JP" sz="800" dirty="0">
                        <a:solidFill>
                          <a:schemeClr val="tx1"/>
                        </a:solidFill>
                        <a:latin typeface="+mn-ea"/>
                        <a:ea typeface="+mn-ea"/>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algn="l"/>
                      <a:r>
                        <a:rPr kumimoji="1" lang="ja-JP" altLang="en-US" sz="800" dirty="0">
                          <a:solidFill>
                            <a:schemeClr val="tx1"/>
                          </a:solidFill>
                          <a:latin typeface="+mn-ea"/>
                          <a:ea typeface="+mn-ea"/>
                        </a:rPr>
                        <a:t>・</a:t>
                      </a:r>
                      <a:r>
                        <a:rPr kumimoji="1" lang="en-US" altLang="ja-JP" sz="800" dirty="0">
                          <a:solidFill>
                            <a:schemeClr val="tx1"/>
                          </a:solidFill>
                          <a:latin typeface="+mn-ea"/>
                          <a:ea typeface="+mn-ea"/>
                        </a:rPr>
                        <a:t>CA/</a:t>
                      </a:r>
                      <a:r>
                        <a:rPr kumimoji="1" lang="ja-JP" altLang="en-US" sz="800" dirty="0">
                          <a:solidFill>
                            <a:schemeClr val="tx1"/>
                          </a:solidFill>
                          <a:latin typeface="+mn-ea"/>
                          <a:ea typeface="+mn-ea"/>
                        </a:rPr>
                        <a:t>メール</a:t>
                      </a:r>
                      <a:endParaRPr kumimoji="1" lang="en-US" altLang="ja-JP" sz="800" dirty="0">
                        <a:solidFill>
                          <a:schemeClr val="tx1"/>
                        </a:solidFill>
                        <a:latin typeface="+mn-ea"/>
                        <a:ea typeface="+mn-ea"/>
                      </a:endParaRPr>
                    </a:p>
                    <a:p>
                      <a:pPr algn="l"/>
                      <a:r>
                        <a:rPr kumimoji="1" lang="ja-JP" altLang="en-US" sz="800" dirty="0">
                          <a:solidFill>
                            <a:schemeClr val="tx1"/>
                          </a:solidFill>
                          <a:latin typeface="+mn-ea"/>
                          <a:ea typeface="+mn-ea"/>
                        </a:rPr>
                        <a:t>・</a:t>
                      </a:r>
                      <a:r>
                        <a:rPr kumimoji="1" lang="en-US" altLang="ja-JP" sz="800" dirty="0">
                          <a:solidFill>
                            <a:schemeClr val="tx1"/>
                          </a:solidFill>
                          <a:latin typeface="+mn-ea"/>
                          <a:ea typeface="+mn-ea"/>
                        </a:rPr>
                        <a:t>CA/</a:t>
                      </a:r>
                      <a:r>
                        <a:rPr kumimoji="1" lang="ja-JP" altLang="en-US" sz="800" dirty="0">
                          <a:solidFill>
                            <a:schemeClr val="tx1"/>
                          </a:solidFill>
                          <a:latin typeface="+mn-ea"/>
                          <a:ea typeface="+mn-ea"/>
                        </a:rPr>
                        <a:t>オンライン相談</a:t>
                      </a:r>
                      <a:endParaRPr kumimoji="1" lang="en-US" altLang="ja-JP" sz="800" dirty="0">
                        <a:solidFill>
                          <a:schemeClr val="tx1"/>
                        </a:solidFill>
                        <a:latin typeface="+mn-ea"/>
                        <a:ea typeface="+mn-ea"/>
                      </a:endParaRPr>
                    </a:p>
                    <a:p>
                      <a:pPr algn="l"/>
                      <a:r>
                        <a:rPr kumimoji="1" lang="ja-JP" altLang="en-US" sz="800" dirty="0">
                          <a:solidFill>
                            <a:schemeClr val="tx1"/>
                          </a:solidFill>
                          <a:latin typeface="+mn-ea"/>
                          <a:ea typeface="+mn-ea"/>
                        </a:rPr>
                        <a:t>・</a:t>
                      </a:r>
                      <a:r>
                        <a:rPr kumimoji="1" lang="en-US" altLang="ja-JP" sz="800" dirty="0">
                          <a:solidFill>
                            <a:schemeClr val="tx1"/>
                          </a:solidFill>
                          <a:latin typeface="+mn-ea"/>
                          <a:ea typeface="+mn-ea"/>
                        </a:rPr>
                        <a:t>CA/</a:t>
                      </a:r>
                      <a:r>
                        <a:rPr kumimoji="1" lang="ja-JP" altLang="en-US" sz="800" dirty="0">
                          <a:solidFill>
                            <a:schemeClr val="tx1"/>
                          </a:solidFill>
                          <a:latin typeface="+mn-ea"/>
                          <a:ea typeface="+mn-ea"/>
                        </a:rPr>
                        <a:t>チャット</a:t>
                      </a:r>
                      <a:endParaRPr kumimoji="1" lang="en-US" altLang="ja-JP" sz="800" dirty="0">
                        <a:solidFill>
                          <a:schemeClr val="tx1"/>
                        </a:solidFill>
                        <a:latin typeface="+mn-ea"/>
                        <a:ea typeface="+mn-ea"/>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algn="l"/>
                      <a:r>
                        <a:rPr kumimoji="1" lang="ja-JP" altLang="en-US" sz="800" dirty="0">
                          <a:solidFill>
                            <a:schemeClr val="tx1"/>
                          </a:solidFill>
                          <a:latin typeface="+mn-ea"/>
                          <a:ea typeface="+mn-ea"/>
                        </a:rPr>
                        <a:t>・</a:t>
                      </a:r>
                      <a:r>
                        <a:rPr kumimoji="1" lang="en-US" altLang="ja-JP" sz="800" dirty="0">
                          <a:solidFill>
                            <a:schemeClr val="tx1"/>
                          </a:solidFill>
                          <a:latin typeface="+mn-ea"/>
                          <a:ea typeface="+mn-ea"/>
                        </a:rPr>
                        <a:t>CA/</a:t>
                      </a:r>
                      <a:r>
                        <a:rPr kumimoji="1" lang="ja-JP" altLang="en-US" sz="800" dirty="0">
                          <a:solidFill>
                            <a:schemeClr val="tx1"/>
                          </a:solidFill>
                          <a:latin typeface="+mn-ea"/>
                          <a:ea typeface="+mn-ea"/>
                        </a:rPr>
                        <a:t>オンライン相談</a:t>
                      </a:r>
                      <a:endParaRPr kumimoji="1" lang="en-US" altLang="ja-JP" sz="800" dirty="0">
                        <a:solidFill>
                          <a:schemeClr val="tx1"/>
                        </a:solidFill>
                        <a:latin typeface="+mn-ea"/>
                        <a:ea typeface="+mn-ea"/>
                      </a:endParaRPr>
                    </a:p>
                    <a:p>
                      <a:pPr algn="l"/>
                      <a:r>
                        <a:rPr kumimoji="1" lang="ja-JP" altLang="en-US" sz="800" dirty="0">
                          <a:solidFill>
                            <a:schemeClr val="tx1"/>
                          </a:solidFill>
                          <a:latin typeface="+mn-ea"/>
                          <a:ea typeface="+mn-ea"/>
                        </a:rPr>
                        <a:t>・</a:t>
                      </a:r>
                      <a:r>
                        <a:rPr kumimoji="1" lang="en-US" altLang="ja-JP" sz="800" dirty="0">
                          <a:solidFill>
                            <a:schemeClr val="tx1"/>
                          </a:solidFill>
                          <a:latin typeface="+mn-ea"/>
                          <a:ea typeface="+mn-ea"/>
                        </a:rPr>
                        <a:t>CA/</a:t>
                      </a:r>
                      <a:r>
                        <a:rPr kumimoji="1" lang="ja-JP" altLang="en-US" sz="800" dirty="0">
                          <a:solidFill>
                            <a:schemeClr val="tx1"/>
                          </a:solidFill>
                          <a:latin typeface="+mn-ea"/>
                          <a:ea typeface="+mn-ea"/>
                        </a:rPr>
                        <a:t>電話相談</a:t>
                      </a:r>
                      <a:endParaRPr kumimoji="1" lang="en-US" altLang="ja-JP" sz="800" dirty="0">
                        <a:solidFill>
                          <a:schemeClr val="tx1"/>
                        </a:solidFill>
                        <a:latin typeface="+mn-ea"/>
                        <a:ea typeface="+mn-ea"/>
                      </a:endParaRPr>
                    </a:p>
                    <a:p>
                      <a:pPr algn="l"/>
                      <a:r>
                        <a:rPr kumimoji="1" lang="ja-JP" altLang="en-US" sz="800" dirty="0">
                          <a:solidFill>
                            <a:schemeClr val="tx1"/>
                          </a:solidFill>
                          <a:latin typeface="+mn-ea"/>
                          <a:ea typeface="+mn-ea"/>
                        </a:rPr>
                        <a:t>・</a:t>
                      </a:r>
                      <a:r>
                        <a:rPr kumimoji="1" lang="en-US" altLang="ja-JP" sz="800" dirty="0">
                          <a:solidFill>
                            <a:schemeClr val="tx1"/>
                          </a:solidFill>
                          <a:latin typeface="+mn-ea"/>
                          <a:ea typeface="+mn-ea"/>
                        </a:rPr>
                        <a:t>CA/</a:t>
                      </a:r>
                      <a:r>
                        <a:rPr kumimoji="1" lang="ja-JP" altLang="en-US" sz="800" dirty="0">
                          <a:solidFill>
                            <a:schemeClr val="tx1"/>
                          </a:solidFill>
                          <a:latin typeface="+mn-ea"/>
                          <a:ea typeface="+mn-ea"/>
                        </a:rPr>
                        <a:t>メール</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algn="l"/>
                      <a:r>
                        <a:rPr kumimoji="1" lang="ja-JP" altLang="en-US" sz="800" dirty="0">
                          <a:solidFill>
                            <a:schemeClr val="tx1"/>
                          </a:solidFill>
                          <a:latin typeface="+mn-ea"/>
                          <a:ea typeface="+mn-ea"/>
                        </a:rPr>
                        <a:t>・</a:t>
                      </a:r>
                      <a:r>
                        <a:rPr kumimoji="1" lang="en-US" altLang="ja-JP" sz="800" dirty="0">
                          <a:solidFill>
                            <a:schemeClr val="tx1"/>
                          </a:solidFill>
                          <a:latin typeface="+mn-ea"/>
                          <a:ea typeface="+mn-ea"/>
                        </a:rPr>
                        <a:t>CA/</a:t>
                      </a:r>
                      <a:r>
                        <a:rPr kumimoji="1" lang="ja-JP" altLang="en-US" sz="800" dirty="0">
                          <a:solidFill>
                            <a:schemeClr val="tx1"/>
                          </a:solidFill>
                          <a:latin typeface="+mn-ea"/>
                          <a:ea typeface="+mn-ea"/>
                        </a:rPr>
                        <a:t>オンライン相談</a:t>
                      </a:r>
                      <a:endParaRPr kumimoji="1" lang="en-US" altLang="ja-JP" sz="800" dirty="0">
                        <a:solidFill>
                          <a:schemeClr val="tx1"/>
                        </a:solidFill>
                        <a:latin typeface="+mn-ea"/>
                        <a:ea typeface="+mn-ea"/>
                      </a:endParaRPr>
                    </a:p>
                    <a:p>
                      <a:pPr algn="l"/>
                      <a:r>
                        <a:rPr kumimoji="1" lang="ja-JP" altLang="en-US" sz="800" dirty="0">
                          <a:solidFill>
                            <a:schemeClr val="tx1"/>
                          </a:solidFill>
                          <a:latin typeface="+mn-ea"/>
                          <a:ea typeface="+mn-ea"/>
                        </a:rPr>
                        <a:t>・</a:t>
                      </a:r>
                      <a:r>
                        <a:rPr kumimoji="1" lang="en-US" altLang="ja-JP" sz="800" dirty="0">
                          <a:solidFill>
                            <a:schemeClr val="tx1"/>
                          </a:solidFill>
                          <a:latin typeface="+mn-ea"/>
                          <a:ea typeface="+mn-ea"/>
                        </a:rPr>
                        <a:t>CA/</a:t>
                      </a:r>
                      <a:r>
                        <a:rPr kumimoji="1" lang="ja-JP" altLang="en-US" sz="800" dirty="0">
                          <a:solidFill>
                            <a:schemeClr val="tx1"/>
                          </a:solidFill>
                          <a:latin typeface="+mn-ea"/>
                          <a:ea typeface="+mn-ea"/>
                        </a:rPr>
                        <a:t>メール</a:t>
                      </a:r>
                      <a:endParaRPr kumimoji="1" lang="en-US" altLang="ja-JP" sz="800" dirty="0">
                        <a:solidFill>
                          <a:schemeClr val="tx1"/>
                        </a:solidFill>
                        <a:latin typeface="+mn-ea"/>
                        <a:ea typeface="+mn-ea"/>
                      </a:endParaRPr>
                    </a:p>
                    <a:p>
                      <a:pPr algn="l"/>
                      <a:r>
                        <a:rPr kumimoji="1" lang="ja-JP" altLang="en-US" sz="800" dirty="0">
                          <a:solidFill>
                            <a:schemeClr val="tx1"/>
                          </a:solidFill>
                          <a:latin typeface="+mn-ea"/>
                          <a:ea typeface="+mn-ea"/>
                        </a:rPr>
                        <a:t>・</a:t>
                      </a:r>
                      <a:r>
                        <a:rPr kumimoji="1" lang="en-US" altLang="ja-JP" sz="800" dirty="0">
                          <a:solidFill>
                            <a:schemeClr val="tx1"/>
                          </a:solidFill>
                          <a:latin typeface="+mn-ea"/>
                          <a:ea typeface="+mn-ea"/>
                        </a:rPr>
                        <a:t>CA/</a:t>
                      </a:r>
                      <a:r>
                        <a:rPr kumimoji="1" lang="ja-JP" altLang="en-US" sz="800" dirty="0">
                          <a:solidFill>
                            <a:schemeClr val="tx1"/>
                          </a:solidFill>
                          <a:latin typeface="+mn-ea"/>
                          <a:ea typeface="+mn-ea"/>
                        </a:rPr>
                        <a:t>チャット</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algn="l"/>
                      <a:r>
                        <a:rPr kumimoji="1" lang="ja-JP" altLang="en-US" sz="800" dirty="0">
                          <a:solidFill>
                            <a:schemeClr val="tx1"/>
                          </a:solidFill>
                          <a:latin typeface="+mn-ea"/>
                          <a:ea typeface="+mn-ea"/>
                        </a:rPr>
                        <a:t>・</a:t>
                      </a:r>
                      <a:r>
                        <a:rPr kumimoji="1" lang="en-US" altLang="ja-JP" sz="800" dirty="0">
                          <a:solidFill>
                            <a:schemeClr val="tx1"/>
                          </a:solidFill>
                          <a:latin typeface="+mn-ea"/>
                          <a:ea typeface="+mn-ea"/>
                        </a:rPr>
                        <a:t>CA/</a:t>
                      </a:r>
                      <a:r>
                        <a:rPr kumimoji="1" lang="ja-JP" altLang="en-US" sz="800" dirty="0">
                          <a:solidFill>
                            <a:schemeClr val="tx1"/>
                          </a:solidFill>
                          <a:latin typeface="+mn-ea"/>
                          <a:ea typeface="+mn-ea"/>
                        </a:rPr>
                        <a:t>メール</a:t>
                      </a:r>
                      <a:endParaRPr kumimoji="1" lang="en-US" altLang="ja-JP" sz="800" dirty="0">
                        <a:solidFill>
                          <a:schemeClr val="tx1"/>
                        </a:solidFill>
                        <a:latin typeface="+mn-ea"/>
                        <a:ea typeface="+mn-ea"/>
                      </a:endParaRPr>
                    </a:p>
                    <a:p>
                      <a:pPr algn="l"/>
                      <a:r>
                        <a:rPr kumimoji="1" lang="ja-JP" altLang="en-US" sz="800" dirty="0">
                          <a:solidFill>
                            <a:schemeClr val="tx1"/>
                          </a:solidFill>
                          <a:latin typeface="+mn-ea"/>
                          <a:ea typeface="+mn-ea"/>
                        </a:rPr>
                        <a:t>・</a:t>
                      </a:r>
                      <a:r>
                        <a:rPr kumimoji="1" lang="en-US" altLang="ja-JP" sz="800" dirty="0">
                          <a:solidFill>
                            <a:schemeClr val="tx1"/>
                          </a:solidFill>
                          <a:latin typeface="+mn-ea"/>
                          <a:ea typeface="+mn-ea"/>
                        </a:rPr>
                        <a:t>CA/</a:t>
                      </a:r>
                      <a:r>
                        <a:rPr kumimoji="1" lang="ja-JP" altLang="en-US" sz="800" dirty="0">
                          <a:solidFill>
                            <a:schemeClr val="tx1"/>
                          </a:solidFill>
                          <a:latin typeface="+mn-ea"/>
                          <a:ea typeface="+mn-ea"/>
                        </a:rPr>
                        <a:t>チャット</a:t>
                      </a:r>
                      <a:endParaRPr kumimoji="1" lang="en-US" altLang="ja-JP" sz="800" dirty="0">
                        <a:solidFill>
                          <a:schemeClr val="tx1"/>
                        </a:solidFill>
                        <a:latin typeface="+mn-ea"/>
                        <a:ea typeface="+mn-ea"/>
                      </a:endParaRPr>
                    </a:p>
                    <a:p>
                      <a:pPr algn="l"/>
                      <a:r>
                        <a:rPr kumimoji="1" lang="ja-JP" altLang="en-US" sz="800" dirty="0">
                          <a:solidFill>
                            <a:schemeClr val="tx1"/>
                          </a:solidFill>
                          <a:latin typeface="+mn-ea"/>
                          <a:ea typeface="+mn-ea"/>
                        </a:rPr>
                        <a:t>・</a:t>
                      </a:r>
                      <a:r>
                        <a:rPr kumimoji="1" lang="en-US" altLang="ja-JP" sz="800" dirty="0">
                          <a:solidFill>
                            <a:schemeClr val="tx1"/>
                          </a:solidFill>
                          <a:latin typeface="+mn-ea"/>
                          <a:ea typeface="+mn-ea"/>
                        </a:rPr>
                        <a:t>CA/</a:t>
                      </a:r>
                      <a:r>
                        <a:rPr kumimoji="1" lang="ja-JP" altLang="en-US" sz="800" dirty="0">
                          <a:solidFill>
                            <a:schemeClr val="tx1"/>
                          </a:solidFill>
                          <a:latin typeface="+mn-ea"/>
                          <a:ea typeface="+mn-ea"/>
                        </a:rPr>
                        <a:t>オンライン相談</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algn="l"/>
                      <a:r>
                        <a:rPr kumimoji="1" lang="ja-JP" altLang="en-US" sz="800" dirty="0">
                          <a:solidFill>
                            <a:schemeClr val="tx1"/>
                          </a:solidFill>
                          <a:latin typeface="+mn-ea"/>
                          <a:ea typeface="+mn-ea"/>
                        </a:rPr>
                        <a:t>・</a:t>
                      </a:r>
                      <a:r>
                        <a:rPr kumimoji="1" lang="en-US" altLang="ja-JP" sz="800" dirty="0">
                          <a:solidFill>
                            <a:schemeClr val="tx1"/>
                          </a:solidFill>
                          <a:latin typeface="+mn-ea"/>
                          <a:ea typeface="+mn-ea"/>
                        </a:rPr>
                        <a:t>CA/</a:t>
                      </a:r>
                      <a:r>
                        <a:rPr kumimoji="1" lang="ja-JP" altLang="en-US" sz="800" dirty="0">
                          <a:solidFill>
                            <a:schemeClr val="tx1"/>
                          </a:solidFill>
                          <a:latin typeface="+mn-ea"/>
                          <a:ea typeface="+mn-ea"/>
                        </a:rPr>
                        <a:t>オンライン相談</a:t>
                      </a:r>
                      <a:endParaRPr kumimoji="1" lang="en-US" altLang="ja-JP" sz="800" dirty="0">
                        <a:solidFill>
                          <a:schemeClr val="tx1"/>
                        </a:solidFill>
                        <a:latin typeface="+mn-ea"/>
                        <a:ea typeface="+mn-ea"/>
                      </a:endParaRPr>
                    </a:p>
                    <a:p>
                      <a:pPr algn="l"/>
                      <a:r>
                        <a:rPr kumimoji="1" lang="ja-JP" altLang="en-US" sz="800" dirty="0">
                          <a:solidFill>
                            <a:schemeClr val="tx1"/>
                          </a:solidFill>
                          <a:latin typeface="+mn-ea"/>
                          <a:ea typeface="+mn-ea"/>
                        </a:rPr>
                        <a:t>・</a:t>
                      </a:r>
                      <a:r>
                        <a:rPr kumimoji="1" lang="en-US" altLang="ja-JP" sz="800" dirty="0">
                          <a:solidFill>
                            <a:schemeClr val="tx1"/>
                          </a:solidFill>
                          <a:latin typeface="+mn-ea"/>
                          <a:ea typeface="+mn-ea"/>
                        </a:rPr>
                        <a:t>CA/</a:t>
                      </a:r>
                      <a:r>
                        <a:rPr kumimoji="1" lang="ja-JP" altLang="en-US" sz="800" dirty="0">
                          <a:solidFill>
                            <a:schemeClr val="tx1"/>
                          </a:solidFill>
                          <a:latin typeface="+mn-ea"/>
                          <a:ea typeface="+mn-ea"/>
                        </a:rPr>
                        <a:t>電話相談</a:t>
                      </a:r>
                      <a:endParaRPr kumimoji="1" lang="en-US" altLang="ja-JP" sz="800" dirty="0">
                        <a:solidFill>
                          <a:schemeClr val="tx1"/>
                        </a:solidFill>
                        <a:latin typeface="+mn-ea"/>
                        <a:ea typeface="+mn-ea"/>
                      </a:endParaRPr>
                    </a:p>
                    <a:p>
                      <a:pPr algn="l"/>
                      <a:r>
                        <a:rPr kumimoji="1" lang="ja-JP" altLang="en-US" sz="800" dirty="0">
                          <a:solidFill>
                            <a:schemeClr val="tx1"/>
                          </a:solidFill>
                          <a:latin typeface="+mn-ea"/>
                          <a:ea typeface="+mn-ea"/>
                        </a:rPr>
                        <a:t>・</a:t>
                      </a:r>
                      <a:r>
                        <a:rPr kumimoji="1" lang="en-US" altLang="ja-JP" sz="800" dirty="0">
                          <a:solidFill>
                            <a:schemeClr val="tx1"/>
                          </a:solidFill>
                          <a:latin typeface="+mn-ea"/>
                          <a:ea typeface="+mn-ea"/>
                        </a:rPr>
                        <a:t>CA/</a:t>
                      </a:r>
                      <a:r>
                        <a:rPr kumimoji="1" lang="ja-JP" altLang="en-US" sz="800" dirty="0">
                          <a:solidFill>
                            <a:schemeClr val="tx1"/>
                          </a:solidFill>
                          <a:latin typeface="+mn-ea"/>
                          <a:ea typeface="+mn-ea"/>
                        </a:rPr>
                        <a:t>チャット</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algn="l"/>
                      <a:r>
                        <a:rPr kumimoji="1" lang="ja-JP" altLang="en-US" sz="800" dirty="0">
                          <a:solidFill>
                            <a:schemeClr val="tx1"/>
                          </a:solidFill>
                          <a:latin typeface="+mn-ea"/>
                          <a:ea typeface="+mn-ea"/>
                        </a:rPr>
                        <a:t>・</a:t>
                      </a:r>
                      <a:r>
                        <a:rPr kumimoji="1" lang="en-US" altLang="ja-JP" sz="800" dirty="0">
                          <a:solidFill>
                            <a:schemeClr val="tx1"/>
                          </a:solidFill>
                          <a:latin typeface="+mn-ea"/>
                          <a:ea typeface="+mn-ea"/>
                        </a:rPr>
                        <a:t>CA/</a:t>
                      </a:r>
                      <a:r>
                        <a:rPr kumimoji="1" lang="ja-JP" altLang="en-US" sz="800" dirty="0">
                          <a:solidFill>
                            <a:schemeClr val="tx1"/>
                          </a:solidFill>
                          <a:latin typeface="+mn-ea"/>
                          <a:ea typeface="+mn-ea"/>
                        </a:rPr>
                        <a:t>オンライン相談</a:t>
                      </a:r>
                      <a:endParaRPr kumimoji="1" lang="en-US" altLang="ja-JP" sz="800" dirty="0">
                        <a:solidFill>
                          <a:schemeClr val="tx1"/>
                        </a:solidFill>
                        <a:latin typeface="+mn-ea"/>
                        <a:ea typeface="+mn-ea"/>
                      </a:endParaRPr>
                    </a:p>
                    <a:p>
                      <a:pPr algn="l"/>
                      <a:r>
                        <a:rPr kumimoji="1" lang="ja-JP" altLang="en-US" sz="800" dirty="0">
                          <a:solidFill>
                            <a:schemeClr val="tx1"/>
                          </a:solidFill>
                          <a:latin typeface="+mn-ea"/>
                          <a:ea typeface="+mn-ea"/>
                        </a:rPr>
                        <a:t>・</a:t>
                      </a:r>
                      <a:r>
                        <a:rPr kumimoji="1" lang="en-US" altLang="ja-JP" sz="800" dirty="0">
                          <a:solidFill>
                            <a:schemeClr val="tx1"/>
                          </a:solidFill>
                          <a:latin typeface="+mn-ea"/>
                          <a:ea typeface="+mn-ea"/>
                        </a:rPr>
                        <a:t>CA/</a:t>
                      </a:r>
                      <a:r>
                        <a:rPr kumimoji="1" lang="ja-JP" altLang="en-US" sz="800" dirty="0">
                          <a:solidFill>
                            <a:schemeClr val="tx1"/>
                          </a:solidFill>
                          <a:latin typeface="+mn-ea"/>
                          <a:ea typeface="+mn-ea"/>
                        </a:rPr>
                        <a:t>対面相談</a:t>
                      </a:r>
                      <a:endParaRPr kumimoji="1" lang="en-US" altLang="ja-JP" sz="800" dirty="0">
                        <a:solidFill>
                          <a:schemeClr val="tx1"/>
                        </a:solidFill>
                        <a:latin typeface="+mn-ea"/>
                        <a:ea typeface="+mn-ea"/>
                      </a:endParaRPr>
                    </a:p>
                    <a:p>
                      <a:pPr algn="l"/>
                      <a:r>
                        <a:rPr kumimoji="1" lang="ja-JP" altLang="en-US" sz="800" dirty="0">
                          <a:solidFill>
                            <a:schemeClr val="tx1"/>
                          </a:solidFill>
                          <a:latin typeface="+mn-ea"/>
                          <a:ea typeface="+mn-ea"/>
                        </a:rPr>
                        <a:t>・</a:t>
                      </a:r>
                      <a:r>
                        <a:rPr kumimoji="1" lang="en-US" altLang="ja-JP" sz="800" dirty="0">
                          <a:solidFill>
                            <a:schemeClr val="tx1"/>
                          </a:solidFill>
                          <a:latin typeface="+mn-ea"/>
                          <a:ea typeface="+mn-ea"/>
                        </a:rPr>
                        <a:t>CA/</a:t>
                      </a:r>
                      <a:r>
                        <a:rPr kumimoji="1" lang="ja-JP" altLang="en-US" sz="800" dirty="0">
                          <a:solidFill>
                            <a:schemeClr val="tx1"/>
                          </a:solidFill>
                          <a:latin typeface="+mn-ea"/>
                          <a:ea typeface="+mn-ea"/>
                        </a:rPr>
                        <a:t>メール</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algn="l"/>
                      <a:r>
                        <a:rPr kumimoji="1" lang="ja-JP" altLang="en-US" sz="800" dirty="0">
                          <a:solidFill>
                            <a:schemeClr val="tx1"/>
                          </a:solidFill>
                          <a:latin typeface="+mn-ea"/>
                          <a:ea typeface="+mn-ea"/>
                        </a:rPr>
                        <a:t>・</a:t>
                      </a:r>
                      <a:r>
                        <a:rPr kumimoji="1" lang="en-US" altLang="ja-JP" sz="800" dirty="0">
                          <a:solidFill>
                            <a:schemeClr val="tx1"/>
                          </a:solidFill>
                          <a:latin typeface="+mn-ea"/>
                          <a:ea typeface="+mn-ea"/>
                        </a:rPr>
                        <a:t>CA/</a:t>
                      </a:r>
                      <a:r>
                        <a:rPr kumimoji="1" lang="ja-JP" altLang="en-US" sz="800" dirty="0">
                          <a:solidFill>
                            <a:schemeClr val="tx1"/>
                          </a:solidFill>
                          <a:latin typeface="+mn-ea"/>
                          <a:ea typeface="+mn-ea"/>
                        </a:rPr>
                        <a:t>チャット</a:t>
                      </a:r>
                      <a:endParaRPr kumimoji="1" lang="en-US" altLang="ja-JP" sz="800" dirty="0">
                        <a:solidFill>
                          <a:schemeClr val="tx1"/>
                        </a:solidFill>
                        <a:latin typeface="+mn-ea"/>
                        <a:ea typeface="+mn-ea"/>
                      </a:endParaRPr>
                    </a:p>
                    <a:p>
                      <a:pPr algn="l"/>
                      <a:r>
                        <a:rPr kumimoji="1" lang="ja-JP" altLang="en-US" sz="800" dirty="0">
                          <a:solidFill>
                            <a:schemeClr val="tx1"/>
                          </a:solidFill>
                          <a:latin typeface="+mn-ea"/>
                          <a:ea typeface="+mn-ea"/>
                        </a:rPr>
                        <a:t>・</a:t>
                      </a:r>
                      <a:r>
                        <a:rPr kumimoji="1" lang="en-US" altLang="ja-JP" sz="800" dirty="0">
                          <a:solidFill>
                            <a:schemeClr val="tx1"/>
                          </a:solidFill>
                          <a:latin typeface="+mn-ea"/>
                          <a:ea typeface="+mn-ea"/>
                        </a:rPr>
                        <a:t>CA/</a:t>
                      </a:r>
                      <a:r>
                        <a:rPr kumimoji="1" lang="ja-JP" altLang="en-US" sz="800" dirty="0">
                          <a:solidFill>
                            <a:schemeClr val="tx1"/>
                          </a:solidFill>
                          <a:latin typeface="+mn-ea"/>
                          <a:ea typeface="+mn-ea"/>
                        </a:rPr>
                        <a:t>電話相談</a:t>
                      </a:r>
                      <a:endParaRPr kumimoji="1" lang="en-US" altLang="ja-JP" sz="800" dirty="0">
                        <a:solidFill>
                          <a:schemeClr val="tx1"/>
                        </a:solidFill>
                        <a:latin typeface="+mn-ea"/>
                        <a:ea typeface="+mn-ea"/>
                      </a:endParaRPr>
                    </a:p>
                    <a:p>
                      <a:pPr algn="l"/>
                      <a:r>
                        <a:rPr kumimoji="1" lang="ja-JP" altLang="en-US" sz="800" dirty="0">
                          <a:solidFill>
                            <a:schemeClr val="tx1"/>
                          </a:solidFill>
                          <a:latin typeface="+mn-ea"/>
                          <a:ea typeface="+mn-ea"/>
                        </a:rPr>
                        <a:t>・</a:t>
                      </a:r>
                      <a:r>
                        <a:rPr kumimoji="1" lang="en-US" altLang="ja-JP" sz="800" dirty="0">
                          <a:solidFill>
                            <a:schemeClr val="tx1"/>
                          </a:solidFill>
                          <a:latin typeface="+mn-ea"/>
                          <a:ea typeface="+mn-ea"/>
                        </a:rPr>
                        <a:t>CA/</a:t>
                      </a:r>
                      <a:r>
                        <a:rPr kumimoji="1" lang="ja-JP" altLang="en-US" sz="800" dirty="0">
                          <a:solidFill>
                            <a:schemeClr val="tx1"/>
                          </a:solidFill>
                          <a:latin typeface="+mn-ea"/>
                          <a:ea typeface="+mn-ea"/>
                        </a:rPr>
                        <a:t>メール</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9018884"/>
                  </a:ext>
                </a:extLst>
              </a:tr>
            </a:tbl>
          </a:graphicData>
        </a:graphic>
      </p:graphicFrame>
      <p:sp>
        <p:nvSpPr>
          <p:cNvPr id="16" name="正方形/長方形 15">
            <a:extLst>
              <a:ext uri="{FF2B5EF4-FFF2-40B4-BE49-F238E27FC236}">
                <a16:creationId xmlns:a16="http://schemas.microsoft.com/office/drawing/2014/main" id="{399EADCA-BA54-B019-760A-17E6ECFBDD3B}"/>
              </a:ext>
            </a:extLst>
          </p:cNvPr>
          <p:cNvSpPr/>
          <p:nvPr/>
        </p:nvSpPr>
        <p:spPr>
          <a:xfrm>
            <a:off x="5095019" y="1499842"/>
            <a:ext cx="1281723" cy="2082537"/>
          </a:xfrm>
          <a:prstGeom prst="rect">
            <a:avLst/>
          </a:prstGeom>
          <a:noFill/>
          <a:ln/>
        </p:spPr>
        <p:style>
          <a:lnRef idx="2">
            <a:schemeClr val="accent3"/>
          </a:lnRef>
          <a:fillRef idx="1">
            <a:schemeClr val="lt1"/>
          </a:fillRef>
          <a:effectRef idx="0">
            <a:schemeClr val="accent3"/>
          </a:effectRef>
          <a:fontRef idx="minor">
            <a:schemeClr val="dk1"/>
          </a:fontRef>
        </p:style>
        <p:txBody>
          <a:bodyPr rtlCol="0" anchor="t"/>
          <a:lstStyle/>
          <a:p>
            <a:pPr algn="l"/>
            <a:endParaRPr kumimoji="1" lang="ja-JP" altLang="en-US" sz="1050">
              <a:solidFill>
                <a:schemeClr val="tx1"/>
              </a:solidFill>
            </a:endParaRPr>
          </a:p>
        </p:txBody>
      </p:sp>
    </p:spTree>
    <p:extLst>
      <p:ext uri="{BB962C8B-B14F-4D97-AF65-F5344CB8AC3E}">
        <p14:creationId xmlns:p14="http://schemas.microsoft.com/office/powerpoint/2010/main" val="2389435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761158B7-8BBD-A8FD-4BCD-0329FCAE8A61}"/>
              </a:ext>
            </a:extLst>
          </p:cNvPr>
          <p:cNvSpPr>
            <a:spLocks noGrp="1"/>
          </p:cNvSpPr>
          <p:nvPr>
            <p:ph sz="quarter" idx="14"/>
          </p:nvPr>
        </p:nvSpPr>
        <p:spPr>
          <a:xfrm>
            <a:off x="360363" y="879629"/>
            <a:ext cx="11447462" cy="365125"/>
          </a:xfrm>
        </p:spPr>
        <p:txBody>
          <a:bodyPr>
            <a:normAutofit/>
          </a:bodyPr>
          <a:lstStyle/>
          <a:p>
            <a:pPr marL="285750" indent="-285750">
              <a:buFont typeface="Wingdings" panose="05000000000000000000" pitchFamily="2" charset="2"/>
              <a:buChar char="ü"/>
            </a:pPr>
            <a:r>
              <a:rPr lang="ja-JP" altLang="en-US" sz="1200" dirty="0"/>
              <a:t>面談ニーズが無いわけではないがふわっと話を聞いてほしいというよりは、求人提案等アクションしやすくなるようなサポートを訴求するのが効果的か。</a:t>
            </a:r>
            <a:endParaRPr kumimoji="1" lang="en-US" altLang="ja-JP" sz="1200" dirty="0"/>
          </a:p>
        </p:txBody>
      </p:sp>
      <p:sp>
        <p:nvSpPr>
          <p:cNvPr id="3" name="テキスト プレースホルダー 2">
            <a:extLst>
              <a:ext uri="{FF2B5EF4-FFF2-40B4-BE49-F238E27FC236}">
                <a16:creationId xmlns:a16="http://schemas.microsoft.com/office/drawing/2014/main" id="{276F8952-7770-29EB-33F2-F26B9BF4B7C2}"/>
              </a:ext>
            </a:extLst>
          </p:cNvPr>
          <p:cNvSpPr>
            <a:spLocks noGrp="1"/>
          </p:cNvSpPr>
          <p:nvPr>
            <p:ph type="body" sz="quarter" idx="13"/>
          </p:nvPr>
        </p:nvSpPr>
        <p:spPr/>
        <p:txBody>
          <a:bodyPr/>
          <a:lstStyle/>
          <a:p>
            <a:r>
              <a:rPr lang="ja-JP" altLang="en-US" dirty="0"/>
              <a:t>活動ステータス別サマリ：</a:t>
            </a:r>
            <a:r>
              <a:rPr kumimoji="1" lang="ja-JP" altLang="en-US" dirty="0"/>
              <a:t>面談希望あり＞面談実施</a:t>
            </a:r>
            <a:r>
              <a:rPr kumimoji="1" lang="ja-JP" altLang="en-US" dirty="0">
                <a:solidFill>
                  <a:srgbClr val="FF0000"/>
                </a:solidFill>
              </a:rPr>
              <a:t>なし</a:t>
            </a:r>
            <a:r>
              <a:rPr kumimoji="1" lang="en-US" altLang="ja-JP" dirty="0"/>
              <a:t>【</a:t>
            </a:r>
            <a:r>
              <a:rPr kumimoji="1" lang="ja-JP" altLang="en-US" dirty="0"/>
              <a:t>全体傾向</a:t>
            </a:r>
            <a:r>
              <a:rPr kumimoji="1" lang="en-US" altLang="ja-JP" dirty="0"/>
              <a:t>】</a:t>
            </a:r>
            <a:endParaRPr kumimoji="1" lang="ja-JP" altLang="en-US" dirty="0">
              <a:solidFill>
                <a:srgbClr val="FF0000"/>
              </a:solidFill>
            </a:endParaRPr>
          </a:p>
        </p:txBody>
      </p:sp>
      <p:sp>
        <p:nvSpPr>
          <p:cNvPr id="4" name="フッター プレースホルダー 3">
            <a:extLst>
              <a:ext uri="{FF2B5EF4-FFF2-40B4-BE49-F238E27FC236}">
                <a16:creationId xmlns:a16="http://schemas.microsoft.com/office/drawing/2014/main" id="{B72DD35E-4034-B434-C065-6EFA37336942}"/>
              </a:ext>
            </a:extLst>
          </p:cNvPr>
          <p:cNvSpPr>
            <a:spLocks noGrp="1"/>
          </p:cNvSpPr>
          <p:nvPr>
            <p:ph type="ftr" sz="quarter" idx="3"/>
          </p:nvPr>
        </p:nvSpPr>
        <p:spPr/>
        <p:txBody>
          <a:bodyPr/>
          <a:lstStyle/>
          <a:p>
            <a:r>
              <a:rPr lang="en" altLang="ja-JP"/>
              <a:t>(C) Recruit Co., Ltd. All rights reserved. </a:t>
            </a:r>
            <a:endParaRPr lang="ja-JP" altLang="en-US"/>
          </a:p>
        </p:txBody>
      </p:sp>
      <p:sp>
        <p:nvSpPr>
          <p:cNvPr id="5" name="スライド番号プレースホルダー 4">
            <a:extLst>
              <a:ext uri="{FF2B5EF4-FFF2-40B4-BE49-F238E27FC236}">
                <a16:creationId xmlns:a16="http://schemas.microsoft.com/office/drawing/2014/main" id="{5C0D21FF-AAAA-668B-A241-C80D5A5C4973}"/>
              </a:ext>
            </a:extLst>
          </p:cNvPr>
          <p:cNvSpPr>
            <a:spLocks noGrp="1"/>
          </p:cNvSpPr>
          <p:nvPr>
            <p:ph type="sldNum" sz="quarter" idx="4"/>
          </p:nvPr>
        </p:nvSpPr>
        <p:spPr/>
        <p:txBody>
          <a:bodyPr/>
          <a:lstStyle/>
          <a:p>
            <a:fld id="{EDD55F78-D87A-074E-B5DA-6C9B598DD91F}" type="slidenum">
              <a:rPr lang="ja-JP" altLang="en-US" smtClean="0"/>
              <a:pPr/>
              <a:t>10</a:t>
            </a:fld>
            <a:endParaRPr lang="ja-JP" altLang="en-US"/>
          </a:p>
        </p:txBody>
      </p:sp>
      <p:sp>
        <p:nvSpPr>
          <p:cNvPr id="8" name="正方形/長方形 7">
            <a:extLst>
              <a:ext uri="{FF2B5EF4-FFF2-40B4-BE49-F238E27FC236}">
                <a16:creationId xmlns:a16="http://schemas.microsoft.com/office/drawing/2014/main" id="{6C097471-5E31-3CA6-EB07-8124D7B04297}"/>
              </a:ext>
            </a:extLst>
          </p:cNvPr>
          <p:cNvSpPr/>
          <p:nvPr/>
        </p:nvSpPr>
        <p:spPr>
          <a:xfrm>
            <a:off x="669340" y="1220443"/>
            <a:ext cx="4848321" cy="809793"/>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l"/>
            <a:r>
              <a:rPr lang="ja-JP" altLang="en-US" sz="1050" b="1" u="sng" dirty="0">
                <a:solidFill>
                  <a:schemeClr val="tx1"/>
                </a:solidFill>
              </a:rPr>
              <a:t>■面談を受けようと思うサポート</a:t>
            </a:r>
            <a:endParaRPr lang="en-US" altLang="ja-JP" sz="1050" b="1" u="sng" dirty="0">
              <a:solidFill>
                <a:schemeClr val="tx1"/>
              </a:solidFill>
            </a:endParaRPr>
          </a:p>
          <a:p>
            <a:pPr algn="l"/>
            <a:r>
              <a:rPr kumimoji="1" lang="en-US" altLang="ja-JP" sz="1050" dirty="0">
                <a:solidFill>
                  <a:schemeClr val="tx1"/>
                </a:solidFill>
              </a:rPr>
              <a:t>CA</a:t>
            </a:r>
            <a:r>
              <a:rPr kumimoji="1" lang="ja-JP" altLang="en-US" sz="1050" dirty="0">
                <a:solidFill>
                  <a:schemeClr val="tx1"/>
                </a:solidFill>
              </a:rPr>
              <a:t>からの求人提案</a:t>
            </a:r>
            <a:endParaRPr kumimoji="1" lang="en-US" altLang="ja-JP" sz="1050" dirty="0">
              <a:solidFill>
                <a:schemeClr val="tx1"/>
              </a:solidFill>
            </a:endParaRPr>
          </a:p>
          <a:p>
            <a:pPr algn="l"/>
            <a:r>
              <a:rPr lang="ja-JP" altLang="en-US" sz="1050" dirty="0">
                <a:solidFill>
                  <a:schemeClr val="tx1"/>
                </a:solidFill>
              </a:rPr>
              <a:t>スキルアップサポート</a:t>
            </a:r>
            <a:endParaRPr lang="en-US" altLang="ja-JP" sz="1050" dirty="0">
              <a:solidFill>
                <a:schemeClr val="tx1"/>
              </a:solidFill>
            </a:endParaRPr>
          </a:p>
          <a:p>
            <a:pPr algn="l"/>
            <a:r>
              <a:rPr lang="ja-JP" altLang="en-US" sz="1050" dirty="0">
                <a:solidFill>
                  <a:schemeClr val="tx1"/>
                </a:solidFill>
              </a:rPr>
              <a:t>類似</a:t>
            </a:r>
            <a:r>
              <a:rPr lang="en-US" altLang="ja-JP" sz="1050" dirty="0">
                <a:solidFill>
                  <a:schemeClr val="tx1"/>
                </a:solidFill>
              </a:rPr>
              <a:t>CS</a:t>
            </a:r>
            <a:r>
              <a:rPr lang="ja-JP" altLang="en-US" sz="1050" dirty="0">
                <a:solidFill>
                  <a:schemeClr val="tx1"/>
                </a:solidFill>
              </a:rPr>
              <a:t>の転職事例</a:t>
            </a:r>
            <a:endParaRPr kumimoji="1" lang="ja-JP" altLang="en-US" sz="1050" dirty="0">
              <a:solidFill>
                <a:schemeClr val="tx1"/>
              </a:solidFill>
            </a:endParaRPr>
          </a:p>
        </p:txBody>
      </p:sp>
      <p:sp>
        <p:nvSpPr>
          <p:cNvPr id="9" name="正方形/長方形 8">
            <a:extLst>
              <a:ext uri="{FF2B5EF4-FFF2-40B4-BE49-F238E27FC236}">
                <a16:creationId xmlns:a16="http://schemas.microsoft.com/office/drawing/2014/main" id="{6CF400EB-A02C-FD1A-F18A-43DCA5430D2C}"/>
              </a:ext>
            </a:extLst>
          </p:cNvPr>
          <p:cNvSpPr/>
          <p:nvPr/>
        </p:nvSpPr>
        <p:spPr>
          <a:xfrm>
            <a:off x="6008029" y="1220443"/>
            <a:ext cx="5309428" cy="809793"/>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l"/>
            <a:r>
              <a:rPr kumimoji="1" lang="ja-JP" altLang="en-US" sz="1050" b="1" u="sng" dirty="0">
                <a:solidFill>
                  <a:schemeClr val="tx1"/>
                </a:solidFill>
              </a:rPr>
              <a:t>■応募を検討</a:t>
            </a:r>
            <a:r>
              <a:rPr lang="ja-JP" altLang="en-US" sz="1050" b="1" u="sng" dirty="0">
                <a:solidFill>
                  <a:schemeClr val="tx1"/>
                </a:solidFill>
              </a:rPr>
              <a:t>する</a:t>
            </a:r>
            <a:r>
              <a:rPr kumimoji="1" lang="ja-JP" altLang="en-US" sz="1050" b="1" u="sng" dirty="0">
                <a:solidFill>
                  <a:schemeClr val="tx1"/>
                </a:solidFill>
              </a:rPr>
              <a:t>サポート</a:t>
            </a:r>
            <a:endParaRPr kumimoji="1" lang="en-US" altLang="ja-JP" sz="1050" b="1" u="sng" dirty="0">
              <a:solidFill>
                <a:schemeClr val="tx1"/>
              </a:solidFill>
            </a:endParaRPr>
          </a:p>
          <a:p>
            <a:pPr algn="l"/>
            <a:r>
              <a:rPr kumimoji="1" lang="ja-JP" altLang="en-US" sz="1050" dirty="0">
                <a:solidFill>
                  <a:schemeClr val="tx1"/>
                </a:solidFill>
              </a:rPr>
              <a:t>システム経由の非公開求人共有</a:t>
            </a:r>
            <a:endParaRPr kumimoji="1" lang="en-US" altLang="ja-JP" sz="1050" dirty="0">
              <a:solidFill>
                <a:schemeClr val="tx1"/>
              </a:solidFill>
            </a:endParaRPr>
          </a:p>
          <a:p>
            <a:pPr algn="l"/>
            <a:r>
              <a:rPr lang="en-US" altLang="ja-JP" sz="1050" dirty="0">
                <a:solidFill>
                  <a:schemeClr val="tx1"/>
                </a:solidFill>
              </a:rPr>
              <a:t>CA</a:t>
            </a:r>
            <a:r>
              <a:rPr lang="ja-JP" altLang="en-US" sz="1050" dirty="0">
                <a:solidFill>
                  <a:schemeClr val="tx1"/>
                </a:solidFill>
              </a:rPr>
              <a:t>経由では合格可能性の相談や書類添削</a:t>
            </a:r>
            <a:endParaRPr kumimoji="1" lang="ja-JP" altLang="en-US" sz="1050" dirty="0">
              <a:solidFill>
                <a:schemeClr val="tx1"/>
              </a:solidFill>
            </a:endParaRPr>
          </a:p>
        </p:txBody>
      </p:sp>
      <p:graphicFrame>
        <p:nvGraphicFramePr>
          <p:cNvPr id="7" name="グラフ 6">
            <a:extLst>
              <a:ext uri="{FF2B5EF4-FFF2-40B4-BE49-F238E27FC236}">
                <a16:creationId xmlns:a16="http://schemas.microsoft.com/office/drawing/2014/main" id="{AA8F50BA-C856-772B-28D8-AC210D8555EF}"/>
              </a:ext>
            </a:extLst>
          </p:cNvPr>
          <p:cNvGraphicFramePr>
            <a:graphicFrameLocks/>
          </p:cNvGraphicFramePr>
          <p:nvPr>
            <p:extLst>
              <p:ext uri="{D42A27DB-BD31-4B8C-83A1-F6EECF244321}">
                <p14:modId xmlns:p14="http://schemas.microsoft.com/office/powerpoint/2010/main" val="3483092551"/>
              </p:ext>
            </p:extLst>
          </p:nvPr>
        </p:nvGraphicFramePr>
        <p:xfrm>
          <a:off x="669340" y="2050328"/>
          <a:ext cx="5777642" cy="428567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グラフ 10">
            <a:extLst>
              <a:ext uri="{FF2B5EF4-FFF2-40B4-BE49-F238E27FC236}">
                <a16:creationId xmlns:a16="http://schemas.microsoft.com/office/drawing/2014/main" id="{C3101C9C-C081-6275-A4B2-AE01B390B569}"/>
              </a:ext>
            </a:extLst>
          </p:cNvPr>
          <p:cNvGraphicFramePr>
            <a:graphicFrameLocks/>
          </p:cNvGraphicFramePr>
          <p:nvPr>
            <p:extLst>
              <p:ext uri="{D42A27DB-BD31-4B8C-83A1-F6EECF244321}">
                <p14:modId xmlns:p14="http://schemas.microsoft.com/office/powerpoint/2010/main" val="2600167685"/>
              </p:ext>
            </p:extLst>
          </p:nvPr>
        </p:nvGraphicFramePr>
        <p:xfrm>
          <a:off x="5892109" y="2240706"/>
          <a:ext cx="6078218" cy="428567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76842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B67730C3-610B-70CD-D7B2-31153552A192}"/>
              </a:ext>
            </a:extLst>
          </p:cNvPr>
          <p:cNvSpPr>
            <a:spLocks noGrp="1"/>
          </p:cNvSpPr>
          <p:nvPr>
            <p:ph sz="quarter" idx="14"/>
          </p:nvPr>
        </p:nvSpPr>
        <p:spPr>
          <a:xfrm>
            <a:off x="360363" y="879630"/>
            <a:ext cx="11447462" cy="808493"/>
          </a:xfrm>
        </p:spPr>
        <p:txBody>
          <a:bodyPr>
            <a:normAutofit/>
          </a:bodyPr>
          <a:lstStyle/>
          <a:p>
            <a:pPr marL="285750" indent="-285750">
              <a:buFont typeface="Wingdings" panose="05000000000000000000" pitchFamily="2" charset="2"/>
              <a:buChar char="ü"/>
            </a:pPr>
            <a:r>
              <a:rPr kumimoji="1" lang="ja-JP" altLang="en-US" sz="1200" dirty="0"/>
              <a:t>面談実施無</a:t>
            </a:r>
            <a:r>
              <a:rPr kumimoji="1" lang="en-US" altLang="ja-JP" sz="1200" dirty="0"/>
              <a:t>CS</a:t>
            </a:r>
            <a:r>
              <a:rPr kumimoji="1" lang="ja-JP" altLang="en-US" sz="1200" dirty="0"/>
              <a:t>は①年収</a:t>
            </a:r>
            <a:r>
              <a:rPr kumimoji="1" lang="en-US" altLang="ja-JP" sz="1200" dirty="0"/>
              <a:t>300</a:t>
            </a:r>
            <a:r>
              <a:rPr kumimoji="1" lang="ja-JP" altLang="en-US" sz="1200" dirty="0"/>
              <a:t>未満</a:t>
            </a:r>
            <a:r>
              <a:rPr lang="ja-JP" altLang="en-US" sz="1200" dirty="0"/>
              <a:t>②</a:t>
            </a:r>
            <a:r>
              <a:rPr kumimoji="1" lang="ja-JP" altLang="en-US" sz="1200" dirty="0"/>
              <a:t>年収</a:t>
            </a:r>
            <a:r>
              <a:rPr kumimoji="1" lang="en-US" altLang="ja-JP" sz="1200" dirty="0"/>
              <a:t>400</a:t>
            </a:r>
            <a:r>
              <a:rPr kumimoji="1" lang="ja-JP" altLang="en-US" sz="1200" dirty="0"/>
              <a:t>以上、に</a:t>
            </a:r>
            <a:r>
              <a:rPr lang="ja-JP" altLang="en-US" sz="1200" dirty="0"/>
              <a:t>二極化</a:t>
            </a:r>
            <a:r>
              <a:rPr kumimoji="1" lang="ja-JP" altLang="en-US" sz="1200" dirty="0"/>
              <a:t>している。</a:t>
            </a:r>
            <a:endParaRPr kumimoji="1" lang="en-US" altLang="ja-JP" sz="1200" dirty="0"/>
          </a:p>
          <a:p>
            <a:r>
              <a:rPr kumimoji="1" lang="ja-JP" altLang="en-US" sz="1200" dirty="0"/>
              <a:t>∟①は転職経験</a:t>
            </a:r>
            <a:r>
              <a:rPr kumimoji="1" lang="en-US" altLang="ja-JP" sz="1200" dirty="0"/>
              <a:t>2</a:t>
            </a:r>
            <a:r>
              <a:rPr kumimoji="1" lang="ja-JP" altLang="en-US" sz="1200" dirty="0"/>
              <a:t>回以上の事務職が</a:t>
            </a:r>
            <a:r>
              <a:rPr kumimoji="1" lang="en-US" altLang="ja-JP" sz="1200" dirty="0"/>
              <a:t>3</a:t>
            </a:r>
            <a:r>
              <a:rPr kumimoji="1" lang="ja-JP" altLang="en-US" sz="1200" dirty="0"/>
              <a:t>割、時期先</a:t>
            </a:r>
            <a:r>
              <a:rPr kumimoji="1" lang="en-US" altLang="ja-JP" sz="1200" dirty="0"/>
              <a:t>/</a:t>
            </a:r>
            <a:r>
              <a:rPr kumimoji="1" lang="ja-JP" altLang="en-US" sz="1200" dirty="0"/>
              <a:t>未定のため面談をして良いか迷った</a:t>
            </a:r>
            <a:r>
              <a:rPr kumimoji="1" lang="en-US" altLang="ja-JP" sz="1200" dirty="0"/>
              <a:t>CS</a:t>
            </a:r>
            <a:r>
              <a:rPr kumimoji="1" lang="ja-JP" altLang="en-US" sz="1200" dirty="0"/>
              <a:t>が</a:t>
            </a:r>
            <a:r>
              <a:rPr kumimoji="1" lang="en-US" altLang="ja-JP" sz="1200" dirty="0"/>
              <a:t>4</a:t>
            </a:r>
            <a:r>
              <a:rPr kumimoji="1" lang="ja-JP" altLang="en-US" sz="1200" dirty="0"/>
              <a:t>割近く。次いで時間要因や、連絡の多さ、面談後の活動ネガが影響。</a:t>
            </a:r>
            <a:endParaRPr kumimoji="1" lang="en-US" altLang="ja-JP" sz="1200" dirty="0"/>
          </a:p>
          <a:p>
            <a:r>
              <a:rPr lang="ja-JP" altLang="en-US" sz="1200" dirty="0"/>
              <a:t>∟②は転職経験</a:t>
            </a:r>
            <a:r>
              <a:rPr lang="en-US" altLang="ja-JP" sz="1200" dirty="0"/>
              <a:t>0-1</a:t>
            </a:r>
            <a:r>
              <a:rPr lang="ja-JP" altLang="en-US" sz="1200" dirty="0"/>
              <a:t>回、専門職種が</a:t>
            </a:r>
            <a:r>
              <a:rPr lang="en-US" altLang="ja-JP" sz="1200" dirty="0"/>
              <a:t>4</a:t>
            </a:r>
            <a:r>
              <a:rPr lang="ja-JP" altLang="en-US" sz="1200" dirty="0"/>
              <a:t>割、スケジュールが合わなかったり時間がないことが面談実施なしの大きな理由となっている。</a:t>
            </a:r>
            <a:endParaRPr lang="en-US" altLang="ja-JP" sz="1200" dirty="0"/>
          </a:p>
        </p:txBody>
      </p:sp>
      <p:sp>
        <p:nvSpPr>
          <p:cNvPr id="3" name="テキスト プレースホルダー 2">
            <a:extLst>
              <a:ext uri="{FF2B5EF4-FFF2-40B4-BE49-F238E27FC236}">
                <a16:creationId xmlns:a16="http://schemas.microsoft.com/office/drawing/2014/main" id="{AD11D133-1963-5E0C-9310-8DC4FBEBDA7B}"/>
              </a:ext>
            </a:extLst>
          </p:cNvPr>
          <p:cNvSpPr>
            <a:spLocks noGrp="1"/>
          </p:cNvSpPr>
          <p:nvPr>
            <p:ph type="body" sz="quarter" idx="13"/>
          </p:nvPr>
        </p:nvSpPr>
        <p:spPr>
          <a:xfrm>
            <a:off x="360363" y="183090"/>
            <a:ext cx="11448000" cy="284693"/>
          </a:xfrm>
        </p:spPr>
        <p:txBody>
          <a:bodyPr/>
          <a:lstStyle/>
          <a:p>
            <a:r>
              <a:rPr lang="ja-JP" altLang="en-US" dirty="0"/>
              <a:t>活動ステータス別サマリ：</a:t>
            </a:r>
            <a:r>
              <a:rPr kumimoji="1" lang="ja-JP" altLang="en-US" dirty="0"/>
              <a:t>面談希望あり＞面談実施</a:t>
            </a:r>
            <a:r>
              <a:rPr kumimoji="1" lang="ja-JP" altLang="en-US" dirty="0">
                <a:solidFill>
                  <a:srgbClr val="FF0000"/>
                </a:solidFill>
              </a:rPr>
              <a:t>なし</a:t>
            </a:r>
            <a:r>
              <a:rPr kumimoji="1" lang="en-US" altLang="ja-JP" dirty="0"/>
              <a:t>【</a:t>
            </a:r>
            <a:r>
              <a:rPr kumimoji="1" lang="ja-JP" altLang="en-US" dirty="0"/>
              <a:t>セグメント考察</a:t>
            </a:r>
            <a:r>
              <a:rPr kumimoji="1" lang="en-US" altLang="ja-JP" dirty="0"/>
              <a:t>】</a:t>
            </a:r>
            <a:endParaRPr kumimoji="1" lang="ja-JP" altLang="en-US" dirty="0"/>
          </a:p>
        </p:txBody>
      </p:sp>
      <p:sp>
        <p:nvSpPr>
          <p:cNvPr id="4" name="フッター プレースホルダー 3">
            <a:extLst>
              <a:ext uri="{FF2B5EF4-FFF2-40B4-BE49-F238E27FC236}">
                <a16:creationId xmlns:a16="http://schemas.microsoft.com/office/drawing/2014/main" id="{5D12ADD8-59AB-709C-0D6A-B0B7B7F26734}"/>
              </a:ext>
            </a:extLst>
          </p:cNvPr>
          <p:cNvSpPr>
            <a:spLocks noGrp="1"/>
          </p:cNvSpPr>
          <p:nvPr>
            <p:ph type="ftr" sz="quarter" idx="3"/>
          </p:nvPr>
        </p:nvSpPr>
        <p:spPr/>
        <p:txBody>
          <a:bodyPr/>
          <a:lstStyle/>
          <a:p>
            <a:r>
              <a:rPr lang="en" altLang="ja-JP"/>
              <a:t>(C) Recruit Co., Ltd. All rights reserved. </a:t>
            </a:r>
            <a:endParaRPr lang="ja-JP" altLang="en-US"/>
          </a:p>
        </p:txBody>
      </p:sp>
      <p:sp>
        <p:nvSpPr>
          <p:cNvPr id="5" name="スライド番号プレースホルダー 4">
            <a:extLst>
              <a:ext uri="{FF2B5EF4-FFF2-40B4-BE49-F238E27FC236}">
                <a16:creationId xmlns:a16="http://schemas.microsoft.com/office/drawing/2014/main" id="{9CC9D749-C03A-D6FD-F171-0AD69D54C52C}"/>
              </a:ext>
            </a:extLst>
          </p:cNvPr>
          <p:cNvSpPr>
            <a:spLocks noGrp="1"/>
          </p:cNvSpPr>
          <p:nvPr>
            <p:ph type="sldNum" sz="quarter" idx="4"/>
          </p:nvPr>
        </p:nvSpPr>
        <p:spPr/>
        <p:txBody>
          <a:bodyPr/>
          <a:lstStyle/>
          <a:p>
            <a:fld id="{EDD55F78-D87A-074E-B5DA-6C9B598DD91F}" type="slidenum">
              <a:rPr lang="ja-JP" altLang="en-US" smtClean="0"/>
              <a:pPr/>
              <a:t>11</a:t>
            </a:fld>
            <a:endParaRPr lang="ja-JP" altLang="en-US"/>
          </a:p>
        </p:txBody>
      </p:sp>
      <p:graphicFrame>
        <p:nvGraphicFramePr>
          <p:cNvPr id="9" name="表 8">
            <a:extLst>
              <a:ext uri="{FF2B5EF4-FFF2-40B4-BE49-F238E27FC236}">
                <a16:creationId xmlns:a16="http://schemas.microsoft.com/office/drawing/2014/main" id="{07973764-D611-0B19-A972-34DACA6DB491}"/>
              </a:ext>
            </a:extLst>
          </p:cNvPr>
          <p:cNvGraphicFramePr>
            <a:graphicFrameLocks noGrp="1"/>
          </p:cNvGraphicFramePr>
          <p:nvPr>
            <p:extLst>
              <p:ext uri="{D42A27DB-BD31-4B8C-83A1-F6EECF244321}">
                <p14:modId xmlns:p14="http://schemas.microsoft.com/office/powerpoint/2010/main" val="464395759"/>
              </p:ext>
            </p:extLst>
          </p:nvPr>
        </p:nvGraphicFramePr>
        <p:xfrm>
          <a:off x="4545134" y="2175510"/>
          <a:ext cx="6337298" cy="1253490"/>
        </p:xfrm>
        <a:graphic>
          <a:graphicData uri="http://schemas.openxmlformats.org/drawingml/2006/table">
            <a:tbl>
              <a:tblPr/>
              <a:tblGrid>
                <a:gridCol w="831850">
                  <a:extLst>
                    <a:ext uri="{9D8B030D-6E8A-4147-A177-3AD203B41FA5}">
                      <a16:colId xmlns:a16="http://schemas.microsoft.com/office/drawing/2014/main" val="2665282621"/>
                    </a:ext>
                  </a:extLst>
                </a:gridCol>
                <a:gridCol w="1205140">
                  <a:extLst>
                    <a:ext uri="{9D8B030D-6E8A-4147-A177-3AD203B41FA5}">
                      <a16:colId xmlns:a16="http://schemas.microsoft.com/office/drawing/2014/main" val="1048131639"/>
                    </a:ext>
                  </a:extLst>
                </a:gridCol>
                <a:gridCol w="477812">
                  <a:extLst>
                    <a:ext uri="{9D8B030D-6E8A-4147-A177-3AD203B41FA5}">
                      <a16:colId xmlns:a16="http://schemas.microsoft.com/office/drawing/2014/main" val="2696473646"/>
                    </a:ext>
                  </a:extLst>
                </a:gridCol>
                <a:gridCol w="477812">
                  <a:extLst>
                    <a:ext uri="{9D8B030D-6E8A-4147-A177-3AD203B41FA5}">
                      <a16:colId xmlns:a16="http://schemas.microsoft.com/office/drawing/2014/main" val="797590251"/>
                    </a:ext>
                  </a:extLst>
                </a:gridCol>
                <a:gridCol w="477812">
                  <a:extLst>
                    <a:ext uri="{9D8B030D-6E8A-4147-A177-3AD203B41FA5}">
                      <a16:colId xmlns:a16="http://schemas.microsoft.com/office/drawing/2014/main" val="1395540322"/>
                    </a:ext>
                  </a:extLst>
                </a:gridCol>
                <a:gridCol w="477812">
                  <a:extLst>
                    <a:ext uri="{9D8B030D-6E8A-4147-A177-3AD203B41FA5}">
                      <a16:colId xmlns:a16="http://schemas.microsoft.com/office/drawing/2014/main" val="3068469270"/>
                    </a:ext>
                  </a:extLst>
                </a:gridCol>
                <a:gridCol w="477812">
                  <a:extLst>
                    <a:ext uri="{9D8B030D-6E8A-4147-A177-3AD203B41FA5}">
                      <a16:colId xmlns:a16="http://schemas.microsoft.com/office/drawing/2014/main" val="2060818555"/>
                    </a:ext>
                  </a:extLst>
                </a:gridCol>
                <a:gridCol w="477812">
                  <a:extLst>
                    <a:ext uri="{9D8B030D-6E8A-4147-A177-3AD203B41FA5}">
                      <a16:colId xmlns:a16="http://schemas.microsoft.com/office/drawing/2014/main" val="3154423259"/>
                    </a:ext>
                  </a:extLst>
                </a:gridCol>
                <a:gridCol w="477812">
                  <a:extLst>
                    <a:ext uri="{9D8B030D-6E8A-4147-A177-3AD203B41FA5}">
                      <a16:colId xmlns:a16="http://schemas.microsoft.com/office/drawing/2014/main" val="769042764"/>
                    </a:ext>
                  </a:extLst>
                </a:gridCol>
                <a:gridCol w="477812">
                  <a:extLst>
                    <a:ext uri="{9D8B030D-6E8A-4147-A177-3AD203B41FA5}">
                      <a16:colId xmlns:a16="http://schemas.microsoft.com/office/drawing/2014/main" val="3751291855"/>
                    </a:ext>
                  </a:extLst>
                </a:gridCol>
                <a:gridCol w="477812">
                  <a:extLst>
                    <a:ext uri="{9D8B030D-6E8A-4147-A177-3AD203B41FA5}">
                      <a16:colId xmlns:a16="http://schemas.microsoft.com/office/drawing/2014/main" val="4251084076"/>
                    </a:ext>
                  </a:extLst>
                </a:gridCol>
              </a:tblGrid>
              <a:tr h="142875">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ctr"/>
                      <a:r>
                        <a:rPr lang="en-US" sz="800" b="0" i="0" u="none" strike="noStrike">
                          <a:effectLst/>
                          <a:latin typeface="Meiryo UI" panose="020B0604030504040204" pitchFamily="50" charset="-128"/>
                          <a:ea typeface="Meiryo UI" panose="020B0604030504040204" pitchFamily="50" charset="-128"/>
                        </a:rPr>
                        <a:t>WB</a:t>
                      </a:r>
                      <a:r>
                        <a:rPr lang="ja-JP" altLang="en-US" sz="800" b="0" i="0" u="none" strike="noStrike">
                          <a:effectLst/>
                          <a:latin typeface="Meiryo UI" panose="020B0604030504040204" pitchFamily="50" charset="-128"/>
                          <a:ea typeface="Meiryo UI" panose="020B0604030504040204" pitchFamily="50" charset="-128"/>
                        </a:rPr>
                        <a:t>後</a:t>
                      </a:r>
                      <a:r>
                        <a:rPr lang="en-US" sz="800" b="0" i="0" u="none" strike="noStrike">
                          <a:effectLst/>
                          <a:latin typeface="Meiryo UI" panose="020B0604030504040204" pitchFamily="50" charset="-128"/>
                          <a:ea typeface="Meiryo UI" panose="020B0604030504040204" pitchFamily="50" charset="-128"/>
                        </a:rPr>
                        <a:t>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800" b="0" i="0" u="none" strike="noStrike">
                          <a:effectLst/>
                          <a:latin typeface="Meiryo UI" panose="020B0604030504040204" pitchFamily="50" charset="-128"/>
                          <a:ea typeface="Meiryo UI" panose="020B0604030504040204" pitchFamily="50" charset="-128"/>
                        </a:rPr>
                        <a:t>企画・管理系職種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800" b="0" i="0" u="none" strike="noStrike">
                          <a:effectLst/>
                          <a:latin typeface="Meiryo UI" panose="020B0604030504040204" pitchFamily="50" charset="-128"/>
                          <a:ea typeface="Meiryo UI" panose="020B0604030504040204" pitchFamily="50" charset="-128"/>
                        </a:rPr>
                        <a:t>営業職種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800" b="0" i="0" u="none" strike="noStrike">
                          <a:effectLst/>
                          <a:latin typeface="Meiryo UI" panose="020B0604030504040204" pitchFamily="50" charset="-128"/>
                          <a:ea typeface="Meiryo UI" panose="020B0604030504040204" pitchFamily="50" charset="-128"/>
                        </a:rPr>
                        <a:t>事務職種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800" b="0" i="0" u="none" strike="noStrike">
                          <a:effectLst/>
                          <a:latin typeface="Meiryo UI" panose="020B0604030504040204" pitchFamily="50" charset="-128"/>
                          <a:ea typeface="Meiryo UI" panose="020B0604030504040204" pitchFamily="50" charset="-128"/>
                        </a:rPr>
                        <a:t>製造業系職種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ja-JP" sz="800" b="0" i="0" u="none" strike="noStrike">
                          <a:effectLst/>
                          <a:latin typeface="Meiryo UI" panose="020B0604030504040204" pitchFamily="50" charset="-128"/>
                          <a:ea typeface="Meiryo UI" panose="020B0604030504040204" pitchFamily="50" charset="-128"/>
                        </a:rPr>
                        <a:t>IT</a:t>
                      </a:r>
                      <a:r>
                        <a:rPr lang="ja-JP" altLang="en-US" sz="800" b="0" i="0" u="none" strike="noStrike">
                          <a:effectLst/>
                          <a:latin typeface="Meiryo UI" panose="020B0604030504040204" pitchFamily="50" charset="-128"/>
                          <a:ea typeface="Meiryo UI" panose="020B0604030504040204" pitchFamily="50" charset="-128"/>
                        </a:rPr>
                        <a:t>・ネット系職種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800" b="0" i="0" u="none" strike="noStrike">
                          <a:effectLst/>
                          <a:latin typeface="Meiryo UI" panose="020B0604030504040204" pitchFamily="50" charset="-128"/>
                          <a:ea typeface="Meiryo UI" panose="020B0604030504040204" pitchFamily="50" charset="-128"/>
                        </a:rPr>
                        <a:t>コンサルタント系職種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800" b="0" i="0" u="none" strike="noStrike">
                          <a:effectLst/>
                          <a:latin typeface="Meiryo UI" panose="020B0604030504040204" pitchFamily="50" charset="-128"/>
                          <a:ea typeface="Meiryo UI" panose="020B0604030504040204" pitchFamily="50" charset="-128"/>
                        </a:rPr>
                        <a:t>専門系職種</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800" b="0" i="0" u="none" strike="noStrike">
                          <a:effectLst/>
                          <a:latin typeface="Meiryo UI" panose="020B0604030504040204" pitchFamily="50" charset="-128"/>
                          <a:ea typeface="Meiryo UI" panose="020B0604030504040204" pitchFamily="50" charset="-128"/>
                        </a:rPr>
                        <a:t>無回答</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63408676"/>
                  </a:ext>
                </a:extLst>
              </a:tr>
              <a:tr h="142875">
                <a:tc rowSpan="6">
                  <a:txBody>
                    <a:bodyPr/>
                    <a:lstStyle/>
                    <a:p>
                      <a:pPr algn="l" fontAlgn="t"/>
                      <a:r>
                        <a:rPr lang="ja-JP" altLang="en-US" sz="800" b="0" i="0" u="none" strike="noStrike" dirty="0">
                          <a:effectLst/>
                          <a:latin typeface="Meiryo UI" panose="020B0604030504040204" pitchFamily="50" charset="-128"/>
                          <a:ea typeface="Meiryo UI" panose="020B0604030504040204" pitchFamily="50" charset="-128"/>
                        </a:rPr>
                        <a:t>　∟面談実施なし</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全体</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t"/>
                      <a:r>
                        <a:rPr lang="en-US" altLang="ja-JP" sz="800" b="0" i="0" u="none" strike="noStrike">
                          <a:effectLst/>
                          <a:latin typeface="Meiryo UI" panose="020B0604030504040204" pitchFamily="50" charset="-128"/>
                          <a:ea typeface="Meiryo UI" panose="020B0604030504040204" pitchFamily="50" charset="-128"/>
                        </a:rPr>
                        <a:t>84</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E8D3"/>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0F8F5"/>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F1E7"/>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7F3"/>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8F6"/>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E6C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F0E4"/>
                    </a:solidFill>
                  </a:tcPr>
                </a:tc>
                <a:extLst>
                  <a:ext uri="{0D108BD9-81ED-4DB2-BD59-A6C34878D82A}">
                    <a16:rowId xmlns:a16="http://schemas.microsoft.com/office/drawing/2014/main" val="899290549"/>
                  </a:ext>
                </a:extLst>
              </a:tr>
              <a:tr h="142875">
                <a:tc vMerge="1">
                  <a:txBody>
                    <a:bodyPr/>
                    <a:lstStyle/>
                    <a:p>
                      <a:endParaRPr kumimoji="1" lang="ja-JP" altLang="en-US"/>
                    </a:p>
                  </a:txBody>
                  <a:tcPr/>
                </a:tc>
                <a:tc>
                  <a:txBody>
                    <a:bodyPr/>
                    <a:lstStyle/>
                    <a:p>
                      <a:pPr algn="l" fontAlgn="t"/>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300</a:t>
                      </a:r>
                      <a:r>
                        <a:rPr lang="ja-JP" altLang="en-US" sz="800" b="1" i="0" u="none" strike="noStrike" dirty="0">
                          <a:solidFill>
                            <a:srgbClr val="FF0000"/>
                          </a:solidFill>
                          <a:effectLst/>
                          <a:latin typeface="Meiryo UI" panose="020B0604030504040204" pitchFamily="50" charset="-128"/>
                          <a:ea typeface="Meiryo UI" panose="020B0604030504040204" pitchFamily="50" charset="-128"/>
                        </a:rPr>
                        <a:t>万円未満</a:t>
                      </a: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a:t>
                      </a:r>
                      <a:r>
                        <a:rPr lang="ja-JP" altLang="en-US" sz="800" b="1" i="0" u="none" strike="noStrike" dirty="0">
                          <a:solidFill>
                            <a:srgbClr val="FF0000"/>
                          </a:solidFill>
                          <a:effectLst/>
                          <a:latin typeface="Meiryo UI" panose="020B0604030504040204" pitchFamily="50" charset="-128"/>
                          <a:ea typeface="Meiryo UI" panose="020B0604030504040204" pitchFamily="50" charset="-128"/>
                        </a:rPr>
                        <a:t>①</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t"/>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24</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EDDF"/>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C9"/>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2EA"/>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2EA"/>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8D4"/>
                    </a:solidFill>
                  </a:tcPr>
                </a:tc>
                <a:extLst>
                  <a:ext uri="{0D108BD9-81ED-4DB2-BD59-A6C34878D82A}">
                    <a16:rowId xmlns:a16="http://schemas.microsoft.com/office/drawing/2014/main" val="736129295"/>
                  </a:ext>
                </a:extLst>
              </a:tr>
              <a:tr h="142875">
                <a:tc vMerge="1">
                  <a:txBody>
                    <a:bodyPr/>
                    <a:lstStyle/>
                    <a:p>
                      <a:endParaRPr kumimoji="1" lang="ja-JP" altLang="en-US"/>
                    </a:p>
                  </a:txBody>
                  <a:tcPr/>
                </a:tc>
                <a:tc>
                  <a:txBody>
                    <a:bodyPr/>
                    <a:lstStyle/>
                    <a:p>
                      <a:pPr algn="l" fontAlgn="t"/>
                      <a:r>
                        <a:rPr lang="en-US" altLang="ja-JP" sz="800" b="0" i="0" u="none" strike="noStrike" dirty="0">
                          <a:effectLst/>
                          <a:latin typeface="Meiryo UI" panose="020B0604030504040204" pitchFamily="50" charset="-128"/>
                          <a:ea typeface="Meiryo UI" panose="020B0604030504040204" pitchFamily="50" charset="-128"/>
                        </a:rPr>
                        <a:t>300-399</a:t>
                      </a:r>
                      <a:r>
                        <a:rPr lang="ja-JP" altLang="en-US" sz="800" b="0" i="0" u="none" strike="noStrike" dirty="0">
                          <a:effectLst/>
                          <a:latin typeface="Meiryo UI" panose="020B0604030504040204" pitchFamily="50" charset="-128"/>
                          <a:ea typeface="Meiryo UI" panose="020B0604030504040204" pitchFamily="50" charset="-128"/>
                        </a:rPr>
                        <a:t>万円以下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t"/>
                      <a:r>
                        <a:rPr lang="en-US" altLang="ja-JP" sz="800" b="0" i="0" u="none" strike="noStrike" dirty="0">
                          <a:effectLst/>
                          <a:latin typeface="Meiryo UI" panose="020B0604030504040204" pitchFamily="50" charset="-128"/>
                          <a:ea typeface="Meiryo UI" panose="020B0604030504040204" pitchFamily="50" charset="-128"/>
                        </a:rPr>
                        <a:t>8</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E8D3"/>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E8D3"/>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E8D3"/>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E8D3"/>
                    </a:solidFill>
                  </a:tcPr>
                </a:tc>
                <a:extLst>
                  <a:ext uri="{0D108BD9-81ED-4DB2-BD59-A6C34878D82A}">
                    <a16:rowId xmlns:a16="http://schemas.microsoft.com/office/drawing/2014/main" val="800493351"/>
                  </a:ext>
                </a:extLst>
              </a:tr>
              <a:tr h="142875">
                <a:tc vMerge="1">
                  <a:txBody>
                    <a:bodyPr/>
                    <a:lstStyle/>
                    <a:p>
                      <a:endParaRPr kumimoji="1" lang="ja-JP" altLang="en-US"/>
                    </a:p>
                  </a:txBody>
                  <a:tcPr/>
                </a:tc>
                <a:tc>
                  <a:txBody>
                    <a:bodyPr/>
                    <a:lstStyle/>
                    <a:p>
                      <a:pPr algn="l" fontAlgn="t"/>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400-599</a:t>
                      </a:r>
                      <a:r>
                        <a:rPr lang="ja-JP" altLang="en-US" sz="800" b="1" i="0" u="none" strike="noStrike" dirty="0">
                          <a:solidFill>
                            <a:srgbClr val="FF0000"/>
                          </a:solidFill>
                          <a:effectLst/>
                          <a:latin typeface="Meiryo UI" panose="020B0604030504040204" pitchFamily="50" charset="-128"/>
                          <a:ea typeface="Meiryo UI" panose="020B0604030504040204" pitchFamily="50" charset="-128"/>
                        </a:rPr>
                        <a:t>万円以下</a:t>
                      </a: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a:t>
                      </a:r>
                      <a:r>
                        <a:rPr lang="ja-JP" altLang="en-US" sz="800" b="1" i="0" u="none" strike="noStrike" dirty="0">
                          <a:solidFill>
                            <a:srgbClr val="FF0000"/>
                          </a:solidFill>
                          <a:effectLst/>
                          <a:latin typeface="Meiryo UI" panose="020B0604030504040204" pitchFamily="50" charset="-128"/>
                          <a:ea typeface="Meiryo UI" panose="020B0604030504040204" pitchFamily="50" charset="-128"/>
                        </a:rPr>
                        <a:t>②</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t"/>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38</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FE2"/>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8F6"/>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F3EC"/>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F3EC"/>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2D8B1"/>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F3EC"/>
                    </a:solidFill>
                  </a:tcPr>
                </a:tc>
                <a:extLst>
                  <a:ext uri="{0D108BD9-81ED-4DB2-BD59-A6C34878D82A}">
                    <a16:rowId xmlns:a16="http://schemas.microsoft.com/office/drawing/2014/main" val="2160758176"/>
                  </a:ext>
                </a:extLst>
              </a:tr>
              <a:tr h="142875">
                <a:tc vMerge="1">
                  <a:txBody>
                    <a:bodyPr/>
                    <a:lstStyle/>
                    <a:p>
                      <a:endParaRPr kumimoji="1" lang="ja-JP" altLang="en-US"/>
                    </a:p>
                  </a:txBody>
                  <a:tcPr/>
                </a:tc>
                <a:tc>
                  <a:txBody>
                    <a:bodyPr/>
                    <a:lstStyle/>
                    <a:p>
                      <a:pPr algn="l" fontAlgn="t"/>
                      <a:r>
                        <a:rPr lang="en-US" altLang="ja-JP" sz="800" b="0" i="0" u="none" strike="noStrike" dirty="0">
                          <a:effectLst/>
                          <a:latin typeface="Meiryo UI" panose="020B0604030504040204" pitchFamily="50" charset="-128"/>
                          <a:ea typeface="Meiryo UI" panose="020B0604030504040204" pitchFamily="50" charset="-128"/>
                        </a:rPr>
                        <a:t>600-799</a:t>
                      </a:r>
                      <a:r>
                        <a:rPr lang="ja-JP" altLang="en-US" sz="800" b="0" i="0" u="none" strike="noStrike" dirty="0">
                          <a:effectLst/>
                          <a:latin typeface="Meiryo UI" panose="020B0604030504040204" pitchFamily="50" charset="-128"/>
                          <a:ea typeface="Meiryo UI" panose="020B0604030504040204" pitchFamily="50" charset="-128"/>
                        </a:rPr>
                        <a:t>万円以下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t"/>
                      <a:r>
                        <a:rPr lang="en-US" altLang="ja-JP" sz="800" b="0" i="0" u="none" strike="noStrike">
                          <a:effectLst/>
                          <a:latin typeface="Meiryo UI" panose="020B0604030504040204" pitchFamily="50" charset="-128"/>
                          <a:ea typeface="Meiryo UI" panose="020B0604030504040204" pitchFamily="50" charset="-128"/>
                        </a:rPr>
                        <a:t>8</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6D3A7"/>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FE2"/>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FE2"/>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FE2"/>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extLst>
                  <a:ext uri="{0D108BD9-81ED-4DB2-BD59-A6C34878D82A}">
                    <a16:rowId xmlns:a16="http://schemas.microsoft.com/office/drawing/2014/main" val="989322799"/>
                  </a:ext>
                </a:extLst>
              </a:tr>
              <a:tr h="142875">
                <a:tc vMerge="1">
                  <a:txBody>
                    <a:bodyPr/>
                    <a:lstStyle/>
                    <a:p>
                      <a:endParaRPr kumimoji="1" lang="ja-JP" altLang="en-US"/>
                    </a:p>
                  </a:txBody>
                  <a:tcPr/>
                </a:tc>
                <a:tc>
                  <a:txBody>
                    <a:bodyPr/>
                    <a:lstStyle/>
                    <a:p>
                      <a:pPr algn="l" fontAlgn="t"/>
                      <a:r>
                        <a:rPr lang="en-US" altLang="ja-JP" sz="800" b="0" i="0" u="none" strike="noStrike">
                          <a:effectLst/>
                          <a:latin typeface="Meiryo UI" panose="020B0604030504040204" pitchFamily="50" charset="-128"/>
                          <a:ea typeface="Meiryo UI" panose="020B0604030504040204" pitchFamily="50" charset="-128"/>
                        </a:rPr>
                        <a:t>800</a:t>
                      </a:r>
                      <a:r>
                        <a:rPr lang="ja-JP" altLang="en-US" sz="800" b="0" i="0" u="none" strike="noStrike">
                          <a:effectLst/>
                          <a:latin typeface="Meiryo UI" panose="020B0604030504040204" pitchFamily="50" charset="-128"/>
                          <a:ea typeface="Meiryo UI" panose="020B0604030504040204" pitchFamily="50" charset="-128"/>
                        </a:rPr>
                        <a:t>万円以上</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t"/>
                      <a:r>
                        <a:rPr lang="en-US" altLang="ja-JP" sz="800" b="0" i="0" u="none" strike="noStrike">
                          <a:effectLst/>
                          <a:latin typeface="Meiryo UI" panose="020B0604030504040204" pitchFamily="50" charset="-128"/>
                          <a:ea typeface="Meiryo UI" panose="020B0604030504040204" pitchFamily="50" charset="-128"/>
                        </a:rPr>
                        <a:t>6</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E8D3"/>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extLst>
                  <a:ext uri="{0D108BD9-81ED-4DB2-BD59-A6C34878D82A}">
                    <a16:rowId xmlns:a16="http://schemas.microsoft.com/office/drawing/2014/main" val="305530266"/>
                  </a:ext>
                </a:extLst>
              </a:tr>
              <a:tr h="142875">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ctr"/>
                      <a:r>
                        <a:rPr lang="ja-JP" altLang="en-US" sz="800" b="0" i="0" u="none" strike="noStrike" dirty="0">
                          <a:effectLst/>
                          <a:latin typeface="Meiryo UI" panose="020B0604030504040204" pitchFamily="50" charset="-128"/>
                          <a:ea typeface="Meiryo UI" panose="020B0604030504040204" pitchFamily="50" charset="-128"/>
                        </a:rPr>
                        <a:t>①と②の差分</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6%</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highlight>
                            <a:srgbClr val="FFFF00"/>
                          </a:highlight>
                          <a:latin typeface="Meiryo UI" panose="020B0604030504040204" pitchFamily="50" charset="-128"/>
                          <a:ea typeface="Meiryo UI" panose="020B0604030504040204" pitchFamily="50" charset="-128"/>
                        </a:rPr>
                        <a:t>-20%</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11%</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-13%</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highlight>
                            <a:srgbClr val="FFFF00"/>
                          </a:highlight>
                          <a:latin typeface="Meiryo UI" panose="020B0604030504040204" pitchFamily="50" charset="-128"/>
                          <a:ea typeface="Meiryo UI" panose="020B0604030504040204" pitchFamily="50" charset="-128"/>
                        </a:rPr>
                        <a:t>32%</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-14%</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117066120"/>
                  </a:ext>
                </a:extLst>
              </a:tr>
            </a:tbl>
          </a:graphicData>
        </a:graphic>
      </p:graphicFrame>
      <p:graphicFrame>
        <p:nvGraphicFramePr>
          <p:cNvPr id="10" name="表 9">
            <a:extLst>
              <a:ext uri="{FF2B5EF4-FFF2-40B4-BE49-F238E27FC236}">
                <a16:creationId xmlns:a16="http://schemas.microsoft.com/office/drawing/2014/main" id="{73C5284F-2455-E87A-D9B4-08DB99237441}"/>
              </a:ext>
            </a:extLst>
          </p:cNvPr>
          <p:cNvGraphicFramePr>
            <a:graphicFrameLocks noGrp="1"/>
          </p:cNvGraphicFramePr>
          <p:nvPr>
            <p:extLst>
              <p:ext uri="{D42A27DB-BD31-4B8C-83A1-F6EECF244321}">
                <p14:modId xmlns:p14="http://schemas.microsoft.com/office/powerpoint/2010/main" val="4225641125"/>
              </p:ext>
            </p:extLst>
          </p:nvPr>
        </p:nvGraphicFramePr>
        <p:xfrm>
          <a:off x="446943" y="2148254"/>
          <a:ext cx="3441699" cy="1342146"/>
        </p:xfrm>
        <a:graphic>
          <a:graphicData uri="http://schemas.openxmlformats.org/drawingml/2006/table">
            <a:tbl>
              <a:tblPr/>
              <a:tblGrid>
                <a:gridCol w="772257">
                  <a:extLst>
                    <a:ext uri="{9D8B030D-6E8A-4147-A177-3AD203B41FA5}">
                      <a16:colId xmlns:a16="http://schemas.microsoft.com/office/drawing/2014/main" val="1943250201"/>
                    </a:ext>
                  </a:extLst>
                </a:gridCol>
                <a:gridCol w="1247871">
                  <a:extLst>
                    <a:ext uri="{9D8B030D-6E8A-4147-A177-3AD203B41FA5}">
                      <a16:colId xmlns:a16="http://schemas.microsoft.com/office/drawing/2014/main" val="849406096"/>
                    </a:ext>
                  </a:extLst>
                </a:gridCol>
                <a:gridCol w="473857">
                  <a:extLst>
                    <a:ext uri="{9D8B030D-6E8A-4147-A177-3AD203B41FA5}">
                      <a16:colId xmlns:a16="http://schemas.microsoft.com/office/drawing/2014/main" val="1323893274"/>
                    </a:ext>
                  </a:extLst>
                </a:gridCol>
                <a:gridCol w="473857">
                  <a:extLst>
                    <a:ext uri="{9D8B030D-6E8A-4147-A177-3AD203B41FA5}">
                      <a16:colId xmlns:a16="http://schemas.microsoft.com/office/drawing/2014/main" val="3295834672"/>
                    </a:ext>
                  </a:extLst>
                </a:gridCol>
                <a:gridCol w="473857">
                  <a:extLst>
                    <a:ext uri="{9D8B030D-6E8A-4147-A177-3AD203B41FA5}">
                      <a16:colId xmlns:a16="http://schemas.microsoft.com/office/drawing/2014/main" val="689884060"/>
                    </a:ext>
                  </a:extLst>
                </a:gridCol>
              </a:tblGrid>
              <a:tr h="422031">
                <a:tc>
                  <a:txBody>
                    <a:bodyPr/>
                    <a:lstStyle/>
                    <a:p>
                      <a:pPr algn="l" fontAlgn="ctr"/>
                      <a:endParaRPr lang="ja-JP" altLang="en-US" sz="800" b="0" i="0" u="none" strike="noStrike" dirty="0">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ctr"/>
                      <a:endParaRPr lang="ja-JP" altLang="en-US" sz="800" b="0" i="0" u="none" strike="noStrike" dirty="0">
                        <a:effectLst/>
                        <a:latin typeface="Meiryo UI" panose="020B0604030504040204" pitchFamily="50" charset="-128"/>
                        <a:ea typeface="Meiryo UI" panose="020B0604030504040204" pitchFamily="50" charset="-128"/>
                      </a:endParaRPr>
                    </a:p>
                  </a:txBody>
                  <a:tcPr marL="9525" marR="9525" marT="952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t"/>
                      <a:r>
                        <a:rPr lang="en-US" altLang="ja-JP" sz="800" b="0" i="0" u="none" strike="noStrike">
                          <a:effectLst/>
                          <a:latin typeface="Meiryo UI" panose="020B0604030504040204" pitchFamily="50" charset="-128"/>
                          <a:ea typeface="Meiryo UI" panose="020B0604030504040204" pitchFamily="50" charset="-128"/>
                        </a:rPr>
                        <a:t>0</a:t>
                      </a:r>
                      <a:r>
                        <a:rPr lang="ja-JP" altLang="en-US" sz="800" b="0" i="0" u="none" strike="noStrike">
                          <a:effectLst/>
                          <a:latin typeface="Meiryo UI" panose="020B0604030504040204" pitchFamily="50" charset="-128"/>
                          <a:ea typeface="Meiryo UI" panose="020B0604030504040204" pitchFamily="50" charset="-128"/>
                        </a:rPr>
                        <a:t>回（転職経験なし）</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altLang="ja-JP" sz="800" b="0" i="0" u="none" strike="noStrike">
                          <a:effectLst/>
                          <a:latin typeface="Meiryo UI" panose="020B0604030504040204" pitchFamily="50" charset="-128"/>
                          <a:ea typeface="Meiryo UI" panose="020B0604030504040204" pitchFamily="50" charset="-128"/>
                        </a:rPr>
                        <a:t>1</a:t>
                      </a:r>
                      <a:r>
                        <a:rPr lang="ja-JP" altLang="en-US" sz="800" b="0" i="0" u="none" strike="noStrike">
                          <a:effectLst/>
                          <a:latin typeface="Meiryo UI" panose="020B0604030504040204" pitchFamily="50" charset="-128"/>
                          <a:ea typeface="Meiryo UI" panose="020B0604030504040204" pitchFamily="50" charset="-128"/>
                        </a:rPr>
                        <a:t>回以上（転職経験あり）</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800" b="0" i="0" u="none" strike="noStrike">
                          <a:effectLst/>
                          <a:latin typeface="Meiryo UI" panose="020B0604030504040204" pitchFamily="50" charset="-128"/>
                          <a:ea typeface="Meiryo UI" panose="020B0604030504040204" pitchFamily="50" charset="-128"/>
                        </a:rPr>
                        <a:t>転職回数概算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3717173"/>
                  </a:ext>
                </a:extLst>
              </a:tr>
              <a:tr h="128462">
                <a:tc rowSpan="6">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　∟面談実施なし</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全体</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EFE3"/>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5CC9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6407494"/>
                  </a:ext>
                </a:extLst>
              </a:tr>
              <a:tr h="128462">
                <a:tc vMerge="1">
                  <a:txBody>
                    <a:bodyPr/>
                    <a:lstStyle/>
                    <a:p>
                      <a:endParaRPr kumimoji="1" lang="ja-JP" altLang="en-US"/>
                    </a:p>
                  </a:txBody>
                  <a:tcPr/>
                </a:tc>
                <a:tc>
                  <a:txBody>
                    <a:bodyPr/>
                    <a:lstStyle/>
                    <a:p>
                      <a:pPr algn="l" fontAlgn="t"/>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300</a:t>
                      </a:r>
                      <a:r>
                        <a:rPr lang="ja-JP" altLang="en-US" sz="800" b="1" i="0" u="none" strike="noStrike" dirty="0">
                          <a:solidFill>
                            <a:srgbClr val="FF0000"/>
                          </a:solidFill>
                          <a:effectLst/>
                          <a:latin typeface="Meiryo UI" panose="020B0604030504040204" pitchFamily="50" charset="-128"/>
                          <a:ea typeface="Meiryo UI" panose="020B0604030504040204" pitchFamily="50" charset="-128"/>
                        </a:rPr>
                        <a:t>万円未満</a:t>
                      </a: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a:t>
                      </a:r>
                      <a:r>
                        <a:rPr lang="ja-JP" altLang="en-US" sz="800" b="1" i="0" u="none" strike="noStrike" dirty="0">
                          <a:solidFill>
                            <a:srgbClr val="FF0000"/>
                          </a:solidFill>
                          <a:effectLst/>
                          <a:latin typeface="Meiryo UI" panose="020B0604030504040204" pitchFamily="50" charset="-128"/>
                          <a:ea typeface="Meiryo UI" panose="020B0604030504040204" pitchFamily="50" charset="-128"/>
                        </a:rPr>
                        <a:t>①</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88235540"/>
                  </a:ext>
                </a:extLst>
              </a:tr>
              <a:tr h="128462">
                <a:tc vMerge="1">
                  <a:txBody>
                    <a:bodyPr/>
                    <a:lstStyle/>
                    <a:p>
                      <a:endParaRPr kumimoji="1" lang="ja-JP" altLang="en-US"/>
                    </a:p>
                  </a:txBody>
                  <a:tcPr/>
                </a:tc>
                <a:tc>
                  <a:txBody>
                    <a:bodyPr/>
                    <a:lstStyle/>
                    <a:p>
                      <a:pPr algn="l" fontAlgn="t"/>
                      <a:r>
                        <a:rPr lang="en-US" altLang="ja-JP" sz="800" b="0" i="0" u="none" strike="noStrike" dirty="0">
                          <a:effectLst/>
                          <a:latin typeface="Meiryo UI" panose="020B0604030504040204" pitchFamily="50" charset="-128"/>
                          <a:ea typeface="Meiryo UI" panose="020B0604030504040204" pitchFamily="50" charset="-128"/>
                        </a:rPr>
                        <a:t>300-399</a:t>
                      </a:r>
                      <a:r>
                        <a:rPr lang="ja-JP" altLang="en-US" sz="800" b="0" i="0" u="none" strike="noStrike" dirty="0">
                          <a:effectLst/>
                          <a:latin typeface="Meiryo UI" panose="020B0604030504040204" pitchFamily="50" charset="-128"/>
                          <a:ea typeface="Meiryo UI" panose="020B0604030504040204" pitchFamily="50" charset="-128"/>
                        </a:rPr>
                        <a:t>万円以下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0DDBD"/>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0DDBD"/>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11315044"/>
                  </a:ext>
                </a:extLst>
              </a:tr>
              <a:tr h="128462">
                <a:tc vMerge="1">
                  <a:txBody>
                    <a:bodyPr/>
                    <a:lstStyle/>
                    <a:p>
                      <a:endParaRPr kumimoji="1" lang="ja-JP" altLang="en-US"/>
                    </a:p>
                  </a:txBody>
                  <a:tcPr/>
                </a:tc>
                <a:tc>
                  <a:txBody>
                    <a:bodyPr/>
                    <a:lstStyle/>
                    <a:p>
                      <a:pPr algn="l" fontAlgn="t"/>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400-599</a:t>
                      </a:r>
                      <a:r>
                        <a:rPr lang="ja-JP" altLang="en-US" sz="800" b="1" i="0" u="none" strike="noStrike" dirty="0">
                          <a:solidFill>
                            <a:srgbClr val="FF0000"/>
                          </a:solidFill>
                          <a:effectLst/>
                          <a:latin typeface="Meiryo UI" panose="020B0604030504040204" pitchFamily="50" charset="-128"/>
                          <a:ea typeface="Meiryo UI" panose="020B0604030504040204" pitchFamily="50" charset="-128"/>
                        </a:rPr>
                        <a:t>万円以下・・・②</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7E7D1"/>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61%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D4AA"/>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1.39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45942649"/>
                  </a:ext>
                </a:extLst>
              </a:tr>
              <a:tr h="128462">
                <a:tc vMerge="1">
                  <a:txBody>
                    <a:bodyPr/>
                    <a:lstStyle/>
                    <a:p>
                      <a:endParaRPr kumimoji="1" lang="ja-JP" altLang="en-US"/>
                    </a:p>
                  </a:txBody>
                  <a:tcPr/>
                </a:tc>
                <a:tc>
                  <a:txBody>
                    <a:bodyPr/>
                    <a:lstStyle/>
                    <a:p>
                      <a:pPr algn="l" fontAlgn="t"/>
                      <a:r>
                        <a:rPr lang="en-US" altLang="ja-JP" sz="800" b="0" i="0" u="none" strike="noStrike">
                          <a:effectLst/>
                          <a:latin typeface="Meiryo UI" panose="020B0604030504040204" pitchFamily="50" charset="-128"/>
                          <a:ea typeface="Meiryo UI" panose="020B0604030504040204" pitchFamily="50" charset="-128"/>
                        </a:rPr>
                        <a:t>600-799</a:t>
                      </a:r>
                      <a:r>
                        <a:rPr lang="ja-JP" altLang="en-US" sz="800" b="0" i="0" u="none" strike="noStrike">
                          <a:effectLst/>
                          <a:latin typeface="Meiryo UI" panose="020B0604030504040204" pitchFamily="50" charset="-128"/>
                          <a:ea typeface="Meiryo UI" panose="020B0604030504040204" pitchFamily="50" charset="-128"/>
                        </a:rPr>
                        <a:t>万円以下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9F8"/>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CC283"/>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37703327"/>
                  </a:ext>
                </a:extLst>
              </a:tr>
              <a:tr h="128462">
                <a:tc vMerge="1">
                  <a:txBody>
                    <a:bodyPr/>
                    <a:lstStyle/>
                    <a:p>
                      <a:endParaRPr kumimoji="1" lang="ja-JP" altLang="en-US"/>
                    </a:p>
                  </a:txBody>
                  <a:tcPr/>
                </a:tc>
                <a:tc>
                  <a:txBody>
                    <a:bodyPr/>
                    <a:lstStyle/>
                    <a:p>
                      <a:pPr algn="l" fontAlgn="t"/>
                      <a:r>
                        <a:rPr lang="en-US" altLang="ja-JP" sz="800" b="0" i="0" u="none" strike="noStrike" dirty="0">
                          <a:effectLst/>
                          <a:latin typeface="Meiryo UI" panose="020B0604030504040204" pitchFamily="50" charset="-128"/>
                          <a:ea typeface="Meiryo UI" panose="020B0604030504040204" pitchFamily="50" charset="-128"/>
                        </a:rPr>
                        <a:t>800</a:t>
                      </a:r>
                      <a:r>
                        <a:rPr lang="ja-JP" altLang="en-US" sz="800" b="0" i="0" u="none" strike="noStrike" dirty="0">
                          <a:effectLst/>
                          <a:latin typeface="Meiryo UI" panose="020B0604030504040204" pitchFamily="50" charset="-128"/>
                          <a:ea typeface="Meiryo UI" panose="020B0604030504040204" pitchFamily="50" charset="-128"/>
                        </a:rPr>
                        <a:t>万円以上</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2E9"/>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DC991"/>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93193009"/>
                  </a:ext>
                </a:extLst>
              </a:tr>
              <a:tr h="128462">
                <a:tc>
                  <a:txBody>
                    <a:bodyPr/>
                    <a:lstStyle/>
                    <a:p>
                      <a:pPr algn="l" fontAlgn="ctr"/>
                      <a:endParaRPr lang="ja-JP" altLang="en-US" sz="800" b="0" i="0" u="none" strike="noStrike" dirty="0">
                        <a:effectLst/>
                        <a:latin typeface="Meiryo UI" panose="020B0604030504040204" pitchFamily="50" charset="-128"/>
                        <a:ea typeface="Meiryo UI" panose="020B0604030504040204" pitchFamily="50" charset="-128"/>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ctr"/>
                      <a:r>
                        <a:rPr lang="ja-JP" altLang="en-US" sz="800" b="0" i="0" u="none" strike="noStrike" dirty="0">
                          <a:effectLst/>
                          <a:latin typeface="Meiryo UI" panose="020B0604030504040204" pitchFamily="50" charset="-128"/>
                          <a:ea typeface="Meiryo UI" panose="020B0604030504040204" pitchFamily="50" charset="-128"/>
                        </a:rPr>
                        <a:t>①と②の差分</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highlight>
                            <a:srgbClr val="FFFF00"/>
                          </a:highlight>
                          <a:latin typeface="Meiryo UI" panose="020B0604030504040204" pitchFamily="50" charset="-128"/>
                          <a:ea typeface="Meiryo UI" panose="020B0604030504040204" pitchFamily="50" charset="-128"/>
                        </a:rPr>
                        <a:t>26%</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-26%</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ctr"/>
                      <a:endParaRPr lang="ja-JP" altLang="en-US" sz="800" b="0" i="0" u="none" strike="noStrike" dirty="0">
                        <a:effectLst/>
                        <a:latin typeface="Meiryo UI" panose="020B0604030504040204" pitchFamily="50" charset="-128"/>
                        <a:ea typeface="Meiryo UI" panose="020B0604030504040204" pitchFamily="50" charset="-128"/>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111770238"/>
                  </a:ext>
                </a:extLst>
              </a:tr>
            </a:tbl>
          </a:graphicData>
        </a:graphic>
      </p:graphicFrame>
      <p:graphicFrame>
        <p:nvGraphicFramePr>
          <p:cNvPr id="11" name="表 10">
            <a:extLst>
              <a:ext uri="{FF2B5EF4-FFF2-40B4-BE49-F238E27FC236}">
                <a16:creationId xmlns:a16="http://schemas.microsoft.com/office/drawing/2014/main" id="{B54FCD11-66B9-3755-EDAC-D601711CE69D}"/>
              </a:ext>
            </a:extLst>
          </p:cNvPr>
          <p:cNvGraphicFramePr>
            <a:graphicFrameLocks noGrp="1"/>
          </p:cNvGraphicFramePr>
          <p:nvPr>
            <p:extLst>
              <p:ext uri="{D42A27DB-BD31-4B8C-83A1-F6EECF244321}">
                <p14:modId xmlns:p14="http://schemas.microsoft.com/office/powerpoint/2010/main" val="844523230"/>
              </p:ext>
            </p:extLst>
          </p:nvPr>
        </p:nvGraphicFramePr>
        <p:xfrm>
          <a:off x="446943" y="3790209"/>
          <a:ext cx="10510228" cy="2170576"/>
        </p:xfrm>
        <a:graphic>
          <a:graphicData uri="http://schemas.openxmlformats.org/drawingml/2006/table">
            <a:tbl>
              <a:tblPr/>
              <a:tblGrid>
                <a:gridCol w="1226698">
                  <a:extLst>
                    <a:ext uri="{9D8B030D-6E8A-4147-A177-3AD203B41FA5}">
                      <a16:colId xmlns:a16="http://schemas.microsoft.com/office/drawing/2014/main" val="1132937774"/>
                    </a:ext>
                  </a:extLst>
                </a:gridCol>
                <a:gridCol w="1226698">
                  <a:extLst>
                    <a:ext uri="{9D8B030D-6E8A-4147-A177-3AD203B41FA5}">
                      <a16:colId xmlns:a16="http://schemas.microsoft.com/office/drawing/2014/main" val="3099254755"/>
                    </a:ext>
                  </a:extLst>
                </a:gridCol>
                <a:gridCol w="575488">
                  <a:extLst>
                    <a:ext uri="{9D8B030D-6E8A-4147-A177-3AD203B41FA5}">
                      <a16:colId xmlns:a16="http://schemas.microsoft.com/office/drawing/2014/main" val="2183303902"/>
                    </a:ext>
                  </a:extLst>
                </a:gridCol>
                <a:gridCol w="575488">
                  <a:extLst>
                    <a:ext uri="{9D8B030D-6E8A-4147-A177-3AD203B41FA5}">
                      <a16:colId xmlns:a16="http://schemas.microsoft.com/office/drawing/2014/main" val="3241727327"/>
                    </a:ext>
                  </a:extLst>
                </a:gridCol>
                <a:gridCol w="575488">
                  <a:extLst>
                    <a:ext uri="{9D8B030D-6E8A-4147-A177-3AD203B41FA5}">
                      <a16:colId xmlns:a16="http://schemas.microsoft.com/office/drawing/2014/main" val="1579357997"/>
                    </a:ext>
                  </a:extLst>
                </a:gridCol>
                <a:gridCol w="575488">
                  <a:extLst>
                    <a:ext uri="{9D8B030D-6E8A-4147-A177-3AD203B41FA5}">
                      <a16:colId xmlns:a16="http://schemas.microsoft.com/office/drawing/2014/main" val="1948591001"/>
                    </a:ext>
                  </a:extLst>
                </a:gridCol>
                <a:gridCol w="575488">
                  <a:extLst>
                    <a:ext uri="{9D8B030D-6E8A-4147-A177-3AD203B41FA5}">
                      <a16:colId xmlns:a16="http://schemas.microsoft.com/office/drawing/2014/main" val="1915340442"/>
                    </a:ext>
                  </a:extLst>
                </a:gridCol>
                <a:gridCol w="575488">
                  <a:extLst>
                    <a:ext uri="{9D8B030D-6E8A-4147-A177-3AD203B41FA5}">
                      <a16:colId xmlns:a16="http://schemas.microsoft.com/office/drawing/2014/main" val="1189110995"/>
                    </a:ext>
                  </a:extLst>
                </a:gridCol>
                <a:gridCol w="575488">
                  <a:extLst>
                    <a:ext uri="{9D8B030D-6E8A-4147-A177-3AD203B41FA5}">
                      <a16:colId xmlns:a16="http://schemas.microsoft.com/office/drawing/2014/main" val="924229009"/>
                    </a:ext>
                  </a:extLst>
                </a:gridCol>
                <a:gridCol w="575488">
                  <a:extLst>
                    <a:ext uri="{9D8B030D-6E8A-4147-A177-3AD203B41FA5}">
                      <a16:colId xmlns:a16="http://schemas.microsoft.com/office/drawing/2014/main" val="746956637"/>
                    </a:ext>
                  </a:extLst>
                </a:gridCol>
                <a:gridCol w="575488">
                  <a:extLst>
                    <a:ext uri="{9D8B030D-6E8A-4147-A177-3AD203B41FA5}">
                      <a16:colId xmlns:a16="http://schemas.microsoft.com/office/drawing/2014/main" val="2650167245"/>
                    </a:ext>
                  </a:extLst>
                </a:gridCol>
                <a:gridCol w="575488">
                  <a:extLst>
                    <a:ext uri="{9D8B030D-6E8A-4147-A177-3AD203B41FA5}">
                      <a16:colId xmlns:a16="http://schemas.microsoft.com/office/drawing/2014/main" val="4021638350"/>
                    </a:ext>
                  </a:extLst>
                </a:gridCol>
                <a:gridCol w="575488">
                  <a:extLst>
                    <a:ext uri="{9D8B030D-6E8A-4147-A177-3AD203B41FA5}">
                      <a16:colId xmlns:a16="http://schemas.microsoft.com/office/drawing/2014/main" val="384193874"/>
                    </a:ext>
                  </a:extLst>
                </a:gridCol>
                <a:gridCol w="575488">
                  <a:extLst>
                    <a:ext uri="{9D8B030D-6E8A-4147-A177-3AD203B41FA5}">
                      <a16:colId xmlns:a16="http://schemas.microsoft.com/office/drawing/2014/main" val="852755950"/>
                    </a:ext>
                  </a:extLst>
                </a:gridCol>
                <a:gridCol w="575488">
                  <a:extLst>
                    <a:ext uri="{9D8B030D-6E8A-4147-A177-3AD203B41FA5}">
                      <a16:colId xmlns:a16="http://schemas.microsoft.com/office/drawing/2014/main" val="4249246683"/>
                    </a:ext>
                  </a:extLst>
                </a:gridCol>
                <a:gridCol w="575488">
                  <a:extLst>
                    <a:ext uri="{9D8B030D-6E8A-4147-A177-3AD203B41FA5}">
                      <a16:colId xmlns:a16="http://schemas.microsoft.com/office/drawing/2014/main" val="2956025613"/>
                    </a:ext>
                  </a:extLst>
                </a:gridCol>
              </a:tblGrid>
              <a:tr h="1250461">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t"/>
                      <a:r>
                        <a:rPr lang="ja-JP" altLang="en-US" sz="800" b="0" i="0" u="none" strike="noStrike" dirty="0">
                          <a:effectLst/>
                          <a:latin typeface="Meiryo UI" panose="020B0604030504040204" pitchFamily="50" charset="-128"/>
                          <a:ea typeface="Meiryo UI" panose="020B0604030504040204" pitchFamily="50" charset="-128"/>
                        </a:rPr>
                        <a:t>面談の実施方法がわからなかった</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dirty="0">
                          <a:effectLst/>
                          <a:latin typeface="Meiryo UI" panose="020B0604030504040204" pitchFamily="50" charset="-128"/>
                          <a:ea typeface="Meiryo UI" panose="020B0604030504040204" pitchFamily="50" charset="-128"/>
                        </a:rPr>
                        <a:t>面談を実施する形式・ツール（オンライン・電話など）があわなかった</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面談を実施する時間が確保できなかった</a:t>
                      </a:r>
                      <a:r>
                        <a:rPr lang="en-US" altLang="ja-JP" sz="800" b="0" i="0" u="none" strike="noStrike">
                          <a:effectLst/>
                          <a:latin typeface="Meiryo UI" panose="020B0604030504040204" pitchFamily="50" charset="-128"/>
                          <a:ea typeface="Meiryo UI" panose="020B0604030504040204" pitchFamily="50" charset="-128"/>
                        </a:rPr>
                        <a:t>/</a:t>
                      </a:r>
                      <a:r>
                        <a:rPr lang="ja-JP" altLang="en-US" sz="800" b="0" i="0" u="none" strike="noStrike">
                          <a:effectLst/>
                          <a:latin typeface="Meiryo UI" panose="020B0604030504040204" pitchFamily="50" charset="-128"/>
                          <a:ea typeface="Meiryo UI" panose="020B0604030504040204" pitchFamily="50" charset="-128"/>
                        </a:rPr>
                        <a:t>スケジュールがあわなかった</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dirty="0">
                          <a:effectLst/>
                          <a:latin typeface="Meiryo UI" panose="020B0604030504040204" pitchFamily="50" charset="-128"/>
                          <a:ea typeface="Meiryo UI" panose="020B0604030504040204" pitchFamily="50" charset="-128"/>
                        </a:rPr>
                        <a:t>面談実施依頼の連絡が多く来ることで、面談への意欲が下がった</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dirty="0">
                          <a:effectLst/>
                          <a:latin typeface="Meiryo UI" panose="020B0604030504040204" pitchFamily="50" charset="-128"/>
                          <a:ea typeface="Meiryo UI" panose="020B0604030504040204" pitchFamily="50" charset="-128"/>
                        </a:rPr>
                        <a:t>時期先</a:t>
                      </a:r>
                      <a:r>
                        <a:rPr lang="en-US" altLang="ja-JP" sz="800" b="0" i="0" u="none" strike="noStrike" dirty="0">
                          <a:effectLst/>
                          <a:latin typeface="Meiryo UI" panose="020B0604030504040204" pitchFamily="50" charset="-128"/>
                          <a:ea typeface="Meiryo UI" panose="020B0604030504040204" pitchFamily="50" charset="-128"/>
                        </a:rPr>
                        <a:t>/</a:t>
                      </a:r>
                      <a:r>
                        <a:rPr lang="ja-JP" altLang="en-US" sz="800" b="0" i="0" u="none" strike="noStrike" dirty="0">
                          <a:effectLst/>
                          <a:latin typeface="Meiryo UI" panose="020B0604030504040204" pitchFamily="50" charset="-128"/>
                          <a:ea typeface="Meiryo UI" panose="020B0604030504040204" pitchFamily="50" charset="-128"/>
                        </a:rPr>
                        <a:t>転職するか明確に決めていなかったため、まだ面談は必要ないと思った</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dirty="0">
                          <a:effectLst/>
                          <a:latin typeface="Meiryo UI" panose="020B0604030504040204" pitchFamily="50" charset="-128"/>
                          <a:ea typeface="Meiryo UI" panose="020B0604030504040204" pitchFamily="50" charset="-128"/>
                        </a:rPr>
                        <a:t>時期先</a:t>
                      </a:r>
                      <a:r>
                        <a:rPr lang="en-US" altLang="ja-JP" sz="800" b="0" i="0" u="none" strike="noStrike" dirty="0">
                          <a:effectLst/>
                          <a:latin typeface="Meiryo UI" panose="020B0604030504040204" pitchFamily="50" charset="-128"/>
                          <a:ea typeface="Meiryo UI" panose="020B0604030504040204" pitchFamily="50" charset="-128"/>
                        </a:rPr>
                        <a:t>/</a:t>
                      </a:r>
                      <a:r>
                        <a:rPr lang="ja-JP" altLang="en-US" sz="800" b="0" i="0" u="none" strike="noStrike" dirty="0">
                          <a:effectLst/>
                          <a:latin typeface="Meiryo UI" panose="020B0604030504040204" pitchFamily="50" charset="-128"/>
                          <a:ea typeface="Meiryo UI" panose="020B0604030504040204" pitchFamily="50" charset="-128"/>
                        </a:rPr>
                        <a:t>転職するか明確に決めていなかったため、面談をしてよいのか迷った／わなかった</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面談をすると、必ず求人への応募や転職をしないといけないと考えていた</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サービス登録して徐々に面談への希望がなくなってきた</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他のサービスで面談を実施し、そのサービスを使おうと思った</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他のサービスで面談を実施し、自分には面談は不要と感じた</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面談をする前に転職活動を終了した</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サービスへの口コミを見て、面談を受けるのが怖くなった</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その他</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dirty="0">
                          <a:effectLst/>
                          <a:latin typeface="Meiryo UI" panose="020B0604030504040204" pitchFamily="50" charset="-128"/>
                          <a:ea typeface="Meiryo UI" panose="020B0604030504040204" pitchFamily="50" charset="-128"/>
                        </a:rPr>
                        <a:t>明確な理由はない</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07381141"/>
                  </a:ext>
                </a:extLst>
              </a:tr>
              <a:tr h="108390">
                <a:tc rowSpan="6">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　∟面談実施なし</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全体</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EE1"/>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4EE"/>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9C78E"/>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CC"/>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0DEBE"/>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3D8B2"/>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E2C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EFE2"/>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4EE"/>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4EE"/>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AFB"/>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AFB"/>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F0E5"/>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8F6"/>
                    </a:solidFill>
                  </a:tcPr>
                </a:tc>
                <a:extLst>
                  <a:ext uri="{0D108BD9-81ED-4DB2-BD59-A6C34878D82A}">
                    <a16:rowId xmlns:a16="http://schemas.microsoft.com/office/drawing/2014/main" val="1656946011"/>
                  </a:ext>
                </a:extLst>
              </a:tr>
              <a:tr h="108390">
                <a:tc vMerge="1">
                  <a:txBody>
                    <a:bodyPr/>
                    <a:lstStyle/>
                    <a:p>
                      <a:endParaRPr kumimoji="1" lang="ja-JP" altLang="en-US"/>
                    </a:p>
                  </a:txBody>
                  <a:tcPr/>
                </a:tc>
                <a:tc>
                  <a:txBody>
                    <a:bodyPr/>
                    <a:lstStyle/>
                    <a:p>
                      <a:pPr algn="l" fontAlgn="t"/>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300</a:t>
                      </a:r>
                      <a:r>
                        <a:rPr lang="ja-JP" altLang="en-US" sz="800" b="1" i="0" u="none" strike="noStrike" dirty="0">
                          <a:solidFill>
                            <a:srgbClr val="FF0000"/>
                          </a:solidFill>
                          <a:effectLst/>
                          <a:latin typeface="Meiryo UI" panose="020B0604030504040204" pitchFamily="50" charset="-128"/>
                          <a:ea typeface="Meiryo UI" panose="020B0604030504040204" pitchFamily="50" charset="-128"/>
                        </a:rPr>
                        <a:t>万円未満</a:t>
                      </a: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a:t>
                      </a:r>
                      <a:r>
                        <a:rPr lang="ja-JP" altLang="en-US" sz="800" b="1" i="0" u="none" strike="noStrike" dirty="0">
                          <a:solidFill>
                            <a:srgbClr val="FF0000"/>
                          </a:solidFill>
                          <a:effectLst/>
                          <a:latin typeface="Meiryo UI" panose="020B0604030504040204" pitchFamily="50" charset="-128"/>
                          <a:ea typeface="Meiryo UI" panose="020B0604030504040204" pitchFamily="50" charset="-128"/>
                        </a:rPr>
                        <a:t>①</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3E5CE"/>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5EF"/>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DD6AD"/>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0DEBE"/>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EDDF"/>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7C68C"/>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0DEBE"/>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5EF"/>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5EF"/>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5EF"/>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3E5CE"/>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5EF"/>
                    </a:solidFill>
                  </a:tcPr>
                </a:tc>
                <a:extLst>
                  <a:ext uri="{0D108BD9-81ED-4DB2-BD59-A6C34878D82A}">
                    <a16:rowId xmlns:a16="http://schemas.microsoft.com/office/drawing/2014/main" val="2022758266"/>
                  </a:ext>
                </a:extLst>
              </a:tr>
              <a:tr h="91148">
                <a:tc vMerge="1">
                  <a:txBody>
                    <a:bodyPr/>
                    <a:lstStyle/>
                    <a:p>
                      <a:endParaRPr kumimoji="1" lang="ja-JP" altLang="en-US"/>
                    </a:p>
                  </a:txBody>
                  <a:tcPr/>
                </a:tc>
                <a:tc>
                  <a:txBody>
                    <a:bodyPr/>
                    <a:lstStyle/>
                    <a:p>
                      <a:pPr algn="l" fontAlgn="t"/>
                      <a:r>
                        <a:rPr lang="en-US" altLang="ja-JP" sz="800" b="0" i="0" u="none" strike="noStrike" dirty="0">
                          <a:effectLst/>
                          <a:latin typeface="Meiryo UI" panose="020B0604030504040204" pitchFamily="50" charset="-128"/>
                          <a:ea typeface="Meiryo UI" panose="020B0604030504040204" pitchFamily="50" charset="-128"/>
                        </a:rPr>
                        <a:t>300-399</a:t>
                      </a:r>
                      <a:r>
                        <a:rPr lang="ja-JP" altLang="en-US" sz="800" b="0" i="0" u="none" strike="noStrike" dirty="0">
                          <a:effectLst/>
                          <a:latin typeface="Meiryo UI" panose="020B0604030504040204" pitchFamily="50" charset="-128"/>
                          <a:ea typeface="Meiryo UI" panose="020B0604030504040204" pitchFamily="50" charset="-128"/>
                        </a:rPr>
                        <a:t>万円以下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0DDBD"/>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0DDBD"/>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0DDBD"/>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extLst>
                  <a:ext uri="{0D108BD9-81ED-4DB2-BD59-A6C34878D82A}">
                    <a16:rowId xmlns:a16="http://schemas.microsoft.com/office/drawing/2014/main" val="4175406667"/>
                  </a:ext>
                </a:extLst>
              </a:tr>
              <a:tr h="108390">
                <a:tc vMerge="1">
                  <a:txBody>
                    <a:bodyPr/>
                    <a:lstStyle/>
                    <a:p>
                      <a:endParaRPr kumimoji="1" lang="ja-JP" altLang="en-US"/>
                    </a:p>
                  </a:txBody>
                  <a:tcPr/>
                </a:tc>
                <a:tc>
                  <a:txBody>
                    <a:bodyPr/>
                    <a:lstStyle/>
                    <a:p>
                      <a:pPr algn="l" fontAlgn="t"/>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400-599</a:t>
                      </a:r>
                      <a:r>
                        <a:rPr lang="ja-JP" altLang="en-US" sz="800" b="1" i="0" u="none" strike="noStrike" dirty="0">
                          <a:solidFill>
                            <a:srgbClr val="FF0000"/>
                          </a:solidFill>
                          <a:effectLst/>
                          <a:latin typeface="Meiryo UI" panose="020B0604030504040204" pitchFamily="50" charset="-128"/>
                          <a:ea typeface="Meiryo UI" panose="020B0604030504040204" pitchFamily="50" charset="-128"/>
                        </a:rPr>
                        <a:t>万円以下</a:t>
                      </a: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a:t>
                      </a:r>
                      <a:r>
                        <a:rPr lang="ja-JP" altLang="en-US" sz="800" b="1" i="0" u="none" strike="noStrike" dirty="0">
                          <a:solidFill>
                            <a:srgbClr val="FF0000"/>
                          </a:solidFill>
                          <a:effectLst/>
                          <a:latin typeface="Meiryo UI" panose="020B0604030504040204" pitchFamily="50" charset="-128"/>
                          <a:ea typeface="Meiryo UI" panose="020B0604030504040204" pitchFamily="50" charset="-128"/>
                        </a:rPr>
                        <a:t>②</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6F1"/>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FE2"/>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E8D3"/>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7DAB6"/>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E8D3"/>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7DAB6"/>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E8D3"/>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FE2"/>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BF6F1"/>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FE2"/>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extLst>
                  <a:ext uri="{0D108BD9-81ED-4DB2-BD59-A6C34878D82A}">
                    <a16:rowId xmlns:a16="http://schemas.microsoft.com/office/drawing/2014/main" val="2937907180"/>
                  </a:ext>
                </a:extLst>
              </a:tr>
              <a:tr h="108390">
                <a:tc vMerge="1">
                  <a:txBody>
                    <a:bodyPr/>
                    <a:lstStyle/>
                    <a:p>
                      <a:endParaRPr kumimoji="1" lang="ja-JP" altLang="en-US"/>
                    </a:p>
                  </a:txBody>
                  <a:tcPr/>
                </a:tc>
                <a:tc>
                  <a:txBody>
                    <a:bodyPr/>
                    <a:lstStyle/>
                    <a:p>
                      <a:pPr algn="l" fontAlgn="t"/>
                      <a:r>
                        <a:rPr lang="en-US" altLang="ja-JP" sz="800" b="0" i="0" u="none" strike="noStrike" dirty="0">
                          <a:effectLst/>
                          <a:latin typeface="Meiryo UI" panose="020B0604030504040204" pitchFamily="50" charset="-128"/>
                          <a:ea typeface="Meiryo UI" panose="020B0604030504040204" pitchFamily="50" charset="-128"/>
                        </a:rPr>
                        <a:t>600-799</a:t>
                      </a:r>
                      <a:r>
                        <a:rPr lang="ja-JP" altLang="en-US" sz="800" b="0" i="0" u="none" strike="noStrike" dirty="0">
                          <a:effectLst/>
                          <a:latin typeface="Meiryo UI" panose="020B0604030504040204" pitchFamily="50" charset="-128"/>
                          <a:ea typeface="Meiryo UI" panose="020B0604030504040204" pitchFamily="50" charset="-128"/>
                        </a:rPr>
                        <a:t>万円以下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E8D3"/>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E8D3"/>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6D3A7"/>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6D3A7"/>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9E8D3"/>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extLst>
                  <a:ext uri="{0D108BD9-81ED-4DB2-BD59-A6C34878D82A}">
                    <a16:rowId xmlns:a16="http://schemas.microsoft.com/office/drawing/2014/main" val="538844914"/>
                  </a:ext>
                </a:extLst>
              </a:tr>
              <a:tr h="108390">
                <a:tc vMerge="1">
                  <a:txBody>
                    <a:bodyPr/>
                    <a:lstStyle/>
                    <a:p>
                      <a:endParaRPr kumimoji="1" lang="ja-JP" altLang="en-US"/>
                    </a:p>
                  </a:txBody>
                  <a:tcPr/>
                </a:tc>
                <a:tc>
                  <a:txBody>
                    <a:bodyPr/>
                    <a:lstStyle/>
                    <a:p>
                      <a:pPr algn="l" fontAlgn="t"/>
                      <a:r>
                        <a:rPr lang="en-US" altLang="ja-JP" sz="800" b="0" i="0" u="none" strike="noStrike">
                          <a:effectLst/>
                          <a:latin typeface="Meiryo UI" panose="020B0604030504040204" pitchFamily="50" charset="-128"/>
                          <a:ea typeface="Meiryo UI" panose="020B0604030504040204" pitchFamily="50" charset="-128"/>
                        </a:rPr>
                        <a:t>800</a:t>
                      </a:r>
                      <a:r>
                        <a:rPr lang="ja-JP" altLang="en-US" sz="800" b="0" i="0" u="none" strike="noStrike">
                          <a:effectLst/>
                          <a:latin typeface="Meiryo UI" panose="020B0604030504040204" pitchFamily="50" charset="-128"/>
                          <a:ea typeface="Meiryo UI" panose="020B0604030504040204" pitchFamily="50" charset="-128"/>
                        </a:rPr>
                        <a:t>万円以上</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0DDBD"/>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0DDBD"/>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0DDBD"/>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0DDBD"/>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0DDBD"/>
                    </a:solidFill>
                  </a:tcPr>
                </a:tc>
                <a:extLst>
                  <a:ext uri="{0D108BD9-81ED-4DB2-BD59-A6C34878D82A}">
                    <a16:rowId xmlns:a16="http://schemas.microsoft.com/office/drawing/2014/main" val="338668279"/>
                  </a:ext>
                </a:extLst>
              </a:tr>
              <a:tr h="108390">
                <a:tc>
                  <a:txBody>
                    <a:bodyPr/>
                    <a:lstStyle/>
                    <a:p>
                      <a:pPr algn="l" fontAlgn="t"/>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t"/>
                      <a:r>
                        <a:rPr lang="ja-JP" altLang="en-US" sz="800" b="0" i="0" u="none" strike="noStrike" dirty="0">
                          <a:effectLst/>
                          <a:latin typeface="Meiryo UI" panose="020B0604030504040204" pitchFamily="50" charset="-128"/>
                          <a:ea typeface="Meiryo UI" panose="020B0604030504040204" pitchFamily="50" charset="-128"/>
                        </a:rPr>
                        <a:t>①と②の差分</a:t>
                      </a:r>
                    </a:p>
                  </a:txBody>
                  <a:tcPr marL="9525" marR="9525" marT="9525" marB="0">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-13%</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5%</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highlight>
                            <a:srgbClr val="FFFF00"/>
                          </a:highlight>
                          <a:latin typeface="Meiryo UI" panose="020B0604030504040204" pitchFamily="50" charset="-128"/>
                          <a:ea typeface="Meiryo UI" panose="020B0604030504040204" pitchFamily="50" charset="-128"/>
                        </a:rPr>
                        <a:t>19%</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-8%</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highlight>
                            <a:srgbClr val="FFFF00"/>
                          </a:highlight>
                          <a:latin typeface="Meiryo UI" panose="020B0604030504040204" pitchFamily="50" charset="-128"/>
                          <a:ea typeface="Meiryo UI" panose="020B0604030504040204" pitchFamily="50" charset="-128"/>
                        </a:rPr>
                        <a:t>15%</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highlight>
                            <a:srgbClr val="FFFF00"/>
                          </a:highlight>
                          <a:latin typeface="Meiryo UI" panose="020B0604030504040204" pitchFamily="50" charset="-128"/>
                          <a:ea typeface="Meiryo UI" panose="020B0604030504040204" pitchFamily="50" charset="-128"/>
                        </a:rPr>
                        <a:t>-27%</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3%</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10%</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11%</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6%</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-6%</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-6%</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-8%</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-6%</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329678472"/>
                  </a:ext>
                </a:extLst>
              </a:tr>
            </a:tbl>
          </a:graphicData>
        </a:graphic>
      </p:graphicFrame>
      <p:sp>
        <p:nvSpPr>
          <p:cNvPr id="12" name="テキスト ボックス 11">
            <a:extLst>
              <a:ext uri="{FF2B5EF4-FFF2-40B4-BE49-F238E27FC236}">
                <a16:creationId xmlns:a16="http://schemas.microsoft.com/office/drawing/2014/main" id="{4DE287BA-67CC-DC3B-C24B-CBA835F31D42}"/>
              </a:ext>
            </a:extLst>
          </p:cNvPr>
          <p:cNvSpPr txBox="1"/>
          <p:nvPr/>
        </p:nvSpPr>
        <p:spPr>
          <a:xfrm>
            <a:off x="446943" y="2134947"/>
            <a:ext cx="2704123" cy="246221"/>
          </a:xfrm>
          <a:prstGeom prst="rect">
            <a:avLst/>
          </a:prstGeom>
          <a:noFill/>
        </p:spPr>
        <p:txBody>
          <a:bodyPr wrap="square" rtlCol="0">
            <a:spAutoFit/>
          </a:bodyPr>
          <a:lstStyle/>
          <a:p>
            <a:r>
              <a:rPr kumimoji="1" lang="ja-JP" altLang="en-US" sz="1000" b="1" u="sng" dirty="0"/>
              <a:t>▼転職経験</a:t>
            </a:r>
          </a:p>
        </p:txBody>
      </p:sp>
      <p:sp>
        <p:nvSpPr>
          <p:cNvPr id="13" name="テキスト ボックス 12">
            <a:extLst>
              <a:ext uri="{FF2B5EF4-FFF2-40B4-BE49-F238E27FC236}">
                <a16:creationId xmlns:a16="http://schemas.microsoft.com/office/drawing/2014/main" id="{4C8727D4-960B-3F91-F941-6B907C100F20}"/>
              </a:ext>
            </a:extLst>
          </p:cNvPr>
          <p:cNvSpPr txBox="1"/>
          <p:nvPr/>
        </p:nvSpPr>
        <p:spPr>
          <a:xfrm>
            <a:off x="520577" y="4004009"/>
            <a:ext cx="2704123" cy="400110"/>
          </a:xfrm>
          <a:prstGeom prst="rect">
            <a:avLst/>
          </a:prstGeom>
          <a:noFill/>
        </p:spPr>
        <p:txBody>
          <a:bodyPr wrap="square" rtlCol="0">
            <a:spAutoFit/>
          </a:bodyPr>
          <a:lstStyle/>
          <a:p>
            <a:r>
              <a:rPr kumimoji="1" lang="ja-JP" altLang="en-US" sz="1000" b="1" u="sng" dirty="0"/>
              <a:t>▼面談希望ありだが</a:t>
            </a:r>
            <a:endParaRPr kumimoji="1" lang="en-US" altLang="ja-JP" sz="1000" b="1" u="sng" dirty="0"/>
          </a:p>
          <a:p>
            <a:r>
              <a:rPr kumimoji="1" lang="ja-JP" altLang="en-US" sz="1000" b="1" u="sng" dirty="0"/>
              <a:t>面談を実施しなかった理由</a:t>
            </a:r>
          </a:p>
        </p:txBody>
      </p:sp>
      <p:sp>
        <p:nvSpPr>
          <p:cNvPr id="14" name="テキスト ボックス 13">
            <a:extLst>
              <a:ext uri="{FF2B5EF4-FFF2-40B4-BE49-F238E27FC236}">
                <a16:creationId xmlns:a16="http://schemas.microsoft.com/office/drawing/2014/main" id="{F87E9993-D95F-9BFF-7F05-C97BF18ED132}"/>
              </a:ext>
            </a:extLst>
          </p:cNvPr>
          <p:cNvSpPr txBox="1"/>
          <p:nvPr/>
        </p:nvSpPr>
        <p:spPr>
          <a:xfrm>
            <a:off x="4467958" y="2148254"/>
            <a:ext cx="2704123" cy="246221"/>
          </a:xfrm>
          <a:prstGeom prst="rect">
            <a:avLst/>
          </a:prstGeom>
          <a:noFill/>
        </p:spPr>
        <p:txBody>
          <a:bodyPr wrap="square" rtlCol="0">
            <a:spAutoFit/>
          </a:bodyPr>
          <a:lstStyle/>
          <a:p>
            <a:r>
              <a:rPr kumimoji="1" lang="ja-JP" altLang="en-US" sz="1000" b="1" u="sng" dirty="0"/>
              <a:t>▼登録時職種</a:t>
            </a:r>
          </a:p>
        </p:txBody>
      </p:sp>
    </p:spTree>
    <p:extLst>
      <p:ext uri="{BB962C8B-B14F-4D97-AF65-F5344CB8AC3E}">
        <p14:creationId xmlns:p14="http://schemas.microsoft.com/office/powerpoint/2010/main" val="2286549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A3324383-3882-B8D9-8F35-29F23ECC5243}"/>
              </a:ext>
            </a:extLst>
          </p:cNvPr>
          <p:cNvSpPr>
            <a:spLocks noGrp="1"/>
          </p:cNvSpPr>
          <p:nvPr>
            <p:ph sz="quarter" idx="14"/>
          </p:nvPr>
        </p:nvSpPr>
        <p:spPr>
          <a:xfrm>
            <a:off x="274394" y="824922"/>
            <a:ext cx="11447462" cy="1038881"/>
          </a:xfrm>
        </p:spPr>
        <p:txBody>
          <a:bodyPr>
            <a:normAutofit/>
          </a:bodyPr>
          <a:lstStyle/>
          <a:p>
            <a:pPr marL="285750" indent="-285750">
              <a:buFont typeface="Wingdings" panose="05000000000000000000" pitchFamily="2" charset="2"/>
              <a:buChar char="ü"/>
            </a:pPr>
            <a:r>
              <a:rPr lang="ja-JP" altLang="en-US" sz="1200" dirty="0"/>
              <a:t>面談を検討するサポートは①が</a:t>
            </a:r>
            <a:r>
              <a:rPr lang="en-US" altLang="ja-JP" sz="1200" dirty="0"/>
              <a:t>CA</a:t>
            </a:r>
            <a:r>
              <a:rPr lang="ja-JP" altLang="en-US" sz="1200" dirty="0"/>
              <a:t>からの求人提案＞類似スキル者の転職事例＞面談ならではの求人・企業情報、 ②が強みや特性の理解・面談ならではの求人情報＞</a:t>
            </a:r>
            <a:r>
              <a:rPr lang="en-US" altLang="ja-JP" sz="1200" dirty="0"/>
              <a:t>CA</a:t>
            </a:r>
            <a:r>
              <a:rPr lang="ja-JP" altLang="en-US" sz="1200" dirty="0"/>
              <a:t>からの求人提案・面談ならではの企業情報、が上位となっている。年収が高い②の方が市場価値や強み</a:t>
            </a:r>
            <a:r>
              <a:rPr lang="en-US" altLang="ja-JP" sz="1200" dirty="0"/>
              <a:t>/</a:t>
            </a:r>
            <a:r>
              <a:rPr lang="ja-JP" altLang="en-US" sz="1200" dirty="0"/>
              <a:t>特性理解へのニーズが高い。</a:t>
            </a:r>
            <a:endParaRPr lang="en-US" altLang="ja-JP" sz="1200" dirty="0"/>
          </a:p>
          <a:p>
            <a:pPr marL="285750" indent="-285750">
              <a:buFont typeface="Wingdings" panose="05000000000000000000" pitchFamily="2" charset="2"/>
              <a:buChar char="ü"/>
            </a:pPr>
            <a:r>
              <a:rPr kumimoji="1" lang="ja-JP" altLang="en-US" sz="1200" dirty="0"/>
              <a:t>応募検討サポートは①</a:t>
            </a:r>
            <a:r>
              <a:rPr lang="ja-JP" altLang="en-US" sz="1200" dirty="0"/>
              <a:t>が内定者事例の共有＞非公開求人案内＞</a:t>
            </a:r>
            <a:r>
              <a:rPr lang="en-US" altLang="ja-JP" sz="1200" dirty="0"/>
              <a:t>CA</a:t>
            </a:r>
            <a:r>
              <a:rPr lang="ja-JP" altLang="en-US" sz="1200" dirty="0"/>
              <a:t>の面接対策や合格可能性相談で、②</a:t>
            </a:r>
            <a:r>
              <a:rPr kumimoji="1" lang="ja-JP" altLang="en-US" sz="1200" dirty="0"/>
              <a:t>が</a:t>
            </a:r>
            <a:r>
              <a:rPr kumimoji="1" lang="en-US" altLang="ja-JP" sz="1200" dirty="0"/>
              <a:t>CA</a:t>
            </a:r>
            <a:r>
              <a:rPr lang="ja-JP" altLang="en-US" sz="1200" dirty="0"/>
              <a:t>への合格可能性相談・システムの非公開求人共有＞応募書類添削。②の方が</a:t>
            </a:r>
            <a:r>
              <a:rPr lang="en-US" altLang="ja-JP" sz="1200" dirty="0"/>
              <a:t>CA</a:t>
            </a:r>
            <a:r>
              <a:rPr lang="ja-JP" altLang="en-US" sz="1200" dirty="0"/>
              <a:t>からの活動サポートニーズが高い。</a:t>
            </a:r>
            <a:endParaRPr kumimoji="1" lang="en-US" altLang="ja-JP" sz="1200" dirty="0"/>
          </a:p>
        </p:txBody>
      </p:sp>
      <p:sp>
        <p:nvSpPr>
          <p:cNvPr id="3" name="テキスト プレースホルダー 2">
            <a:extLst>
              <a:ext uri="{FF2B5EF4-FFF2-40B4-BE49-F238E27FC236}">
                <a16:creationId xmlns:a16="http://schemas.microsoft.com/office/drawing/2014/main" id="{3AFCA7A1-CDFB-7EF1-A94F-C89FD7235B56}"/>
              </a:ext>
            </a:extLst>
          </p:cNvPr>
          <p:cNvSpPr>
            <a:spLocks noGrp="1"/>
          </p:cNvSpPr>
          <p:nvPr>
            <p:ph type="body" sz="quarter" idx="13"/>
          </p:nvPr>
        </p:nvSpPr>
        <p:spPr>
          <a:xfrm>
            <a:off x="360363" y="183090"/>
            <a:ext cx="11448000" cy="284693"/>
          </a:xfrm>
        </p:spPr>
        <p:txBody>
          <a:bodyPr/>
          <a:lstStyle/>
          <a:p>
            <a:r>
              <a:rPr lang="ja-JP" altLang="en-US" dirty="0"/>
              <a:t>活動ステータス別サマリ：</a:t>
            </a:r>
            <a:r>
              <a:rPr kumimoji="1" lang="ja-JP" altLang="en-US" dirty="0"/>
              <a:t>面談希望あり＞面談実施</a:t>
            </a:r>
            <a:r>
              <a:rPr kumimoji="1" lang="ja-JP" altLang="en-US" dirty="0">
                <a:solidFill>
                  <a:srgbClr val="FF0000"/>
                </a:solidFill>
              </a:rPr>
              <a:t>なし</a:t>
            </a:r>
            <a:r>
              <a:rPr kumimoji="1" lang="en-US" altLang="ja-JP" dirty="0"/>
              <a:t>【</a:t>
            </a:r>
            <a:r>
              <a:rPr kumimoji="1" lang="ja-JP" altLang="en-US" dirty="0"/>
              <a:t>セグメント考察</a:t>
            </a:r>
            <a:r>
              <a:rPr kumimoji="1" lang="en-US" altLang="ja-JP" dirty="0"/>
              <a:t>】</a:t>
            </a:r>
            <a:endParaRPr kumimoji="1" lang="ja-JP" altLang="en-US" dirty="0">
              <a:solidFill>
                <a:srgbClr val="FF0000"/>
              </a:solidFill>
            </a:endParaRPr>
          </a:p>
        </p:txBody>
      </p:sp>
      <p:sp>
        <p:nvSpPr>
          <p:cNvPr id="4" name="フッター プレースホルダー 3">
            <a:extLst>
              <a:ext uri="{FF2B5EF4-FFF2-40B4-BE49-F238E27FC236}">
                <a16:creationId xmlns:a16="http://schemas.microsoft.com/office/drawing/2014/main" id="{BA4E55EB-6BD1-4BF2-907D-551258A101A4}"/>
              </a:ext>
            </a:extLst>
          </p:cNvPr>
          <p:cNvSpPr>
            <a:spLocks noGrp="1"/>
          </p:cNvSpPr>
          <p:nvPr>
            <p:ph type="ftr" sz="quarter" idx="3"/>
          </p:nvPr>
        </p:nvSpPr>
        <p:spPr/>
        <p:txBody>
          <a:bodyPr/>
          <a:lstStyle/>
          <a:p>
            <a:r>
              <a:rPr lang="en" altLang="ja-JP"/>
              <a:t>(C) Recruit Co., Ltd. All rights reserved. </a:t>
            </a:r>
            <a:endParaRPr lang="ja-JP" altLang="en-US"/>
          </a:p>
        </p:txBody>
      </p:sp>
      <p:sp>
        <p:nvSpPr>
          <p:cNvPr id="5" name="スライド番号プレースホルダー 4">
            <a:extLst>
              <a:ext uri="{FF2B5EF4-FFF2-40B4-BE49-F238E27FC236}">
                <a16:creationId xmlns:a16="http://schemas.microsoft.com/office/drawing/2014/main" id="{579072D8-74A7-15DB-0FB9-35A45417A8C9}"/>
              </a:ext>
            </a:extLst>
          </p:cNvPr>
          <p:cNvSpPr>
            <a:spLocks noGrp="1"/>
          </p:cNvSpPr>
          <p:nvPr>
            <p:ph type="sldNum" sz="quarter" idx="4"/>
          </p:nvPr>
        </p:nvSpPr>
        <p:spPr/>
        <p:txBody>
          <a:bodyPr/>
          <a:lstStyle/>
          <a:p>
            <a:fld id="{EDD55F78-D87A-074E-B5DA-6C9B598DD91F}" type="slidenum">
              <a:rPr lang="ja-JP" altLang="en-US" smtClean="0"/>
              <a:pPr/>
              <a:t>12</a:t>
            </a:fld>
            <a:endParaRPr lang="ja-JP" altLang="en-US"/>
          </a:p>
        </p:txBody>
      </p:sp>
      <p:graphicFrame>
        <p:nvGraphicFramePr>
          <p:cNvPr id="6" name="表 5">
            <a:extLst>
              <a:ext uri="{FF2B5EF4-FFF2-40B4-BE49-F238E27FC236}">
                <a16:creationId xmlns:a16="http://schemas.microsoft.com/office/drawing/2014/main" id="{A1D5B1F5-6922-6BC8-70DF-940A9F75E45C}"/>
              </a:ext>
            </a:extLst>
          </p:cNvPr>
          <p:cNvGraphicFramePr>
            <a:graphicFrameLocks noGrp="1"/>
          </p:cNvGraphicFramePr>
          <p:nvPr>
            <p:extLst>
              <p:ext uri="{D42A27DB-BD31-4B8C-83A1-F6EECF244321}">
                <p14:modId xmlns:p14="http://schemas.microsoft.com/office/powerpoint/2010/main" val="650534946"/>
              </p:ext>
            </p:extLst>
          </p:nvPr>
        </p:nvGraphicFramePr>
        <p:xfrm>
          <a:off x="616926" y="1863803"/>
          <a:ext cx="10496552" cy="2299480"/>
        </p:xfrm>
        <a:graphic>
          <a:graphicData uri="http://schemas.openxmlformats.org/drawingml/2006/table">
            <a:tbl>
              <a:tblPr/>
              <a:tblGrid>
                <a:gridCol w="1375762">
                  <a:extLst>
                    <a:ext uri="{9D8B030D-6E8A-4147-A177-3AD203B41FA5}">
                      <a16:colId xmlns:a16="http://schemas.microsoft.com/office/drawing/2014/main" val="3448859828"/>
                    </a:ext>
                  </a:extLst>
                </a:gridCol>
                <a:gridCol w="1375762">
                  <a:extLst>
                    <a:ext uri="{9D8B030D-6E8A-4147-A177-3AD203B41FA5}">
                      <a16:colId xmlns:a16="http://schemas.microsoft.com/office/drawing/2014/main" val="187314167"/>
                    </a:ext>
                  </a:extLst>
                </a:gridCol>
                <a:gridCol w="645419">
                  <a:extLst>
                    <a:ext uri="{9D8B030D-6E8A-4147-A177-3AD203B41FA5}">
                      <a16:colId xmlns:a16="http://schemas.microsoft.com/office/drawing/2014/main" val="2719312075"/>
                    </a:ext>
                  </a:extLst>
                </a:gridCol>
                <a:gridCol w="645419">
                  <a:extLst>
                    <a:ext uri="{9D8B030D-6E8A-4147-A177-3AD203B41FA5}">
                      <a16:colId xmlns:a16="http://schemas.microsoft.com/office/drawing/2014/main" val="1940307630"/>
                    </a:ext>
                  </a:extLst>
                </a:gridCol>
                <a:gridCol w="645419">
                  <a:extLst>
                    <a:ext uri="{9D8B030D-6E8A-4147-A177-3AD203B41FA5}">
                      <a16:colId xmlns:a16="http://schemas.microsoft.com/office/drawing/2014/main" val="3907660183"/>
                    </a:ext>
                  </a:extLst>
                </a:gridCol>
                <a:gridCol w="645419">
                  <a:extLst>
                    <a:ext uri="{9D8B030D-6E8A-4147-A177-3AD203B41FA5}">
                      <a16:colId xmlns:a16="http://schemas.microsoft.com/office/drawing/2014/main" val="3846988644"/>
                    </a:ext>
                  </a:extLst>
                </a:gridCol>
                <a:gridCol w="645419">
                  <a:extLst>
                    <a:ext uri="{9D8B030D-6E8A-4147-A177-3AD203B41FA5}">
                      <a16:colId xmlns:a16="http://schemas.microsoft.com/office/drawing/2014/main" val="52227080"/>
                    </a:ext>
                  </a:extLst>
                </a:gridCol>
                <a:gridCol w="645419">
                  <a:extLst>
                    <a:ext uri="{9D8B030D-6E8A-4147-A177-3AD203B41FA5}">
                      <a16:colId xmlns:a16="http://schemas.microsoft.com/office/drawing/2014/main" val="3961396577"/>
                    </a:ext>
                  </a:extLst>
                </a:gridCol>
                <a:gridCol w="645419">
                  <a:extLst>
                    <a:ext uri="{9D8B030D-6E8A-4147-A177-3AD203B41FA5}">
                      <a16:colId xmlns:a16="http://schemas.microsoft.com/office/drawing/2014/main" val="1379208463"/>
                    </a:ext>
                  </a:extLst>
                </a:gridCol>
                <a:gridCol w="645419">
                  <a:extLst>
                    <a:ext uri="{9D8B030D-6E8A-4147-A177-3AD203B41FA5}">
                      <a16:colId xmlns:a16="http://schemas.microsoft.com/office/drawing/2014/main" val="2967954694"/>
                    </a:ext>
                  </a:extLst>
                </a:gridCol>
                <a:gridCol w="645419">
                  <a:extLst>
                    <a:ext uri="{9D8B030D-6E8A-4147-A177-3AD203B41FA5}">
                      <a16:colId xmlns:a16="http://schemas.microsoft.com/office/drawing/2014/main" val="499946032"/>
                    </a:ext>
                  </a:extLst>
                </a:gridCol>
                <a:gridCol w="645419">
                  <a:extLst>
                    <a:ext uri="{9D8B030D-6E8A-4147-A177-3AD203B41FA5}">
                      <a16:colId xmlns:a16="http://schemas.microsoft.com/office/drawing/2014/main" val="2290181426"/>
                    </a:ext>
                  </a:extLst>
                </a:gridCol>
                <a:gridCol w="645419">
                  <a:extLst>
                    <a:ext uri="{9D8B030D-6E8A-4147-A177-3AD203B41FA5}">
                      <a16:colId xmlns:a16="http://schemas.microsoft.com/office/drawing/2014/main" val="3061497778"/>
                    </a:ext>
                  </a:extLst>
                </a:gridCol>
                <a:gridCol w="645419">
                  <a:extLst>
                    <a:ext uri="{9D8B030D-6E8A-4147-A177-3AD203B41FA5}">
                      <a16:colId xmlns:a16="http://schemas.microsoft.com/office/drawing/2014/main" val="1081720523"/>
                    </a:ext>
                  </a:extLst>
                </a:gridCol>
              </a:tblGrid>
              <a:tr h="1112096">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ctr"/>
                      <a:endParaRPr lang="ja-JP" altLang="en-US" sz="800" b="0" i="0" u="none" strike="noStrike" dirty="0">
                        <a:effectLst/>
                        <a:latin typeface="Meiryo UI" panose="020B0604030504040204" pitchFamily="50" charset="-128"/>
                        <a:ea typeface="Meiryo UI" panose="020B0604030504040204" pitchFamily="50" charset="-128"/>
                      </a:endParaRPr>
                    </a:p>
                  </a:txBody>
                  <a:tcPr marL="9525" marR="9525" marT="952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t"/>
                      <a:r>
                        <a:rPr lang="ja-JP" altLang="en-US" sz="800" b="0" i="0" u="none" strike="noStrike" dirty="0">
                          <a:effectLst/>
                          <a:latin typeface="Meiryo UI" panose="020B0604030504040204" pitchFamily="50" charset="-128"/>
                          <a:ea typeface="Meiryo UI" panose="020B0604030504040204" pitchFamily="50" charset="-128"/>
                        </a:rPr>
                        <a:t>面談でしか共有されない求人情報がもらえる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面談でしか共有されない企業情報がもらえる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面談に参加することで、自分の興味のある企業の現場担当者と会話の機会を得られる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面談に参加することで、自分の強み・特性がわかる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面談に参加することで、自分の市場価値（スキルに対する適正年収など）がわかる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面談に参加することで、自分と類似スキルを持つ求職者の転職先例を知ることができる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面談に参加することで、副業サービスを紹介してくれる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面談に参加することで、資格取得やスキルアップのためのサポートをしてくれる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面談はキャリアアドバイザー</a:t>
                      </a:r>
                      <a:r>
                        <a:rPr lang="en-US" altLang="ja-JP" sz="800" b="0" i="0" u="none" strike="noStrike">
                          <a:effectLst/>
                          <a:latin typeface="Meiryo UI" panose="020B0604030504040204" pitchFamily="50" charset="-128"/>
                          <a:ea typeface="Meiryo UI" panose="020B0604030504040204" pitchFamily="50" charset="-128"/>
                        </a:rPr>
                        <a:t>1</a:t>
                      </a:r>
                      <a:r>
                        <a:rPr lang="ja-JP" altLang="en-US" sz="800" b="0" i="0" u="none" strike="noStrike">
                          <a:effectLst/>
                          <a:latin typeface="Meiryo UI" panose="020B0604030504040204" pitchFamily="50" charset="-128"/>
                          <a:ea typeface="Meiryo UI" panose="020B0604030504040204" pitchFamily="50" charset="-128"/>
                        </a:rPr>
                        <a:t>人だけでなく、複数のキャリアアドバイザーが多角的・迅速にサポートしてくれる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面談に参加することで、キャリアアドバイザーから求人を提案してもらうことができる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その他</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当てはまるサポートはない</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51986544"/>
                  </a:ext>
                </a:extLst>
              </a:tr>
              <a:tr h="148423">
                <a:tc rowSpan="6">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　∟面談実施なし</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全体</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ED6AE"/>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FD7A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DCBB"/>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CD5AC"/>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4D9B3"/>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FD7A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DD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AE2C6"/>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5E6D0"/>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1A4"/>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F3EC"/>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F2E9"/>
                    </a:solidFill>
                  </a:tcPr>
                </a:tc>
                <a:extLst>
                  <a:ext uri="{0D108BD9-81ED-4DB2-BD59-A6C34878D82A}">
                    <a16:rowId xmlns:a16="http://schemas.microsoft.com/office/drawing/2014/main" val="2955735926"/>
                  </a:ext>
                </a:extLst>
              </a:tr>
              <a:tr h="148423">
                <a:tc vMerge="1">
                  <a:txBody>
                    <a:bodyPr/>
                    <a:lstStyle/>
                    <a:p>
                      <a:endParaRPr kumimoji="1" lang="ja-JP" altLang="en-US"/>
                    </a:p>
                  </a:txBody>
                  <a:tcPr/>
                </a:tc>
                <a:tc>
                  <a:txBody>
                    <a:bodyPr/>
                    <a:lstStyle/>
                    <a:p>
                      <a:pPr algn="l" fontAlgn="t"/>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300</a:t>
                      </a:r>
                      <a:r>
                        <a:rPr lang="ja-JP" altLang="en-US" sz="800" b="1" i="0" u="none" strike="noStrike" dirty="0">
                          <a:solidFill>
                            <a:srgbClr val="FF0000"/>
                          </a:solidFill>
                          <a:effectLst/>
                          <a:latin typeface="Meiryo UI" panose="020B0604030504040204" pitchFamily="50" charset="-128"/>
                          <a:ea typeface="Meiryo UI" panose="020B0604030504040204" pitchFamily="50" charset="-128"/>
                        </a:rPr>
                        <a:t>万円未満</a:t>
                      </a: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a:t>
                      </a:r>
                      <a:r>
                        <a:rPr lang="ja-JP" altLang="en-US" sz="800" b="1" i="0" u="none" strike="noStrike" dirty="0">
                          <a:solidFill>
                            <a:srgbClr val="FF0000"/>
                          </a:solidFill>
                          <a:effectLst/>
                          <a:latin typeface="Meiryo UI" panose="020B0604030504040204" pitchFamily="50" charset="-128"/>
                          <a:ea typeface="Meiryo UI" panose="020B0604030504040204" pitchFamily="50" charset="-128"/>
                        </a:rPr>
                        <a:t>①</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D5AB"/>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D5AB"/>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1DEBF"/>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DAB5"/>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7E7D2"/>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0D1A2"/>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3ECDB"/>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1DEBF"/>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E3C8"/>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0D1A2"/>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EF0E5"/>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5EE"/>
                    </a:solidFill>
                  </a:tcPr>
                </a:tc>
                <a:extLst>
                  <a:ext uri="{0D108BD9-81ED-4DB2-BD59-A6C34878D82A}">
                    <a16:rowId xmlns:a16="http://schemas.microsoft.com/office/drawing/2014/main" val="1318505632"/>
                  </a:ext>
                </a:extLst>
              </a:tr>
              <a:tr h="148423">
                <a:tc vMerge="1">
                  <a:txBody>
                    <a:bodyPr/>
                    <a:lstStyle/>
                    <a:p>
                      <a:endParaRPr kumimoji="1" lang="ja-JP" altLang="en-US"/>
                    </a:p>
                  </a:txBody>
                  <a:tcPr/>
                </a:tc>
                <a:tc>
                  <a:txBody>
                    <a:bodyPr/>
                    <a:lstStyle/>
                    <a:p>
                      <a:pPr algn="l" fontAlgn="t"/>
                      <a:r>
                        <a:rPr lang="en-US" altLang="ja-JP" sz="800" b="0" i="0" u="none" strike="noStrike" dirty="0">
                          <a:effectLst/>
                          <a:latin typeface="Meiryo UI" panose="020B0604030504040204" pitchFamily="50" charset="-128"/>
                          <a:ea typeface="Meiryo UI" panose="020B0604030504040204" pitchFamily="50" charset="-128"/>
                        </a:rPr>
                        <a:t>300-399</a:t>
                      </a:r>
                      <a:r>
                        <a:rPr lang="ja-JP" altLang="en-US" sz="800" b="0" i="0" u="none" strike="noStrike" dirty="0">
                          <a:effectLst/>
                          <a:latin typeface="Meiryo UI" panose="020B0604030504040204" pitchFamily="50" charset="-128"/>
                          <a:ea typeface="Meiryo UI" panose="020B0604030504040204" pitchFamily="50" charset="-128"/>
                        </a:rPr>
                        <a:t>万円以下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E3C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E3C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E3C8"/>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0D1A2"/>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E3C8"/>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E3C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E3C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E3C8"/>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0D1A2"/>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5EE"/>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5EE"/>
                    </a:solidFill>
                  </a:tcPr>
                </a:tc>
                <a:extLst>
                  <a:ext uri="{0D108BD9-81ED-4DB2-BD59-A6C34878D82A}">
                    <a16:rowId xmlns:a16="http://schemas.microsoft.com/office/drawing/2014/main" val="3473774654"/>
                  </a:ext>
                </a:extLst>
              </a:tr>
              <a:tr h="148423">
                <a:tc vMerge="1">
                  <a:txBody>
                    <a:bodyPr/>
                    <a:lstStyle/>
                    <a:p>
                      <a:endParaRPr kumimoji="1" lang="ja-JP" altLang="en-US"/>
                    </a:p>
                  </a:txBody>
                  <a:tcPr/>
                </a:tc>
                <a:tc>
                  <a:txBody>
                    <a:bodyPr/>
                    <a:lstStyle/>
                    <a:p>
                      <a:pPr algn="l" fontAlgn="t"/>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400-599</a:t>
                      </a:r>
                      <a:r>
                        <a:rPr lang="ja-JP" altLang="en-US" sz="800" b="1" i="0" u="none" strike="noStrike" dirty="0">
                          <a:solidFill>
                            <a:srgbClr val="FF0000"/>
                          </a:solidFill>
                          <a:effectLst/>
                          <a:latin typeface="Meiryo UI" panose="020B0604030504040204" pitchFamily="50" charset="-128"/>
                          <a:ea typeface="Meiryo UI" panose="020B0604030504040204" pitchFamily="50" charset="-128"/>
                        </a:rPr>
                        <a:t>万円以下</a:t>
                      </a: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a:t>
                      </a:r>
                      <a:r>
                        <a:rPr lang="ja-JP" altLang="en-US" sz="800" b="1" i="0" u="none" strike="noStrike" dirty="0">
                          <a:solidFill>
                            <a:srgbClr val="FF0000"/>
                          </a:solidFill>
                          <a:effectLst/>
                          <a:latin typeface="Meiryo UI" panose="020B0604030504040204" pitchFamily="50" charset="-128"/>
                          <a:ea typeface="Meiryo UI" panose="020B0604030504040204" pitchFamily="50" charset="-128"/>
                        </a:rPr>
                        <a:t>②</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CD99"/>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0D1A2"/>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4D9B3"/>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CD99"/>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AD5AA"/>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4D9B3"/>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FF1E6"/>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4"/>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BE9D5"/>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0D1A2"/>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5EE"/>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5EE"/>
                    </a:solidFill>
                  </a:tcPr>
                </a:tc>
                <a:extLst>
                  <a:ext uri="{0D108BD9-81ED-4DB2-BD59-A6C34878D82A}">
                    <a16:rowId xmlns:a16="http://schemas.microsoft.com/office/drawing/2014/main" val="562652253"/>
                  </a:ext>
                </a:extLst>
              </a:tr>
              <a:tr h="148423">
                <a:tc vMerge="1">
                  <a:txBody>
                    <a:bodyPr/>
                    <a:lstStyle/>
                    <a:p>
                      <a:endParaRPr kumimoji="1" lang="ja-JP" altLang="en-US"/>
                    </a:p>
                  </a:txBody>
                  <a:tcPr/>
                </a:tc>
                <a:tc>
                  <a:txBody>
                    <a:bodyPr/>
                    <a:lstStyle/>
                    <a:p>
                      <a:pPr algn="l" fontAlgn="t"/>
                      <a:r>
                        <a:rPr lang="en-US" altLang="ja-JP" sz="800" b="0" i="0" u="none" strike="noStrike" dirty="0">
                          <a:effectLst/>
                          <a:latin typeface="Meiryo UI" panose="020B0604030504040204" pitchFamily="50" charset="-128"/>
                          <a:ea typeface="Meiryo UI" panose="020B0604030504040204" pitchFamily="50" charset="-128"/>
                        </a:rPr>
                        <a:t>600-799</a:t>
                      </a:r>
                      <a:r>
                        <a:rPr lang="ja-JP" altLang="en-US" sz="800" b="0" i="0" u="none" strike="noStrike" dirty="0">
                          <a:effectLst/>
                          <a:latin typeface="Meiryo UI" panose="020B0604030504040204" pitchFamily="50" charset="-128"/>
                          <a:ea typeface="Meiryo UI" panose="020B0604030504040204" pitchFamily="50" charset="-128"/>
                        </a:rPr>
                        <a:t>万円以下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5EE"/>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BE9D5"/>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EDDBB"/>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BE9D5"/>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0D1A2"/>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0D1A2"/>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5EE"/>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5EE"/>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BE9D5"/>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0D1A2"/>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5EE"/>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5EE"/>
                    </a:solidFill>
                  </a:tcPr>
                </a:tc>
                <a:extLst>
                  <a:ext uri="{0D108BD9-81ED-4DB2-BD59-A6C34878D82A}">
                    <a16:rowId xmlns:a16="http://schemas.microsoft.com/office/drawing/2014/main" val="1307609204"/>
                  </a:ext>
                </a:extLst>
              </a:tr>
              <a:tr h="148423">
                <a:tc vMerge="1">
                  <a:txBody>
                    <a:bodyPr/>
                    <a:lstStyle/>
                    <a:p>
                      <a:endParaRPr kumimoji="1" lang="ja-JP" altLang="en-US"/>
                    </a:p>
                  </a:txBody>
                  <a:tcPr/>
                </a:tc>
                <a:tc>
                  <a:txBody>
                    <a:bodyPr/>
                    <a:lstStyle/>
                    <a:p>
                      <a:pPr algn="l" fontAlgn="t"/>
                      <a:r>
                        <a:rPr lang="en-US" altLang="ja-JP" sz="800" b="0" i="0" u="none" strike="noStrike">
                          <a:effectLst/>
                          <a:latin typeface="Meiryo UI" panose="020B0604030504040204" pitchFamily="50" charset="-128"/>
                          <a:ea typeface="Meiryo UI" panose="020B0604030504040204" pitchFamily="50" charset="-128"/>
                        </a:rPr>
                        <a:t>800</a:t>
                      </a:r>
                      <a:r>
                        <a:rPr lang="ja-JP" altLang="en-US" sz="800" b="0" i="0" u="none" strike="noStrike">
                          <a:effectLst/>
                          <a:latin typeface="Meiryo UI" panose="020B0604030504040204" pitchFamily="50" charset="-128"/>
                          <a:ea typeface="Meiryo UI" panose="020B0604030504040204" pitchFamily="50" charset="-128"/>
                        </a:rPr>
                        <a:t>万円以上</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E3C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E3C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E3C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E3C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E3C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E3C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E3C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E3C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E3C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E3C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9F5EE"/>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0D1A2"/>
                    </a:solidFill>
                  </a:tcPr>
                </a:tc>
                <a:extLst>
                  <a:ext uri="{0D108BD9-81ED-4DB2-BD59-A6C34878D82A}">
                    <a16:rowId xmlns:a16="http://schemas.microsoft.com/office/drawing/2014/main" val="1546175597"/>
                  </a:ext>
                </a:extLst>
              </a:tr>
              <a:tr h="148423">
                <a:tc>
                  <a:txBody>
                    <a:bodyPr/>
                    <a:lstStyle/>
                    <a:p>
                      <a:pPr algn="l" fontAlgn="t"/>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t"/>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highlight>
                            <a:srgbClr val="FFFF00"/>
                          </a:highlight>
                          <a:latin typeface="Meiryo UI" panose="020B0604030504040204" pitchFamily="50" charset="-128"/>
                          <a:ea typeface="Meiryo UI" panose="020B0604030504040204" pitchFamily="50" charset="-128"/>
                        </a:rPr>
                        <a:t>12%</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D4ECDC"/>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6%</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DEF0E5"/>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8%</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DBEFE3"/>
                    </a:solidFill>
                  </a:tcPr>
                </a:tc>
                <a:tc>
                  <a:txBody>
                    <a:bodyPr/>
                    <a:lstStyle/>
                    <a:p>
                      <a:pPr algn="r" fontAlgn="ctr"/>
                      <a:r>
                        <a:rPr lang="en-US" altLang="ja-JP" sz="800" b="0" i="0" u="none" strike="noStrike" dirty="0">
                          <a:effectLst/>
                          <a:highlight>
                            <a:srgbClr val="FFFF00"/>
                          </a:highlight>
                          <a:latin typeface="Meiryo UI" panose="020B0604030504040204" pitchFamily="50" charset="-128"/>
                          <a:ea typeface="Meiryo UI" panose="020B0604030504040204" pitchFamily="50" charset="-128"/>
                        </a:rPr>
                        <a:t>18%</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C9E8D3"/>
                    </a:solidFill>
                  </a:tcPr>
                </a:tc>
                <a:tc>
                  <a:txBody>
                    <a:bodyPr/>
                    <a:lstStyle/>
                    <a:p>
                      <a:pPr algn="r" fontAlgn="ctr"/>
                      <a:r>
                        <a:rPr lang="en-US" altLang="ja-JP" sz="800" b="0" i="0" u="none" strike="noStrike" dirty="0">
                          <a:effectLst/>
                          <a:highlight>
                            <a:srgbClr val="FFFF00"/>
                          </a:highlight>
                          <a:latin typeface="Meiryo UI" panose="020B0604030504040204" pitchFamily="50" charset="-128"/>
                          <a:ea typeface="Meiryo UI" panose="020B0604030504040204" pitchFamily="50" charset="-128"/>
                        </a:rPr>
                        <a:t>26%</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BBE2C7"/>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-11%</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-7%</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F5FAF9"/>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EFF7F4"/>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-8%</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F8FBFB"/>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E9F4EE"/>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-6%</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F4F9F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E9F5EE"/>
                    </a:solidFill>
                  </a:tcPr>
                </a:tc>
                <a:extLst>
                  <a:ext uri="{0D108BD9-81ED-4DB2-BD59-A6C34878D82A}">
                    <a16:rowId xmlns:a16="http://schemas.microsoft.com/office/drawing/2014/main" val="4189098121"/>
                  </a:ext>
                </a:extLst>
              </a:tr>
              <a:tr h="148423">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dirty="0">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dirty="0">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dirty="0">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dirty="0">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dirty="0">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dirty="0">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dirty="0">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dirty="0">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extLst>
                  <a:ext uri="{0D108BD9-81ED-4DB2-BD59-A6C34878D82A}">
                    <a16:rowId xmlns:a16="http://schemas.microsoft.com/office/drawing/2014/main" val="4092800451"/>
                  </a:ext>
                </a:extLst>
              </a:tr>
            </a:tbl>
          </a:graphicData>
        </a:graphic>
      </p:graphicFrame>
      <p:graphicFrame>
        <p:nvGraphicFramePr>
          <p:cNvPr id="7" name="表 6">
            <a:extLst>
              <a:ext uri="{FF2B5EF4-FFF2-40B4-BE49-F238E27FC236}">
                <a16:creationId xmlns:a16="http://schemas.microsoft.com/office/drawing/2014/main" id="{6B6518EA-0C69-1EB8-A372-C94D3A3A4C41}"/>
              </a:ext>
            </a:extLst>
          </p:cNvPr>
          <p:cNvGraphicFramePr>
            <a:graphicFrameLocks noGrp="1"/>
          </p:cNvGraphicFramePr>
          <p:nvPr>
            <p:extLst>
              <p:ext uri="{D42A27DB-BD31-4B8C-83A1-F6EECF244321}">
                <p14:modId xmlns:p14="http://schemas.microsoft.com/office/powerpoint/2010/main" val="1258370002"/>
              </p:ext>
            </p:extLst>
          </p:nvPr>
        </p:nvGraphicFramePr>
        <p:xfrm>
          <a:off x="616926" y="4228208"/>
          <a:ext cx="10496556" cy="1931212"/>
        </p:xfrm>
        <a:graphic>
          <a:graphicData uri="http://schemas.openxmlformats.org/drawingml/2006/table">
            <a:tbl>
              <a:tblPr/>
              <a:tblGrid>
                <a:gridCol w="1568673">
                  <a:extLst>
                    <a:ext uri="{9D8B030D-6E8A-4147-A177-3AD203B41FA5}">
                      <a16:colId xmlns:a16="http://schemas.microsoft.com/office/drawing/2014/main" val="2157646352"/>
                    </a:ext>
                  </a:extLst>
                </a:gridCol>
                <a:gridCol w="1568673">
                  <a:extLst>
                    <a:ext uri="{9D8B030D-6E8A-4147-A177-3AD203B41FA5}">
                      <a16:colId xmlns:a16="http://schemas.microsoft.com/office/drawing/2014/main" val="4288811044"/>
                    </a:ext>
                  </a:extLst>
                </a:gridCol>
                <a:gridCol w="735921">
                  <a:extLst>
                    <a:ext uri="{9D8B030D-6E8A-4147-A177-3AD203B41FA5}">
                      <a16:colId xmlns:a16="http://schemas.microsoft.com/office/drawing/2014/main" val="816303083"/>
                    </a:ext>
                  </a:extLst>
                </a:gridCol>
                <a:gridCol w="735921">
                  <a:extLst>
                    <a:ext uri="{9D8B030D-6E8A-4147-A177-3AD203B41FA5}">
                      <a16:colId xmlns:a16="http://schemas.microsoft.com/office/drawing/2014/main" val="665421879"/>
                    </a:ext>
                  </a:extLst>
                </a:gridCol>
                <a:gridCol w="735921">
                  <a:extLst>
                    <a:ext uri="{9D8B030D-6E8A-4147-A177-3AD203B41FA5}">
                      <a16:colId xmlns:a16="http://schemas.microsoft.com/office/drawing/2014/main" val="429750475"/>
                    </a:ext>
                  </a:extLst>
                </a:gridCol>
                <a:gridCol w="735921">
                  <a:extLst>
                    <a:ext uri="{9D8B030D-6E8A-4147-A177-3AD203B41FA5}">
                      <a16:colId xmlns:a16="http://schemas.microsoft.com/office/drawing/2014/main" val="658683665"/>
                    </a:ext>
                  </a:extLst>
                </a:gridCol>
                <a:gridCol w="735921">
                  <a:extLst>
                    <a:ext uri="{9D8B030D-6E8A-4147-A177-3AD203B41FA5}">
                      <a16:colId xmlns:a16="http://schemas.microsoft.com/office/drawing/2014/main" val="282832633"/>
                    </a:ext>
                  </a:extLst>
                </a:gridCol>
                <a:gridCol w="735921">
                  <a:extLst>
                    <a:ext uri="{9D8B030D-6E8A-4147-A177-3AD203B41FA5}">
                      <a16:colId xmlns:a16="http://schemas.microsoft.com/office/drawing/2014/main" val="3581255232"/>
                    </a:ext>
                  </a:extLst>
                </a:gridCol>
                <a:gridCol w="735921">
                  <a:extLst>
                    <a:ext uri="{9D8B030D-6E8A-4147-A177-3AD203B41FA5}">
                      <a16:colId xmlns:a16="http://schemas.microsoft.com/office/drawing/2014/main" val="3794631829"/>
                    </a:ext>
                  </a:extLst>
                </a:gridCol>
                <a:gridCol w="735921">
                  <a:extLst>
                    <a:ext uri="{9D8B030D-6E8A-4147-A177-3AD203B41FA5}">
                      <a16:colId xmlns:a16="http://schemas.microsoft.com/office/drawing/2014/main" val="631035406"/>
                    </a:ext>
                  </a:extLst>
                </a:gridCol>
                <a:gridCol w="735921">
                  <a:extLst>
                    <a:ext uri="{9D8B030D-6E8A-4147-A177-3AD203B41FA5}">
                      <a16:colId xmlns:a16="http://schemas.microsoft.com/office/drawing/2014/main" val="1482760617"/>
                    </a:ext>
                  </a:extLst>
                </a:gridCol>
                <a:gridCol w="735921">
                  <a:extLst>
                    <a:ext uri="{9D8B030D-6E8A-4147-A177-3AD203B41FA5}">
                      <a16:colId xmlns:a16="http://schemas.microsoft.com/office/drawing/2014/main" val="4284179740"/>
                    </a:ext>
                  </a:extLst>
                </a:gridCol>
              </a:tblGrid>
              <a:tr h="963028">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非公開求人が、キャリアアドバイザーを経由して定期的に案内される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自分の大まかな合格可能性を、キャリアアドバイザーに相談できる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過去同じ企業に内定した求職者の傾向が、キャリアアドバイザーを経由して案内される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キャリアアドバイザーが応募書類の添削・アドバイスをしてくれる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キャリアアドバイザーが面接対策・面接へのアドバイスをしてくれる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非公開求人が、システムを経由して定期的に共有される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自分の大まかな合格可能性が、システムを経由して共有される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過去同じ企業に内定した求職者の傾向が、システムを経由して共有される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その他</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当てはまるサポートはない</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06793534"/>
                  </a:ext>
                </a:extLst>
              </a:tr>
              <a:tr h="138312">
                <a:tc rowSpan="6">
                  <a:txBody>
                    <a:bodyPr/>
                    <a:lstStyle/>
                    <a:p>
                      <a:pPr algn="l" fontAlgn="t"/>
                      <a:r>
                        <a:rPr lang="ja-JP" altLang="en-US" sz="800" b="0" i="0" u="none" strike="noStrike" dirty="0">
                          <a:effectLst/>
                          <a:latin typeface="Meiryo UI" panose="020B0604030504040204" pitchFamily="50" charset="-128"/>
                          <a:ea typeface="Meiryo UI" panose="020B0604030504040204" pitchFamily="50" charset="-128"/>
                        </a:rPr>
                        <a:t>　∟面談実施なし</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全体</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0C3"/>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7DAB6"/>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C9"/>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ADBB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DFC1"/>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1D8B1"/>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E2C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DFC1"/>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8F6"/>
                    </a:solidFill>
                  </a:tcPr>
                </a:tc>
                <a:extLst>
                  <a:ext uri="{0D108BD9-81ED-4DB2-BD59-A6C34878D82A}">
                    <a16:rowId xmlns:a16="http://schemas.microsoft.com/office/drawing/2014/main" val="182862932"/>
                  </a:ext>
                </a:extLst>
              </a:tr>
              <a:tr h="138312">
                <a:tc vMerge="1">
                  <a:txBody>
                    <a:bodyPr/>
                    <a:lstStyle/>
                    <a:p>
                      <a:endParaRPr kumimoji="1" lang="ja-JP" altLang="en-US"/>
                    </a:p>
                  </a:txBody>
                  <a:tcPr/>
                </a:tc>
                <a:tc>
                  <a:txBody>
                    <a:bodyPr/>
                    <a:lstStyle/>
                    <a:p>
                      <a:pPr algn="l" fontAlgn="t"/>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300</a:t>
                      </a:r>
                      <a:r>
                        <a:rPr lang="ja-JP" altLang="en-US" sz="800" b="1" i="0" u="none" strike="noStrike" dirty="0">
                          <a:solidFill>
                            <a:srgbClr val="FF0000"/>
                          </a:solidFill>
                          <a:effectLst/>
                          <a:latin typeface="Meiryo UI" panose="020B0604030504040204" pitchFamily="50" charset="-128"/>
                          <a:ea typeface="Meiryo UI" panose="020B0604030504040204" pitchFamily="50" charset="-128"/>
                        </a:rPr>
                        <a:t>万円未満</a:t>
                      </a: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a:t>
                      </a:r>
                      <a:r>
                        <a:rPr lang="ja-JP" altLang="en-US" sz="800" b="1" i="0" u="none" strike="noStrike" dirty="0">
                          <a:solidFill>
                            <a:srgbClr val="FF0000"/>
                          </a:solidFill>
                          <a:effectLst/>
                          <a:latin typeface="Meiryo UI" panose="020B0604030504040204" pitchFamily="50" charset="-128"/>
                          <a:ea typeface="Meiryo UI" panose="020B0604030504040204" pitchFamily="50" charset="-128"/>
                        </a:rPr>
                        <a:t>①</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E1C4"/>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E1C4"/>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FEAD8"/>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3E5CE"/>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E1C4"/>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E1C4"/>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FEAD8"/>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DCBA"/>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8F6"/>
                    </a:solidFill>
                  </a:tcPr>
                </a:tc>
                <a:extLst>
                  <a:ext uri="{0D108BD9-81ED-4DB2-BD59-A6C34878D82A}">
                    <a16:rowId xmlns:a16="http://schemas.microsoft.com/office/drawing/2014/main" val="2692294379"/>
                  </a:ext>
                </a:extLst>
              </a:tr>
              <a:tr h="138312">
                <a:tc vMerge="1">
                  <a:txBody>
                    <a:bodyPr/>
                    <a:lstStyle/>
                    <a:p>
                      <a:endParaRPr kumimoji="1" lang="ja-JP" altLang="en-US"/>
                    </a:p>
                  </a:txBody>
                  <a:tcPr/>
                </a:tc>
                <a:tc>
                  <a:txBody>
                    <a:bodyPr/>
                    <a:lstStyle/>
                    <a:p>
                      <a:pPr algn="l" fontAlgn="t"/>
                      <a:r>
                        <a:rPr lang="en-US" altLang="ja-JP" sz="800" b="0" i="0" u="none" strike="noStrike" dirty="0">
                          <a:effectLst/>
                          <a:latin typeface="Meiryo UI" panose="020B0604030504040204" pitchFamily="50" charset="-128"/>
                          <a:ea typeface="Meiryo UI" panose="020B0604030504040204" pitchFamily="50" charset="-128"/>
                        </a:rPr>
                        <a:t>300-399</a:t>
                      </a:r>
                      <a:r>
                        <a:rPr lang="ja-JP" altLang="en-US" sz="800" b="0" i="0" u="none" strike="noStrike" dirty="0">
                          <a:effectLst/>
                          <a:latin typeface="Meiryo UI" panose="020B0604030504040204" pitchFamily="50" charset="-128"/>
                          <a:ea typeface="Meiryo UI" panose="020B0604030504040204" pitchFamily="50" charset="-128"/>
                        </a:rPr>
                        <a:t>万円以下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1D7B0"/>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FEAD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FEAD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1D7B0"/>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1D7B0"/>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3C589"/>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FEAD8"/>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FEAD8"/>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extLst>
                  <a:ext uri="{0D108BD9-81ED-4DB2-BD59-A6C34878D82A}">
                    <a16:rowId xmlns:a16="http://schemas.microsoft.com/office/drawing/2014/main" val="678142218"/>
                  </a:ext>
                </a:extLst>
              </a:tr>
              <a:tr h="138312">
                <a:tc vMerge="1">
                  <a:txBody>
                    <a:bodyPr/>
                    <a:lstStyle/>
                    <a:p>
                      <a:endParaRPr kumimoji="1" lang="ja-JP" altLang="en-US"/>
                    </a:p>
                  </a:txBody>
                  <a:tcPr/>
                </a:tc>
                <a:tc>
                  <a:txBody>
                    <a:bodyPr/>
                    <a:lstStyle/>
                    <a:p>
                      <a:pPr algn="l" fontAlgn="t"/>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400-599</a:t>
                      </a:r>
                      <a:r>
                        <a:rPr lang="ja-JP" altLang="en-US" sz="800" b="1" i="0" u="none" strike="noStrike" dirty="0">
                          <a:solidFill>
                            <a:srgbClr val="FF0000"/>
                          </a:solidFill>
                          <a:effectLst/>
                          <a:latin typeface="Meiryo UI" panose="020B0604030504040204" pitchFamily="50" charset="-128"/>
                          <a:ea typeface="Meiryo UI" panose="020B0604030504040204" pitchFamily="50" charset="-128"/>
                        </a:rPr>
                        <a:t>万円以下</a:t>
                      </a: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a:t>
                      </a:r>
                      <a:r>
                        <a:rPr lang="ja-JP" altLang="en-US" sz="800" b="1" i="0" u="none" strike="noStrike" dirty="0">
                          <a:solidFill>
                            <a:srgbClr val="FF0000"/>
                          </a:solidFill>
                          <a:effectLst/>
                          <a:latin typeface="Meiryo UI" panose="020B0604030504040204" pitchFamily="50" charset="-128"/>
                          <a:ea typeface="Meiryo UI" panose="020B0604030504040204" pitchFamily="50" charset="-128"/>
                        </a:rPr>
                        <a:t>②</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E4CB"/>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61%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CCF9F"/>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0C2"/>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1D7B0"/>
                    </a:solidFill>
                  </a:tcPr>
                </a:tc>
                <a:tc>
                  <a:txBody>
                    <a:bodyPr/>
                    <a:lstStyle/>
                    <a:p>
                      <a:pPr algn="r" fontAlgn="ctr"/>
                      <a:r>
                        <a:rPr lang="en-US" altLang="ja-JP" sz="800" b="1" i="0" u="none" strike="noStrike">
                          <a:solidFill>
                            <a:srgbClr val="FF0000"/>
                          </a:solidFill>
                          <a:effectLst/>
                          <a:latin typeface="Meiryo UI" panose="020B0604030504040204" pitchFamily="50" charset="-128"/>
                          <a:ea typeface="Meiryo UI" panose="020B0604030504040204" pitchFamily="50" charset="-128"/>
                        </a:rPr>
                        <a:t>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BDBB9"/>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61%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CCF9F"/>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BDBB9"/>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BDBB9"/>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8F7"/>
                    </a:solidFill>
                  </a:tcPr>
                </a:tc>
                <a:extLst>
                  <a:ext uri="{0D108BD9-81ED-4DB2-BD59-A6C34878D82A}">
                    <a16:rowId xmlns:a16="http://schemas.microsoft.com/office/drawing/2014/main" val="2277640827"/>
                  </a:ext>
                </a:extLst>
              </a:tr>
              <a:tr h="138312">
                <a:tc vMerge="1">
                  <a:txBody>
                    <a:bodyPr/>
                    <a:lstStyle/>
                    <a:p>
                      <a:endParaRPr kumimoji="1" lang="ja-JP" altLang="en-US"/>
                    </a:p>
                  </a:txBody>
                  <a:tcPr/>
                </a:tc>
                <a:tc>
                  <a:txBody>
                    <a:bodyPr/>
                    <a:lstStyle/>
                    <a:p>
                      <a:pPr algn="l" fontAlgn="t"/>
                      <a:r>
                        <a:rPr lang="en-US" altLang="ja-JP" sz="800" b="0" i="0" u="none" strike="noStrike">
                          <a:effectLst/>
                          <a:latin typeface="Meiryo UI" panose="020B0604030504040204" pitchFamily="50" charset="-128"/>
                          <a:ea typeface="Meiryo UI" panose="020B0604030504040204" pitchFamily="50" charset="-128"/>
                        </a:rPr>
                        <a:t>600-799</a:t>
                      </a:r>
                      <a:r>
                        <a:rPr lang="ja-JP" altLang="en-US" sz="800" b="0" i="0" u="none" strike="noStrike">
                          <a:effectLst/>
                          <a:latin typeface="Meiryo UI" panose="020B0604030504040204" pitchFamily="50" charset="-128"/>
                          <a:ea typeface="Meiryo UI" panose="020B0604030504040204" pitchFamily="50" charset="-128"/>
                        </a:rPr>
                        <a:t>万円以下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E4CB"/>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E4CB"/>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1D7B0"/>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E4CB"/>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E4CB"/>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1D7B0"/>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1D7B0"/>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extLst>
                  <a:ext uri="{0D108BD9-81ED-4DB2-BD59-A6C34878D82A}">
                    <a16:rowId xmlns:a16="http://schemas.microsoft.com/office/drawing/2014/main" val="3923821390"/>
                  </a:ext>
                </a:extLst>
              </a:tr>
              <a:tr h="138312">
                <a:tc vMerge="1">
                  <a:txBody>
                    <a:bodyPr/>
                    <a:lstStyle/>
                    <a:p>
                      <a:endParaRPr kumimoji="1" lang="ja-JP" altLang="en-US"/>
                    </a:p>
                  </a:txBody>
                  <a:tcPr/>
                </a:tc>
                <a:tc>
                  <a:txBody>
                    <a:bodyPr/>
                    <a:lstStyle/>
                    <a:p>
                      <a:pPr algn="l" fontAlgn="t"/>
                      <a:r>
                        <a:rPr lang="en-US" altLang="ja-JP" sz="800" b="0" i="0" u="none" strike="noStrike">
                          <a:effectLst/>
                          <a:latin typeface="Meiryo UI" panose="020B0604030504040204" pitchFamily="50" charset="-128"/>
                          <a:ea typeface="Meiryo UI" panose="020B0604030504040204" pitchFamily="50" charset="-128"/>
                        </a:rPr>
                        <a:t>800</a:t>
                      </a:r>
                      <a:r>
                        <a:rPr lang="ja-JP" altLang="en-US" sz="800" b="0" i="0" u="none" strike="noStrike">
                          <a:effectLst/>
                          <a:latin typeface="Meiryo UI" panose="020B0604030504040204" pitchFamily="50" charset="-128"/>
                          <a:ea typeface="Meiryo UI" panose="020B0604030504040204" pitchFamily="50" charset="-128"/>
                        </a:rPr>
                        <a:t>万円以上</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1D7B0"/>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FEAD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FEAD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FEAD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FEAD8"/>
                    </a:solidFill>
                  </a:tcPr>
                </a:tc>
                <a:extLst>
                  <a:ext uri="{0D108BD9-81ED-4DB2-BD59-A6C34878D82A}">
                    <a16:rowId xmlns:a16="http://schemas.microsoft.com/office/drawing/2014/main" val="3463106745"/>
                  </a:ext>
                </a:extLst>
              </a:tr>
              <a:tr h="138312">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FCFCFF"/>
                    </a:solidFill>
                  </a:tcPr>
                </a:tc>
                <a:tc>
                  <a:txBody>
                    <a:bodyPr/>
                    <a:lstStyle/>
                    <a:p>
                      <a:pPr algn="r" fontAlgn="ctr"/>
                      <a:r>
                        <a:rPr lang="en-US" altLang="ja-JP" sz="800" b="0" i="0" u="none" strike="noStrike" dirty="0">
                          <a:effectLst/>
                          <a:highlight>
                            <a:srgbClr val="FFFF00"/>
                          </a:highlight>
                          <a:latin typeface="Meiryo UI" panose="020B0604030504040204" pitchFamily="50" charset="-128"/>
                          <a:ea typeface="Meiryo UI" panose="020B0604030504040204" pitchFamily="50" charset="-128"/>
                        </a:rPr>
                        <a:t>24%</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63BE7B"/>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14%</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99D4AA"/>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19%</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7EC993"/>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7%</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BFE4CB"/>
                    </a:solidFill>
                  </a:tcPr>
                </a:tc>
                <a:tc>
                  <a:txBody>
                    <a:bodyPr/>
                    <a:lstStyle/>
                    <a:p>
                      <a:pPr algn="r" fontAlgn="ctr"/>
                      <a:r>
                        <a:rPr lang="en-US" altLang="ja-JP" sz="800" b="0" i="0" u="none" strike="noStrike" dirty="0">
                          <a:effectLst/>
                          <a:highlight>
                            <a:srgbClr val="FFFF00"/>
                          </a:highlight>
                          <a:latin typeface="Meiryo UI" panose="020B0604030504040204" pitchFamily="50" charset="-128"/>
                          <a:ea typeface="Meiryo UI" panose="020B0604030504040204" pitchFamily="50" charset="-128"/>
                        </a:rPr>
                        <a:t>24%</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63BE7B"/>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19%</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7AC88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E2F2E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E6F3EC"/>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-1%</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E9F5EF"/>
                    </a:solidFill>
                  </a:tcPr>
                </a:tc>
                <a:extLst>
                  <a:ext uri="{0D108BD9-81ED-4DB2-BD59-A6C34878D82A}">
                    <a16:rowId xmlns:a16="http://schemas.microsoft.com/office/drawing/2014/main" val="199623183"/>
                  </a:ext>
                </a:extLst>
              </a:tr>
            </a:tbl>
          </a:graphicData>
        </a:graphic>
      </p:graphicFrame>
      <p:sp>
        <p:nvSpPr>
          <p:cNvPr id="8" name="テキスト ボックス 7">
            <a:extLst>
              <a:ext uri="{FF2B5EF4-FFF2-40B4-BE49-F238E27FC236}">
                <a16:creationId xmlns:a16="http://schemas.microsoft.com/office/drawing/2014/main" id="{9D144024-F171-71A9-0A47-DBC6CC236DCE}"/>
              </a:ext>
            </a:extLst>
          </p:cNvPr>
          <p:cNvSpPr txBox="1"/>
          <p:nvPr/>
        </p:nvSpPr>
        <p:spPr>
          <a:xfrm>
            <a:off x="616926" y="4482042"/>
            <a:ext cx="2704123" cy="246221"/>
          </a:xfrm>
          <a:prstGeom prst="rect">
            <a:avLst/>
          </a:prstGeom>
          <a:noFill/>
        </p:spPr>
        <p:txBody>
          <a:bodyPr wrap="square" rtlCol="0">
            <a:spAutoFit/>
          </a:bodyPr>
          <a:lstStyle/>
          <a:p>
            <a:r>
              <a:rPr kumimoji="1" lang="ja-JP" altLang="en-US" sz="1000" b="1" u="sng" dirty="0"/>
              <a:t>▼求人応募を検討するサポート</a:t>
            </a:r>
          </a:p>
        </p:txBody>
      </p:sp>
      <p:sp>
        <p:nvSpPr>
          <p:cNvPr id="9" name="テキスト ボックス 8">
            <a:extLst>
              <a:ext uri="{FF2B5EF4-FFF2-40B4-BE49-F238E27FC236}">
                <a16:creationId xmlns:a16="http://schemas.microsoft.com/office/drawing/2014/main" id="{997B2645-7CE0-6F29-C3EC-F7DD2F2DE834}"/>
              </a:ext>
            </a:extLst>
          </p:cNvPr>
          <p:cNvSpPr txBox="1"/>
          <p:nvPr/>
        </p:nvSpPr>
        <p:spPr>
          <a:xfrm>
            <a:off x="616922" y="2063370"/>
            <a:ext cx="2704123" cy="246221"/>
          </a:xfrm>
          <a:prstGeom prst="rect">
            <a:avLst/>
          </a:prstGeom>
          <a:noFill/>
        </p:spPr>
        <p:txBody>
          <a:bodyPr wrap="square" rtlCol="0">
            <a:spAutoFit/>
          </a:bodyPr>
          <a:lstStyle/>
          <a:p>
            <a:r>
              <a:rPr kumimoji="1" lang="ja-JP" altLang="en-US" sz="1000" b="1" u="sng" dirty="0"/>
              <a:t>▼面談をしようと思うサポート</a:t>
            </a:r>
          </a:p>
        </p:txBody>
      </p:sp>
    </p:spTree>
    <p:extLst>
      <p:ext uri="{BB962C8B-B14F-4D97-AF65-F5344CB8AC3E}">
        <p14:creationId xmlns:p14="http://schemas.microsoft.com/office/powerpoint/2010/main" val="617085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F9C5067C-03E9-5DD4-095A-E064906654F0}"/>
              </a:ext>
            </a:extLst>
          </p:cNvPr>
          <p:cNvSpPr>
            <a:spLocks noGrp="1"/>
          </p:cNvSpPr>
          <p:nvPr>
            <p:ph sz="quarter" idx="14"/>
          </p:nvPr>
        </p:nvSpPr>
        <p:spPr>
          <a:xfrm>
            <a:off x="360363" y="744794"/>
            <a:ext cx="11447462" cy="881721"/>
          </a:xfrm>
        </p:spPr>
        <p:txBody>
          <a:bodyPr>
            <a:normAutofit lnSpcReduction="10000"/>
          </a:bodyPr>
          <a:lstStyle/>
          <a:p>
            <a:pPr marL="285750" indent="-285750">
              <a:buFont typeface="Wingdings" panose="05000000000000000000" pitchFamily="2" charset="2"/>
              <a:buChar char="ü"/>
            </a:pPr>
            <a:r>
              <a:rPr kumimoji="1" lang="ja-JP" altLang="en-US" sz="1200" dirty="0"/>
              <a:t>面談後応募なし</a:t>
            </a:r>
            <a:r>
              <a:rPr kumimoji="1" lang="en-US" altLang="ja-JP" sz="1200" dirty="0"/>
              <a:t>CS</a:t>
            </a:r>
            <a:r>
              <a:rPr kumimoji="1" lang="ja-JP" altLang="en-US" sz="1200" dirty="0"/>
              <a:t>は、面談期待として「市場価値の確認」や「</a:t>
            </a:r>
            <a:r>
              <a:rPr kumimoji="1" lang="en-US" altLang="ja-JP" sz="1200" dirty="0"/>
              <a:t>CA</a:t>
            </a:r>
            <a:r>
              <a:rPr kumimoji="1" lang="ja-JP" altLang="en-US" sz="1200" dirty="0"/>
              <a:t>への相談」スコアが高く、面談後応募あり</a:t>
            </a:r>
            <a:r>
              <a:rPr kumimoji="1" lang="en-US" altLang="ja-JP" sz="1200" dirty="0"/>
              <a:t>CS</a:t>
            </a:r>
            <a:r>
              <a:rPr kumimoji="1" lang="ja-JP" altLang="en-US" sz="1200" dirty="0"/>
              <a:t>と比べると活動の進め方や書類・面接アドバイスなど選考に向けてのサポート希望が低い。</a:t>
            </a:r>
            <a:endParaRPr kumimoji="1" lang="en-US" altLang="ja-JP" sz="1200" dirty="0"/>
          </a:p>
          <a:p>
            <a:pPr marL="285750" indent="-285750">
              <a:buFont typeface="Wingdings" panose="05000000000000000000" pitchFamily="2" charset="2"/>
              <a:buChar char="ü"/>
            </a:pPr>
            <a:r>
              <a:rPr lang="ja-JP" altLang="en-US" sz="1200" dirty="0"/>
              <a:t>未応募理由としては「転職活動を始めるか気持ちが固まっていなかった」が最も高く、以降はスケジュールの不一致や書類作成・求人確認の時間が取れなかったことが影響。</a:t>
            </a:r>
            <a:endParaRPr kumimoji="1" lang="ja-JP" altLang="en-US" sz="1200" dirty="0"/>
          </a:p>
        </p:txBody>
      </p:sp>
      <p:sp>
        <p:nvSpPr>
          <p:cNvPr id="3" name="テキスト プレースホルダー 2">
            <a:extLst>
              <a:ext uri="{FF2B5EF4-FFF2-40B4-BE49-F238E27FC236}">
                <a16:creationId xmlns:a16="http://schemas.microsoft.com/office/drawing/2014/main" id="{9A538B59-A6EA-B016-DCCA-1A0A81C5DA03}"/>
              </a:ext>
            </a:extLst>
          </p:cNvPr>
          <p:cNvSpPr>
            <a:spLocks noGrp="1"/>
          </p:cNvSpPr>
          <p:nvPr>
            <p:ph type="body" sz="quarter" idx="13"/>
          </p:nvPr>
        </p:nvSpPr>
        <p:spPr/>
        <p:txBody>
          <a:bodyPr/>
          <a:lstStyle/>
          <a:p>
            <a:r>
              <a:rPr lang="ja-JP" altLang="en-US" dirty="0"/>
              <a:t>活動ステータス別サマリ：面談希望あり＞</a:t>
            </a:r>
            <a:r>
              <a:rPr kumimoji="1" lang="ja-JP" altLang="en-US" dirty="0"/>
              <a:t>面談実施あり＞求人応募</a:t>
            </a:r>
            <a:r>
              <a:rPr kumimoji="1" lang="ja-JP" altLang="en-US" dirty="0">
                <a:solidFill>
                  <a:srgbClr val="FF0000"/>
                </a:solidFill>
              </a:rPr>
              <a:t>なし</a:t>
            </a:r>
            <a:endParaRPr kumimoji="1" lang="ja-JP" altLang="en-US" dirty="0"/>
          </a:p>
        </p:txBody>
      </p:sp>
      <p:sp>
        <p:nvSpPr>
          <p:cNvPr id="4" name="フッター プレースホルダー 3">
            <a:extLst>
              <a:ext uri="{FF2B5EF4-FFF2-40B4-BE49-F238E27FC236}">
                <a16:creationId xmlns:a16="http://schemas.microsoft.com/office/drawing/2014/main" id="{701BF9DF-90C0-3244-A642-3C6A9A5C633F}"/>
              </a:ext>
            </a:extLst>
          </p:cNvPr>
          <p:cNvSpPr>
            <a:spLocks noGrp="1"/>
          </p:cNvSpPr>
          <p:nvPr>
            <p:ph type="ftr" sz="quarter" idx="3"/>
          </p:nvPr>
        </p:nvSpPr>
        <p:spPr/>
        <p:txBody>
          <a:bodyPr/>
          <a:lstStyle/>
          <a:p>
            <a:r>
              <a:rPr lang="en" altLang="ja-JP"/>
              <a:t>(C) Recruit Co., Ltd. All rights reserved. </a:t>
            </a:r>
            <a:endParaRPr lang="ja-JP" altLang="en-US"/>
          </a:p>
        </p:txBody>
      </p:sp>
      <p:sp>
        <p:nvSpPr>
          <p:cNvPr id="5" name="スライド番号プレースホルダー 4">
            <a:extLst>
              <a:ext uri="{FF2B5EF4-FFF2-40B4-BE49-F238E27FC236}">
                <a16:creationId xmlns:a16="http://schemas.microsoft.com/office/drawing/2014/main" id="{0E5A21E9-0129-CDA7-A2A3-64FDE8814D2D}"/>
              </a:ext>
            </a:extLst>
          </p:cNvPr>
          <p:cNvSpPr>
            <a:spLocks noGrp="1"/>
          </p:cNvSpPr>
          <p:nvPr>
            <p:ph type="sldNum" sz="quarter" idx="4"/>
          </p:nvPr>
        </p:nvSpPr>
        <p:spPr/>
        <p:txBody>
          <a:bodyPr/>
          <a:lstStyle/>
          <a:p>
            <a:fld id="{EDD55F78-D87A-074E-B5DA-6C9B598DD91F}" type="slidenum">
              <a:rPr lang="ja-JP" altLang="en-US" smtClean="0"/>
              <a:pPr/>
              <a:t>13</a:t>
            </a:fld>
            <a:endParaRPr lang="ja-JP" altLang="en-US"/>
          </a:p>
        </p:txBody>
      </p:sp>
      <p:sp>
        <p:nvSpPr>
          <p:cNvPr id="7" name="テキスト ボックス 6">
            <a:extLst>
              <a:ext uri="{FF2B5EF4-FFF2-40B4-BE49-F238E27FC236}">
                <a16:creationId xmlns:a16="http://schemas.microsoft.com/office/drawing/2014/main" id="{5907CD9D-6CFD-1840-DB5D-DB02619227BB}"/>
              </a:ext>
            </a:extLst>
          </p:cNvPr>
          <p:cNvSpPr txBox="1"/>
          <p:nvPr/>
        </p:nvSpPr>
        <p:spPr>
          <a:xfrm>
            <a:off x="1050538" y="1708544"/>
            <a:ext cx="3005300" cy="253916"/>
          </a:xfrm>
          <a:prstGeom prst="rect">
            <a:avLst/>
          </a:prstGeom>
          <a:noFill/>
        </p:spPr>
        <p:txBody>
          <a:bodyPr wrap="square" rtlCol="0">
            <a:spAutoFit/>
          </a:bodyPr>
          <a:lstStyle/>
          <a:p>
            <a:pPr algn="ctr"/>
            <a:r>
              <a:rPr kumimoji="1" lang="ja-JP" altLang="en-US" sz="1000" b="1" u="sng" dirty="0"/>
              <a:t>面談</a:t>
            </a:r>
            <a:r>
              <a:rPr lang="ja-JP" altLang="en-US" sz="1000" b="1" u="sng" dirty="0"/>
              <a:t>への期待</a:t>
            </a:r>
            <a:endParaRPr kumimoji="1" lang="ja-JP" altLang="en-US" sz="1000" b="1" u="sng" dirty="0"/>
          </a:p>
        </p:txBody>
      </p:sp>
      <p:graphicFrame>
        <p:nvGraphicFramePr>
          <p:cNvPr id="8" name="グラフ 7">
            <a:extLst>
              <a:ext uri="{FF2B5EF4-FFF2-40B4-BE49-F238E27FC236}">
                <a16:creationId xmlns:a16="http://schemas.microsoft.com/office/drawing/2014/main" id="{00974A25-D594-4F5B-AF6B-F43E5C1AFF08}"/>
              </a:ext>
            </a:extLst>
          </p:cNvPr>
          <p:cNvGraphicFramePr>
            <a:graphicFrameLocks/>
          </p:cNvGraphicFramePr>
          <p:nvPr>
            <p:extLst>
              <p:ext uri="{D42A27DB-BD31-4B8C-83A1-F6EECF244321}">
                <p14:modId xmlns:p14="http://schemas.microsoft.com/office/powerpoint/2010/main" val="2896221478"/>
              </p:ext>
            </p:extLst>
          </p:nvPr>
        </p:nvGraphicFramePr>
        <p:xfrm>
          <a:off x="435794" y="1626515"/>
          <a:ext cx="6414830" cy="456172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グラフ 8">
            <a:extLst>
              <a:ext uri="{FF2B5EF4-FFF2-40B4-BE49-F238E27FC236}">
                <a16:creationId xmlns:a16="http://schemas.microsoft.com/office/drawing/2014/main" id="{D94783F6-2C6D-C72C-C740-A75A52B76E59}"/>
              </a:ext>
            </a:extLst>
          </p:cNvPr>
          <p:cNvGraphicFramePr>
            <a:graphicFrameLocks/>
          </p:cNvGraphicFramePr>
          <p:nvPr>
            <p:extLst>
              <p:ext uri="{D42A27DB-BD31-4B8C-83A1-F6EECF244321}">
                <p14:modId xmlns:p14="http://schemas.microsoft.com/office/powerpoint/2010/main" val="3408095169"/>
              </p:ext>
            </p:extLst>
          </p:nvPr>
        </p:nvGraphicFramePr>
        <p:xfrm>
          <a:off x="5987845" y="1626513"/>
          <a:ext cx="6002594" cy="4973389"/>
        </p:xfrm>
        <a:graphic>
          <a:graphicData uri="http://schemas.openxmlformats.org/drawingml/2006/chart">
            <c:chart xmlns:c="http://schemas.openxmlformats.org/drawingml/2006/chart" xmlns:r="http://schemas.openxmlformats.org/officeDocument/2006/relationships" r:id="rId3"/>
          </a:graphicData>
        </a:graphic>
      </p:graphicFrame>
      <p:sp>
        <p:nvSpPr>
          <p:cNvPr id="10" name="テキスト ボックス 9">
            <a:extLst>
              <a:ext uri="{FF2B5EF4-FFF2-40B4-BE49-F238E27FC236}">
                <a16:creationId xmlns:a16="http://schemas.microsoft.com/office/drawing/2014/main" id="{A98E9700-0FB7-791F-548A-C370B1BFF90C}"/>
              </a:ext>
            </a:extLst>
          </p:cNvPr>
          <p:cNvSpPr txBox="1"/>
          <p:nvPr/>
        </p:nvSpPr>
        <p:spPr>
          <a:xfrm>
            <a:off x="7245601" y="1708544"/>
            <a:ext cx="3005300" cy="253916"/>
          </a:xfrm>
          <a:prstGeom prst="rect">
            <a:avLst/>
          </a:prstGeom>
          <a:noFill/>
        </p:spPr>
        <p:txBody>
          <a:bodyPr wrap="square" rtlCol="0">
            <a:spAutoFit/>
          </a:bodyPr>
          <a:lstStyle/>
          <a:p>
            <a:pPr algn="ctr"/>
            <a:r>
              <a:rPr kumimoji="1" lang="ja-JP" altLang="en-US" sz="1000" b="1" u="sng" dirty="0"/>
              <a:t>面談後未応募理由</a:t>
            </a:r>
          </a:p>
        </p:txBody>
      </p:sp>
      <p:sp>
        <p:nvSpPr>
          <p:cNvPr id="11" name="正方形/長方形 10">
            <a:extLst>
              <a:ext uri="{FF2B5EF4-FFF2-40B4-BE49-F238E27FC236}">
                <a16:creationId xmlns:a16="http://schemas.microsoft.com/office/drawing/2014/main" id="{B4A4319B-A9CC-1B61-A09D-75A6D452D305}"/>
              </a:ext>
            </a:extLst>
          </p:cNvPr>
          <p:cNvSpPr/>
          <p:nvPr/>
        </p:nvSpPr>
        <p:spPr>
          <a:xfrm>
            <a:off x="6386887" y="1626516"/>
            <a:ext cx="1323519" cy="4833278"/>
          </a:xfrm>
          <a:prstGeom prst="rect">
            <a:avLst/>
          </a:prstGeom>
          <a:noFill/>
          <a:ln/>
        </p:spPr>
        <p:style>
          <a:lnRef idx="2">
            <a:schemeClr val="accent3"/>
          </a:lnRef>
          <a:fillRef idx="1">
            <a:schemeClr val="lt1"/>
          </a:fillRef>
          <a:effectRef idx="0">
            <a:schemeClr val="accent3"/>
          </a:effectRef>
          <a:fontRef idx="minor">
            <a:schemeClr val="dk1"/>
          </a:fontRef>
        </p:style>
        <p:txBody>
          <a:bodyPr rtlCol="0" anchor="t"/>
          <a:lstStyle/>
          <a:p>
            <a:pPr algn="l"/>
            <a:endParaRPr kumimoji="1" lang="ja-JP" altLang="en-US" sz="1050">
              <a:solidFill>
                <a:schemeClr val="tx1"/>
              </a:solidFill>
            </a:endParaRPr>
          </a:p>
        </p:txBody>
      </p:sp>
    </p:spTree>
    <p:extLst>
      <p:ext uri="{BB962C8B-B14F-4D97-AF65-F5344CB8AC3E}">
        <p14:creationId xmlns:p14="http://schemas.microsoft.com/office/powerpoint/2010/main" val="2149683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00A9B7E6-A909-E638-3997-59C3529CD637}"/>
              </a:ext>
            </a:extLst>
          </p:cNvPr>
          <p:cNvSpPr>
            <a:spLocks noGrp="1"/>
          </p:cNvSpPr>
          <p:nvPr>
            <p:ph sz="quarter" idx="14"/>
          </p:nvPr>
        </p:nvSpPr>
        <p:spPr>
          <a:xfrm>
            <a:off x="372269" y="716179"/>
            <a:ext cx="11447462" cy="1042845"/>
          </a:xfrm>
        </p:spPr>
        <p:txBody>
          <a:bodyPr>
            <a:normAutofit/>
          </a:bodyPr>
          <a:lstStyle/>
          <a:p>
            <a:pPr marL="285750" indent="-285750">
              <a:buFont typeface="Wingdings" panose="05000000000000000000" pitchFamily="2" charset="2"/>
              <a:buChar char="ü"/>
            </a:pPr>
            <a:r>
              <a:rPr kumimoji="1" lang="ja-JP" altLang="en-US" sz="1200" dirty="0"/>
              <a:t>面談希望なし</a:t>
            </a:r>
            <a:r>
              <a:rPr kumimoji="1" lang="en-US" altLang="ja-JP" sz="1200" dirty="0"/>
              <a:t>CS</a:t>
            </a:r>
            <a:r>
              <a:rPr kumimoji="1" lang="ja-JP" altLang="en-US" sz="1200" dirty="0"/>
              <a:t>は面談希望ありに比べて年収が低く転職経験なしが多いが、平均年齢の差分はそこまで大きくない。初転職で一定の勤続年数を経ており転職活動自体へのハードルが高かったり、既に数回転職を経験しており本当に転職する必要があるのかについて希望が固まっていないケースが多いと想定。</a:t>
            </a:r>
            <a:r>
              <a:rPr kumimoji="1" lang="en-US" altLang="ja-JP" sz="1200" dirty="0"/>
              <a:t> (</a:t>
            </a:r>
            <a:r>
              <a:rPr lang="ja-JP" altLang="en-US" sz="1200" dirty="0"/>
              <a:t>詳細</a:t>
            </a:r>
            <a:r>
              <a:rPr lang="en-US" altLang="ja-JP" sz="1200" dirty="0"/>
              <a:t>p.17</a:t>
            </a:r>
            <a:r>
              <a:rPr kumimoji="1" lang="en-US" altLang="ja-JP" sz="1200" dirty="0"/>
              <a:t>)</a:t>
            </a:r>
          </a:p>
          <a:p>
            <a:pPr marL="285750" indent="-285750">
              <a:buFont typeface="Wingdings" panose="05000000000000000000" pitchFamily="2" charset="2"/>
              <a:buChar char="ü"/>
            </a:pPr>
            <a:r>
              <a:rPr lang="ja-JP" altLang="en-US" sz="1200" dirty="0"/>
              <a:t>転職検討のきっかけも、面談希望</a:t>
            </a:r>
            <a:r>
              <a:rPr lang="en-US" altLang="ja-JP" sz="1200" dirty="0"/>
              <a:t>CS</a:t>
            </a:r>
            <a:r>
              <a:rPr lang="ja-JP" altLang="en-US" sz="1200" dirty="0"/>
              <a:t>に比べて</a:t>
            </a:r>
            <a:r>
              <a:rPr lang="ja-JP" altLang="en-US" sz="1200" b="1" dirty="0"/>
              <a:t>仕事内容に関する不満や改善ニーズが薄い。</a:t>
            </a:r>
            <a:r>
              <a:rPr lang="ja-JP" altLang="en-US" sz="1200" dirty="0"/>
              <a:t>サービス理解の各項目も全体的に面談希望</a:t>
            </a:r>
            <a:r>
              <a:rPr lang="en-US" altLang="ja-JP" sz="1200" dirty="0"/>
              <a:t>CS</a:t>
            </a:r>
            <a:r>
              <a:rPr lang="ja-JP" altLang="en-US" sz="1200" dirty="0"/>
              <a:t>に比べスコアが低く、サービスの利用目的や転職活動の進め方共に漠然としたイメージのまま登録をしている可能性が高い。</a:t>
            </a:r>
            <a:endParaRPr lang="en-US" altLang="ja-JP" sz="1200" dirty="0"/>
          </a:p>
        </p:txBody>
      </p:sp>
      <p:sp>
        <p:nvSpPr>
          <p:cNvPr id="3" name="テキスト プレースホルダー 2">
            <a:extLst>
              <a:ext uri="{FF2B5EF4-FFF2-40B4-BE49-F238E27FC236}">
                <a16:creationId xmlns:a16="http://schemas.microsoft.com/office/drawing/2014/main" id="{743D42A3-F560-A484-94F0-03FD716EE547}"/>
              </a:ext>
            </a:extLst>
          </p:cNvPr>
          <p:cNvSpPr>
            <a:spLocks noGrp="1"/>
          </p:cNvSpPr>
          <p:nvPr>
            <p:ph type="body" sz="quarter" idx="13"/>
          </p:nvPr>
        </p:nvSpPr>
        <p:spPr>
          <a:xfrm>
            <a:off x="360363" y="183090"/>
            <a:ext cx="11448000" cy="284693"/>
          </a:xfrm>
        </p:spPr>
        <p:txBody>
          <a:bodyPr/>
          <a:lstStyle/>
          <a:p>
            <a:r>
              <a:rPr lang="ja-JP" altLang="en-US" dirty="0"/>
              <a:t>活動ステータス別サマリ：</a:t>
            </a:r>
            <a:r>
              <a:rPr kumimoji="1" lang="ja-JP" altLang="en-US" dirty="0"/>
              <a:t>面談希望</a:t>
            </a:r>
            <a:r>
              <a:rPr kumimoji="1" lang="ja-JP" altLang="en-US" dirty="0">
                <a:solidFill>
                  <a:srgbClr val="FF0000"/>
                </a:solidFill>
              </a:rPr>
              <a:t>なし</a:t>
            </a:r>
            <a:r>
              <a:rPr kumimoji="1" lang="en-US" altLang="ja-JP" dirty="0"/>
              <a:t>【</a:t>
            </a:r>
            <a:r>
              <a:rPr kumimoji="1" lang="ja-JP" altLang="en-US" dirty="0"/>
              <a:t>全体傾向</a:t>
            </a:r>
            <a:r>
              <a:rPr kumimoji="1" lang="en-US" altLang="ja-JP" dirty="0"/>
              <a:t>】</a:t>
            </a:r>
            <a:endParaRPr kumimoji="1" lang="ja-JP" altLang="en-US" dirty="0">
              <a:solidFill>
                <a:srgbClr val="FF0000"/>
              </a:solidFill>
            </a:endParaRPr>
          </a:p>
        </p:txBody>
      </p:sp>
      <p:sp>
        <p:nvSpPr>
          <p:cNvPr id="4" name="フッター プレースホルダー 3">
            <a:extLst>
              <a:ext uri="{FF2B5EF4-FFF2-40B4-BE49-F238E27FC236}">
                <a16:creationId xmlns:a16="http://schemas.microsoft.com/office/drawing/2014/main" id="{48AB7D6E-80FE-EE6C-CDB7-49E04FB7E36E}"/>
              </a:ext>
            </a:extLst>
          </p:cNvPr>
          <p:cNvSpPr>
            <a:spLocks noGrp="1"/>
          </p:cNvSpPr>
          <p:nvPr>
            <p:ph type="ftr" sz="quarter" idx="3"/>
          </p:nvPr>
        </p:nvSpPr>
        <p:spPr/>
        <p:txBody>
          <a:bodyPr/>
          <a:lstStyle/>
          <a:p>
            <a:r>
              <a:rPr lang="en" altLang="ja-JP"/>
              <a:t>(C) Recruit Co., Ltd. All rights reserved. </a:t>
            </a:r>
            <a:endParaRPr lang="ja-JP" altLang="en-US"/>
          </a:p>
        </p:txBody>
      </p:sp>
      <p:sp>
        <p:nvSpPr>
          <p:cNvPr id="5" name="スライド番号プレースホルダー 4">
            <a:extLst>
              <a:ext uri="{FF2B5EF4-FFF2-40B4-BE49-F238E27FC236}">
                <a16:creationId xmlns:a16="http://schemas.microsoft.com/office/drawing/2014/main" id="{ADAC912E-593B-4AB8-B380-C12209D77045}"/>
              </a:ext>
            </a:extLst>
          </p:cNvPr>
          <p:cNvSpPr>
            <a:spLocks noGrp="1"/>
          </p:cNvSpPr>
          <p:nvPr>
            <p:ph type="sldNum" sz="quarter" idx="4"/>
          </p:nvPr>
        </p:nvSpPr>
        <p:spPr/>
        <p:txBody>
          <a:bodyPr/>
          <a:lstStyle/>
          <a:p>
            <a:fld id="{EDD55F78-D87A-074E-B5DA-6C9B598DD91F}" type="slidenum">
              <a:rPr lang="ja-JP" altLang="en-US" smtClean="0"/>
              <a:pPr/>
              <a:t>14</a:t>
            </a:fld>
            <a:endParaRPr lang="ja-JP" altLang="en-US"/>
          </a:p>
        </p:txBody>
      </p:sp>
      <p:sp>
        <p:nvSpPr>
          <p:cNvPr id="11" name="正方形/長方形 10">
            <a:extLst>
              <a:ext uri="{FF2B5EF4-FFF2-40B4-BE49-F238E27FC236}">
                <a16:creationId xmlns:a16="http://schemas.microsoft.com/office/drawing/2014/main" id="{00927632-59F2-9926-C3E8-DD13B4031E62}"/>
              </a:ext>
            </a:extLst>
          </p:cNvPr>
          <p:cNvSpPr/>
          <p:nvPr/>
        </p:nvSpPr>
        <p:spPr>
          <a:xfrm>
            <a:off x="4314092" y="4118707"/>
            <a:ext cx="3516920" cy="1954921"/>
          </a:xfrm>
          <a:prstGeom prst="rect">
            <a:avLst/>
          </a:prstGeom>
          <a:solidFill>
            <a:srgbClr val="EFF1F5"/>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l"/>
            <a:r>
              <a:rPr kumimoji="1" lang="ja-JP" altLang="en-US" sz="1050" b="1" u="sng" dirty="0">
                <a:solidFill>
                  <a:schemeClr val="tx1"/>
                </a:solidFill>
              </a:rPr>
              <a:t>■転職を検討したきっかけ（</a:t>
            </a:r>
            <a:r>
              <a:rPr kumimoji="1" lang="en-US" altLang="ja-JP" sz="1050" b="1" u="sng" dirty="0">
                <a:solidFill>
                  <a:schemeClr val="tx1"/>
                </a:solidFill>
              </a:rPr>
              <a:t>MA</a:t>
            </a:r>
          </a:p>
          <a:p>
            <a:pPr algn="l"/>
            <a:r>
              <a:rPr kumimoji="1" lang="ja-JP" altLang="en-US" sz="1050" dirty="0">
                <a:solidFill>
                  <a:schemeClr val="tx1"/>
                </a:solidFill>
              </a:rPr>
              <a:t>∟上位</a:t>
            </a:r>
            <a:r>
              <a:rPr kumimoji="1" lang="en-US" altLang="ja-JP" sz="1050" dirty="0">
                <a:solidFill>
                  <a:schemeClr val="tx1"/>
                </a:solidFill>
              </a:rPr>
              <a:t>3</a:t>
            </a:r>
            <a:r>
              <a:rPr kumimoji="1" lang="ja-JP" altLang="en-US" sz="1050" dirty="0">
                <a:solidFill>
                  <a:schemeClr val="tx1"/>
                </a:solidFill>
              </a:rPr>
              <a:t>項目</a:t>
            </a:r>
            <a:endParaRPr kumimoji="1" lang="en-US" altLang="ja-JP" sz="1050" dirty="0">
              <a:solidFill>
                <a:schemeClr val="tx1"/>
              </a:solidFill>
            </a:endParaRPr>
          </a:p>
          <a:p>
            <a:pPr algn="l"/>
            <a:r>
              <a:rPr lang="ja-JP" altLang="en-US" sz="1050" dirty="0">
                <a:solidFill>
                  <a:schemeClr val="tx1"/>
                </a:solidFill>
              </a:rPr>
              <a:t>・職場環境</a:t>
            </a:r>
            <a:r>
              <a:rPr lang="en-US" altLang="ja-JP" sz="1050" dirty="0">
                <a:solidFill>
                  <a:schemeClr val="tx1"/>
                </a:solidFill>
              </a:rPr>
              <a:t>/</a:t>
            </a:r>
            <a:r>
              <a:rPr lang="ja-JP" altLang="en-US" sz="1050" dirty="0">
                <a:solidFill>
                  <a:schemeClr val="tx1"/>
                </a:solidFill>
              </a:rPr>
              <a:t>人間関係への不満：</a:t>
            </a:r>
            <a:r>
              <a:rPr lang="en-US" altLang="ja-JP" sz="1050" dirty="0">
                <a:solidFill>
                  <a:schemeClr val="tx1"/>
                </a:solidFill>
              </a:rPr>
              <a:t>40</a:t>
            </a:r>
            <a:r>
              <a:rPr lang="ja-JP" altLang="en-US" sz="1050" dirty="0">
                <a:solidFill>
                  <a:schemeClr val="tx1"/>
                </a:solidFill>
              </a:rPr>
              <a:t>％　</a:t>
            </a:r>
            <a:endParaRPr lang="en-US" altLang="ja-JP" sz="1050" dirty="0">
              <a:solidFill>
                <a:schemeClr val="tx1"/>
              </a:solidFill>
            </a:endParaRPr>
          </a:p>
          <a:p>
            <a:pPr algn="l"/>
            <a:r>
              <a:rPr lang="en-US" altLang="ja-JP" sz="1050" dirty="0">
                <a:solidFill>
                  <a:srgbClr val="FF0000"/>
                </a:solidFill>
              </a:rPr>
              <a:t>※</a:t>
            </a:r>
            <a:r>
              <a:rPr lang="ja-JP" altLang="en-US" sz="1050" dirty="0">
                <a:solidFill>
                  <a:srgbClr val="FF0000"/>
                </a:solidFill>
              </a:rPr>
              <a:t>主な理由としては</a:t>
            </a:r>
            <a:r>
              <a:rPr lang="en-US" altLang="ja-JP" sz="1050" dirty="0">
                <a:solidFill>
                  <a:srgbClr val="FF0000"/>
                </a:solidFill>
              </a:rPr>
              <a:t>1</a:t>
            </a:r>
            <a:r>
              <a:rPr lang="ja-JP" altLang="en-US" sz="1050" dirty="0">
                <a:solidFill>
                  <a:srgbClr val="FF0000"/>
                </a:solidFill>
              </a:rPr>
              <a:t>位</a:t>
            </a:r>
            <a:endParaRPr lang="en-US" altLang="ja-JP" sz="1050" dirty="0">
              <a:solidFill>
                <a:srgbClr val="FF0000"/>
              </a:solidFill>
            </a:endParaRPr>
          </a:p>
          <a:p>
            <a:pPr algn="l"/>
            <a:r>
              <a:rPr kumimoji="1" lang="ja-JP" altLang="en-US" sz="1050" dirty="0">
                <a:solidFill>
                  <a:schemeClr val="tx1"/>
                </a:solidFill>
              </a:rPr>
              <a:t>・給与額への不満：</a:t>
            </a:r>
            <a:r>
              <a:rPr kumimoji="1" lang="en-US" altLang="ja-JP" sz="1050" dirty="0">
                <a:solidFill>
                  <a:schemeClr val="tx1"/>
                </a:solidFill>
              </a:rPr>
              <a:t>38</a:t>
            </a:r>
            <a:r>
              <a:rPr kumimoji="1" lang="ja-JP" altLang="en-US" sz="1050" dirty="0">
                <a:solidFill>
                  <a:schemeClr val="tx1"/>
                </a:solidFill>
              </a:rPr>
              <a:t>％</a:t>
            </a:r>
            <a:endParaRPr kumimoji="1" lang="en-US" altLang="ja-JP" sz="1050" dirty="0">
              <a:solidFill>
                <a:schemeClr val="tx1"/>
              </a:solidFill>
            </a:endParaRPr>
          </a:p>
          <a:p>
            <a:pPr algn="l"/>
            <a:r>
              <a:rPr lang="ja-JP" altLang="en-US" sz="1050" dirty="0">
                <a:solidFill>
                  <a:schemeClr val="tx1"/>
                </a:solidFill>
              </a:rPr>
              <a:t>・評価</a:t>
            </a:r>
            <a:r>
              <a:rPr lang="en-US" altLang="ja-JP" sz="1050" dirty="0">
                <a:solidFill>
                  <a:schemeClr val="tx1"/>
                </a:solidFill>
              </a:rPr>
              <a:t>/</a:t>
            </a:r>
            <a:r>
              <a:rPr lang="ja-JP" altLang="en-US" sz="1050" dirty="0">
                <a:solidFill>
                  <a:schemeClr val="tx1"/>
                </a:solidFill>
              </a:rPr>
              <a:t>人事制度への不満：</a:t>
            </a:r>
            <a:r>
              <a:rPr lang="en-US" altLang="ja-JP" sz="1050" dirty="0">
                <a:solidFill>
                  <a:schemeClr val="tx1"/>
                </a:solidFill>
              </a:rPr>
              <a:t>32</a:t>
            </a:r>
            <a:r>
              <a:rPr lang="ja-JP" altLang="en-US" sz="1050" dirty="0">
                <a:solidFill>
                  <a:schemeClr val="tx1"/>
                </a:solidFill>
              </a:rPr>
              <a:t>％</a:t>
            </a:r>
            <a:endParaRPr kumimoji="1" lang="en-US" altLang="ja-JP" sz="1050" dirty="0">
              <a:solidFill>
                <a:schemeClr val="tx1"/>
              </a:solidFill>
            </a:endParaRPr>
          </a:p>
          <a:p>
            <a:pPr algn="l"/>
            <a:endParaRPr kumimoji="1" lang="en-US" altLang="ja-JP" sz="1050" dirty="0">
              <a:solidFill>
                <a:schemeClr val="tx1"/>
              </a:solidFill>
            </a:endParaRPr>
          </a:p>
          <a:p>
            <a:pPr algn="l"/>
            <a:r>
              <a:rPr lang="ja-JP" altLang="en-US" sz="1050" dirty="0">
                <a:solidFill>
                  <a:schemeClr val="tx1"/>
                </a:solidFill>
              </a:rPr>
              <a:t>∟「面談希望あり」と開きのある項目</a:t>
            </a:r>
            <a:endParaRPr lang="en-US" altLang="ja-JP" sz="1050" dirty="0">
              <a:solidFill>
                <a:schemeClr val="tx1"/>
              </a:solidFill>
            </a:endParaRPr>
          </a:p>
          <a:p>
            <a:pPr algn="l"/>
            <a:r>
              <a:rPr kumimoji="1" lang="ja-JP" altLang="en-US" sz="1050" dirty="0">
                <a:solidFill>
                  <a:schemeClr val="tx1"/>
                </a:solidFill>
              </a:rPr>
              <a:t>・</a:t>
            </a:r>
            <a:r>
              <a:rPr kumimoji="1" lang="ja-JP" altLang="en-US" sz="1050" dirty="0">
                <a:solidFill>
                  <a:srgbClr val="FF0000"/>
                </a:solidFill>
              </a:rPr>
              <a:t>仕事内容への不満</a:t>
            </a:r>
            <a:r>
              <a:rPr lang="ja-JP" altLang="en-US" sz="1050" dirty="0">
                <a:solidFill>
                  <a:srgbClr val="FF0000"/>
                </a:solidFill>
              </a:rPr>
              <a:t>：面談希望あり</a:t>
            </a:r>
            <a:r>
              <a:rPr lang="en-US" altLang="ja-JP" sz="1050" dirty="0">
                <a:solidFill>
                  <a:srgbClr val="FF0000"/>
                </a:solidFill>
              </a:rPr>
              <a:t>-13pt</a:t>
            </a:r>
            <a:endParaRPr kumimoji="1" lang="en-US" altLang="ja-JP" sz="1050" dirty="0">
              <a:solidFill>
                <a:srgbClr val="FF0000"/>
              </a:solidFill>
            </a:endParaRPr>
          </a:p>
          <a:p>
            <a:pPr algn="l"/>
            <a:r>
              <a:rPr kumimoji="1" lang="ja-JP" altLang="en-US" sz="1050" dirty="0">
                <a:solidFill>
                  <a:schemeClr val="tx1"/>
                </a:solidFill>
              </a:rPr>
              <a:t>・業務に対する給与水準の不満：</a:t>
            </a:r>
            <a:r>
              <a:rPr lang="ja-JP" altLang="en-US" sz="1050" dirty="0">
                <a:solidFill>
                  <a:schemeClr val="tx1"/>
                </a:solidFill>
              </a:rPr>
              <a:t>面談希望あり＋</a:t>
            </a:r>
            <a:r>
              <a:rPr lang="en-US" altLang="ja-JP" sz="1050" dirty="0">
                <a:solidFill>
                  <a:schemeClr val="tx1"/>
                </a:solidFill>
              </a:rPr>
              <a:t>10pt</a:t>
            </a:r>
          </a:p>
          <a:p>
            <a:r>
              <a:rPr lang="ja-JP" altLang="en-US" sz="1050" dirty="0">
                <a:solidFill>
                  <a:schemeClr val="tx1"/>
                </a:solidFill>
              </a:rPr>
              <a:t>・評価</a:t>
            </a:r>
            <a:r>
              <a:rPr lang="en-US" altLang="ja-JP" sz="1050" dirty="0">
                <a:solidFill>
                  <a:schemeClr val="tx1"/>
                </a:solidFill>
              </a:rPr>
              <a:t>/</a:t>
            </a:r>
            <a:r>
              <a:rPr lang="ja-JP" altLang="en-US" sz="1050" dirty="0">
                <a:solidFill>
                  <a:schemeClr val="tx1"/>
                </a:solidFill>
              </a:rPr>
              <a:t>人事制度への不満：面談希望あり＋</a:t>
            </a:r>
            <a:r>
              <a:rPr lang="en-US" altLang="ja-JP" sz="1050" dirty="0">
                <a:solidFill>
                  <a:schemeClr val="tx1"/>
                </a:solidFill>
              </a:rPr>
              <a:t>9pt</a:t>
            </a:r>
            <a:endParaRPr kumimoji="1" lang="en-US" altLang="ja-JP" sz="1050" dirty="0">
              <a:solidFill>
                <a:schemeClr val="tx1"/>
              </a:solidFill>
            </a:endParaRPr>
          </a:p>
        </p:txBody>
      </p:sp>
      <p:sp>
        <p:nvSpPr>
          <p:cNvPr id="12" name="正方形/長方形 11">
            <a:extLst>
              <a:ext uri="{FF2B5EF4-FFF2-40B4-BE49-F238E27FC236}">
                <a16:creationId xmlns:a16="http://schemas.microsoft.com/office/drawing/2014/main" id="{A0866A8F-2BFD-EE49-AADA-837FB1C1FC26}"/>
              </a:ext>
            </a:extLst>
          </p:cNvPr>
          <p:cNvSpPr/>
          <p:nvPr/>
        </p:nvSpPr>
        <p:spPr>
          <a:xfrm>
            <a:off x="7987329" y="4118708"/>
            <a:ext cx="3516920" cy="1954921"/>
          </a:xfrm>
          <a:prstGeom prst="rect">
            <a:avLst/>
          </a:prstGeom>
          <a:solidFill>
            <a:srgbClr val="EFF1F5"/>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l"/>
            <a:r>
              <a:rPr kumimoji="1" lang="ja-JP" altLang="en-US" sz="1050" b="1" u="sng" dirty="0">
                <a:solidFill>
                  <a:schemeClr val="tx1"/>
                </a:solidFill>
              </a:rPr>
              <a:t>■転職先へ求めるもの（</a:t>
            </a:r>
            <a:r>
              <a:rPr kumimoji="1" lang="en-US" altLang="ja-JP" sz="1050" b="1" u="sng" dirty="0">
                <a:solidFill>
                  <a:schemeClr val="tx1"/>
                </a:solidFill>
              </a:rPr>
              <a:t>MA</a:t>
            </a:r>
          </a:p>
          <a:p>
            <a:pPr algn="l"/>
            <a:r>
              <a:rPr lang="ja-JP" altLang="en-US" sz="1050" dirty="0">
                <a:solidFill>
                  <a:schemeClr val="tx1"/>
                </a:solidFill>
              </a:rPr>
              <a:t>∟上位</a:t>
            </a:r>
            <a:r>
              <a:rPr lang="en-US" altLang="ja-JP" sz="1050" dirty="0">
                <a:solidFill>
                  <a:schemeClr val="tx1"/>
                </a:solidFill>
              </a:rPr>
              <a:t>3</a:t>
            </a:r>
            <a:r>
              <a:rPr lang="ja-JP" altLang="en-US" sz="1050" dirty="0">
                <a:solidFill>
                  <a:schemeClr val="tx1"/>
                </a:solidFill>
              </a:rPr>
              <a:t>項目</a:t>
            </a:r>
            <a:endParaRPr lang="en-US" altLang="ja-JP" sz="1050" dirty="0">
              <a:solidFill>
                <a:schemeClr val="tx1"/>
              </a:solidFill>
            </a:endParaRPr>
          </a:p>
          <a:p>
            <a:pPr algn="l"/>
            <a:r>
              <a:rPr kumimoji="1" lang="ja-JP" altLang="en-US" sz="1050" dirty="0">
                <a:solidFill>
                  <a:schemeClr val="tx1"/>
                </a:solidFill>
              </a:rPr>
              <a:t>・求める給与水準である：</a:t>
            </a:r>
            <a:r>
              <a:rPr kumimoji="1" lang="en-US" altLang="ja-JP" sz="1050" dirty="0">
                <a:solidFill>
                  <a:schemeClr val="tx1"/>
                </a:solidFill>
              </a:rPr>
              <a:t>45</a:t>
            </a:r>
            <a:r>
              <a:rPr kumimoji="1" lang="ja-JP" altLang="en-US" sz="1050" dirty="0">
                <a:solidFill>
                  <a:schemeClr val="tx1"/>
                </a:solidFill>
              </a:rPr>
              <a:t>％</a:t>
            </a:r>
            <a:endParaRPr kumimoji="1" lang="en-US" altLang="ja-JP" sz="1050" dirty="0">
              <a:solidFill>
                <a:schemeClr val="tx1"/>
              </a:solidFill>
            </a:endParaRPr>
          </a:p>
          <a:p>
            <a:pPr algn="l"/>
            <a:r>
              <a:rPr kumimoji="1" lang="ja-JP" altLang="en-US" sz="1050" dirty="0">
                <a:solidFill>
                  <a:schemeClr val="tx1"/>
                </a:solidFill>
              </a:rPr>
              <a:t>・勤務地の場所が自分に合う</a:t>
            </a:r>
            <a:r>
              <a:rPr kumimoji="1" lang="en-US" altLang="ja-JP" sz="1050" dirty="0">
                <a:solidFill>
                  <a:schemeClr val="tx1"/>
                </a:solidFill>
              </a:rPr>
              <a:t>(</a:t>
            </a:r>
            <a:r>
              <a:rPr lang="ja-JP" altLang="en-US" sz="1050" dirty="0">
                <a:solidFill>
                  <a:schemeClr val="tx1"/>
                </a:solidFill>
              </a:rPr>
              <a:t>転勤有無含</a:t>
            </a:r>
            <a:r>
              <a:rPr lang="en-US" altLang="ja-JP" sz="1050" dirty="0">
                <a:solidFill>
                  <a:schemeClr val="tx1"/>
                </a:solidFill>
              </a:rPr>
              <a:t>)</a:t>
            </a:r>
            <a:r>
              <a:rPr kumimoji="1" lang="ja-JP" altLang="en-US" sz="1050" dirty="0">
                <a:solidFill>
                  <a:schemeClr val="tx1"/>
                </a:solidFill>
              </a:rPr>
              <a:t>：</a:t>
            </a:r>
            <a:r>
              <a:rPr kumimoji="1" lang="en-US" altLang="ja-JP" sz="1050" dirty="0">
                <a:solidFill>
                  <a:schemeClr val="tx1"/>
                </a:solidFill>
              </a:rPr>
              <a:t>34</a:t>
            </a:r>
            <a:r>
              <a:rPr kumimoji="1" lang="ja-JP" altLang="en-US" sz="1050" dirty="0">
                <a:solidFill>
                  <a:schemeClr val="tx1"/>
                </a:solidFill>
              </a:rPr>
              <a:t>％</a:t>
            </a:r>
            <a:endParaRPr kumimoji="1" lang="en-US" altLang="ja-JP" sz="1050" dirty="0">
              <a:solidFill>
                <a:schemeClr val="tx1"/>
              </a:solidFill>
            </a:endParaRPr>
          </a:p>
          <a:p>
            <a:r>
              <a:rPr kumimoji="1" lang="ja-JP" altLang="en-US" sz="1050" dirty="0">
                <a:solidFill>
                  <a:schemeClr val="tx1"/>
                </a:solidFill>
              </a:rPr>
              <a:t>・プライベートの時間を確保できる：</a:t>
            </a:r>
            <a:r>
              <a:rPr kumimoji="1" lang="en-US" altLang="ja-JP" sz="1050" dirty="0">
                <a:solidFill>
                  <a:schemeClr val="tx1"/>
                </a:solidFill>
              </a:rPr>
              <a:t>26</a:t>
            </a:r>
            <a:r>
              <a:rPr kumimoji="1" lang="ja-JP" altLang="en-US" sz="1050" dirty="0">
                <a:solidFill>
                  <a:schemeClr val="tx1"/>
                </a:solidFill>
              </a:rPr>
              <a:t>％</a:t>
            </a:r>
            <a:endParaRPr kumimoji="1" lang="en-US" altLang="ja-JP" sz="1050" dirty="0">
              <a:solidFill>
                <a:schemeClr val="tx1"/>
              </a:solidFill>
            </a:endParaRPr>
          </a:p>
          <a:p>
            <a:pPr algn="l"/>
            <a:endParaRPr lang="en-US" altLang="ja-JP" sz="1050" dirty="0">
              <a:solidFill>
                <a:schemeClr val="tx1"/>
              </a:solidFill>
            </a:endParaRPr>
          </a:p>
          <a:p>
            <a:r>
              <a:rPr lang="ja-JP" altLang="en-US" sz="1050" dirty="0">
                <a:solidFill>
                  <a:schemeClr val="tx1"/>
                </a:solidFill>
              </a:rPr>
              <a:t>∟「面談希望あり」と開きのある項目</a:t>
            </a:r>
            <a:endParaRPr lang="en-US" altLang="ja-JP" sz="1050" dirty="0">
              <a:solidFill>
                <a:schemeClr val="tx1"/>
              </a:solidFill>
            </a:endParaRPr>
          </a:p>
          <a:p>
            <a:pPr algn="l"/>
            <a:r>
              <a:rPr kumimoji="1" lang="ja-JP" altLang="en-US" sz="1050" dirty="0">
                <a:solidFill>
                  <a:schemeClr val="tx1"/>
                </a:solidFill>
              </a:rPr>
              <a:t>・</a:t>
            </a:r>
            <a:r>
              <a:rPr kumimoji="1" lang="ja-JP" altLang="en-US" sz="1050" dirty="0">
                <a:solidFill>
                  <a:srgbClr val="FF0000"/>
                </a:solidFill>
              </a:rPr>
              <a:t>やりたいことを仕事に出来る</a:t>
            </a:r>
            <a:r>
              <a:rPr lang="ja-JP" altLang="en-US" sz="1050" dirty="0">
                <a:solidFill>
                  <a:srgbClr val="FF0000"/>
                </a:solidFill>
              </a:rPr>
              <a:t>：面談希望あり</a:t>
            </a:r>
            <a:r>
              <a:rPr lang="en-US" altLang="ja-JP" sz="1050" dirty="0">
                <a:solidFill>
                  <a:srgbClr val="FF0000"/>
                </a:solidFill>
              </a:rPr>
              <a:t>-12pt</a:t>
            </a:r>
            <a:endParaRPr kumimoji="1" lang="en-US" altLang="ja-JP" sz="1050" dirty="0">
              <a:solidFill>
                <a:srgbClr val="FF0000"/>
              </a:solidFill>
            </a:endParaRPr>
          </a:p>
          <a:p>
            <a:pPr algn="l"/>
            <a:r>
              <a:rPr kumimoji="1" lang="ja-JP" altLang="en-US" sz="1050" dirty="0">
                <a:solidFill>
                  <a:schemeClr val="tx1"/>
                </a:solidFill>
              </a:rPr>
              <a:t>・良好な人間関係を築ける：</a:t>
            </a:r>
            <a:r>
              <a:rPr lang="ja-JP" altLang="en-US" sz="1050" dirty="0">
                <a:solidFill>
                  <a:schemeClr val="tx1"/>
                </a:solidFill>
              </a:rPr>
              <a:t>面談希望あり＋</a:t>
            </a:r>
            <a:r>
              <a:rPr lang="en-US" altLang="ja-JP" sz="1050" dirty="0">
                <a:solidFill>
                  <a:schemeClr val="tx1"/>
                </a:solidFill>
              </a:rPr>
              <a:t>7pt</a:t>
            </a:r>
          </a:p>
          <a:p>
            <a:r>
              <a:rPr lang="ja-JP" altLang="en-US" sz="1050" dirty="0">
                <a:solidFill>
                  <a:schemeClr val="tx1"/>
                </a:solidFill>
              </a:rPr>
              <a:t>・</a:t>
            </a:r>
            <a:r>
              <a:rPr kumimoji="1" lang="ja-JP" altLang="en-US" sz="1050" dirty="0">
                <a:solidFill>
                  <a:schemeClr val="tx1"/>
                </a:solidFill>
              </a:rPr>
              <a:t>将来的なステップアップへの期待</a:t>
            </a:r>
            <a:r>
              <a:rPr lang="ja-JP" altLang="en-US" sz="1050" dirty="0">
                <a:solidFill>
                  <a:schemeClr val="tx1"/>
                </a:solidFill>
              </a:rPr>
              <a:t>：面談希望あり</a:t>
            </a:r>
            <a:r>
              <a:rPr lang="en-US" altLang="ja-JP" sz="1050" dirty="0">
                <a:solidFill>
                  <a:schemeClr val="tx1"/>
                </a:solidFill>
              </a:rPr>
              <a:t>-7pt</a:t>
            </a:r>
            <a:endParaRPr kumimoji="1" lang="en-US" altLang="ja-JP" sz="1050" dirty="0">
              <a:solidFill>
                <a:schemeClr val="tx1"/>
              </a:solidFill>
            </a:endParaRPr>
          </a:p>
        </p:txBody>
      </p:sp>
      <p:graphicFrame>
        <p:nvGraphicFramePr>
          <p:cNvPr id="6" name="表 5">
            <a:extLst>
              <a:ext uri="{FF2B5EF4-FFF2-40B4-BE49-F238E27FC236}">
                <a16:creationId xmlns:a16="http://schemas.microsoft.com/office/drawing/2014/main" id="{BC15352F-9945-DB6C-FD98-BC21FB0052D0}"/>
              </a:ext>
            </a:extLst>
          </p:cNvPr>
          <p:cNvGraphicFramePr>
            <a:graphicFrameLocks noGrp="1"/>
          </p:cNvGraphicFramePr>
          <p:nvPr>
            <p:extLst>
              <p:ext uri="{D42A27DB-BD31-4B8C-83A1-F6EECF244321}">
                <p14:modId xmlns:p14="http://schemas.microsoft.com/office/powerpoint/2010/main" val="3687560623"/>
              </p:ext>
            </p:extLst>
          </p:nvPr>
        </p:nvGraphicFramePr>
        <p:xfrm>
          <a:off x="637925" y="1703194"/>
          <a:ext cx="10866323" cy="2329544"/>
        </p:xfrm>
        <a:graphic>
          <a:graphicData uri="http://schemas.openxmlformats.org/drawingml/2006/table">
            <a:tbl>
              <a:tblPr/>
              <a:tblGrid>
                <a:gridCol w="924980">
                  <a:extLst>
                    <a:ext uri="{9D8B030D-6E8A-4147-A177-3AD203B41FA5}">
                      <a16:colId xmlns:a16="http://schemas.microsoft.com/office/drawing/2014/main" val="2435087802"/>
                    </a:ext>
                  </a:extLst>
                </a:gridCol>
                <a:gridCol w="961464">
                  <a:extLst>
                    <a:ext uri="{9D8B030D-6E8A-4147-A177-3AD203B41FA5}">
                      <a16:colId xmlns:a16="http://schemas.microsoft.com/office/drawing/2014/main" val="2755656879"/>
                    </a:ext>
                  </a:extLst>
                </a:gridCol>
                <a:gridCol w="523631">
                  <a:extLst>
                    <a:ext uri="{9D8B030D-6E8A-4147-A177-3AD203B41FA5}">
                      <a16:colId xmlns:a16="http://schemas.microsoft.com/office/drawing/2014/main" val="1120019695"/>
                    </a:ext>
                  </a:extLst>
                </a:gridCol>
                <a:gridCol w="1117600">
                  <a:extLst>
                    <a:ext uri="{9D8B030D-6E8A-4147-A177-3AD203B41FA5}">
                      <a16:colId xmlns:a16="http://schemas.microsoft.com/office/drawing/2014/main" val="1078332333"/>
                    </a:ext>
                  </a:extLst>
                </a:gridCol>
                <a:gridCol w="578338">
                  <a:extLst>
                    <a:ext uri="{9D8B030D-6E8A-4147-A177-3AD203B41FA5}">
                      <a16:colId xmlns:a16="http://schemas.microsoft.com/office/drawing/2014/main" val="993598830"/>
                    </a:ext>
                  </a:extLst>
                </a:gridCol>
                <a:gridCol w="1070708">
                  <a:extLst>
                    <a:ext uri="{9D8B030D-6E8A-4147-A177-3AD203B41FA5}">
                      <a16:colId xmlns:a16="http://schemas.microsoft.com/office/drawing/2014/main" val="3013145451"/>
                    </a:ext>
                  </a:extLst>
                </a:gridCol>
                <a:gridCol w="1281723">
                  <a:extLst>
                    <a:ext uri="{9D8B030D-6E8A-4147-A177-3AD203B41FA5}">
                      <a16:colId xmlns:a16="http://schemas.microsoft.com/office/drawing/2014/main" val="2350122072"/>
                    </a:ext>
                  </a:extLst>
                </a:gridCol>
                <a:gridCol w="1531816">
                  <a:extLst>
                    <a:ext uri="{9D8B030D-6E8A-4147-A177-3AD203B41FA5}">
                      <a16:colId xmlns:a16="http://schemas.microsoft.com/office/drawing/2014/main" val="1019628752"/>
                    </a:ext>
                  </a:extLst>
                </a:gridCol>
                <a:gridCol w="936661">
                  <a:extLst>
                    <a:ext uri="{9D8B030D-6E8A-4147-A177-3AD203B41FA5}">
                      <a16:colId xmlns:a16="http://schemas.microsoft.com/office/drawing/2014/main" val="781256171"/>
                    </a:ext>
                  </a:extLst>
                </a:gridCol>
                <a:gridCol w="595154">
                  <a:extLst>
                    <a:ext uri="{9D8B030D-6E8A-4147-A177-3AD203B41FA5}">
                      <a16:colId xmlns:a16="http://schemas.microsoft.com/office/drawing/2014/main" val="2594217562"/>
                    </a:ext>
                  </a:extLst>
                </a:gridCol>
                <a:gridCol w="907937">
                  <a:extLst>
                    <a:ext uri="{9D8B030D-6E8A-4147-A177-3AD203B41FA5}">
                      <a16:colId xmlns:a16="http://schemas.microsoft.com/office/drawing/2014/main" val="46478667"/>
                    </a:ext>
                  </a:extLst>
                </a:gridCol>
                <a:gridCol w="436311">
                  <a:extLst>
                    <a:ext uri="{9D8B030D-6E8A-4147-A177-3AD203B41FA5}">
                      <a16:colId xmlns:a16="http://schemas.microsoft.com/office/drawing/2014/main" val="2355057189"/>
                    </a:ext>
                  </a:extLst>
                </a:gridCol>
              </a:tblGrid>
              <a:tr h="309623">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面談希望</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未活動ステータス別</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en-US" sz="900" b="1" i="0" u="none" strike="noStrike">
                          <a:solidFill>
                            <a:srgbClr val="000000"/>
                          </a:solidFill>
                          <a:effectLst/>
                          <a:latin typeface="Meiryo UI" panose="020B0604030504040204" pitchFamily="50" charset="-128"/>
                          <a:ea typeface="Meiryo UI" panose="020B0604030504040204" pitchFamily="50" charset="-128"/>
                        </a:rPr>
                        <a:t>WB</a:t>
                      </a:r>
                      <a:r>
                        <a:rPr lang="ja-JP" altLang="en-US" sz="900" b="1" i="0" u="none" strike="noStrike">
                          <a:solidFill>
                            <a:srgbClr val="000000"/>
                          </a:solidFill>
                          <a:effectLst/>
                          <a:latin typeface="Meiryo UI" panose="020B0604030504040204" pitchFamily="50" charset="-128"/>
                          <a:ea typeface="Meiryo UI" panose="020B0604030504040204" pitchFamily="50" charset="-128"/>
                        </a:rPr>
                        <a:t>後</a:t>
                      </a:r>
                      <a:r>
                        <a:rPr lang="en-US" sz="900" b="1" i="0" u="none" strike="noStrike">
                          <a:solidFill>
                            <a:srgbClr val="000000"/>
                          </a:solidFill>
                          <a:effectLst/>
                          <a:latin typeface="Meiryo UI" panose="020B0604030504040204" pitchFamily="50" charset="-128"/>
                          <a:ea typeface="Meiryo UI" panose="020B0604030504040204" pitchFamily="50" charset="-128"/>
                        </a:rPr>
                        <a:t>N</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年収</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年収概算</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職種</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zh-TW" altLang="en-US" sz="900" b="1" i="0" u="none" strike="noStrike">
                          <a:solidFill>
                            <a:srgbClr val="000000"/>
                          </a:solidFill>
                          <a:effectLst/>
                          <a:latin typeface="Meiryo UI" panose="020B0604030504040204" pitchFamily="50" charset="-128"/>
                          <a:ea typeface="Meiryo UI" panose="020B0604030504040204" pitchFamily="50" charset="-128"/>
                        </a:rPr>
                        <a:t>転職希望度合</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zh-TW" altLang="en-US" sz="900" b="1" i="0" u="none" strike="noStrike">
                          <a:solidFill>
                            <a:srgbClr val="000000"/>
                          </a:solidFill>
                          <a:effectLst/>
                          <a:latin typeface="Meiryo UI" panose="020B0604030504040204" pitchFamily="50" charset="-128"/>
                          <a:ea typeface="Meiryo UI" panose="020B0604030504040204" pitchFamily="50" charset="-128"/>
                        </a:rPr>
                        <a:t>転職希望時期</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転職回数</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ja-JP" altLang="en-US" sz="900" b="1" i="0" u="none" strike="noStrike" dirty="0">
                          <a:solidFill>
                            <a:srgbClr val="000000"/>
                          </a:solidFill>
                          <a:effectLst/>
                          <a:latin typeface="Meiryo UI" panose="020B0604030504040204" pitchFamily="50" charset="-128"/>
                          <a:ea typeface="Meiryo UI" panose="020B0604030504040204" pitchFamily="50" charset="-128"/>
                        </a:rPr>
                        <a:t>転職回数</a:t>
                      </a:r>
                      <a:endParaRPr lang="en-US" altLang="ja-JP" sz="900" b="1" i="0" u="none" strike="noStrike" dirty="0">
                        <a:solidFill>
                          <a:srgbClr val="000000"/>
                        </a:solidFill>
                        <a:effectLst/>
                        <a:latin typeface="Meiryo UI" panose="020B0604030504040204" pitchFamily="50" charset="-128"/>
                        <a:ea typeface="Meiryo UI" panose="020B0604030504040204" pitchFamily="50" charset="-128"/>
                      </a:endParaRPr>
                    </a:p>
                    <a:p>
                      <a:pPr algn="ctr" fontAlgn="ctr"/>
                      <a:r>
                        <a:rPr lang="ja-JP" altLang="en-US" sz="900" b="1" i="0" u="none" strike="noStrike" dirty="0">
                          <a:solidFill>
                            <a:srgbClr val="000000"/>
                          </a:solidFill>
                          <a:effectLst/>
                          <a:latin typeface="Meiryo UI" panose="020B0604030504040204" pitchFamily="50" charset="-128"/>
                          <a:ea typeface="Meiryo UI" panose="020B0604030504040204" pitchFamily="50" charset="-128"/>
                        </a:rPr>
                        <a:t>概算</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ja-JP" altLang="en-US" sz="900" b="1" i="0" u="none" strike="noStrike" dirty="0">
                          <a:solidFill>
                            <a:srgbClr val="000000"/>
                          </a:solidFill>
                          <a:effectLst/>
                          <a:latin typeface="Meiryo UI" panose="020B0604030504040204" pitchFamily="50" charset="-128"/>
                          <a:ea typeface="Meiryo UI" panose="020B0604030504040204" pitchFamily="50" charset="-128"/>
                        </a:rPr>
                        <a:t>年代</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年齢概算</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extLst>
                  <a:ext uri="{0D108BD9-81ED-4DB2-BD59-A6C34878D82A}">
                    <a16:rowId xmlns:a16="http://schemas.microsoft.com/office/drawing/2014/main" val="4168577218"/>
                  </a:ext>
                </a:extLst>
              </a:tr>
              <a:tr h="673307">
                <a:tc rowSpan="3">
                  <a:txBody>
                    <a:bodyPr/>
                    <a:lstStyle/>
                    <a:p>
                      <a:pPr algn="ctr" fontAlgn="ctr"/>
                      <a:r>
                        <a:rPr lang="ja-JP" altLang="en-US" sz="900" b="1" i="0" u="none" strike="noStrike" dirty="0">
                          <a:solidFill>
                            <a:srgbClr val="000000"/>
                          </a:solidFill>
                          <a:effectLst/>
                          <a:latin typeface="Meiryo UI" panose="020B0604030504040204" pitchFamily="50" charset="-128"/>
                          <a:ea typeface="Meiryo UI" panose="020B0604030504040204" pitchFamily="50" charset="-128"/>
                        </a:rPr>
                        <a:t>面談希望なし</a:t>
                      </a:r>
                      <a:r>
                        <a:rPr lang="en-US" altLang="ja-JP" sz="900" b="1" i="0" u="none" strike="noStrike" dirty="0">
                          <a:solidFill>
                            <a:srgbClr val="000000"/>
                          </a:solidFill>
                          <a:effectLst/>
                          <a:latin typeface="Meiryo UI" panose="020B0604030504040204" pitchFamily="50" charset="-128"/>
                          <a:ea typeface="Meiryo UI" panose="020B0604030504040204" pitchFamily="50" charset="-128"/>
                        </a:rPr>
                        <a:t>/</a:t>
                      </a:r>
                      <a:br>
                        <a:rPr lang="en-US" altLang="ja-JP" sz="900" b="1"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1" i="0" u="none" strike="noStrike" dirty="0">
                          <a:solidFill>
                            <a:srgbClr val="000000"/>
                          </a:solidFill>
                          <a:effectLst/>
                          <a:latin typeface="Meiryo UI" panose="020B0604030504040204" pitchFamily="50" charset="-128"/>
                          <a:ea typeface="Meiryo UI" panose="020B0604030504040204" pitchFamily="50" charset="-128"/>
                        </a:rPr>
                        <a:t>どちらともいえない</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ja-JP" altLang="en-US" sz="900" b="1" i="0" u="none" strike="noStrike" dirty="0">
                          <a:solidFill>
                            <a:srgbClr val="000000"/>
                          </a:solidFill>
                          <a:effectLst/>
                          <a:latin typeface="Meiryo UI" panose="020B0604030504040204" pitchFamily="50" charset="-128"/>
                          <a:ea typeface="Meiryo UI" panose="020B0604030504040204" pitchFamily="50" charset="-128"/>
                        </a:rPr>
                        <a:t>合計</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186</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300-399</a:t>
                      </a:r>
                      <a:r>
                        <a:rPr lang="ja-JP" altLang="en-US" sz="900" b="1" i="0" u="none" strike="noStrike" dirty="0">
                          <a:solidFill>
                            <a:srgbClr val="FF0000"/>
                          </a:solidFill>
                          <a:effectLst/>
                          <a:latin typeface="Meiryo UI" panose="020B0604030504040204" pitchFamily="50" charset="-128"/>
                          <a:ea typeface="Meiryo UI" panose="020B0604030504040204" pitchFamily="50" charset="-128"/>
                        </a:rPr>
                        <a:t>：</a:t>
                      </a: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39%</a:t>
                      </a:r>
                      <a:br>
                        <a:rPr lang="en-US" altLang="ja-JP" sz="900" b="1" i="0" u="none" strike="noStrike" dirty="0">
                          <a:solidFill>
                            <a:srgbClr val="FF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400-599</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29%</a:t>
                      </a:r>
                      <a:br>
                        <a:rPr lang="en-US" altLang="ja-JP"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300</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未満：</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21%</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400.2</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企画・管理：</a:t>
                      </a:r>
                      <a:r>
                        <a:rPr lang="en-US" altLang="ja-JP" sz="900" b="0" i="0" u="none" strike="noStrike">
                          <a:solidFill>
                            <a:srgbClr val="000000"/>
                          </a:solidFill>
                          <a:effectLst/>
                          <a:latin typeface="Meiryo UI" panose="020B0604030504040204" pitchFamily="50" charset="-128"/>
                          <a:ea typeface="Meiryo UI" panose="020B0604030504040204" pitchFamily="50" charset="-128"/>
                        </a:rPr>
                        <a:t>20</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＞事務：</a:t>
                      </a:r>
                      <a:r>
                        <a:rPr lang="en-US" altLang="ja-JP" sz="900" b="0" i="0" u="none" strike="noStrike">
                          <a:solidFill>
                            <a:srgbClr val="000000"/>
                          </a:solidFill>
                          <a:effectLst/>
                          <a:latin typeface="Meiryo UI" panose="020B0604030504040204" pitchFamily="50" charset="-128"/>
                          <a:ea typeface="Meiryo UI" panose="020B0604030504040204" pitchFamily="50" charset="-128"/>
                        </a:rPr>
                        <a:t>18</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＞営業：</a:t>
                      </a:r>
                      <a:r>
                        <a:rPr lang="en-US" altLang="ja-JP" sz="900" b="0" i="0" u="none" strike="noStrike">
                          <a:solidFill>
                            <a:srgbClr val="000000"/>
                          </a:solidFill>
                          <a:effectLst/>
                          <a:latin typeface="Meiryo UI" panose="020B0604030504040204" pitchFamily="50" charset="-128"/>
                          <a:ea typeface="Meiryo UI" panose="020B0604030504040204" pitchFamily="50" charset="-128"/>
                        </a:rPr>
                        <a:t>17</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希望に合えば：</a:t>
                      </a:r>
                      <a:r>
                        <a:rPr lang="en-US" altLang="ja-JP" sz="900" b="0" i="0" u="none" strike="noStrike">
                          <a:solidFill>
                            <a:srgbClr val="000000"/>
                          </a:solidFill>
                          <a:effectLst/>
                          <a:latin typeface="Meiryo UI" panose="020B0604030504040204" pitchFamily="50" charset="-128"/>
                          <a:ea typeface="Meiryo UI" panose="020B0604030504040204" pitchFamily="50" charset="-128"/>
                        </a:rPr>
                        <a:t>69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＞必ず転職したい：</a:t>
                      </a:r>
                      <a:r>
                        <a:rPr lang="en-US" altLang="ja-JP" sz="900" b="0" i="0" u="none" strike="noStrike">
                          <a:solidFill>
                            <a:srgbClr val="000000"/>
                          </a:solidFill>
                          <a:effectLst/>
                          <a:latin typeface="Meiryo UI" panose="020B0604030504040204" pitchFamily="50" charset="-128"/>
                          <a:ea typeface="Meiryo UI" panose="020B0604030504040204" pitchFamily="50" charset="-128"/>
                        </a:rPr>
                        <a:t>29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a:t>
                      </a:r>
                      <a:r>
                        <a:rPr lang="ja-JP" altLang="en-US" sz="900" b="0" i="0" u="none" strike="noStrike">
                          <a:solidFill>
                            <a:srgbClr val="000000"/>
                          </a:solidFill>
                          <a:effectLst/>
                          <a:latin typeface="Meiryo UI" panose="020B0604030504040204" pitchFamily="50" charset="-128"/>
                          <a:ea typeface="Meiryo UI" panose="020B0604030504040204" pitchFamily="50" charset="-128"/>
                        </a:rPr>
                        <a:t>ヶ月以内：</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＞明確な時期は無い：</a:t>
                      </a:r>
                      <a:r>
                        <a:rPr lang="en-US" altLang="ja-JP" sz="900" b="0" i="0" u="none" strike="noStrike">
                          <a:solidFill>
                            <a:srgbClr val="000000"/>
                          </a:solidFill>
                          <a:effectLst/>
                          <a:latin typeface="Meiryo UI" panose="020B0604030504040204" pitchFamily="50" charset="-128"/>
                          <a:ea typeface="Meiryo UI" panose="020B0604030504040204" pitchFamily="50" charset="-128"/>
                        </a:rPr>
                        <a:t>26</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a:t>
                      </a:r>
                      <a:r>
                        <a:rPr lang="ja-JP" altLang="en-US" sz="900" b="0" i="0" u="none" strike="noStrike">
                          <a:solidFill>
                            <a:srgbClr val="000000"/>
                          </a:solidFill>
                          <a:effectLst/>
                          <a:latin typeface="Meiryo UI" panose="020B0604030504040204" pitchFamily="50" charset="-128"/>
                          <a:ea typeface="Meiryo UI" panose="020B0604030504040204" pitchFamily="50" charset="-128"/>
                        </a:rPr>
                        <a:t>ヶ月月以内：</a:t>
                      </a:r>
                      <a:r>
                        <a:rPr lang="en-US" altLang="ja-JP" sz="900" b="0" i="0" u="none" strike="noStrike">
                          <a:solidFill>
                            <a:srgbClr val="000000"/>
                          </a:solidFill>
                          <a:effectLst/>
                          <a:latin typeface="Meiryo UI" panose="020B0604030504040204" pitchFamily="50" charset="-128"/>
                          <a:ea typeface="Meiryo UI" panose="020B0604030504040204" pitchFamily="50" charset="-128"/>
                        </a:rPr>
                        <a:t>25</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＞半年以上先：</a:t>
                      </a:r>
                      <a:r>
                        <a:rPr lang="en-US" altLang="ja-JP" sz="900" b="0" i="0" u="none" strike="noStrike">
                          <a:solidFill>
                            <a:srgbClr val="000000"/>
                          </a:solidFill>
                          <a:effectLst/>
                          <a:latin typeface="Meiryo UI" panose="020B0604030504040204" pitchFamily="50" charset="-128"/>
                          <a:ea typeface="Meiryo UI" panose="020B0604030504040204" pitchFamily="50" charset="-128"/>
                        </a:rPr>
                        <a:t>18</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0</a:t>
                      </a:r>
                      <a:r>
                        <a:rPr lang="ja-JP" altLang="en-US" sz="900" b="1" i="0" u="none" strike="noStrike" dirty="0">
                          <a:solidFill>
                            <a:srgbClr val="FF0000"/>
                          </a:solidFill>
                          <a:effectLst/>
                          <a:latin typeface="Meiryo UI" panose="020B0604030504040204" pitchFamily="50" charset="-128"/>
                          <a:ea typeface="Meiryo UI" panose="020B0604030504040204" pitchFamily="50" charset="-128"/>
                        </a:rPr>
                        <a:t>回：</a:t>
                      </a:r>
                      <a:r>
                        <a:rPr lang="en-US" altLang="ja-JP" sz="900" b="1" i="0" u="none" strike="noStrike" dirty="0">
                          <a:solidFill>
                            <a:srgbClr val="FF0000"/>
                          </a:solidFill>
                          <a:effectLst/>
                          <a:latin typeface="Meiryo UI" panose="020B0604030504040204" pitchFamily="50" charset="-128"/>
                          <a:ea typeface="Meiryo UI" panose="020B0604030504040204" pitchFamily="50" charset="-128"/>
                        </a:rPr>
                        <a:t>40</a:t>
                      </a:r>
                      <a:r>
                        <a:rPr lang="ja-JP" altLang="en-US" sz="900" b="1" i="0" u="none" strike="noStrike" dirty="0">
                          <a:solidFill>
                            <a:srgbClr val="FF0000"/>
                          </a:solidFill>
                          <a:effectLst/>
                          <a:latin typeface="Meiryo UI" panose="020B0604030504040204" pitchFamily="50" charset="-128"/>
                          <a:ea typeface="Meiryo UI" panose="020B0604030504040204" pitchFamily="50" charset="-128"/>
                        </a:rPr>
                        <a:t>％</a:t>
                      </a:r>
                      <a:br>
                        <a:rPr lang="ja-JP" altLang="en-US" sz="900" b="1" i="0" u="none" strike="noStrike" dirty="0">
                          <a:solidFill>
                            <a:srgbClr val="FF0000"/>
                          </a:solidFill>
                          <a:effectLst/>
                          <a:latin typeface="Meiryo UI" panose="020B0604030504040204" pitchFamily="50" charset="-128"/>
                          <a:ea typeface="Meiryo UI" panose="020B0604030504040204" pitchFamily="50" charset="-128"/>
                        </a:rPr>
                      </a:b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&gt;2~4</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31</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&gt;1</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16</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1.73</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47</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20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23</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35.7</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2005930900"/>
                  </a:ext>
                </a:extLst>
              </a:tr>
              <a:tr h="673307">
                <a:tc vMerge="1">
                  <a:txBody>
                    <a:bodyPr/>
                    <a:lstStyle/>
                    <a:p>
                      <a:endParaRPr kumimoji="1" lang="ja-JP" altLang="en-US"/>
                    </a:p>
                  </a:txBody>
                  <a:tcPr/>
                </a:tc>
                <a:tc>
                  <a:txBody>
                    <a:bodyPr/>
                    <a:lstStyle/>
                    <a:p>
                      <a:pPr algn="ctr" fontAlgn="ctr"/>
                      <a:r>
                        <a:rPr lang="ja-JP" altLang="en-US" sz="900" b="1" i="0" u="none" strike="noStrike" dirty="0">
                          <a:solidFill>
                            <a:srgbClr val="000000"/>
                          </a:solidFill>
                          <a:effectLst/>
                          <a:latin typeface="Meiryo UI" panose="020B0604030504040204" pitchFamily="50" charset="-128"/>
                          <a:ea typeface="Meiryo UI" panose="020B0604030504040204" pitchFamily="50" charset="-128"/>
                        </a:rPr>
                        <a:t>面談実施あり</a:t>
                      </a:r>
                      <a:br>
                        <a:rPr lang="ja-JP" altLang="en-US" sz="900" b="1" i="0" u="none" strike="noStrike" dirty="0">
                          <a:solidFill>
                            <a:srgbClr val="000000"/>
                          </a:solidFill>
                          <a:effectLst/>
                          <a:latin typeface="Meiryo UI" panose="020B0604030504040204" pitchFamily="50" charset="-128"/>
                          <a:ea typeface="Meiryo UI" panose="020B0604030504040204" pitchFamily="50" charset="-128"/>
                        </a:rPr>
                      </a:br>
                      <a:r>
                        <a:rPr lang="en-US" altLang="ja-JP" sz="800" b="1" i="0" u="none" strike="noStrike" dirty="0">
                          <a:solidFill>
                            <a:srgbClr val="000000"/>
                          </a:solidFill>
                          <a:effectLst/>
                          <a:latin typeface="Meiryo UI" panose="020B0604030504040204" pitchFamily="50" charset="-128"/>
                          <a:ea typeface="Meiryo UI" panose="020B0604030504040204" pitchFamily="50" charset="-128"/>
                        </a:rPr>
                        <a:t>※N</a:t>
                      </a:r>
                      <a:r>
                        <a:rPr lang="ja-JP" altLang="en-US" sz="800" b="1" i="0" u="none" strike="noStrike" dirty="0">
                          <a:solidFill>
                            <a:srgbClr val="000000"/>
                          </a:solidFill>
                          <a:effectLst/>
                          <a:latin typeface="Meiryo UI" panose="020B0604030504040204" pitchFamily="50" charset="-128"/>
                          <a:ea typeface="Meiryo UI" panose="020B0604030504040204" pitchFamily="50" charset="-128"/>
                        </a:rPr>
                        <a:t>少ないため</a:t>
                      </a:r>
                      <a:endParaRPr lang="en-US" altLang="ja-JP" sz="800" b="1" i="0" u="none" strike="noStrike" dirty="0">
                        <a:solidFill>
                          <a:srgbClr val="000000"/>
                        </a:solidFill>
                        <a:effectLst/>
                        <a:latin typeface="Meiryo UI" panose="020B0604030504040204" pitchFamily="50" charset="-128"/>
                        <a:ea typeface="Meiryo UI" panose="020B0604030504040204" pitchFamily="50" charset="-128"/>
                      </a:endParaRPr>
                    </a:p>
                    <a:p>
                      <a:pPr algn="ctr" fontAlgn="ctr"/>
                      <a:r>
                        <a:rPr lang="ja-JP" altLang="en-US" sz="800" b="1" i="0" u="none" strike="noStrike" dirty="0">
                          <a:solidFill>
                            <a:srgbClr val="000000"/>
                          </a:solidFill>
                          <a:effectLst/>
                          <a:latin typeface="Meiryo UI" panose="020B0604030504040204" pitchFamily="50" charset="-128"/>
                          <a:ea typeface="Meiryo UI" panose="020B0604030504040204" pitchFamily="50" charset="-128"/>
                        </a:rPr>
                        <a:t>参考値</a:t>
                      </a:r>
                      <a:endParaRPr lang="ja-JP" altLang="en-US" sz="900" b="1" i="0" u="none" strike="noStrike" dirty="0">
                        <a:solidFill>
                          <a:srgbClr val="000000"/>
                        </a:solidFill>
                        <a:effectLst/>
                        <a:latin typeface="Meiryo UI" panose="020B0604030504040204" pitchFamily="50" charset="-128"/>
                        <a:ea typeface="Meiryo UI" panose="020B0604030504040204" pitchFamily="50" charset="-128"/>
                      </a:endParaRP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rgbClr val="E2EFDA"/>
                    </a:solidFill>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11</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300-399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39%</a:t>
                      </a:r>
                      <a:br>
                        <a:rPr lang="en-US" altLang="ja-JP"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400-599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29%</a:t>
                      </a:r>
                      <a:br>
                        <a:rPr lang="en-US" altLang="ja-JP"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300</a:t>
                      </a:r>
                      <a:r>
                        <a:rPr lang="ja-JP" altLang="en-US" sz="900" b="0" i="0" u="none" strike="noStrike">
                          <a:solidFill>
                            <a:srgbClr val="000000"/>
                          </a:solidFill>
                          <a:effectLst/>
                          <a:latin typeface="Meiryo UI" panose="020B0604030504040204" pitchFamily="50" charset="-128"/>
                          <a:ea typeface="Meiryo UI" panose="020B0604030504040204" pitchFamily="50" charset="-128"/>
                        </a:rPr>
                        <a:t>未満：</a:t>
                      </a:r>
                      <a:r>
                        <a:rPr lang="en-US" altLang="ja-JP" sz="900" b="0" i="0" u="none" strike="noStrike">
                          <a:solidFill>
                            <a:srgbClr val="000000"/>
                          </a:solidFill>
                          <a:effectLst/>
                          <a:latin typeface="Meiryo UI" panose="020B0604030504040204" pitchFamily="50" charset="-128"/>
                          <a:ea typeface="Meiryo UI" panose="020B0604030504040204" pitchFamily="50" charset="-128"/>
                        </a:rPr>
                        <a:t>12%</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402.7</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企画・管理：</a:t>
                      </a:r>
                      <a:r>
                        <a:rPr lang="en-US" altLang="ja-JP" sz="900" b="0" i="0" u="none" strike="noStrike">
                          <a:solidFill>
                            <a:srgbClr val="000000"/>
                          </a:solidFill>
                          <a:effectLst/>
                          <a:latin typeface="Meiryo UI" panose="020B0604030504040204" pitchFamily="50" charset="-128"/>
                          <a:ea typeface="Meiryo UI" panose="020B0604030504040204" pitchFamily="50" charset="-128"/>
                        </a:rPr>
                        <a:t>25</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＞営業：</a:t>
                      </a:r>
                      <a:r>
                        <a:rPr lang="en-US" altLang="ja-JP" sz="900" b="0" i="0" u="none" strike="noStrike">
                          <a:solidFill>
                            <a:srgbClr val="000000"/>
                          </a:solidFill>
                          <a:effectLst/>
                          <a:latin typeface="Meiryo UI" panose="020B0604030504040204" pitchFamily="50" charset="-128"/>
                          <a:ea typeface="Meiryo UI" panose="020B0604030504040204" pitchFamily="50" charset="-128"/>
                        </a:rPr>
                        <a:t>23</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＞事務：</a:t>
                      </a:r>
                      <a:r>
                        <a:rPr lang="en-US" altLang="ja-JP" sz="900" b="0" i="0" u="none" strike="noStrike">
                          <a:solidFill>
                            <a:srgbClr val="000000"/>
                          </a:solidFill>
                          <a:effectLst/>
                          <a:latin typeface="Meiryo UI" panose="020B0604030504040204" pitchFamily="50" charset="-128"/>
                          <a:ea typeface="Meiryo UI" panose="020B0604030504040204" pitchFamily="50" charset="-128"/>
                        </a:rPr>
                        <a:t>12</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希望に合えば：</a:t>
                      </a:r>
                      <a:r>
                        <a:rPr lang="en-US" altLang="ja-JP" sz="900" b="0" i="0" u="none" strike="noStrike">
                          <a:solidFill>
                            <a:srgbClr val="000000"/>
                          </a:solidFill>
                          <a:effectLst/>
                          <a:latin typeface="Meiryo UI" panose="020B0604030504040204" pitchFamily="50" charset="-128"/>
                          <a:ea typeface="Meiryo UI" panose="020B0604030504040204" pitchFamily="50" charset="-128"/>
                        </a:rPr>
                        <a:t>70</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＞必ず転職したい：</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a:t>
                      </a:r>
                      <a:r>
                        <a:rPr lang="ja-JP" altLang="en-US" sz="900" b="0" i="0" u="none" strike="noStrike">
                          <a:solidFill>
                            <a:srgbClr val="000000"/>
                          </a:solidFill>
                          <a:effectLst/>
                          <a:latin typeface="Meiryo UI" panose="020B0604030504040204" pitchFamily="50" charset="-128"/>
                          <a:ea typeface="Meiryo UI" panose="020B0604030504040204" pitchFamily="50" charset="-128"/>
                        </a:rPr>
                        <a:t>ヶ月以内：</a:t>
                      </a:r>
                      <a:r>
                        <a:rPr lang="en-US" altLang="ja-JP" sz="900" b="0" i="0" u="none" strike="noStrike">
                          <a:solidFill>
                            <a:srgbClr val="000000"/>
                          </a:solidFill>
                          <a:effectLst/>
                          <a:latin typeface="Meiryo UI" panose="020B0604030504040204" pitchFamily="50" charset="-128"/>
                          <a:ea typeface="Meiryo UI" panose="020B0604030504040204" pitchFamily="50" charset="-128"/>
                        </a:rPr>
                        <a:t>31</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a:t>
                      </a:r>
                      <a:r>
                        <a:rPr lang="ja-JP" altLang="en-US" sz="900" b="0" i="0" u="none" strike="noStrike">
                          <a:solidFill>
                            <a:srgbClr val="000000"/>
                          </a:solidFill>
                          <a:effectLst/>
                          <a:latin typeface="Meiryo UI" panose="020B0604030504040204" pitchFamily="50" charset="-128"/>
                          <a:ea typeface="Meiryo UI" panose="020B0604030504040204" pitchFamily="50" charset="-128"/>
                        </a:rPr>
                        <a:t>ヶ月月以内：</a:t>
                      </a:r>
                      <a:r>
                        <a:rPr lang="en-US" altLang="ja-JP" sz="900" b="0" i="0" u="none" strike="noStrike">
                          <a:solidFill>
                            <a:srgbClr val="000000"/>
                          </a:solidFill>
                          <a:effectLst/>
                          <a:latin typeface="Meiryo UI" panose="020B0604030504040204" pitchFamily="50" charset="-128"/>
                          <a:ea typeface="Meiryo UI" panose="020B0604030504040204" pitchFamily="50" charset="-128"/>
                        </a:rPr>
                        <a:t>28</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＞明確な時期は無い：</a:t>
                      </a:r>
                      <a:r>
                        <a:rPr lang="en-US" altLang="ja-JP" sz="900" b="0" i="0" u="none" strike="noStrike">
                          <a:solidFill>
                            <a:srgbClr val="000000"/>
                          </a:solidFill>
                          <a:effectLst/>
                          <a:latin typeface="Meiryo UI" panose="020B0604030504040204" pitchFamily="50" charset="-128"/>
                          <a:ea typeface="Meiryo UI" panose="020B0604030504040204" pitchFamily="50" charset="-128"/>
                        </a:rPr>
                        <a:t>23</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＞半年以上先：</a:t>
                      </a:r>
                      <a:r>
                        <a:rPr lang="en-US" altLang="ja-JP" sz="900" b="0" i="0" u="none" strike="noStrike">
                          <a:solidFill>
                            <a:srgbClr val="000000"/>
                          </a:solidFill>
                          <a:effectLst/>
                          <a:latin typeface="Meiryo UI" panose="020B0604030504040204" pitchFamily="50" charset="-128"/>
                          <a:ea typeface="Meiryo UI" panose="020B0604030504040204" pitchFamily="50" charset="-128"/>
                        </a:rPr>
                        <a:t>19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2</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a:t>
                      </a:r>
                      <a:r>
                        <a:rPr lang="ja-JP" altLang="en-US" sz="900" b="0" i="0" u="none" strike="noStrike">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a:solidFill>
                            <a:srgbClr val="000000"/>
                          </a:solidFill>
                          <a:effectLst/>
                          <a:latin typeface="Meiryo UI" panose="020B0604030504040204" pitchFamily="50" charset="-128"/>
                          <a:ea typeface="Meiryo UI" panose="020B0604030504040204" pitchFamily="50" charset="-128"/>
                        </a:rPr>
                        <a:t>42</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＞０回：</a:t>
                      </a:r>
                      <a:r>
                        <a:rPr lang="en-US" altLang="ja-JP" sz="900" b="0" i="0" u="none" strike="noStrike">
                          <a:solidFill>
                            <a:srgbClr val="000000"/>
                          </a:solidFill>
                          <a:effectLst/>
                          <a:latin typeface="Meiryo UI" panose="020B0604030504040204" pitchFamily="50" charset="-128"/>
                          <a:ea typeface="Meiryo UI" panose="020B0604030504040204" pitchFamily="50" charset="-128"/>
                        </a:rPr>
                        <a:t>35</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1</a:t>
                      </a:r>
                      <a:r>
                        <a:rPr lang="ja-JP" altLang="en-US" sz="900" b="0" i="0" u="none" strike="noStrike">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a:solidFill>
                            <a:srgbClr val="000000"/>
                          </a:solidFill>
                          <a:effectLst/>
                          <a:latin typeface="Meiryo UI" panose="020B0604030504040204" pitchFamily="50" charset="-128"/>
                          <a:ea typeface="Meiryo UI" panose="020B0604030504040204" pitchFamily="50" charset="-128"/>
                        </a:rPr>
                        <a:t>16</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1.76</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40</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32</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20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29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35.3</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1497468080"/>
                  </a:ext>
                </a:extLst>
              </a:tr>
              <a:tr h="673307">
                <a:tc vMerge="1">
                  <a:txBody>
                    <a:bodyPr/>
                    <a:lstStyle/>
                    <a:p>
                      <a:endParaRPr kumimoji="1" lang="ja-JP" altLang="en-US"/>
                    </a:p>
                  </a:txBody>
                  <a:tcPr/>
                </a:tc>
                <a:tc>
                  <a:txBody>
                    <a:bodyPr/>
                    <a:lstStyle/>
                    <a:p>
                      <a:pPr algn="ctr" fontAlgn="ctr"/>
                      <a:r>
                        <a:rPr lang="ja-JP" altLang="en-US" sz="900" b="1" i="0" u="none" strike="noStrike">
                          <a:solidFill>
                            <a:srgbClr val="000000"/>
                          </a:solidFill>
                          <a:effectLst/>
                          <a:latin typeface="Meiryo UI" panose="020B0604030504040204" pitchFamily="50" charset="-128"/>
                          <a:ea typeface="Meiryo UI" panose="020B0604030504040204" pitchFamily="50" charset="-128"/>
                        </a:rPr>
                        <a:t>面談実施なし</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175</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300-399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39%</a:t>
                      </a:r>
                      <a:br>
                        <a:rPr lang="en-US" altLang="ja-JP"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400-599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29%</a:t>
                      </a:r>
                      <a:br>
                        <a:rPr lang="en-US" altLang="ja-JP"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300</a:t>
                      </a:r>
                      <a:r>
                        <a:rPr lang="ja-JP" altLang="en-US" sz="900" b="0" i="0" u="none" strike="noStrike">
                          <a:solidFill>
                            <a:srgbClr val="000000"/>
                          </a:solidFill>
                          <a:effectLst/>
                          <a:latin typeface="Meiryo UI" panose="020B0604030504040204" pitchFamily="50" charset="-128"/>
                          <a:ea typeface="Meiryo UI" panose="020B0604030504040204" pitchFamily="50" charset="-128"/>
                        </a:rPr>
                        <a:t>未満：</a:t>
                      </a:r>
                      <a:r>
                        <a:rPr lang="en-US" altLang="ja-JP" sz="900" b="0" i="0" u="none" strike="noStrike">
                          <a:solidFill>
                            <a:srgbClr val="000000"/>
                          </a:solidFill>
                          <a:effectLst/>
                          <a:latin typeface="Meiryo UI" panose="020B0604030504040204" pitchFamily="50" charset="-128"/>
                          <a:ea typeface="Meiryo UI" panose="020B0604030504040204" pitchFamily="50" charset="-128"/>
                        </a:rPr>
                        <a:t>22 %</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400.1</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企画・管理：</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19</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＞事務：</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18</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＞営業：</a:t>
                      </a: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17</a:t>
                      </a:r>
                      <a:r>
                        <a:rPr lang="ja-JP" altLang="en-US" sz="900" b="0" i="0" u="none" strike="noStrike" dirty="0">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900" b="0" i="0" u="none" strike="noStrike">
                          <a:solidFill>
                            <a:srgbClr val="000000"/>
                          </a:solidFill>
                          <a:effectLst/>
                          <a:latin typeface="Meiryo UI" panose="020B0604030504040204" pitchFamily="50" charset="-128"/>
                          <a:ea typeface="Meiryo UI" panose="020B0604030504040204" pitchFamily="50" charset="-128"/>
                        </a:rPr>
                        <a:t>希望に合えば：</a:t>
                      </a:r>
                      <a:r>
                        <a:rPr lang="en-US" altLang="ja-JP" sz="900" b="0" i="0" u="none" strike="noStrike">
                          <a:solidFill>
                            <a:srgbClr val="000000"/>
                          </a:solidFill>
                          <a:effectLst/>
                          <a:latin typeface="Meiryo UI" panose="020B0604030504040204" pitchFamily="50" charset="-128"/>
                          <a:ea typeface="Meiryo UI" panose="020B0604030504040204" pitchFamily="50" charset="-128"/>
                        </a:rPr>
                        <a:t>69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＞必ず転職したい：</a:t>
                      </a:r>
                      <a:r>
                        <a:rPr lang="en-US" altLang="ja-JP" sz="900" b="0" i="0" u="none" strike="noStrike">
                          <a:solidFill>
                            <a:srgbClr val="000000"/>
                          </a:solidFill>
                          <a:effectLst/>
                          <a:latin typeface="Meiryo UI" panose="020B0604030504040204" pitchFamily="50" charset="-128"/>
                          <a:ea typeface="Meiryo UI" panose="020B0604030504040204" pitchFamily="50" charset="-128"/>
                        </a:rPr>
                        <a:t>29</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a:t>
                      </a:r>
                      <a:r>
                        <a:rPr lang="ja-JP" altLang="en-US" sz="900" b="0" i="0" u="none" strike="noStrike">
                          <a:solidFill>
                            <a:srgbClr val="000000"/>
                          </a:solidFill>
                          <a:effectLst/>
                          <a:latin typeface="Meiryo UI" panose="020B0604030504040204" pitchFamily="50" charset="-128"/>
                          <a:ea typeface="Meiryo UI" panose="020B0604030504040204" pitchFamily="50" charset="-128"/>
                        </a:rPr>
                        <a:t>ヶ月以内：</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＞明確な時期は無い：</a:t>
                      </a:r>
                      <a:r>
                        <a:rPr lang="en-US" altLang="ja-JP" sz="900" b="0" i="0" u="none" strike="noStrike">
                          <a:solidFill>
                            <a:srgbClr val="000000"/>
                          </a:solidFill>
                          <a:effectLst/>
                          <a:latin typeface="Meiryo UI" panose="020B0604030504040204" pitchFamily="50" charset="-128"/>
                          <a:ea typeface="Meiryo UI" panose="020B0604030504040204" pitchFamily="50" charset="-128"/>
                        </a:rPr>
                        <a:t>26</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a:t>
                      </a:r>
                      <a:r>
                        <a:rPr lang="ja-JP" altLang="en-US" sz="900" b="0" i="0" u="none" strike="noStrike">
                          <a:solidFill>
                            <a:srgbClr val="000000"/>
                          </a:solidFill>
                          <a:effectLst/>
                          <a:latin typeface="Meiryo UI" panose="020B0604030504040204" pitchFamily="50" charset="-128"/>
                          <a:ea typeface="Meiryo UI" panose="020B0604030504040204" pitchFamily="50" charset="-128"/>
                        </a:rPr>
                        <a:t>ヶ月月以内：</a:t>
                      </a:r>
                      <a:r>
                        <a:rPr lang="en-US" altLang="ja-JP" sz="900" b="0" i="0" u="none" strike="noStrike">
                          <a:solidFill>
                            <a:srgbClr val="000000"/>
                          </a:solidFill>
                          <a:effectLst/>
                          <a:latin typeface="Meiryo UI" panose="020B0604030504040204" pitchFamily="50" charset="-128"/>
                          <a:ea typeface="Meiryo UI" panose="020B0604030504040204" pitchFamily="50" charset="-128"/>
                        </a:rPr>
                        <a:t>25</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＞半年以上先：</a:t>
                      </a:r>
                      <a:r>
                        <a:rPr lang="en-US" altLang="ja-JP" sz="900" b="0" i="0" u="none" strike="noStrike">
                          <a:solidFill>
                            <a:srgbClr val="000000"/>
                          </a:solidFill>
                          <a:effectLst/>
                          <a:latin typeface="Meiryo UI" panose="020B0604030504040204" pitchFamily="50" charset="-128"/>
                          <a:ea typeface="Meiryo UI" panose="020B0604030504040204" pitchFamily="50" charset="-128"/>
                        </a:rPr>
                        <a:t>18</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0</a:t>
                      </a:r>
                      <a:r>
                        <a:rPr lang="ja-JP" altLang="en-US" sz="900" b="0" i="0" u="none" strike="noStrike">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a:solidFill>
                            <a:srgbClr val="000000"/>
                          </a:solidFill>
                          <a:effectLst/>
                          <a:latin typeface="Meiryo UI" panose="020B0604030504040204" pitchFamily="50" charset="-128"/>
                          <a:ea typeface="Meiryo UI" panose="020B0604030504040204" pitchFamily="50" charset="-128"/>
                        </a:rPr>
                        <a:t>41</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en-US" altLang="ja-JP" sz="900" b="0" i="0" u="none" strike="noStrike">
                          <a:solidFill>
                            <a:srgbClr val="000000"/>
                          </a:solidFill>
                          <a:effectLst/>
                          <a:latin typeface="Meiryo UI" panose="020B0604030504040204" pitchFamily="50" charset="-128"/>
                          <a:ea typeface="Meiryo UI" panose="020B0604030504040204" pitchFamily="50" charset="-128"/>
                        </a:rPr>
                        <a:t>&gt;2~4</a:t>
                      </a:r>
                      <a:r>
                        <a:rPr lang="ja-JP" altLang="en-US" sz="900" b="0" i="0" u="none" strike="noStrike">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en-US" altLang="ja-JP" sz="900" b="0" i="0" u="none" strike="noStrike">
                          <a:solidFill>
                            <a:srgbClr val="000000"/>
                          </a:solidFill>
                          <a:effectLst/>
                          <a:latin typeface="Meiryo UI" panose="020B0604030504040204" pitchFamily="50" charset="-128"/>
                          <a:ea typeface="Meiryo UI" panose="020B0604030504040204" pitchFamily="50" charset="-128"/>
                        </a:rPr>
                        <a:t>&gt;1</a:t>
                      </a:r>
                      <a:r>
                        <a:rPr lang="ja-JP" altLang="en-US" sz="900" b="0" i="0" u="none" strike="noStrike">
                          <a:solidFill>
                            <a:srgbClr val="000000"/>
                          </a:solidFill>
                          <a:effectLst/>
                          <a:latin typeface="Meiryo UI" panose="020B0604030504040204" pitchFamily="50" charset="-128"/>
                          <a:ea typeface="Meiryo UI" panose="020B0604030504040204" pitchFamily="50" charset="-128"/>
                        </a:rPr>
                        <a:t>回：</a:t>
                      </a:r>
                      <a:r>
                        <a:rPr lang="en-US" altLang="ja-JP" sz="900" b="0" i="0" u="none" strike="noStrike">
                          <a:solidFill>
                            <a:srgbClr val="000000"/>
                          </a:solidFill>
                          <a:effectLst/>
                          <a:latin typeface="Meiryo UI" panose="020B0604030504040204" pitchFamily="50" charset="-128"/>
                          <a:ea typeface="Meiryo UI" panose="020B0604030504040204" pitchFamily="50" charset="-128"/>
                        </a:rPr>
                        <a:t>16</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1.73</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47</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40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30</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en-US" altLang="ja-JP" sz="900" b="0" i="0" u="none" strike="noStrike">
                          <a:solidFill>
                            <a:srgbClr val="000000"/>
                          </a:solidFill>
                          <a:effectLst/>
                          <a:latin typeface="Meiryo UI" panose="020B0604030504040204" pitchFamily="50" charset="-128"/>
                          <a:ea typeface="Meiryo UI" panose="020B0604030504040204" pitchFamily="50" charset="-128"/>
                        </a:rPr>
                        <a:t>20</a:t>
                      </a:r>
                      <a:r>
                        <a:rPr lang="ja-JP" altLang="en-US" sz="900" b="0" i="0" u="none" strike="noStrike">
                          <a:solidFill>
                            <a:srgbClr val="000000"/>
                          </a:solidFill>
                          <a:effectLst/>
                          <a:latin typeface="Meiryo UI" panose="020B0604030504040204" pitchFamily="50" charset="-128"/>
                          <a:ea typeface="Meiryo UI" panose="020B0604030504040204" pitchFamily="50" charset="-128"/>
                        </a:rPr>
                        <a:t>代：</a:t>
                      </a:r>
                      <a:r>
                        <a:rPr lang="en-US" altLang="ja-JP" sz="900" b="0" i="0" u="none" strike="noStrike">
                          <a:solidFill>
                            <a:srgbClr val="000000"/>
                          </a:solidFill>
                          <a:effectLst/>
                          <a:latin typeface="Meiryo UI" panose="020B0604030504040204" pitchFamily="50" charset="-128"/>
                          <a:ea typeface="Meiryo UI" panose="020B0604030504040204" pitchFamily="50" charset="-128"/>
                        </a:rPr>
                        <a:t>23</a:t>
                      </a: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ja-JP" sz="900" b="0" i="0" u="none" strike="noStrike" dirty="0">
                          <a:solidFill>
                            <a:srgbClr val="000000"/>
                          </a:solidFill>
                          <a:effectLst/>
                          <a:latin typeface="Meiryo UI" panose="020B0604030504040204" pitchFamily="50" charset="-128"/>
                          <a:ea typeface="Meiryo UI" panose="020B0604030504040204" pitchFamily="50" charset="-128"/>
                        </a:rPr>
                        <a:t>35.7</a:t>
                      </a:r>
                    </a:p>
                  </a:txBody>
                  <a:tcPr marL="7497" marR="7497" marT="74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01182338"/>
                  </a:ext>
                </a:extLst>
              </a:tr>
            </a:tbl>
          </a:graphicData>
        </a:graphic>
      </p:graphicFrame>
      <p:sp>
        <p:nvSpPr>
          <p:cNvPr id="7" name="正方形/長方形 6">
            <a:extLst>
              <a:ext uri="{FF2B5EF4-FFF2-40B4-BE49-F238E27FC236}">
                <a16:creationId xmlns:a16="http://schemas.microsoft.com/office/drawing/2014/main" id="{3DF00FDB-1EA8-4393-ABBC-3E6CBC34AAA2}"/>
              </a:ext>
            </a:extLst>
          </p:cNvPr>
          <p:cNvSpPr/>
          <p:nvPr/>
        </p:nvSpPr>
        <p:spPr>
          <a:xfrm>
            <a:off x="636948" y="4118707"/>
            <a:ext cx="3606805" cy="1954921"/>
          </a:xfrm>
          <a:prstGeom prst="rect">
            <a:avLst/>
          </a:prstGeom>
          <a:solidFill>
            <a:srgbClr val="EFF1F5"/>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l"/>
            <a:r>
              <a:rPr kumimoji="1" lang="ja-JP" altLang="en-US" sz="1050" b="1" u="sng" dirty="0">
                <a:solidFill>
                  <a:schemeClr val="tx1"/>
                </a:solidFill>
              </a:rPr>
              <a:t>■</a:t>
            </a:r>
            <a:r>
              <a:rPr kumimoji="1" lang="en-US" altLang="ja-JP" sz="1050" b="1" u="sng" dirty="0">
                <a:solidFill>
                  <a:schemeClr val="tx1"/>
                </a:solidFill>
              </a:rPr>
              <a:t>RAG</a:t>
            </a:r>
            <a:r>
              <a:rPr kumimoji="1" lang="ja-JP" altLang="en-US" sz="1050" b="1" u="sng" dirty="0">
                <a:solidFill>
                  <a:schemeClr val="tx1"/>
                </a:solidFill>
              </a:rPr>
              <a:t>へのサービス理解</a:t>
            </a:r>
            <a:endParaRPr kumimoji="1" lang="en-US" altLang="ja-JP" sz="1050" b="1" u="sng" dirty="0">
              <a:solidFill>
                <a:schemeClr val="tx1"/>
              </a:solidFill>
            </a:endParaRPr>
          </a:p>
          <a:p>
            <a:pPr algn="l"/>
            <a:r>
              <a:rPr lang="ja-JP" altLang="en-US" sz="1050" dirty="0">
                <a:solidFill>
                  <a:schemeClr val="tx1"/>
                </a:solidFill>
              </a:rPr>
              <a:t>・求人掲載があり自分で検索</a:t>
            </a:r>
            <a:r>
              <a:rPr lang="en-US" altLang="ja-JP" sz="1050" dirty="0">
                <a:solidFill>
                  <a:schemeClr val="tx1"/>
                </a:solidFill>
              </a:rPr>
              <a:t>/</a:t>
            </a:r>
            <a:r>
              <a:rPr lang="ja-JP" altLang="en-US" sz="1050" dirty="0">
                <a:solidFill>
                  <a:schemeClr val="tx1"/>
                </a:solidFill>
              </a:rPr>
              <a:t>応募</a:t>
            </a:r>
            <a:r>
              <a:rPr lang="en-US" altLang="ja-JP" sz="1050" dirty="0">
                <a:solidFill>
                  <a:schemeClr val="tx1"/>
                </a:solidFill>
              </a:rPr>
              <a:t>【</a:t>
            </a:r>
            <a:r>
              <a:rPr lang="ja-JP" altLang="en-US" sz="1050" dirty="0">
                <a:solidFill>
                  <a:schemeClr val="tx1"/>
                </a:solidFill>
              </a:rPr>
              <a:t>転職サイト機能</a:t>
            </a:r>
            <a:r>
              <a:rPr lang="en-US" altLang="ja-JP" sz="1050" dirty="0">
                <a:solidFill>
                  <a:schemeClr val="tx1"/>
                </a:solidFill>
              </a:rPr>
              <a:t>】</a:t>
            </a:r>
            <a:r>
              <a:rPr lang="ja-JP" altLang="en-US" sz="1050" dirty="0">
                <a:solidFill>
                  <a:schemeClr val="tx1"/>
                </a:solidFill>
              </a:rPr>
              <a:t>：　　</a:t>
            </a:r>
            <a:endParaRPr lang="en-US" altLang="ja-JP" sz="1050" dirty="0">
              <a:solidFill>
                <a:schemeClr val="tx1"/>
              </a:solidFill>
            </a:endParaRPr>
          </a:p>
          <a:p>
            <a:pPr algn="l"/>
            <a:r>
              <a:rPr lang="ja-JP" altLang="en-US" sz="1050" dirty="0">
                <a:solidFill>
                  <a:schemeClr val="tx1"/>
                </a:solidFill>
              </a:rPr>
              <a:t>　</a:t>
            </a:r>
            <a:r>
              <a:rPr lang="en-US" altLang="ja-JP" sz="1050" dirty="0">
                <a:solidFill>
                  <a:schemeClr val="tx1"/>
                </a:solidFill>
              </a:rPr>
              <a:t>47%</a:t>
            </a:r>
            <a:r>
              <a:rPr lang="ja-JP" altLang="en-US" sz="1050" dirty="0">
                <a:solidFill>
                  <a:schemeClr val="tx1"/>
                </a:solidFill>
              </a:rPr>
              <a:t>　</a:t>
            </a:r>
            <a:r>
              <a:rPr lang="en-US" altLang="ja-JP" sz="1050" dirty="0">
                <a:solidFill>
                  <a:schemeClr val="tx1"/>
                </a:solidFill>
              </a:rPr>
              <a:t>(</a:t>
            </a:r>
            <a:r>
              <a:rPr lang="ja-JP" altLang="en-US" sz="1050" dirty="0">
                <a:solidFill>
                  <a:schemeClr val="tx1"/>
                </a:solidFill>
              </a:rPr>
              <a:t>全体－</a:t>
            </a:r>
            <a:r>
              <a:rPr lang="en-US" altLang="ja-JP" sz="1050" dirty="0">
                <a:solidFill>
                  <a:schemeClr val="tx1"/>
                </a:solidFill>
              </a:rPr>
              <a:t>5.7pt</a:t>
            </a:r>
          </a:p>
          <a:p>
            <a:pPr algn="l"/>
            <a:r>
              <a:rPr lang="ja-JP" altLang="en-US" sz="1050" dirty="0">
                <a:solidFill>
                  <a:schemeClr val="tx1"/>
                </a:solidFill>
              </a:rPr>
              <a:t>・</a:t>
            </a:r>
            <a:r>
              <a:rPr lang="en-US" altLang="ja-JP" sz="1050" dirty="0">
                <a:solidFill>
                  <a:schemeClr val="tx1"/>
                </a:solidFill>
              </a:rPr>
              <a:t>CA</a:t>
            </a:r>
            <a:r>
              <a:rPr lang="ja-JP" altLang="en-US" sz="1050" dirty="0">
                <a:solidFill>
                  <a:schemeClr val="tx1"/>
                </a:solidFill>
              </a:rPr>
              <a:t>が求人紹介</a:t>
            </a:r>
            <a:r>
              <a:rPr lang="en-US" altLang="ja-JP" sz="1050" dirty="0">
                <a:solidFill>
                  <a:schemeClr val="tx1"/>
                </a:solidFill>
              </a:rPr>
              <a:t>/</a:t>
            </a:r>
            <a:r>
              <a:rPr lang="ja-JP" altLang="en-US" sz="1050" dirty="0">
                <a:solidFill>
                  <a:schemeClr val="tx1"/>
                </a:solidFill>
              </a:rPr>
              <a:t>応募をサポート</a:t>
            </a:r>
            <a:r>
              <a:rPr lang="en-US" altLang="ja-JP" sz="1050" dirty="0">
                <a:solidFill>
                  <a:schemeClr val="tx1"/>
                </a:solidFill>
              </a:rPr>
              <a:t>【</a:t>
            </a:r>
            <a:r>
              <a:rPr lang="ja-JP" altLang="en-US" sz="1050" dirty="0">
                <a:solidFill>
                  <a:schemeClr val="tx1"/>
                </a:solidFill>
              </a:rPr>
              <a:t>エージェント機能</a:t>
            </a:r>
            <a:r>
              <a:rPr lang="en-US" altLang="ja-JP" sz="1050" dirty="0">
                <a:solidFill>
                  <a:schemeClr val="tx1"/>
                </a:solidFill>
              </a:rPr>
              <a:t>】</a:t>
            </a:r>
            <a:r>
              <a:rPr lang="ja-JP" altLang="en-US" sz="1050" dirty="0">
                <a:solidFill>
                  <a:schemeClr val="tx1"/>
                </a:solidFill>
              </a:rPr>
              <a:t>：</a:t>
            </a:r>
            <a:endParaRPr lang="en-US" altLang="ja-JP" sz="1050" dirty="0">
              <a:solidFill>
                <a:schemeClr val="tx1"/>
              </a:solidFill>
            </a:endParaRPr>
          </a:p>
          <a:p>
            <a:pPr algn="l"/>
            <a:r>
              <a:rPr lang="ja-JP" altLang="en-US" sz="1050" dirty="0">
                <a:solidFill>
                  <a:schemeClr val="tx1"/>
                </a:solidFill>
              </a:rPr>
              <a:t>　</a:t>
            </a:r>
            <a:r>
              <a:rPr lang="en-US" altLang="ja-JP" sz="1050" dirty="0">
                <a:solidFill>
                  <a:schemeClr val="tx1"/>
                </a:solidFill>
              </a:rPr>
              <a:t>67.6</a:t>
            </a:r>
            <a:r>
              <a:rPr lang="ja-JP" altLang="en-US" sz="1050" dirty="0">
                <a:solidFill>
                  <a:schemeClr val="tx1"/>
                </a:solidFill>
              </a:rPr>
              <a:t>％　</a:t>
            </a:r>
            <a:r>
              <a:rPr lang="en-US" altLang="ja-JP" sz="1050" dirty="0">
                <a:solidFill>
                  <a:schemeClr val="tx1"/>
                </a:solidFill>
              </a:rPr>
              <a:t>(</a:t>
            </a:r>
            <a:r>
              <a:rPr lang="ja-JP" altLang="en-US" sz="1050" dirty="0">
                <a:solidFill>
                  <a:schemeClr val="tx1"/>
                </a:solidFill>
              </a:rPr>
              <a:t>全体－</a:t>
            </a:r>
            <a:r>
              <a:rPr lang="en-US" altLang="ja-JP" sz="1050" dirty="0">
                <a:solidFill>
                  <a:schemeClr val="tx1"/>
                </a:solidFill>
              </a:rPr>
              <a:t>7pt</a:t>
            </a:r>
          </a:p>
          <a:p>
            <a:pPr algn="l"/>
            <a:r>
              <a:rPr kumimoji="1" lang="ja-JP" altLang="en-US" sz="1050" dirty="0">
                <a:solidFill>
                  <a:schemeClr val="tx1"/>
                </a:solidFill>
              </a:rPr>
              <a:t>・企業からオファーが届く</a:t>
            </a:r>
            <a:r>
              <a:rPr lang="en-US" altLang="ja-JP" sz="1050" dirty="0">
                <a:solidFill>
                  <a:schemeClr val="tx1"/>
                </a:solidFill>
              </a:rPr>
              <a:t>【</a:t>
            </a:r>
            <a:r>
              <a:rPr kumimoji="1" lang="ja-JP" altLang="en-US" sz="1050" dirty="0">
                <a:solidFill>
                  <a:schemeClr val="tx1"/>
                </a:solidFill>
              </a:rPr>
              <a:t>ダイレクトスカウト機能</a:t>
            </a:r>
            <a:r>
              <a:rPr lang="en-US" altLang="ja-JP" sz="1050" dirty="0">
                <a:solidFill>
                  <a:schemeClr val="tx1"/>
                </a:solidFill>
              </a:rPr>
              <a:t>】</a:t>
            </a:r>
            <a:r>
              <a:rPr kumimoji="1" lang="ja-JP" altLang="en-US" sz="1050" dirty="0">
                <a:solidFill>
                  <a:schemeClr val="tx1"/>
                </a:solidFill>
              </a:rPr>
              <a:t>：</a:t>
            </a:r>
            <a:r>
              <a:rPr lang="en-US" altLang="ja-JP" sz="1050" dirty="0">
                <a:solidFill>
                  <a:schemeClr val="tx1"/>
                </a:solidFill>
              </a:rPr>
              <a:t> 39.7</a:t>
            </a:r>
            <a:r>
              <a:rPr lang="ja-JP" altLang="en-US" sz="1050" dirty="0">
                <a:solidFill>
                  <a:schemeClr val="tx1"/>
                </a:solidFill>
              </a:rPr>
              <a:t>％　</a:t>
            </a:r>
            <a:r>
              <a:rPr lang="en-US" altLang="ja-JP" sz="1050" dirty="0">
                <a:solidFill>
                  <a:schemeClr val="tx1"/>
                </a:solidFill>
              </a:rPr>
              <a:t>(</a:t>
            </a:r>
            <a:r>
              <a:rPr lang="ja-JP" altLang="en-US" sz="1050" dirty="0">
                <a:solidFill>
                  <a:schemeClr val="tx1"/>
                </a:solidFill>
              </a:rPr>
              <a:t>全体－</a:t>
            </a:r>
            <a:r>
              <a:rPr lang="en-US" altLang="ja-JP" sz="1050" dirty="0">
                <a:solidFill>
                  <a:schemeClr val="tx1"/>
                </a:solidFill>
              </a:rPr>
              <a:t>4.6pt</a:t>
            </a:r>
          </a:p>
        </p:txBody>
      </p:sp>
    </p:spTree>
    <p:extLst>
      <p:ext uri="{BB962C8B-B14F-4D97-AF65-F5344CB8AC3E}">
        <p14:creationId xmlns:p14="http://schemas.microsoft.com/office/powerpoint/2010/main" val="431857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00A9B7E6-A909-E638-3997-59C3529CD637}"/>
              </a:ext>
            </a:extLst>
          </p:cNvPr>
          <p:cNvSpPr>
            <a:spLocks noGrp="1"/>
          </p:cNvSpPr>
          <p:nvPr>
            <p:ph sz="quarter" idx="14"/>
          </p:nvPr>
        </p:nvSpPr>
        <p:spPr>
          <a:xfrm>
            <a:off x="360363" y="691190"/>
            <a:ext cx="11447462" cy="1042845"/>
          </a:xfrm>
        </p:spPr>
        <p:txBody>
          <a:bodyPr>
            <a:normAutofit/>
          </a:bodyPr>
          <a:lstStyle/>
          <a:p>
            <a:pPr marL="285750" indent="-285750">
              <a:buFont typeface="Wingdings" panose="05000000000000000000" pitchFamily="2" charset="2"/>
              <a:buChar char="ü"/>
            </a:pPr>
            <a:r>
              <a:rPr kumimoji="1" lang="ja-JP" altLang="en-US" sz="1200" dirty="0"/>
              <a:t>面談を希望しない理由としては「自分のペースで活動を進めたい」が</a:t>
            </a:r>
            <a:r>
              <a:rPr kumimoji="1" lang="en-US" altLang="ja-JP" sz="1200" dirty="0"/>
              <a:t>1</a:t>
            </a:r>
            <a:r>
              <a:rPr kumimoji="1" lang="ja-JP" altLang="en-US" sz="1200" dirty="0"/>
              <a:t>位だが、時期先</a:t>
            </a:r>
            <a:r>
              <a:rPr kumimoji="1" lang="en-US" altLang="ja-JP" sz="1200" dirty="0"/>
              <a:t>/</a:t>
            </a:r>
            <a:r>
              <a:rPr kumimoji="1" lang="ja-JP" altLang="en-US" sz="1200" dirty="0"/>
              <a:t>転職未定影響も大きい。情報収集目的も転職活動を進めるべきかどうか探りたいことに関連している可能性。</a:t>
            </a:r>
            <a:endParaRPr kumimoji="1" lang="en-US" altLang="ja-JP" sz="1200" dirty="0"/>
          </a:p>
          <a:p>
            <a:pPr marL="285750" indent="-285750">
              <a:buFont typeface="Wingdings" panose="05000000000000000000" pitchFamily="2" charset="2"/>
              <a:buChar char="ü"/>
            </a:pPr>
            <a:r>
              <a:rPr lang="ja-JP" altLang="en-US" sz="1200" dirty="0"/>
              <a:t>応募なし理由としては「気になる求人はあったが応募に踏み切れなかった」「希望する求人が見つからなかった」が多い。応募の後押し・希望する求人を見つけるサポートが良いのでは。</a:t>
            </a:r>
            <a:endParaRPr kumimoji="1" lang="en-US" altLang="ja-JP" sz="1200" dirty="0"/>
          </a:p>
        </p:txBody>
      </p:sp>
      <p:sp>
        <p:nvSpPr>
          <p:cNvPr id="3" name="テキスト プレースホルダー 2">
            <a:extLst>
              <a:ext uri="{FF2B5EF4-FFF2-40B4-BE49-F238E27FC236}">
                <a16:creationId xmlns:a16="http://schemas.microsoft.com/office/drawing/2014/main" id="{743D42A3-F560-A484-94F0-03FD716EE547}"/>
              </a:ext>
            </a:extLst>
          </p:cNvPr>
          <p:cNvSpPr>
            <a:spLocks noGrp="1"/>
          </p:cNvSpPr>
          <p:nvPr>
            <p:ph type="body" sz="quarter" idx="13"/>
          </p:nvPr>
        </p:nvSpPr>
        <p:spPr>
          <a:xfrm>
            <a:off x="360363" y="183090"/>
            <a:ext cx="11448000" cy="284693"/>
          </a:xfrm>
        </p:spPr>
        <p:txBody>
          <a:bodyPr/>
          <a:lstStyle/>
          <a:p>
            <a:r>
              <a:rPr lang="ja-JP" altLang="en-US" dirty="0"/>
              <a:t>活動ステータス別サマリ：</a:t>
            </a:r>
            <a:r>
              <a:rPr kumimoji="1" lang="ja-JP" altLang="en-US" dirty="0"/>
              <a:t>面談希望</a:t>
            </a:r>
            <a:r>
              <a:rPr kumimoji="1" lang="ja-JP" altLang="en-US" dirty="0">
                <a:solidFill>
                  <a:srgbClr val="FF0000"/>
                </a:solidFill>
              </a:rPr>
              <a:t>なし</a:t>
            </a:r>
            <a:r>
              <a:rPr kumimoji="1" lang="en-US" altLang="ja-JP" dirty="0"/>
              <a:t>【</a:t>
            </a:r>
            <a:r>
              <a:rPr kumimoji="1" lang="ja-JP" altLang="en-US" dirty="0"/>
              <a:t>全体傾向</a:t>
            </a:r>
            <a:r>
              <a:rPr kumimoji="1" lang="en-US" altLang="ja-JP" dirty="0"/>
              <a:t>】</a:t>
            </a:r>
            <a:endParaRPr kumimoji="1" lang="ja-JP" altLang="en-US" dirty="0">
              <a:solidFill>
                <a:srgbClr val="FF0000"/>
              </a:solidFill>
            </a:endParaRPr>
          </a:p>
        </p:txBody>
      </p:sp>
      <p:sp>
        <p:nvSpPr>
          <p:cNvPr id="4" name="フッター プレースホルダー 3">
            <a:extLst>
              <a:ext uri="{FF2B5EF4-FFF2-40B4-BE49-F238E27FC236}">
                <a16:creationId xmlns:a16="http://schemas.microsoft.com/office/drawing/2014/main" id="{48AB7D6E-80FE-EE6C-CDB7-49E04FB7E36E}"/>
              </a:ext>
            </a:extLst>
          </p:cNvPr>
          <p:cNvSpPr>
            <a:spLocks noGrp="1"/>
          </p:cNvSpPr>
          <p:nvPr>
            <p:ph type="ftr" sz="quarter" idx="3"/>
          </p:nvPr>
        </p:nvSpPr>
        <p:spPr/>
        <p:txBody>
          <a:bodyPr/>
          <a:lstStyle/>
          <a:p>
            <a:r>
              <a:rPr lang="en" altLang="ja-JP"/>
              <a:t>(C) Recruit Co., Ltd. All rights reserved. </a:t>
            </a:r>
            <a:endParaRPr lang="ja-JP" altLang="en-US"/>
          </a:p>
        </p:txBody>
      </p:sp>
      <p:sp>
        <p:nvSpPr>
          <p:cNvPr id="5" name="スライド番号プレースホルダー 4">
            <a:extLst>
              <a:ext uri="{FF2B5EF4-FFF2-40B4-BE49-F238E27FC236}">
                <a16:creationId xmlns:a16="http://schemas.microsoft.com/office/drawing/2014/main" id="{ADAC912E-593B-4AB8-B380-C12209D77045}"/>
              </a:ext>
            </a:extLst>
          </p:cNvPr>
          <p:cNvSpPr>
            <a:spLocks noGrp="1"/>
          </p:cNvSpPr>
          <p:nvPr>
            <p:ph type="sldNum" sz="quarter" idx="4"/>
          </p:nvPr>
        </p:nvSpPr>
        <p:spPr/>
        <p:txBody>
          <a:bodyPr/>
          <a:lstStyle/>
          <a:p>
            <a:fld id="{EDD55F78-D87A-074E-B5DA-6C9B598DD91F}" type="slidenum">
              <a:rPr lang="ja-JP" altLang="en-US" smtClean="0"/>
              <a:pPr/>
              <a:t>15</a:t>
            </a:fld>
            <a:endParaRPr lang="ja-JP" altLang="en-US"/>
          </a:p>
        </p:txBody>
      </p:sp>
      <p:graphicFrame>
        <p:nvGraphicFramePr>
          <p:cNvPr id="14" name="グラフ 13">
            <a:extLst>
              <a:ext uri="{FF2B5EF4-FFF2-40B4-BE49-F238E27FC236}">
                <a16:creationId xmlns:a16="http://schemas.microsoft.com/office/drawing/2014/main" id="{2945E375-5DB6-0E3C-AF9C-604DFC1EB77A}"/>
              </a:ext>
            </a:extLst>
          </p:cNvPr>
          <p:cNvGraphicFramePr>
            <a:graphicFrameLocks/>
          </p:cNvGraphicFramePr>
          <p:nvPr>
            <p:extLst>
              <p:ext uri="{D42A27DB-BD31-4B8C-83A1-F6EECF244321}">
                <p14:modId xmlns:p14="http://schemas.microsoft.com/office/powerpoint/2010/main" val="3894054826"/>
              </p:ext>
            </p:extLst>
          </p:nvPr>
        </p:nvGraphicFramePr>
        <p:xfrm>
          <a:off x="612469" y="1764779"/>
          <a:ext cx="5655470" cy="4309973"/>
        </p:xfrm>
        <a:graphic>
          <a:graphicData uri="http://schemas.openxmlformats.org/drawingml/2006/chart">
            <c:chart xmlns:c="http://schemas.openxmlformats.org/drawingml/2006/chart" xmlns:r="http://schemas.openxmlformats.org/officeDocument/2006/relationships" r:id="rId2"/>
          </a:graphicData>
        </a:graphic>
      </p:graphicFrame>
      <p:sp>
        <p:nvSpPr>
          <p:cNvPr id="15" name="テキスト ボックス 14">
            <a:extLst>
              <a:ext uri="{FF2B5EF4-FFF2-40B4-BE49-F238E27FC236}">
                <a16:creationId xmlns:a16="http://schemas.microsoft.com/office/drawing/2014/main" id="{B22DDB5B-5866-F75E-1783-B86E085F1696}"/>
              </a:ext>
            </a:extLst>
          </p:cNvPr>
          <p:cNvSpPr txBox="1"/>
          <p:nvPr/>
        </p:nvSpPr>
        <p:spPr>
          <a:xfrm>
            <a:off x="820552" y="1646258"/>
            <a:ext cx="4642338" cy="253916"/>
          </a:xfrm>
          <a:prstGeom prst="rect">
            <a:avLst/>
          </a:prstGeom>
          <a:noFill/>
        </p:spPr>
        <p:txBody>
          <a:bodyPr wrap="square" rtlCol="0">
            <a:spAutoFit/>
          </a:bodyPr>
          <a:lstStyle/>
          <a:p>
            <a:pPr algn="ctr"/>
            <a:r>
              <a:rPr kumimoji="1" lang="ja-JP" altLang="en-US" sz="1000" b="1" u="sng" dirty="0"/>
              <a:t>面談を希望しなかった理由</a:t>
            </a:r>
          </a:p>
        </p:txBody>
      </p:sp>
      <p:sp>
        <p:nvSpPr>
          <p:cNvPr id="16" name="正方形/長方形 15">
            <a:extLst>
              <a:ext uri="{FF2B5EF4-FFF2-40B4-BE49-F238E27FC236}">
                <a16:creationId xmlns:a16="http://schemas.microsoft.com/office/drawing/2014/main" id="{83F5439D-7578-C58D-161E-FEDBEEA64E70}"/>
              </a:ext>
            </a:extLst>
          </p:cNvPr>
          <p:cNvSpPr/>
          <p:nvPr/>
        </p:nvSpPr>
        <p:spPr>
          <a:xfrm>
            <a:off x="909270" y="1961662"/>
            <a:ext cx="1693253" cy="4173126"/>
          </a:xfrm>
          <a:prstGeom prst="rect">
            <a:avLst/>
          </a:prstGeom>
          <a:noFill/>
          <a:ln/>
        </p:spPr>
        <p:style>
          <a:lnRef idx="2">
            <a:schemeClr val="accent3"/>
          </a:lnRef>
          <a:fillRef idx="1">
            <a:schemeClr val="lt1"/>
          </a:fillRef>
          <a:effectRef idx="0">
            <a:schemeClr val="accent3"/>
          </a:effectRef>
          <a:fontRef idx="minor">
            <a:schemeClr val="dk1"/>
          </a:fontRef>
        </p:style>
        <p:txBody>
          <a:bodyPr rtlCol="0" anchor="t"/>
          <a:lstStyle/>
          <a:p>
            <a:pPr algn="l"/>
            <a:endParaRPr kumimoji="1" lang="ja-JP" altLang="en-US" sz="1050">
              <a:solidFill>
                <a:schemeClr val="tx1"/>
              </a:solidFill>
            </a:endParaRPr>
          </a:p>
        </p:txBody>
      </p:sp>
      <p:graphicFrame>
        <p:nvGraphicFramePr>
          <p:cNvPr id="7" name="グラフ 6">
            <a:extLst>
              <a:ext uri="{FF2B5EF4-FFF2-40B4-BE49-F238E27FC236}">
                <a16:creationId xmlns:a16="http://schemas.microsoft.com/office/drawing/2014/main" id="{0DF97021-413F-5AE1-694E-696E63EE88B7}"/>
              </a:ext>
            </a:extLst>
          </p:cNvPr>
          <p:cNvGraphicFramePr>
            <a:graphicFrameLocks/>
          </p:cNvGraphicFramePr>
          <p:nvPr>
            <p:extLst>
              <p:ext uri="{D42A27DB-BD31-4B8C-83A1-F6EECF244321}">
                <p14:modId xmlns:p14="http://schemas.microsoft.com/office/powerpoint/2010/main" val="3806135088"/>
              </p:ext>
            </p:extLst>
          </p:nvPr>
        </p:nvGraphicFramePr>
        <p:xfrm>
          <a:off x="6096000" y="1851966"/>
          <a:ext cx="5447387" cy="4440558"/>
        </p:xfrm>
        <a:graphic>
          <a:graphicData uri="http://schemas.openxmlformats.org/drawingml/2006/chart">
            <c:chart xmlns:c="http://schemas.openxmlformats.org/drawingml/2006/chart" xmlns:r="http://schemas.openxmlformats.org/officeDocument/2006/relationships" r:id="rId3"/>
          </a:graphicData>
        </a:graphic>
      </p:graphicFrame>
      <p:sp>
        <p:nvSpPr>
          <p:cNvPr id="8" name="テキスト ボックス 7">
            <a:extLst>
              <a:ext uri="{FF2B5EF4-FFF2-40B4-BE49-F238E27FC236}">
                <a16:creationId xmlns:a16="http://schemas.microsoft.com/office/drawing/2014/main" id="{C28AC354-4ACE-C75F-D2A8-5FEF26958479}"/>
              </a:ext>
            </a:extLst>
          </p:cNvPr>
          <p:cNvSpPr txBox="1"/>
          <p:nvPr/>
        </p:nvSpPr>
        <p:spPr>
          <a:xfrm>
            <a:off x="6498524" y="1688629"/>
            <a:ext cx="4642338" cy="253916"/>
          </a:xfrm>
          <a:prstGeom prst="rect">
            <a:avLst/>
          </a:prstGeom>
          <a:noFill/>
        </p:spPr>
        <p:txBody>
          <a:bodyPr wrap="square" rtlCol="0">
            <a:spAutoFit/>
          </a:bodyPr>
          <a:lstStyle/>
          <a:p>
            <a:pPr algn="ctr"/>
            <a:r>
              <a:rPr kumimoji="1" lang="ja-JP" altLang="en-US" sz="1000" b="1" u="sng" dirty="0"/>
              <a:t>面談希望なしかつ応募しない理由</a:t>
            </a:r>
          </a:p>
        </p:txBody>
      </p:sp>
    </p:spTree>
    <p:extLst>
      <p:ext uri="{BB962C8B-B14F-4D97-AF65-F5344CB8AC3E}">
        <p14:creationId xmlns:p14="http://schemas.microsoft.com/office/powerpoint/2010/main" val="6808792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00A9B7E6-A909-E638-3997-59C3529CD637}"/>
              </a:ext>
            </a:extLst>
          </p:cNvPr>
          <p:cNvSpPr>
            <a:spLocks noGrp="1"/>
          </p:cNvSpPr>
          <p:nvPr>
            <p:ph sz="quarter" idx="14"/>
          </p:nvPr>
        </p:nvSpPr>
        <p:spPr>
          <a:xfrm>
            <a:off x="360363" y="863999"/>
            <a:ext cx="11447462" cy="456801"/>
          </a:xfrm>
        </p:spPr>
        <p:txBody>
          <a:bodyPr>
            <a:normAutofit lnSpcReduction="10000"/>
          </a:bodyPr>
          <a:lstStyle/>
          <a:p>
            <a:pPr marL="285750" indent="-285750">
              <a:buFont typeface="Wingdings" panose="05000000000000000000" pitchFamily="2" charset="2"/>
              <a:buChar char="ü"/>
            </a:pPr>
            <a:r>
              <a:rPr kumimoji="1" lang="ja-JP" altLang="en-US" sz="1200" dirty="0"/>
              <a:t>登録時の期待は自走のしやすい環境。活動中のサポートニーズも面談希望</a:t>
            </a:r>
            <a:r>
              <a:rPr kumimoji="1" lang="en-US" altLang="ja-JP" sz="1200" dirty="0"/>
              <a:t>CS</a:t>
            </a:r>
            <a:r>
              <a:rPr kumimoji="1" lang="ja-JP" altLang="en-US" sz="1200" dirty="0"/>
              <a:t>に比べると低い。</a:t>
            </a:r>
            <a:endParaRPr kumimoji="1" lang="en-US" altLang="ja-JP" sz="1200" dirty="0"/>
          </a:p>
          <a:p>
            <a:pPr marL="285750" indent="-285750">
              <a:buFont typeface="Wingdings" panose="05000000000000000000" pitchFamily="2" charset="2"/>
              <a:buChar char="ü"/>
            </a:pPr>
            <a:r>
              <a:rPr kumimoji="1" lang="ja-JP" altLang="en-US" sz="1200" dirty="0"/>
              <a:t>一方希望するサポート形態は</a:t>
            </a:r>
            <a:r>
              <a:rPr lang="en-US" altLang="ja-JP" sz="1200" dirty="0"/>
              <a:t>CA</a:t>
            </a:r>
            <a:r>
              <a:rPr lang="ja-JP" altLang="en-US" sz="1200" dirty="0"/>
              <a:t>からのライトで簡潔なコミュニケーションが多い。メール・</a:t>
            </a:r>
            <a:r>
              <a:rPr lang="en-US" altLang="ja-JP" sz="1200" dirty="0"/>
              <a:t>LINE</a:t>
            </a:r>
            <a:r>
              <a:rPr lang="ja-JP" altLang="en-US" sz="1200" dirty="0"/>
              <a:t>のニーズが高い。</a:t>
            </a:r>
            <a:endParaRPr kumimoji="1" lang="ja-JP" altLang="en-US" sz="1200" dirty="0"/>
          </a:p>
        </p:txBody>
      </p:sp>
      <p:sp>
        <p:nvSpPr>
          <p:cNvPr id="3" name="テキスト プレースホルダー 2">
            <a:extLst>
              <a:ext uri="{FF2B5EF4-FFF2-40B4-BE49-F238E27FC236}">
                <a16:creationId xmlns:a16="http://schemas.microsoft.com/office/drawing/2014/main" id="{743D42A3-F560-A484-94F0-03FD716EE547}"/>
              </a:ext>
            </a:extLst>
          </p:cNvPr>
          <p:cNvSpPr>
            <a:spLocks noGrp="1"/>
          </p:cNvSpPr>
          <p:nvPr>
            <p:ph type="body" sz="quarter" idx="13"/>
          </p:nvPr>
        </p:nvSpPr>
        <p:spPr>
          <a:xfrm>
            <a:off x="360363" y="183090"/>
            <a:ext cx="11448000" cy="284693"/>
          </a:xfrm>
        </p:spPr>
        <p:txBody>
          <a:bodyPr/>
          <a:lstStyle/>
          <a:p>
            <a:r>
              <a:rPr lang="ja-JP" altLang="en-US" dirty="0"/>
              <a:t>活動ステータス別サマリ：</a:t>
            </a:r>
            <a:r>
              <a:rPr kumimoji="1" lang="ja-JP" altLang="en-US" dirty="0"/>
              <a:t>面談希望</a:t>
            </a:r>
            <a:r>
              <a:rPr kumimoji="1" lang="ja-JP" altLang="en-US" dirty="0">
                <a:solidFill>
                  <a:srgbClr val="FF0000"/>
                </a:solidFill>
              </a:rPr>
              <a:t>なし</a:t>
            </a:r>
            <a:r>
              <a:rPr kumimoji="1" lang="en-US" altLang="ja-JP" dirty="0"/>
              <a:t>【</a:t>
            </a:r>
            <a:r>
              <a:rPr kumimoji="1" lang="ja-JP" altLang="en-US" dirty="0"/>
              <a:t>全体傾向</a:t>
            </a:r>
            <a:r>
              <a:rPr kumimoji="1" lang="en-US" altLang="ja-JP" dirty="0"/>
              <a:t>】</a:t>
            </a:r>
            <a:endParaRPr kumimoji="1" lang="ja-JP" altLang="en-US" dirty="0">
              <a:solidFill>
                <a:srgbClr val="FF0000"/>
              </a:solidFill>
            </a:endParaRPr>
          </a:p>
        </p:txBody>
      </p:sp>
      <p:sp>
        <p:nvSpPr>
          <p:cNvPr id="4" name="フッター プレースホルダー 3">
            <a:extLst>
              <a:ext uri="{FF2B5EF4-FFF2-40B4-BE49-F238E27FC236}">
                <a16:creationId xmlns:a16="http://schemas.microsoft.com/office/drawing/2014/main" id="{48AB7D6E-80FE-EE6C-CDB7-49E04FB7E36E}"/>
              </a:ext>
            </a:extLst>
          </p:cNvPr>
          <p:cNvSpPr>
            <a:spLocks noGrp="1"/>
          </p:cNvSpPr>
          <p:nvPr>
            <p:ph type="ftr" sz="quarter" idx="3"/>
          </p:nvPr>
        </p:nvSpPr>
        <p:spPr/>
        <p:txBody>
          <a:bodyPr/>
          <a:lstStyle/>
          <a:p>
            <a:r>
              <a:rPr lang="en" altLang="ja-JP"/>
              <a:t>(C) Recruit Co., Ltd. All rights reserved. </a:t>
            </a:r>
            <a:endParaRPr lang="ja-JP" altLang="en-US"/>
          </a:p>
        </p:txBody>
      </p:sp>
      <p:sp>
        <p:nvSpPr>
          <p:cNvPr id="5" name="スライド番号プレースホルダー 4">
            <a:extLst>
              <a:ext uri="{FF2B5EF4-FFF2-40B4-BE49-F238E27FC236}">
                <a16:creationId xmlns:a16="http://schemas.microsoft.com/office/drawing/2014/main" id="{ADAC912E-593B-4AB8-B380-C12209D77045}"/>
              </a:ext>
            </a:extLst>
          </p:cNvPr>
          <p:cNvSpPr>
            <a:spLocks noGrp="1"/>
          </p:cNvSpPr>
          <p:nvPr>
            <p:ph type="sldNum" sz="quarter" idx="4"/>
          </p:nvPr>
        </p:nvSpPr>
        <p:spPr/>
        <p:txBody>
          <a:bodyPr/>
          <a:lstStyle/>
          <a:p>
            <a:fld id="{EDD55F78-D87A-074E-B5DA-6C9B598DD91F}" type="slidenum">
              <a:rPr lang="ja-JP" altLang="en-US" smtClean="0"/>
              <a:pPr/>
              <a:t>16</a:t>
            </a:fld>
            <a:endParaRPr lang="ja-JP" altLang="en-US"/>
          </a:p>
        </p:txBody>
      </p:sp>
      <p:graphicFrame>
        <p:nvGraphicFramePr>
          <p:cNvPr id="10" name="グラフ 9">
            <a:extLst>
              <a:ext uri="{FF2B5EF4-FFF2-40B4-BE49-F238E27FC236}">
                <a16:creationId xmlns:a16="http://schemas.microsoft.com/office/drawing/2014/main" id="{EE4D6742-ABF5-4BB3-8F52-4D7E045E5BCC}"/>
              </a:ext>
            </a:extLst>
          </p:cNvPr>
          <p:cNvGraphicFramePr>
            <a:graphicFrameLocks/>
          </p:cNvGraphicFramePr>
          <p:nvPr>
            <p:extLst>
              <p:ext uri="{D42A27DB-BD31-4B8C-83A1-F6EECF244321}">
                <p14:modId xmlns:p14="http://schemas.microsoft.com/office/powerpoint/2010/main" val="1208217637"/>
              </p:ext>
            </p:extLst>
          </p:nvPr>
        </p:nvGraphicFramePr>
        <p:xfrm>
          <a:off x="4682507" y="1426064"/>
          <a:ext cx="7125317" cy="2223720"/>
        </p:xfrm>
        <a:graphic>
          <a:graphicData uri="http://schemas.openxmlformats.org/drawingml/2006/chart">
            <c:chart xmlns:c="http://schemas.openxmlformats.org/drawingml/2006/chart" xmlns:r="http://schemas.openxmlformats.org/officeDocument/2006/relationships" r:id="rId2"/>
          </a:graphicData>
        </a:graphic>
      </p:graphicFrame>
      <p:sp>
        <p:nvSpPr>
          <p:cNvPr id="12" name="テキスト ボックス 11">
            <a:extLst>
              <a:ext uri="{FF2B5EF4-FFF2-40B4-BE49-F238E27FC236}">
                <a16:creationId xmlns:a16="http://schemas.microsoft.com/office/drawing/2014/main" id="{A9E702BD-DB46-59B0-CDB0-43484ABCE296}"/>
              </a:ext>
            </a:extLst>
          </p:cNvPr>
          <p:cNvSpPr txBox="1"/>
          <p:nvPr/>
        </p:nvSpPr>
        <p:spPr>
          <a:xfrm>
            <a:off x="6381774" y="1438030"/>
            <a:ext cx="3543252" cy="253916"/>
          </a:xfrm>
          <a:prstGeom prst="rect">
            <a:avLst/>
          </a:prstGeom>
          <a:noFill/>
        </p:spPr>
        <p:txBody>
          <a:bodyPr wrap="square" rtlCol="0">
            <a:spAutoFit/>
          </a:bodyPr>
          <a:lstStyle/>
          <a:p>
            <a:pPr algn="ctr"/>
            <a:r>
              <a:rPr kumimoji="1" lang="ja-JP" altLang="en-US" sz="1000" b="1" u="sng" dirty="0"/>
              <a:t>転職活動中にサポートが欲しいと思った時</a:t>
            </a:r>
          </a:p>
        </p:txBody>
      </p:sp>
      <p:graphicFrame>
        <p:nvGraphicFramePr>
          <p:cNvPr id="13" name="表 15">
            <a:extLst>
              <a:ext uri="{FF2B5EF4-FFF2-40B4-BE49-F238E27FC236}">
                <a16:creationId xmlns:a16="http://schemas.microsoft.com/office/drawing/2014/main" id="{A387768E-BF3B-8232-BE5B-8088DAAD24B5}"/>
              </a:ext>
            </a:extLst>
          </p:cNvPr>
          <p:cNvGraphicFramePr>
            <a:graphicFrameLocks noGrp="1"/>
          </p:cNvGraphicFramePr>
          <p:nvPr>
            <p:extLst>
              <p:ext uri="{D42A27DB-BD31-4B8C-83A1-F6EECF244321}">
                <p14:modId xmlns:p14="http://schemas.microsoft.com/office/powerpoint/2010/main" val="1908787221"/>
              </p:ext>
            </p:extLst>
          </p:nvPr>
        </p:nvGraphicFramePr>
        <p:xfrm>
          <a:off x="656311" y="3813986"/>
          <a:ext cx="10855566" cy="2223720"/>
        </p:xfrm>
        <a:graphic>
          <a:graphicData uri="http://schemas.openxmlformats.org/drawingml/2006/table">
            <a:tbl>
              <a:tblPr firstRow="1" bandRow="1">
                <a:tableStyleId>{2D5ABB26-0587-4C30-8999-92F81FD0307C}</a:tableStyleId>
              </a:tblPr>
              <a:tblGrid>
                <a:gridCol w="1206174">
                  <a:extLst>
                    <a:ext uri="{9D8B030D-6E8A-4147-A177-3AD203B41FA5}">
                      <a16:colId xmlns:a16="http://schemas.microsoft.com/office/drawing/2014/main" val="2032334497"/>
                    </a:ext>
                  </a:extLst>
                </a:gridCol>
                <a:gridCol w="1206174">
                  <a:extLst>
                    <a:ext uri="{9D8B030D-6E8A-4147-A177-3AD203B41FA5}">
                      <a16:colId xmlns:a16="http://schemas.microsoft.com/office/drawing/2014/main" val="185690606"/>
                    </a:ext>
                  </a:extLst>
                </a:gridCol>
                <a:gridCol w="1206174">
                  <a:extLst>
                    <a:ext uri="{9D8B030D-6E8A-4147-A177-3AD203B41FA5}">
                      <a16:colId xmlns:a16="http://schemas.microsoft.com/office/drawing/2014/main" val="383090618"/>
                    </a:ext>
                  </a:extLst>
                </a:gridCol>
                <a:gridCol w="1206174">
                  <a:extLst>
                    <a:ext uri="{9D8B030D-6E8A-4147-A177-3AD203B41FA5}">
                      <a16:colId xmlns:a16="http://schemas.microsoft.com/office/drawing/2014/main" val="3614182275"/>
                    </a:ext>
                  </a:extLst>
                </a:gridCol>
                <a:gridCol w="1206174">
                  <a:extLst>
                    <a:ext uri="{9D8B030D-6E8A-4147-A177-3AD203B41FA5}">
                      <a16:colId xmlns:a16="http://schemas.microsoft.com/office/drawing/2014/main" val="3847822027"/>
                    </a:ext>
                  </a:extLst>
                </a:gridCol>
                <a:gridCol w="1206174">
                  <a:extLst>
                    <a:ext uri="{9D8B030D-6E8A-4147-A177-3AD203B41FA5}">
                      <a16:colId xmlns:a16="http://schemas.microsoft.com/office/drawing/2014/main" val="2204820772"/>
                    </a:ext>
                  </a:extLst>
                </a:gridCol>
                <a:gridCol w="1206174">
                  <a:extLst>
                    <a:ext uri="{9D8B030D-6E8A-4147-A177-3AD203B41FA5}">
                      <a16:colId xmlns:a16="http://schemas.microsoft.com/office/drawing/2014/main" val="2400484386"/>
                    </a:ext>
                  </a:extLst>
                </a:gridCol>
                <a:gridCol w="1206174">
                  <a:extLst>
                    <a:ext uri="{9D8B030D-6E8A-4147-A177-3AD203B41FA5}">
                      <a16:colId xmlns:a16="http://schemas.microsoft.com/office/drawing/2014/main" val="3280332275"/>
                    </a:ext>
                  </a:extLst>
                </a:gridCol>
                <a:gridCol w="1206174">
                  <a:extLst>
                    <a:ext uri="{9D8B030D-6E8A-4147-A177-3AD203B41FA5}">
                      <a16:colId xmlns:a16="http://schemas.microsoft.com/office/drawing/2014/main" val="635663444"/>
                    </a:ext>
                  </a:extLst>
                </a:gridCol>
              </a:tblGrid>
              <a:tr h="602527">
                <a:tc>
                  <a:txBody>
                    <a:bodyPr/>
                    <a:lstStyle/>
                    <a:p>
                      <a:pPr algn="ctr"/>
                      <a:endParaRPr kumimoji="1" lang="ja-JP" altLang="en-US" sz="1000" b="1" dirty="0">
                        <a:solidFill>
                          <a:schemeClr val="tx1"/>
                        </a:solidFill>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E1E5EB"/>
                    </a:solidFill>
                  </a:tcPr>
                </a:tc>
                <a:tc>
                  <a:txBody>
                    <a:bodyPr/>
                    <a:lstStyle/>
                    <a:p>
                      <a:pPr algn="ctr"/>
                      <a:r>
                        <a:rPr kumimoji="1" lang="ja-JP" altLang="en-US" sz="1000" b="1" dirty="0">
                          <a:solidFill>
                            <a:schemeClr val="tx1"/>
                          </a:solidFill>
                        </a:rPr>
                        <a:t>転職活動を進めるか迷っている</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E1E5EB"/>
                    </a:solidFill>
                  </a:tcPr>
                </a:tc>
                <a:tc>
                  <a:txBody>
                    <a:bodyPr/>
                    <a:lstStyle/>
                    <a:p>
                      <a:pPr algn="ctr"/>
                      <a:r>
                        <a:rPr kumimoji="1" lang="ja-JP" altLang="en-US" sz="1000" b="1" dirty="0">
                          <a:solidFill>
                            <a:schemeClr val="tx1"/>
                          </a:solidFill>
                        </a:rPr>
                        <a:t>求人を探す</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E1E5EB"/>
                    </a:solidFill>
                  </a:tcPr>
                </a:tc>
                <a:tc>
                  <a:txBody>
                    <a:bodyPr/>
                    <a:lstStyle/>
                    <a:p>
                      <a:pPr algn="ctr"/>
                      <a:r>
                        <a:rPr kumimoji="1" lang="ja-JP" altLang="en-US" sz="1000" b="1" dirty="0">
                          <a:solidFill>
                            <a:schemeClr val="tx1"/>
                          </a:solidFill>
                        </a:rPr>
                        <a:t>応募する求人を決める</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E1E5EB"/>
                    </a:solidFill>
                  </a:tcPr>
                </a:tc>
                <a:tc>
                  <a:txBody>
                    <a:bodyPr/>
                    <a:lstStyle/>
                    <a:p>
                      <a:pPr algn="ctr"/>
                      <a:r>
                        <a:rPr kumimoji="1" lang="ja-JP" altLang="en-US" sz="1000" b="1" dirty="0">
                          <a:solidFill>
                            <a:schemeClr val="tx1"/>
                          </a:solidFill>
                        </a:rPr>
                        <a:t>応募書類の作成</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E1E5EB"/>
                    </a:solidFill>
                  </a:tcPr>
                </a:tc>
                <a:tc>
                  <a:txBody>
                    <a:bodyPr/>
                    <a:lstStyle/>
                    <a:p>
                      <a:pPr algn="ctr"/>
                      <a:r>
                        <a:rPr kumimoji="1" lang="ja-JP" altLang="en-US" sz="1000" b="1" dirty="0">
                          <a:solidFill>
                            <a:schemeClr val="tx1"/>
                          </a:solidFill>
                        </a:rPr>
                        <a:t>応募書類の添削</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E1E5EB"/>
                    </a:solidFill>
                  </a:tcPr>
                </a:tc>
                <a:tc>
                  <a:txBody>
                    <a:bodyPr/>
                    <a:lstStyle/>
                    <a:p>
                      <a:pPr algn="ctr"/>
                      <a:r>
                        <a:rPr kumimoji="1" lang="ja-JP" altLang="en-US" sz="1000" b="1" dirty="0">
                          <a:solidFill>
                            <a:schemeClr val="tx1"/>
                          </a:solidFill>
                        </a:rPr>
                        <a:t>選考が上手く</a:t>
                      </a:r>
                      <a:endParaRPr kumimoji="1" lang="en-US" altLang="ja-JP" sz="1000" b="1" dirty="0">
                        <a:solidFill>
                          <a:schemeClr val="tx1"/>
                        </a:solidFill>
                      </a:endParaRPr>
                    </a:p>
                    <a:p>
                      <a:pPr algn="ctr"/>
                      <a:r>
                        <a:rPr kumimoji="1" lang="ja-JP" altLang="en-US" sz="1000" b="1" dirty="0">
                          <a:solidFill>
                            <a:schemeClr val="tx1"/>
                          </a:solidFill>
                        </a:rPr>
                        <a:t>進まない</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E1E5EB"/>
                    </a:solidFill>
                  </a:tcPr>
                </a:tc>
                <a:tc>
                  <a:txBody>
                    <a:bodyPr/>
                    <a:lstStyle/>
                    <a:p>
                      <a:pPr algn="ctr"/>
                      <a:r>
                        <a:rPr kumimoji="1" lang="ja-JP" altLang="en-US" sz="1000" b="1" dirty="0">
                          <a:solidFill>
                            <a:schemeClr val="tx1"/>
                          </a:solidFill>
                        </a:rPr>
                        <a:t>面接対策</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E1E5EB"/>
                    </a:solidFill>
                  </a:tcPr>
                </a:tc>
                <a:tc>
                  <a:txBody>
                    <a:bodyPr/>
                    <a:lstStyle/>
                    <a:p>
                      <a:pPr algn="ctr"/>
                      <a:r>
                        <a:rPr kumimoji="1" lang="ja-JP" altLang="en-US" sz="1000" b="1" dirty="0">
                          <a:solidFill>
                            <a:schemeClr val="tx1"/>
                          </a:solidFill>
                        </a:rPr>
                        <a:t>内定</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E1E5EB"/>
                    </a:solidFill>
                  </a:tcPr>
                </a:tc>
                <a:extLst>
                  <a:ext uri="{0D108BD9-81ED-4DB2-BD59-A6C34878D82A}">
                    <a16:rowId xmlns:a16="http://schemas.microsoft.com/office/drawing/2014/main" val="322668385"/>
                  </a:ext>
                </a:extLst>
              </a:tr>
              <a:tr h="875951">
                <a:tc>
                  <a:txBody>
                    <a:bodyPr/>
                    <a:lstStyle/>
                    <a:p>
                      <a:pPr algn="ctr"/>
                      <a:r>
                        <a:rPr kumimoji="1" lang="ja-JP" altLang="en-US" sz="1050" b="1" dirty="0">
                          <a:solidFill>
                            <a:schemeClr val="tx1"/>
                          </a:solidFill>
                        </a:rPr>
                        <a:t>重視観点</a:t>
                      </a:r>
                      <a:endParaRPr kumimoji="1" lang="en-US" altLang="ja-JP" sz="1050" b="1"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dirty="0">
                          <a:solidFill>
                            <a:schemeClr val="tx1"/>
                          </a:solidFill>
                        </a:rPr>
                        <a:t>※</a:t>
                      </a:r>
                      <a:r>
                        <a:rPr kumimoji="1" lang="ja-JP" altLang="en-US" sz="1000" b="1" dirty="0">
                          <a:solidFill>
                            <a:schemeClr val="tx1"/>
                          </a:solidFill>
                        </a:rPr>
                        <a:t>上位</a:t>
                      </a:r>
                      <a:r>
                        <a:rPr kumimoji="1" lang="en-US" altLang="ja-JP" sz="1000" b="1" dirty="0">
                          <a:solidFill>
                            <a:schemeClr val="tx1"/>
                          </a:solidFill>
                        </a:rPr>
                        <a:t>3</a:t>
                      </a:r>
                      <a:r>
                        <a:rPr kumimoji="1" lang="ja-JP" altLang="en-US" sz="1000" b="1" dirty="0">
                          <a:solidFill>
                            <a:schemeClr val="tx1"/>
                          </a:solidFill>
                        </a:rPr>
                        <a:t>項目</a:t>
                      </a:r>
                      <a:endParaRPr kumimoji="1" lang="en-US" altLang="ja-JP" sz="1100" b="1" dirty="0">
                        <a:solidFill>
                          <a:schemeClr val="tx1"/>
                        </a:solidFill>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AAB5C6"/>
                    </a:solidFill>
                  </a:tcPr>
                </a:tc>
                <a:tc>
                  <a:txBody>
                    <a:bodyPr/>
                    <a:lstStyle/>
                    <a:p>
                      <a:pPr algn="l"/>
                      <a:r>
                        <a:rPr kumimoji="1" lang="ja-JP" altLang="en-US" sz="800" dirty="0">
                          <a:solidFill>
                            <a:schemeClr val="tx1"/>
                          </a:solidFill>
                        </a:rPr>
                        <a:t>・利用のしやすさ</a:t>
                      </a:r>
                      <a:r>
                        <a:rPr kumimoji="1" lang="en-US" altLang="ja-JP" sz="800" dirty="0">
                          <a:solidFill>
                            <a:schemeClr val="tx1"/>
                          </a:solidFill>
                        </a:rPr>
                        <a:t>/</a:t>
                      </a:r>
                      <a:r>
                        <a:rPr kumimoji="1" lang="ja-JP" altLang="en-US" sz="800" dirty="0">
                          <a:solidFill>
                            <a:schemeClr val="tx1"/>
                          </a:solidFill>
                        </a:rPr>
                        <a:t>手軽さ</a:t>
                      </a:r>
                      <a:endParaRPr kumimoji="1" lang="en-US" altLang="ja-JP" sz="800" dirty="0">
                        <a:solidFill>
                          <a:schemeClr val="tx1"/>
                        </a:solidFill>
                      </a:endParaRPr>
                    </a:p>
                    <a:p>
                      <a:pPr algn="l"/>
                      <a:r>
                        <a:rPr kumimoji="1" lang="ja-JP" altLang="en-US" sz="800" dirty="0">
                          <a:solidFill>
                            <a:schemeClr val="tx1"/>
                          </a:solidFill>
                        </a:rPr>
                        <a:t>・信頼</a:t>
                      </a:r>
                      <a:r>
                        <a:rPr kumimoji="1" lang="en-US" altLang="ja-JP" sz="800" dirty="0">
                          <a:solidFill>
                            <a:schemeClr val="tx1"/>
                          </a:solidFill>
                        </a:rPr>
                        <a:t>/</a:t>
                      </a:r>
                      <a:r>
                        <a:rPr kumimoji="1" lang="ja-JP" altLang="en-US" sz="800" dirty="0">
                          <a:solidFill>
                            <a:schemeClr val="tx1"/>
                          </a:solidFill>
                        </a:rPr>
                        <a:t>安心感を得られる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・気持ちや立場に共感</a:t>
                      </a:r>
                      <a:r>
                        <a:rPr kumimoji="1" lang="en-US" altLang="ja-JP" sz="800" dirty="0">
                          <a:solidFill>
                            <a:schemeClr val="tx1"/>
                          </a:solidFill>
                        </a:rPr>
                        <a:t>/</a:t>
                      </a:r>
                      <a:r>
                        <a:rPr kumimoji="1" lang="ja-JP" altLang="en-US" sz="800" dirty="0">
                          <a:solidFill>
                            <a:schemeClr val="tx1"/>
                          </a:solidFill>
                        </a:rPr>
                        <a:t>理解してくれる</a:t>
                      </a:r>
                      <a:endParaRPr kumimoji="1" lang="en-US" altLang="ja-JP" sz="800" dirty="0">
                        <a:solidFill>
                          <a:schemeClr val="tx1"/>
                        </a:solidFill>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・正確な情報やサービスの提供</a:t>
                      </a:r>
                      <a:endParaRPr kumimoji="1" lang="en-US" altLang="ja-JP" sz="8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・信頼</a:t>
                      </a:r>
                      <a:r>
                        <a:rPr kumimoji="1" lang="en-US" altLang="ja-JP" sz="800" dirty="0">
                          <a:solidFill>
                            <a:schemeClr val="tx1"/>
                          </a:solidFill>
                        </a:rPr>
                        <a:t>/</a:t>
                      </a:r>
                      <a:r>
                        <a:rPr kumimoji="1" lang="ja-JP" altLang="en-US" sz="800" dirty="0">
                          <a:solidFill>
                            <a:schemeClr val="tx1"/>
                          </a:solidFill>
                        </a:rPr>
                        <a:t>安心感を得られる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・利用のしやすさ</a:t>
                      </a:r>
                      <a:r>
                        <a:rPr kumimoji="1" lang="en-US" altLang="ja-JP" sz="800" dirty="0">
                          <a:solidFill>
                            <a:schemeClr val="tx1"/>
                          </a:solidFill>
                        </a:rPr>
                        <a:t>/</a:t>
                      </a:r>
                      <a:r>
                        <a:rPr kumimoji="1" lang="ja-JP" altLang="en-US" sz="800" dirty="0">
                          <a:solidFill>
                            <a:schemeClr val="tx1"/>
                          </a:solidFill>
                        </a:rPr>
                        <a:t>手軽さ</a:t>
                      </a:r>
                      <a:endParaRPr kumimoji="1" lang="en-US" altLang="ja-JP" sz="800" dirty="0">
                        <a:solidFill>
                          <a:schemeClr val="tx1"/>
                        </a:solidFill>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・正確な情報やサービスの提供</a:t>
                      </a:r>
                      <a:endParaRPr kumimoji="1" lang="en-US" altLang="ja-JP" sz="8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・信頼</a:t>
                      </a:r>
                      <a:r>
                        <a:rPr kumimoji="1" lang="en-US" altLang="ja-JP" sz="800" dirty="0">
                          <a:solidFill>
                            <a:schemeClr val="tx1"/>
                          </a:solidFill>
                        </a:rPr>
                        <a:t>/</a:t>
                      </a:r>
                      <a:r>
                        <a:rPr kumimoji="1" lang="ja-JP" altLang="en-US" sz="800" dirty="0">
                          <a:solidFill>
                            <a:schemeClr val="tx1"/>
                          </a:solidFill>
                        </a:rPr>
                        <a:t>安心感を得られる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・素早く回答が得られる</a:t>
                      </a:r>
                      <a:endParaRPr kumimoji="1" lang="en-US" altLang="ja-JP" sz="800" dirty="0">
                        <a:solidFill>
                          <a:schemeClr val="tx1"/>
                        </a:solidFill>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・プロフェッショナルな知識やスキル</a:t>
                      </a:r>
                      <a:endParaRPr kumimoji="1" lang="en-US" altLang="ja-JP" sz="8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・利用のしやすさ</a:t>
                      </a:r>
                      <a:r>
                        <a:rPr kumimoji="1" lang="en-US" altLang="ja-JP" sz="800" dirty="0">
                          <a:solidFill>
                            <a:schemeClr val="tx1"/>
                          </a:solidFill>
                        </a:rPr>
                        <a:t>/</a:t>
                      </a:r>
                      <a:r>
                        <a:rPr kumimoji="1" lang="ja-JP" altLang="en-US" sz="800" dirty="0">
                          <a:solidFill>
                            <a:schemeClr val="tx1"/>
                          </a:solidFill>
                        </a:rPr>
                        <a:t>手軽さ</a:t>
                      </a:r>
                      <a:endParaRPr kumimoji="1" lang="en-US" altLang="ja-JP" sz="800" dirty="0">
                        <a:solidFill>
                          <a:schemeClr val="tx1"/>
                        </a:solidFill>
                      </a:endParaRPr>
                    </a:p>
                    <a:p>
                      <a:pPr algn="l"/>
                      <a:r>
                        <a:rPr kumimoji="1" lang="ja-JP" altLang="en-US" sz="800" dirty="0">
                          <a:solidFill>
                            <a:schemeClr val="tx1"/>
                          </a:solidFill>
                        </a:rPr>
                        <a:t>・素早く回答が得られる</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・プロフェッショナルな知識やスキル</a:t>
                      </a:r>
                      <a:endParaRPr kumimoji="1" lang="en-US" altLang="ja-JP" sz="8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・素早く回答が得られる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・信頼</a:t>
                      </a:r>
                      <a:r>
                        <a:rPr kumimoji="1" lang="en-US" altLang="ja-JP" sz="800" dirty="0">
                          <a:solidFill>
                            <a:schemeClr val="tx1"/>
                          </a:solidFill>
                        </a:rPr>
                        <a:t>/</a:t>
                      </a:r>
                      <a:r>
                        <a:rPr kumimoji="1" lang="ja-JP" altLang="en-US" sz="800" dirty="0">
                          <a:solidFill>
                            <a:schemeClr val="tx1"/>
                          </a:solidFill>
                        </a:rPr>
                        <a:t>安心感を得られる</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algn="l"/>
                      <a:r>
                        <a:rPr kumimoji="1" lang="ja-JP" altLang="en-US" sz="800" dirty="0">
                          <a:solidFill>
                            <a:schemeClr val="tx1"/>
                          </a:solidFill>
                        </a:rPr>
                        <a:t>・気持ちや立場に共感</a:t>
                      </a:r>
                      <a:r>
                        <a:rPr kumimoji="1" lang="en-US" altLang="ja-JP" sz="800" dirty="0">
                          <a:solidFill>
                            <a:schemeClr val="tx1"/>
                          </a:solidFill>
                        </a:rPr>
                        <a:t>/</a:t>
                      </a:r>
                      <a:r>
                        <a:rPr kumimoji="1" lang="ja-JP" altLang="en-US" sz="800" dirty="0">
                          <a:solidFill>
                            <a:schemeClr val="tx1"/>
                          </a:solidFill>
                        </a:rPr>
                        <a:t>理解してくれる</a:t>
                      </a:r>
                      <a:endParaRPr kumimoji="1" lang="en-US" altLang="ja-JP" sz="800" dirty="0">
                        <a:solidFill>
                          <a:schemeClr val="tx1"/>
                        </a:solidFill>
                      </a:endParaRPr>
                    </a:p>
                    <a:p>
                      <a:pPr algn="l"/>
                      <a:r>
                        <a:rPr kumimoji="1" lang="ja-JP" altLang="en-US" sz="800" dirty="0">
                          <a:solidFill>
                            <a:schemeClr val="tx1"/>
                          </a:solidFill>
                        </a:rPr>
                        <a:t>・信頼</a:t>
                      </a:r>
                      <a:r>
                        <a:rPr kumimoji="1" lang="en-US" altLang="ja-JP" sz="800" dirty="0">
                          <a:solidFill>
                            <a:schemeClr val="tx1"/>
                          </a:solidFill>
                        </a:rPr>
                        <a:t>/</a:t>
                      </a:r>
                      <a:r>
                        <a:rPr kumimoji="1" lang="ja-JP" altLang="en-US" sz="800" dirty="0">
                          <a:solidFill>
                            <a:schemeClr val="tx1"/>
                          </a:solidFill>
                        </a:rPr>
                        <a:t>安心感を得られる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・プロフェッショナルな知識やスキル</a:t>
                      </a:r>
                      <a:endParaRPr kumimoji="1" lang="en-US" altLang="ja-JP" sz="800" dirty="0">
                        <a:solidFill>
                          <a:schemeClr val="tx1"/>
                        </a:solidFill>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・プロフェッショナルな知識やスキル</a:t>
                      </a:r>
                      <a:endParaRPr kumimoji="1" lang="en-US" altLang="ja-JP" sz="800" dirty="0">
                        <a:solidFill>
                          <a:schemeClr val="tx1"/>
                        </a:solidFill>
                      </a:endParaRPr>
                    </a:p>
                    <a:p>
                      <a:pPr algn="l"/>
                      <a:r>
                        <a:rPr kumimoji="1" lang="ja-JP" altLang="en-US" sz="800" dirty="0">
                          <a:solidFill>
                            <a:schemeClr val="tx1"/>
                          </a:solidFill>
                        </a:rPr>
                        <a:t>・気持ちや立場に共感</a:t>
                      </a:r>
                      <a:r>
                        <a:rPr kumimoji="1" lang="en-US" altLang="ja-JP" sz="800" dirty="0">
                          <a:solidFill>
                            <a:schemeClr val="tx1"/>
                          </a:solidFill>
                        </a:rPr>
                        <a:t>/</a:t>
                      </a:r>
                      <a:r>
                        <a:rPr kumimoji="1" lang="ja-JP" altLang="en-US" sz="800" dirty="0">
                          <a:solidFill>
                            <a:schemeClr val="tx1"/>
                          </a:solidFill>
                        </a:rPr>
                        <a:t>理解してくれる</a:t>
                      </a:r>
                      <a:endParaRPr kumimoji="1" lang="en-US" altLang="ja-JP" sz="8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・信頼</a:t>
                      </a:r>
                      <a:r>
                        <a:rPr kumimoji="1" lang="en-US" altLang="ja-JP" sz="800" dirty="0">
                          <a:solidFill>
                            <a:schemeClr val="tx1"/>
                          </a:solidFill>
                        </a:rPr>
                        <a:t>/</a:t>
                      </a:r>
                      <a:r>
                        <a:rPr kumimoji="1" lang="ja-JP" altLang="en-US" sz="800" dirty="0">
                          <a:solidFill>
                            <a:schemeClr val="tx1"/>
                          </a:solidFill>
                        </a:rPr>
                        <a:t>安心感を得られる</a:t>
                      </a:r>
                      <a:endParaRPr kumimoji="1" lang="en-US" altLang="ja-JP" sz="800" dirty="0">
                        <a:solidFill>
                          <a:schemeClr val="tx1"/>
                        </a:solidFill>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・素早く回答が得られる</a:t>
                      </a:r>
                      <a:endParaRPr kumimoji="1" lang="en-US" altLang="ja-JP" sz="8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・気持ちや立場に共感</a:t>
                      </a:r>
                      <a:r>
                        <a:rPr kumimoji="1" lang="en-US" altLang="ja-JP" sz="800" dirty="0">
                          <a:solidFill>
                            <a:schemeClr val="tx1"/>
                          </a:solidFill>
                        </a:rPr>
                        <a:t>/</a:t>
                      </a:r>
                      <a:r>
                        <a:rPr kumimoji="1" lang="ja-JP" altLang="en-US" sz="800" dirty="0">
                          <a:solidFill>
                            <a:schemeClr val="tx1"/>
                          </a:solidFill>
                        </a:rPr>
                        <a:t>理解してくれる</a:t>
                      </a:r>
                      <a:endParaRPr kumimoji="1" lang="en-US" altLang="ja-JP" sz="8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dirty="0">
                          <a:solidFill>
                            <a:schemeClr val="tx1"/>
                          </a:solidFill>
                        </a:rPr>
                        <a:t>・正確な情報やサービスの提供</a:t>
                      </a:r>
                      <a:endParaRPr kumimoji="1" lang="en-US" altLang="ja-JP" sz="800" dirty="0">
                        <a:solidFill>
                          <a:schemeClr val="tx1"/>
                        </a:solidFill>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375519363"/>
                  </a:ext>
                </a:extLst>
              </a:tr>
              <a:tr h="745242">
                <a:tc>
                  <a:txBody>
                    <a:bodyPr/>
                    <a:lstStyle/>
                    <a:p>
                      <a:pPr algn="ctr"/>
                      <a:r>
                        <a:rPr kumimoji="1" lang="ja-JP" altLang="en-US" sz="1050" b="1" dirty="0">
                          <a:solidFill>
                            <a:schemeClr val="tx1"/>
                          </a:solidFill>
                        </a:rPr>
                        <a:t>希望する</a:t>
                      </a:r>
                      <a:endParaRPr kumimoji="1" lang="en-US" altLang="ja-JP" sz="1050" b="1" dirty="0">
                        <a:solidFill>
                          <a:schemeClr val="tx1"/>
                        </a:solidFill>
                      </a:endParaRPr>
                    </a:p>
                    <a:p>
                      <a:pPr algn="ctr"/>
                      <a:r>
                        <a:rPr kumimoji="1" lang="ja-JP" altLang="en-US" sz="1050" b="1" dirty="0">
                          <a:solidFill>
                            <a:schemeClr val="tx1"/>
                          </a:solidFill>
                        </a:rPr>
                        <a:t>サポート形態</a:t>
                      </a:r>
                      <a:endParaRPr kumimoji="1" lang="en-US" altLang="ja-JP" sz="1050" b="1" dirty="0">
                        <a:solidFill>
                          <a:schemeClr val="tx1"/>
                        </a:solidFill>
                      </a:endParaRPr>
                    </a:p>
                    <a:p>
                      <a:pPr algn="ctr"/>
                      <a:r>
                        <a:rPr kumimoji="1" lang="en-US" altLang="ja-JP" sz="1000" b="1" dirty="0">
                          <a:solidFill>
                            <a:schemeClr val="tx1"/>
                          </a:solidFill>
                        </a:rPr>
                        <a:t>※</a:t>
                      </a:r>
                      <a:r>
                        <a:rPr kumimoji="1" lang="ja-JP" altLang="en-US" sz="1000" b="1" dirty="0">
                          <a:solidFill>
                            <a:schemeClr val="tx1"/>
                          </a:solidFill>
                        </a:rPr>
                        <a:t>上位</a:t>
                      </a:r>
                      <a:r>
                        <a:rPr kumimoji="1" lang="en-US" altLang="ja-JP" sz="1000" b="1" dirty="0">
                          <a:solidFill>
                            <a:schemeClr val="tx1"/>
                          </a:solidFill>
                        </a:rPr>
                        <a:t>3</a:t>
                      </a:r>
                      <a:r>
                        <a:rPr kumimoji="1" lang="ja-JP" altLang="en-US" sz="1000" b="1" dirty="0">
                          <a:solidFill>
                            <a:schemeClr val="tx1"/>
                          </a:solidFill>
                        </a:rPr>
                        <a:t>項目</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AAB5C6"/>
                    </a:solidFill>
                  </a:tcPr>
                </a:tc>
                <a:tc>
                  <a:txBody>
                    <a:bodyPr/>
                    <a:lstStyle/>
                    <a:p>
                      <a:pPr algn="l"/>
                      <a:r>
                        <a:rPr kumimoji="1" lang="ja-JP" altLang="en-US" sz="800" dirty="0">
                          <a:solidFill>
                            <a:schemeClr val="tx1"/>
                          </a:solidFill>
                        </a:rPr>
                        <a:t>・</a:t>
                      </a:r>
                      <a:r>
                        <a:rPr kumimoji="1" lang="en-US" altLang="ja-JP" sz="800" dirty="0">
                          <a:solidFill>
                            <a:schemeClr val="tx1"/>
                          </a:solidFill>
                        </a:rPr>
                        <a:t>CA/LINE</a:t>
                      </a:r>
                    </a:p>
                    <a:p>
                      <a:pPr algn="l"/>
                      <a:r>
                        <a:rPr kumimoji="1" lang="ja-JP" altLang="en-US" sz="800" dirty="0">
                          <a:solidFill>
                            <a:schemeClr val="tx1"/>
                          </a:solidFill>
                        </a:rPr>
                        <a:t>・</a:t>
                      </a:r>
                      <a:r>
                        <a:rPr kumimoji="1" lang="en-US" altLang="ja-JP" sz="800" dirty="0">
                          <a:solidFill>
                            <a:schemeClr val="tx1"/>
                          </a:solidFill>
                        </a:rPr>
                        <a:t>CA/</a:t>
                      </a:r>
                      <a:r>
                        <a:rPr kumimoji="1" lang="ja-JP" altLang="en-US" sz="800" dirty="0">
                          <a:solidFill>
                            <a:schemeClr val="tx1"/>
                          </a:solidFill>
                        </a:rPr>
                        <a:t>メール</a:t>
                      </a:r>
                      <a:endParaRPr kumimoji="1" lang="en-US" altLang="ja-JP" sz="800" dirty="0">
                        <a:solidFill>
                          <a:schemeClr val="tx1"/>
                        </a:solidFill>
                      </a:endParaRPr>
                    </a:p>
                    <a:p>
                      <a:pPr algn="l"/>
                      <a:r>
                        <a:rPr kumimoji="1" lang="ja-JP" altLang="en-US" sz="800" dirty="0">
                          <a:solidFill>
                            <a:schemeClr val="tx1"/>
                          </a:solidFill>
                        </a:rPr>
                        <a:t>・システム</a:t>
                      </a:r>
                      <a:r>
                        <a:rPr kumimoji="1" lang="en-US" altLang="ja-JP" sz="800" dirty="0">
                          <a:solidFill>
                            <a:schemeClr val="tx1"/>
                          </a:solidFill>
                        </a:rPr>
                        <a:t>/LINE</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algn="l"/>
                      <a:r>
                        <a:rPr kumimoji="1" lang="ja-JP" altLang="en-US" sz="800" dirty="0">
                          <a:solidFill>
                            <a:schemeClr val="tx1"/>
                          </a:solidFill>
                        </a:rPr>
                        <a:t>・</a:t>
                      </a:r>
                      <a:r>
                        <a:rPr kumimoji="1" lang="en-US" altLang="ja-JP" sz="800" dirty="0">
                          <a:solidFill>
                            <a:schemeClr val="tx1"/>
                          </a:solidFill>
                        </a:rPr>
                        <a:t>CA/</a:t>
                      </a:r>
                      <a:r>
                        <a:rPr kumimoji="1" lang="ja-JP" altLang="en-US" sz="800" dirty="0">
                          <a:solidFill>
                            <a:schemeClr val="tx1"/>
                          </a:solidFill>
                        </a:rPr>
                        <a:t>メール</a:t>
                      </a:r>
                      <a:endParaRPr kumimoji="1" lang="en-US" altLang="ja-JP" sz="800" dirty="0">
                        <a:solidFill>
                          <a:schemeClr val="tx1"/>
                        </a:solidFill>
                      </a:endParaRPr>
                    </a:p>
                    <a:p>
                      <a:pPr algn="l"/>
                      <a:r>
                        <a:rPr kumimoji="1" lang="ja-JP" altLang="en-US" sz="800" dirty="0">
                          <a:solidFill>
                            <a:schemeClr val="tx1"/>
                          </a:solidFill>
                        </a:rPr>
                        <a:t>・</a:t>
                      </a:r>
                      <a:r>
                        <a:rPr kumimoji="1" lang="en-US" altLang="ja-JP" sz="800" dirty="0">
                          <a:solidFill>
                            <a:schemeClr val="tx1"/>
                          </a:solidFill>
                        </a:rPr>
                        <a:t>CA/LINE</a:t>
                      </a:r>
                    </a:p>
                    <a:p>
                      <a:pPr algn="l"/>
                      <a:r>
                        <a:rPr kumimoji="1" lang="ja-JP" altLang="en-US" sz="800" dirty="0">
                          <a:solidFill>
                            <a:schemeClr val="tx1"/>
                          </a:solidFill>
                        </a:rPr>
                        <a:t>・システム</a:t>
                      </a:r>
                      <a:r>
                        <a:rPr kumimoji="1" lang="en-US" altLang="ja-JP" sz="800" dirty="0">
                          <a:solidFill>
                            <a:schemeClr val="tx1"/>
                          </a:solidFill>
                        </a:rPr>
                        <a:t>/</a:t>
                      </a:r>
                      <a:r>
                        <a:rPr kumimoji="1" lang="ja-JP" altLang="en-US" sz="800" dirty="0">
                          <a:solidFill>
                            <a:schemeClr val="tx1"/>
                          </a:solidFill>
                        </a:rPr>
                        <a:t>メール</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algn="l"/>
                      <a:r>
                        <a:rPr kumimoji="1" lang="ja-JP" altLang="en-US" sz="800" dirty="0">
                          <a:solidFill>
                            <a:schemeClr val="tx1"/>
                          </a:solidFill>
                        </a:rPr>
                        <a:t>・</a:t>
                      </a:r>
                      <a:r>
                        <a:rPr kumimoji="1" lang="en-US" altLang="ja-JP" sz="800" dirty="0">
                          <a:solidFill>
                            <a:schemeClr val="tx1"/>
                          </a:solidFill>
                        </a:rPr>
                        <a:t>CA/LINE</a:t>
                      </a:r>
                    </a:p>
                    <a:p>
                      <a:pPr algn="l"/>
                      <a:r>
                        <a:rPr kumimoji="1" lang="ja-JP" altLang="en-US" sz="800" dirty="0">
                          <a:solidFill>
                            <a:schemeClr val="tx1"/>
                          </a:solidFill>
                        </a:rPr>
                        <a:t>・</a:t>
                      </a:r>
                      <a:r>
                        <a:rPr kumimoji="1" lang="en-US" altLang="ja-JP" sz="800" dirty="0">
                          <a:solidFill>
                            <a:schemeClr val="tx1"/>
                          </a:solidFill>
                        </a:rPr>
                        <a:t>CA/</a:t>
                      </a:r>
                      <a:r>
                        <a:rPr kumimoji="1" lang="ja-JP" altLang="en-US" sz="800" dirty="0">
                          <a:solidFill>
                            <a:schemeClr val="tx1"/>
                          </a:solidFill>
                        </a:rPr>
                        <a:t>メール</a:t>
                      </a:r>
                      <a:endParaRPr kumimoji="1" lang="en-US" altLang="ja-JP" sz="800" dirty="0">
                        <a:solidFill>
                          <a:schemeClr val="tx1"/>
                        </a:solidFill>
                      </a:endParaRPr>
                    </a:p>
                    <a:p>
                      <a:pPr algn="l"/>
                      <a:r>
                        <a:rPr kumimoji="1" lang="ja-JP" altLang="en-US" sz="800" dirty="0">
                          <a:solidFill>
                            <a:schemeClr val="tx1"/>
                          </a:solidFill>
                        </a:rPr>
                        <a:t>・</a:t>
                      </a:r>
                      <a:r>
                        <a:rPr kumimoji="1" lang="en-US" altLang="ja-JP" sz="800" dirty="0">
                          <a:solidFill>
                            <a:schemeClr val="tx1"/>
                          </a:solidFill>
                        </a:rPr>
                        <a:t>CA/</a:t>
                      </a:r>
                      <a:r>
                        <a:rPr kumimoji="1" lang="ja-JP" altLang="en-US" sz="800" dirty="0">
                          <a:solidFill>
                            <a:schemeClr val="tx1"/>
                          </a:solidFill>
                        </a:rPr>
                        <a:t>電話相談</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algn="l"/>
                      <a:r>
                        <a:rPr kumimoji="1" lang="ja-JP" altLang="en-US" sz="800" dirty="0">
                          <a:solidFill>
                            <a:schemeClr val="tx1"/>
                          </a:solidFill>
                        </a:rPr>
                        <a:t>・</a:t>
                      </a:r>
                      <a:r>
                        <a:rPr kumimoji="1" lang="en-US" altLang="ja-JP" sz="800" dirty="0">
                          <a:solidFill>
                            <a:schemeClr val="tx1"/>
                          </a:solidFill>
                        </a:rPr>
                        <a:t>CA/</a:t>
                      </a:r>
                      <a:r>
                        <a:rPr kumimoji="1" lang="ja-JP" altLang="en-US" sz="800" dirty="0">
                          <a:solidFill>
                            <a:schemeClr val="tx1"/>
                          </a:solidFill>
                        </a:rPr>
                        <a:t>メール</a:t>
                      </a:r>
                      <a:endParaRPr kumimoji="1" lang="en-US" altLang="ja-JP" sz="800" dirty="0">
                        <a:solidFill>
                          <a:schemeClr val="tx1"/>
                        </a:solidFill>
                      </a:endParaRPr>
                    </a:p>
                    <a:p>
                      <a:pPr algn="l"/>
                      <a:r>
                        <a:rPr kumimoji="1" lang="ja-JP" altLang="en-US" sz="800" dirty="0">
                          <a:solidFill>
                            <a:schemeClr val="tx1"/>
                          </a:solidFill>
                        </a:rPr>
                        <a:t>・</a:t>
                      </a:r>
                      <a:r>
                        <a:rPr kumimoji="1" lang="en-US" altLang="ja-JP" sz="800" dirty="0">
                          <a:solidFill>
                            <a:schemeClr val="tx1"/>
                          </a:solidFill>
                        </a:rPr>
                        <a:t>CA/LINE</a:t>
                      </a:r>
                    </a:p>
                    <a:p>
                      <a:pPr algn="l"/>
                      <a:r>
                        <a:rPr kumimoji="1" lang="ja-JP" altLang="en-US" sz="800" dirty="0">
                          <a:solidFill>
                            <a:schemeClr val="tx1"/>
                          </a:solidFill>
                        </a:rPr>
                        <a:t>・</a:t>
                      </a:r>
                      <a:r>
                        <a:rPr kumimoji="1" lang="en-US" altLang="ja-JP" sz="800" dirty="0">
                          <a:solidFill>
                            <a:schemeClr val="tx1"/>
                          </a:solidFill>
                        </a:rPr>
                        <a:t>CA/</a:t>
                      </a:r>
                      <a:r>
                        <a:rPr kumimoji="1" lang="ja-JP" altLang="en-US" sz="800" dirty="0">
                          <a:solidFill>
                            <a:schemeClr val="tx1"/>
                          </a:solidFill>
                        </a:rPr>
                        <a:t>チャット</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algn="l"/>
                      <a:r>
                        <a:rPr kumimoji="1" lang="ja-JP" altLang="en-US" sz="800" dirty="0">
                          <a:solidFill>
                            <a:schemeClr val="tx1"/>
                          </a:solidFill>
                        </a:rPr>
                        <a:t>・</a:t>
                      </a:r>
                      <a:r>
                        <a:rPr kumimoji="1" lang="en-US" altLang="ja-JP" sz="800" dirty="0">
                          <a:solidFill>
                            <a:schemeClr val="tx1"/>
                          </a:solidFill>
                        </a:rPr>
                        <a:t>CA/</a:t>
                      </a:r>
                      <a:r>
                        <a:rPr kumimoji="1" lang="ja-JP" altLang="en-US" sz="800" dirty="0">
                          <a:solidFill>
                            <a:schemeClr val="tx1"/>
                          </a:solidFill>
                        </a:rPr>
                        <a:t>メール</a:t>
                      </a:r>
                      <a:endParaRPr kumimoji="1" lang="en-US" altLang="ja-JP" sz="800" dirty="0">
                        <a:solidFill>
                          <a:schemeClr val="tx1"/>
                        </a:solidFill>
                      </a:endParaRPr>
                    </a:p>
                    <a:p>
                      <a:pPr algn="l"/>
                      <a:r>
                        <a:rPr kumimoji="1" lang="ja-JP" altLang="en-US" sz="800" dirty="0">
                          <a:solidFill>
                            <a:schemeClr val="tx1"/>
                          </a:solidFill>
                        </a:rPr>
                        <a:t>・</a:t>
                      </a:r>
                      <a:r>
                        <a:rPr kumimoji="1" lang="en-US" altLang="ja-JP" sz="800" dirty="0">
                          <a:solidFill>
                            <a:schemeClr val="tx1"/>
                          </a:solidFill>
                        </a:rPr>
                        <a:t>CA/LINE</a:t>
                      </a:r>
                    </a:p>
                    <a:p>
                      <a:pPr algn="l"/>
                      <a:r>
                        <a:rPr kumimoji="1" lang="ja-JP" altLang="en-US" sz="800" dirty="0">
                          <a:solidFill>
                            <a:schemeClr val="tx1"/>
                          </a:solidFill>
                        </a:rPr>
                        <a:t>・</a:t>
                      </a:r>
                      <a:r>
                        <a:rPr kumimoji="1" lang="en-US" altLang="ja-JP" sz="800" dirty="0">
                          <a:solidFill>
                            <a:schemeClr val="tx1"/>
                          </a:solidFill>
                        </a:rPr>
                        <a:t>CA/</a:t>
                      </a:r>
                      <a:r>
                        <a:rPr kumimoji="1" lang="ja-JP" altLang="en-US" sz="800" dirty="0">
                          <a:solidFill>
                            <a:schemeClr val="tx1"/>
                          </a:solidFill>
                        </a:rPr>
                        <a:t>チャット</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algn="l"/>
                      <a:r>
                        <a:rPr kumimoji="1" lang="ja-JP" altLang="en-US" sz="800" dirty="0">
                          <a:solidFill>
                            <a:schemeClr val="tx1"/>
                          </a:solidFill>
                        </a:rPr>
                        <a:t>・</a:t>
                      </a:r>
                      <a:r>
                        <a:rPr kumimoji="1" lang="en-US" altLang="ja-JP" sz="800" dirty="0">
                          <a:solidFill>
                            <a:schemeClr val="tx1"/>
                          </a:solidFill>
                        </a:rPr>
                        <a:t>CA/</a:t>
                      </a:r>
                      <a:r>
                        <a:rPr kumimoji="1" lang="ja-JP" altLang="en-US" sz="800" dirty="0">
                          <a:solidFill>
                            <a:schemeClr val="tx1"/>
                          </a:solidFill>
                        </a:rPr>
                        <a:t>電話相談</a:t>
                      </a:r>
                      <a:endParaRPr kumimoji="1" lang="en-US" altLang="ja-JP" sz="800" dirty="0">
                        <a:solidFill>
                          <a:schemeClr val="tx1"/>
                        </a:solidFill>
                      </a:endParaRPr>
                    </a:p>
                    <a:p>
                      <a:pPr algn="l"/>
                      <a:r>
                        <a:rPr kumimoji="1" lang="ja-JP" altLang="en-US" sz="800" dirty="0">
                          <a:solidFill>
                            <a:schemeClr val="tx1"/>
                          </a:solidFill>
                        </a:rPr>
                        <a:t>・</a:t>
                      </a:r>
                      <a:r>
                        <a:rPr kumimoji="1" lang="en-US" altLang="ja-JP" sz="800" dirty="0">
                          <a:solidFill>
                            <a:schemeClr val="tx1"/>
                          </a:solidFill>
                        </a:rPr>
                        <a:t>CA/</a:t>
                      </a:r>
                      <a:r>
                        <a:rPr kumimoji="1" lang="ja-JP" altLang="en-US" sz="800" dirty="0">
                          <a:solidFill>
                            <a:schemeClr val="tx1"/>
                          </a:solidFill>
                        </a:rPr>
                        <a:t>チャット</a:t>
                      </a:r>
                      <a:endParaRPr kumimoji="1" lang="en-US" altLang="ja-JP" sz="800" dirty="0">
                        <a:solidFill>
                          <a:schemeClr val="tx1"/>
                        </a:solidFill>
                      </a:endParaRPr>
                    </a:p>
                    <a:p>
                      <a:pPr algn="l"/>
                      <a:r>
                        <a:rPr kumimoji="1" lang="ja-JP" altLang="en-US" sz="800" dirty="0">
                          <a:solidFill>
                            <a:schemeClr val="tx1"/>
                          </a:solidFill>
                        </a:rPr>
                        <a:t>・</a:t>
                      </a:r>
                      <a:r>
                        <a:rPr kumimoji="1" lang="en-US" altLang="ja-JP" sz="800" dirty="0">
                          <a:solidFill>
                            <a:schemeClr val="tx1"/>
                          </a:solidFill>
                        </a:rPr>
                        <a:t>CA/LINE</a:t>
                      </a:r>
                      <a:endParaRPr kumimoji="1" lang="ja-JP" altLang="en-US" sz="800" dirty="0">
                        <a:solidFill>
                          <a:schemeClr val="tx1"/>
                        </a:solidFill>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algn="l"/>
                      <a:r>
                        <a:rPr kumimoji="1" lang="ja-JP" altLang="en-US" sz="800" dirty="0">
                          <a:solidFill>
                            <a:schemeClr val="tx1"/>
                          </a:solidFill>
                        </a:rPr>
                        <a:t>・</a:t>
                      </a:r>
                      <a:r>
                        <a:rPr kumimoji="1" lang="en-US" altLang="ja-JP" sz="800" dirty="0">
                          <a:solidFill>
                            <a:schemeClr val="tx1"/>
                          </a:solidFill>
                        </a:rPr>
                        <a:t>CA/</a:t>
                      </a:r>
                      <a:r>
                        <a:rPr kumimoji="1" lang="ja-JP" altLang="en-US" sz="800" dirty="0">
                          <a:solidFill>
                            <a:schemeClr val="tx1"/>
                          </a:solidFill>
                        </a:rPr>
                        <a:t>オンライン相談</a:t>
                      </a:r>
                      <a:endParaRPr kumimoji="1" lang="en-US" altLang="ja-JP" sz="800" dirty="0">
                        <a:solidFill>
                          <a:schemeClr val="tx1"/>
                        </a:solidFill>
                      </a:endParaRPr>
                    </a:p>
                    <a:p>
                      <a:pPr algn="l"/>
                      <a:r>
                        <a:rPr kumimoji="1" lang="ja-JP" altLang="en-US" sz="800" dirty="0">
                          <a:solidFill>
                            <a:schemeClr val="tx1"/>
                          </a:solidFill>
                        </a:rPr>
                        <a:t>・</a:t>
                      </a:r>
                      <a:r>
                        <a:rPr kumimoji="1" lang="en-US" altLang="ja-JP" sz="800" dirty="0">
                          <a:solidFill>
                            <a:schemeClr val="tx1"/>
                          </a:solidFill>
                        </a:rPr>
                        <a:t>CA/</a:t>
                      </a:r>
                      <a:r>
                        <a:rPr kumimoji="1" lang="ja-JP" altLang="en-US" sz="800" dirty="0">
                          <a:solidFill>
                            <a:schemeClr val="tx1"/>
                          </a:solidFill>
                        </a:rPr>
                        <a:t>電話相談</a:t>
                      </a:r>
                      <a:endParaRPr kumimoji="1" lang="en-US" altLang="ja-JP" sz="800" dirty="0">
                        <a:solidFill>
                          <a:schemeClr val="tx1"/>
                        </a:solidFill>
                      </a:endParaRPr>
                    </a:p>
                    <a:p>
                      <a:pPr algn="l"/>
                      <a:r>
                        <a:rPr kumimoji="1" lang="ja-JP" altLang="en-US" sz="800" dirty="0">
                          <a:solidFill>
                            <a:schemeClr val="tx1"/>
                          </a:solidFill>
                        </a:rPr>
                        <a:t>・</a:t>
                      </a:r>
                      <a:r>
                        <a:rPr kumimoji="1" lang="en-US" altLang="ja-JP" sz="800" dirty="0">
                          <a:solidFill>
                            <a:schemeClr val="tx1"/>
                          </a:solidFill>
                        </a:rPr>
                        <a:t>CA/</a:t>
                      </a:r>
                      <a:r>
                        <a:rPr kumimoji="1" lang="ja-JP" altLang="en-US" sz="800" dirty="0">
                          <a:solidFill>
                            <a:schemeClr val="tx1"/>
                          </a:solidFill>
                        </a:rPr>
                        <a:t>対面相談</a:t>
                      </a:r>
                      <a:endParaRPr kumimoji="1" lang="en-US" altLang="ja-JP" sz="800" dirty="0">
                        <a:solidFill>
                          <a:schemeClr val="tx1"/>
                        </a:solidFill>
                      </a:endParaRP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tc>
                  <a:txBody>
                    <a:bodyPr/>
                    <a:lstStyle/>
                    <a:p>
                      <a:pPr algn="l"/>
                      <a:r>
                        <a:rPr kumimoji="1" lang="ja-JP" altLang="en-US" sz="800" dirty="0">
                          <a:solidFill>
                            <a:schemeClr val="tx1"/>
                          </a:solidFill>
                        </a:rPr>
                        <a:t>・</a:t>
                      </a:r>
                      <a:r>
                        <a:rPr kumimoji="1" lang="en-US" altLang="ja-JP" sz="800" dirty="0">
                          <a:solidFill>
                            <a:schemeClr val="tx1"/>
                          </a:solidFill>
                        </a:rPr>
                        <a:t>CA/LINE</a:t>
                      </a:r>
                    </a:p>
                    <a:p>
                      <a:pPr algn="l"/>
                      <a:r>
                        <a:rPr kumimoji="1" lang="ja-JP" altLang="en-US" sz="800" dirty="0">
                          <a:solidFill>
                            <a:schemeClr val="tx1"/>
                          </a:solidFill>
                        </a:rPr>
                        <a:t>・</a:t>
                      </a:r>
                      <a:r>
                        <a:rPr kumimoji="1" lang="en-US" altLang="ja-JP" sz="800" dirty="0">
                          <a:solidFill>
                            <a:schemeClr val="tx1"/>
                          </a:solidFill>
                        </a:rPr>
                        <a:t>CA/</a:t>
                      </a:r>
                      <a:r>
                        <a:rPr kumimoji="1" lang="ja-JP" altLang="en-US" sz="800" dirty="0">
                          <a:solidFill>
                            <a:schemeClr val="tx1"/>
                          </a:solidFill>
                        </a:rPr>
                        <a:t>電話相談</a:t>
                      </a:r>
                      <a:endParaRPr kumimoji="1" lang="en-US" altLang="ja-JP" sz="800" dirty="0">
                        <a:solidFill>
                          <a:schemeClr val="tx1"/>
                        </a:solidFill>
                      </a:endParaRPr>
                    </a:p>
                    <a:p>
                      <a:pPr algn="l"/>
                      <a:r>
                        <a:rPr kumimoji="1" lang="ja-JP" altLang="en-US" sz="800" dirty="0">
                          <a:solidFill>
                            <a:schemeClr val="tx1"/>
                          </a:solidFill>
                        </a:rPr>
                        <a:t>・</a:t>
                      </a:r>
                      <a:r>
                        <a:rPr kumimoji="1" lang="en-US" altLang="ja-JP" sz="800" dirty="0">
                          <a:solidFill>
                            <a:schemeClr val="tx1"/>
                          </a:solidFill>
                        </a:rPr>
                        <a:t>CA/</a:t>
                      </a:r>
                      <a:r>
                        <a:rPr kumimoji="1" lang="ja-JP" altLang="en-US" sz="800" dirty="0">
                          <a:solidFill>
                            <a:schemeClr val="tx1"/>
                          </a:solidFill>
                        </a:rPr>
                        <a:t>メール</a:t>
                      </a:r>
                    </a:p>
                  </a:txBody>
                  <a:tcPr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9018884"/>
                  </a:ext>
                </a:extLst>
              </a:tr>
            </a:tbl>
          </a:graphicData>
        </a:graphic>
      </p:graphicFrame>
      <p:sp>
        <p:nvSpPr>
          <p:cNvPr id="14" name="正方形/長方形 13">
            <a:extLst>
              <a:ext uri="{FF2B5EF4-FFF2-40B4-BE49-F238E27FC236}">
                <a16:creationId xmlns:a16="http://schemas.microsoft.com/office/drawing/2014/main" id="{04A7DF0E-564C-B968-A39B-FA279B1790F0}"/>
              </a:ext>
            </a:extLst>
          </p:cNvPr>
          <p:cNvSpPr/>
          <p:nvPr/>
        </p:nvSpPr>
        <p:spPr>
          <a:xfrm>
            <a:off x="656311" y="1461116"/>
            <a:ext cx="3846218" cy="1929003"/>
          </a:xfrm>
          <a:prstGeom prst="rect">
            <a:avLst/>
          </a:prstGeom>
          <a:solidFill>
            <a:srgbClr val="EFF1F5"/>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l"/>
            <a:r>
              <a:rPr kumimoji="1" lang="ja-JP" altLang="en-US" sz="1050" b="1" u="sng" dirty="0">
                <a:solidFill>
                  <a:schemeClr val="tx1"/>
                </a:solidFill>
              </a:rPr>
              <a:t>■</a:t>
            </a:r>
            <a:r>
              <a:rPr kumimoji="1" lang="en-US" altLang="ja-JP" sz="1050" b="1" u="sng" dirty="0">
                <a:solidFill>
                  <a:schemeClr val="tx1"/>
                </a:solidFill>
              </a:rPr>
              <a:t>RAG</a:t>
            </a:r>
            <a:r>
              <a:rPr kumimoji="1" lang="ja-JP" altLang="en-US" sz="1050" b="1" u="sng" dirty="0">
                <a:solidFill>
                  <a:schemeClr val="tx1"/>
                </a:solidFill>
              </a:rPr>
              <a:t>エントリー時のサービス期待</a:t>
            </a:r>
            <a:endParaRPr kumimoji="1" lang="en-US" altLang="ja-JP" sz="1050" b="1" u="sng" dirty="0">
              <a:solidFill>
                <a:schemeClr val="tx1"/>
              </a:solidFill>
            </a:endParaRPr>
          </a:p>
          <a:p>
            <a:pPr algn="l"/>
            <a:r>
              <a:rPr lang="ja-JP" altLang="en-US" sz="1050" dirty="0">
                <a:solidFill>
                  <a:schemeClr val="tx1"/>
                </a:solidFill>
              </a:rPr>
              <a:t>∟上位</a:t>
            </a:r>
            <a:r>
              <a:rPr lang="en-US" altLang="ja-JP" sz="1050" dirty="0">
                <a:solidFill>
                  <a:schemeClr val="tx1"/>
                </a:solidFill>
              </a:rPr>
              <a:t>3</a:t>
            </a:r>
            <a:r>
              <a:rPr lang="ja-JP" altLang="en-US" sz="1050" dirty="0">
                <a:solidFill>
                  <a:schemeClr val="tx1"/>
                </a:solidFill>
              </a:rPr>
              <a:t>項目</a:t>
            </a:r>
            <a:endParaRPr lang="en-US" altLang="ja-JP" sz="1050" dirty="0">
              <a:solidFill>
                <a:schemeClr val="tx1"/>
              </a:solidFill>
            </a:endParaRPr>
          </a:p>
          <a:p>
            <a:pPr algn="l"/>
            <a:r>
              <a:rPr kumimoji="1" lang="ja-JP" altLang="en-US" sz="1050" dirty="0">
                <a:solidFill>
                  <a:schemeClr val="tx1"/>
                </a:solidFill>
              </a:rPr>
              <a:t>・応募</a:t>
            </a:r>
            <a:r>
              <a:rPr kumimoji="1" lang="en-US" altLang="ja-JP" sz="1050" dirty="0">
                <a:solidFill>
                  <a:schemeClr val="tx1"/>
                </a:solidFill>
              </a:rPr>
              <a:t>/</a:t>
            </a:r>
            <a:r>
              <a:rPr kumimoji="1" lang="ja-JP" altLang="en-US" sz="1050" dirty="0">
                <a:solidFill>
                  <a:schemeClr val="tx1"/>
                </a:solidFill>
              </a:rPr>
              <a:t>エントリーがしやすい：</a:t>
            </a:r>
            <a:r>
              <a:rPr kumimoji="1" lang="en-US" altLang="ja-JP" sz="1050" dirty="0">
                <a:solidFill>
                  <a:schemeClr val="tx1"/>
                </a:solidFill>
              </a:rPr>
              <a:t>40</a:t>
            </a:r>
            <a:r>
              <a:rPr kumimoji="1" lang="ja-JP" altLang="en-US" sz="1050" dirty="0">
                <a:solidFill>
                  <a:schemeClr val="tx1"/>
                </a:solidFill>
              </a:rPr>
              <a:t>％</a:t>
            </a:r>
            <a:endParaRPr kumimoji="1" lang="en-US" altLang="ja-JP" sz="1050" dirty="0">
              <a:solidFill>
                <a:schemeClr val="tx1"/>
              </a:solidFill>
            </a:endParaRPr>
          </a:p>
          <a:p>
            <a:pPr algn="l"/>
            <a:r>
              <a:rPr lang="ja-JP" altLang="en-US" sz="1050" dirty="0">
                <a:solidFill>
                  <a:schemeClr val="tx1"/>
                </a:solidFill>
              </a:rPr>
              <a:t>・</a:t>
            </a:r>
            <a:r>
              <a:rPr kumimoji="1" lang="ja-JP" altLang="en-US" sz="1050" dirty="0">
                <a:solidFill>
                  <a:schemeClr val="tx1"/>
                </a:solidFill>
              </a:rPr>
              <a:t>求人に対する情報量が多い</a:t>
            </a:r>
            <a:r>
              <a:rPr lang="ja-JP" altLang="en-US" sz="1050" dirty="0">
                <a:solidFill>
                  <a:schemeClr val="tx1"/>
                </a:solidFill>
              </a:rPr>
              <a:t>：</a:t>
            </a:r>
            <a:r>
              <a:rPr lang="en-US" altLang="ja-JP" sz="1050" dirty="0">
                <a:solidFill>
                  <a:schemeClr val="tx1"/>
                </a:solidFill>
              </a:rPr>
              <a:t>37</a:t>
            </a:r>
            <a:r>
              <a:rPr lang="ja-JP" altLang="en-US" sz="1050" dirty="0">
                <a:solidFill>
                  <a:schemeClr val="tx1"/>
                </a:solidFill>
              </a:rPr>
              <a:t>％</a:t>
            </a:r>
            <a:endParaRPr lang="en-US" altLang="ja-JP" sz="1050" dirty="0">
              <a:solidFill>
                <a:schemeClr val="tx1"/>
              </a:solidFill>
            </a:endParaRPr>
          </a:p>
          <a:p>
            <a:pPr algn="l"/>
            <a:r>
              <a:rPr kumimoji="1" lang="ja-JP" altLang="en-US" sz="1050" dirty="0">
                <a:solidFill>
                  <a:schemeClr val="tx1"/>
                </a:solidFill>
              </a:rPr>
              <a:t>・自分のペースで活動できる：</a:t>
            </a:r>
            <a:r>
              <a:rPr lang="en-US" altLang="ja-JP" sz="1050" dirty="0">
                <a:solidFill>
                  <a:schemeClr val="tx1"/>
                </a:solidFill>
              </a:rPr>
              <a:t>25</a:t>
            </a:r>
            <a:r>
              <a:rPr kumimoji="1" lang="ja-JP" altLang="en-US" sz="1050" dirty="0">
                <a:solidFill>
                  <a:schemeClr val="tx1"/>
                </a:solidFill>
              </a:rPr>
              <a:t>％</a:t>
            </a:r>
            <a:endParaRPr kumimoji="1" lang="en-US" altLang="ja-JP" sz="1050" dirty="0">
              <a:solidFill>
                <a:schemeClr val="tx1"/>
              </a:solidFill>
            </a:endParaRPr>
          </a:p>
          <a:p>
            <a:pPr algn="l"/>
            <a:endParaRPr lang="en-US" altLang="ja-JP" sz="1050" dirty="0">
              <a:solidFill>
                <a:schemeClr val="tx1"/>
              </a:solidFill>
            </a:endParaRPr>
          </a:p>
          <a:p>
            <a:pPr algn="l"/>
            <a:r>
              <a:rPr lang="ja-JP" altLang="en-US" sz="1050" dirty="0">
                <a:solidFill>
                  <a:schemeClr val="tx1"/>
                </a:solidFill>
              </a:rPr>
              <a:t>∟「面談希望あり」と開きのある項目</a:t>
            </a:r>
            <a:endParaRPr lang="en-US" altLang="ja-JP" sz="1050" dirty="0">
              <a:solidFill>
                <a:schemeClr val="tx1"/>
              </a:solidFill>
            </a:endParaRPr>
          </a:p>
          <a:p>
            <a:pPr algn="l"/>
            <a:r>
              <a:rPr lang="ja-JP" altLang="en-US" sz="1050" dirty="0">
                <a:solidFill>
                  <a:schemeClr val="tx1"/>
                </a:solidFill>
              </a:rPr>
              <a:t>・応募書類の作成サポート：面談希望あり</a:t>
            </a:r>
            <a:r>
              <a:rPr lang="en-US" altLang="ja-JP" sz="1050" dirty="0">
                <a:solidFill>
                  <a:schemeClr val="tx1"/>
                </a:solidFill>
              </a:rPr>
              <a:t>-22pt</a:t>
            </a:r>
          </a:p>
          <a:p>
            <a:r>
              <a:rPr kumimoji="1" lang="ja-JP" altLang="en-US" sz="1050" dirty="0">
                <a:solidFill>
                  <a:schemeClr val="tx1"/>
                </a:solidFill>
              </a:rPr>
              <a:t>・</a:t>
            </a:r>
            <a:r>
              <a:rPr lang="ja-JP" altLang="en-US" sz="1050" dirty="0">
                <a:solidFill>
                  <a:schemeClr val="tx1"/>
                </a:solidFill>
              </a:rPr>
              <a:t>自分のスキルや能力の棚卸し：面談希望あり</a:t>
            </a:r>
            <a:r>
              <a:rPr lang="en-US" altLang="ja-JP" sz="1050" dirty="0">
                <a:solidFill>
                  <a:schemeClr val="tx1"/>
                </a:solidFill>
              </a:rPr>
              <a:t>-18pt</a:t>
            </a:r>
            <a:endParaRPr kumimoji="1" lang="en-US" altLang="ja-JP" sz="1050" dirty="0">
              <a:solidFill>
                <a:schemeClr val="tx1"/>
              </a:solidFill>
            </a:endParaRPr>
          </a:p>
          <a:p>
            <a:pPr algn="l"/>
            <a:r>
              <a:rPr lang="ja-JP" altLang="en-US" sz="1050" dirty="0">
                <a:solidFill>
                  <a:schemeClr val="tx1"/>
                </a:solidFill>
              </a:rPr>
              <a:t>・活動中困ったときの相談がしやすい：面談希望あり</a:t>
            </a:r>
            <a:r>
              <a:rPr lang="en-US" altLang="ja-JP" sz="1050" dirty="0">
                <a:solidFill>
                  <a:schemeClr val="tx1"/>
                </a:solidFill>
              </a:rPr>
              <a:t>-16pt</a:t>
            </a:r>
            <a:endParaRPr kumimoji="1" lang="en-US" altLang="ja-JP" sz="1050" dirty="0">
              <a:solidFill>
                <a:schemeClr val="tx1"/>
              </a:solidFill>
            </a:endParaRPr>
          </a:p>
        </p:txBody>
      </p:sp>
    </p:spTree>
    <p:extLst>
      <p:ext uri="{BB962C8B-B14F-4D97-AF65-F5344CB8AC3E}">
        <p14:creationId xmlns:p14="http://schemas.microsoft.com/office/powerpoint/2010/main" val="3670300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00A9B7E6-A909-E638-3997-59C3529CD637}"/>
              </a:ext>
            </a:extLst>
          </p:cNvPr>
          <p:cNvSpPr>
            <a:spLocks noGrp="1"/>
          </p:cNvSpPr>
          <p:nvPr>
            <p:ph sz="quarter" idx="14"/>
          </p:nvPr>
        </p:nvSpPr>
        <p:spPr>
          <a:xfrm>
            <a:off x="360363" y="863999"/>
            <a:ext cx="11447462" cy="456801"/>
          </a:xfrm>
        </p:spPr>
        <p:txBody>
          <a:bodyPr>
            <a:normAutofit/>
          </a:bodyPr>
          <a:lstStyle/>
          <a:p>
            <a:pPr marL="285750" indent="-285750">
              <a:buFont typeface="Wingdings" panose="05000000000000000000" pitchFamily="2" charset="2"/>
              <a:buChar char="ü"/>
            </a:pPr>
            <a:r>
              <a:rPr kumimoji="1" lang="ja-JP" altLang="en-US" sz="1200" dirty="0"/>
              <a:t>面談や応募を検討するサポートも全体的にニーズが低いが、共通して求人情報が活動化へのきっかけ創出につながる可能性がある。</a:t>
            </a:r>
          </a:p>
        </p:txBody>
      </p:sp>
      <p:sp>
        <p:nvSpPr>
          <p:cNvPr id="3" name="テキスト プレースホルダー 2">
            <a:extLst>
              <a:ext uri="{FF2B5EF4-FFF2-40B4-BE49-F238E27FC236}">
                <a16:creationId xmlns:a16="http://schemas.microsoft.com/office/drawing/2014/main" id="{743D42A3-F560-A484-94F0-03FD716EE547}"/>
              </a:ext>
            </a:extLst>
          </p:cNvPr>
          <p:cNvSpPr>
            <a:spLocks noGrp="1"/>
          </p:cNvSpPr>
          <p:nvPr>
            <p:ph type="body" sz="quarter" idx="13"/>
          </p:nvPr>
        </p:nvSpPr>
        <p:spPr>
          <a:xfrm>
            <a:off x="360363" y="183090"/>
            <a:ext cx="11448000" cy="284693"/>
          </a:xfrm>
        </p:spPr>
        <p:txBody>
          <a:bodyPr/>
          <a:lstStyle/>
          <a:p>
            <a:r>
              <a:rPr lang="ja-JP" altLang="en-US" dirty="0"/>
              <a:t>活動ステータス別サマリ：</a:t>
            </a:r>
            <a:r>
              <a:rPr kumimoji="1" lang="ja-JP" altLang="en-US" dirty="0"/>
              <a:t>面談希望</a:t>
            </a:r>
            <a:r>
              <a:rPr kumimoji="1" lang="ja-JP" altLang="en-US" dirty="0">
                <a:solidFill>
                  <a:srgbClr val="FF0000"/>
                </a:solidFill>
              </a:rPr>
              <a:t>なし</a:t>
            </a:r>
            <a:r>
              <a:rPr kumimoji="1" lang="en-US" altLang="ja-JP" dirty="0"/>
              <a:t>【</a:t>
            </a:r>
            <a:r>
              <a:rPr kumimoji="1" lang="ja-JP" altLang="en-US" dirty="0"/>
              <a:t>全体傾向</a:t>
            </a:r>
            <a:r>
              <a:rPr kumimoji="1" lang="en-US" altLang="ja-JP" dirty="0"/>
              <a:t>】</a:t>
            </a:r>
            <a:endParaRPr kumimoji="1" lang="ja-JP" altLang="en-US" dirty="0">
              <a:solidFill>
                <a:srgbClr val="FF0000"/>
              </a:solidFill>
            </a:endParaRPr>
          </a:p>
        </p:txBody>
      </p:sp>
      <p:sp>
        <p:nvSpPr>
          <p:cNvPr id="4" name="フッター プレースホルダー 3">
            <a:extLst>
              <a:ext uri="{FF2B5EF4-FFF2-40B4-BE49-F238E27FC236}">
                <a16:creationId xmlns:a16="http://schemas.microsoft.com/office/drawing/2014/main" id="{48AB7D6E-80FE-EE6C-CDB7-49E04FB7E36E}"/>
              </a:ext>
            </a:extLst>
          </p:cNvPr>
          <p:cNvSpPr>
            <a:spLocks noGrp="1"/>
          </p:cNvSpPr>
          <p:nvPr>
            <p:ph type="ftr" sz="quarter" idx="3"/>
          </p:nvPr>
        </p:nvSpPr>
        <p:spPr/>
        <p:txBody>
          <a:bodyPr/>
          <a:lstStyle/>
          <a:p>
            <a:r>
              <a:rPr lang="en" altLang="ja-JP"/>
              <a:t>(C) Recruit Co., Ltd. All rights reserved. </a:t>
            </a:r>
            <a:endParaRPr lang="ja-JP" altLang="en-US"/>
          </a:p>
        </p:txBody>
      </p:sp>
      <p:sp>
        <p:nvSpPr>
          <p:cNvPr id="5" name="スライド番号プレースホルダー 4">
            <a:extLst>
              <a:ext uri="{FF2B5EF4-FFF2-40B4-BE49-F238E27FC236}">
                <a16:creationId xmlns:a16="http://schemas.microsoft.com/office/drawing/2014/main" id="{ADAC912E-593B-4AB8-B380-C12209D77045}"/>
              </a:ext>
            </a:extLst>
          </p:cNvPr>
          <p:cNvSpPr>
            <a:spLocks noGrp="1"/>
          </p:cNvSpPr>
          <p:nvPr>
            <p:ph type="sldNum" sz="quarter" idx="4"/>
          </p:nvPr>
        </p:nvSpPr>
        <p:spPr/>
        <p:txBody>
          <a:bodyPr/>
          <a:lstStyle/>
          <a:p>
            <a:fld id="{EDD55F78-D87A-074E-B5DA-6C9B598DD91F}" type="slidenum">
              <a:rPr lang="ja-JP" altLang="en-US" smtClean="0"/>
              <a:pPr/>
              <a:t>17</a:t>
            </a:fld>
            <a:endParaRPr lang="ja-JP" altLang="en-US"/>
          </a:p>
        </p:txBody>
      </p:sp>
      <p:sp>
        <p:nvSpPr>
          <p:cNvPr id="8" name="正方形/長方形 7">
            <a:extLst>
              <a:ext uri="{FF2B5EF4-FFF2-40B4-BE49-F238E27FC236}">
                <a16:creationId xmlns:a16="http://schemas.microsoft.com/office/drawing/2014/main" id="{AC0AEC86-E992-F1B8-8D4B-7979CCEE3E52}"/>
              </a:ext>
            </a:extLst>
          </p:cNvPr>
          <p:cNvSpPr/>
          <p:nvPr/>
        </p:nvSpPr>
        <p:spPr>
          <a:xfrm>
            <a:off x="734734" y="1320801"/>
            <a:ext cx="4465359" cy="456802"/>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t"/>
          <a:lstStyle/>
          <a:p>
            <a:pPr algn="l"/>
            <a:r>
              <a:rPr lang="ja-JP" altLang="en-US" sz="1050" b="1" u="sng" dirty="0">
                <a:solidFill>
                  <a:schemeClr val="tx1"/>
                </a:solidFill>
              </a:rPr>
              <a:t>■</a:t>
            </a:r>
            <a:r>
              <a:rPr kumimoji="1" lang="ja-JP" altLang="en-US" sz="1050" b="1" u="sng" dirty="0">
                <a:solidFill>
                  <a:schemeClr val="tx1"/>
                </a:solidFill>
              </a:rPr>
              <a:t>面談をしてみようと思うサポート</a:t>
            </a:r>
            <a:endParaRPr kumimoji="1" lang="en-US" altLang="ja-JP" sz="1050" b="1" u="sng" dirty="0">
              <a:solidFill>
                <a:schemeClr val="tx1"/>
              </a:solidFill>
            </a:endParaRPr>
          </a:p>
          <a:p>
            <a:pPr algn="l"/>
            <a:r>
              <a:rPr lang="ja-JP" altLang="en-US" sz="1050" dirty="0">
                <a:solidFill>
                  <a:schemeClr val="tx1"/>
                </a:solidFill>
              </a:rPr>
              <a:t>面談でしか共有されない求人情報</a:t>
            </a:r>
            <a:endParaRPr kumimoji="1" lang="ja-JP" altLang="en-US" sz="1050" dirty="0">
              <a:solidFill>
                <a:schemeClr val="tx1"/>
              </a:solidFill>
            </a:endParaRPr>
          </a:p>
        </p:txBody>
      </p:sp>
      <p:sp>
        <p:nvSpPr>
          <p:cNvPr id="9" name="正方形/長方形 8">
            <a:extLst>
              <a:ext uri="{FF2B5EF4-FFF2-40B4-BE49-F238E27FC236}">
                <a16:creationId xmlns:a16="http://schemas.microsoft.com/office/drawing/2014/main" id="{F5F8F239-A527-516E-1D8D-B52E3DFDB1A7}"/>
              </a:ext>
            </a:extLst>
          </p:cNvPr>
          <p:cNvSpPr/>
          <p:nvPr/>
        </p:nvSpPr>
        <p:spPr>
          <a:xfrm>
            <a:off x="5924059" y="1330372"/>
            <a:ext cx="5627077" cy="456802"/>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t"/>
          <a:lstStyle/>
          <a:p>
            <a:pPr algn="l"/>
            <a:r>
              <a:rPr kumimoji="1" lang="ja-JP" altLang="en-US" sz="1050" b="1" u="sng" dirty="0">
                <a:solidFill>
                  <a:schemeClr val="tx1"/>
                </a:solidFill>
              </a:rPr>
              <a:t>■応募を検討するサポート</a:t>
            </a:r>
            <a:endParaRPr kumimoji="1" lang="en-US" altLang="ja-JP" sz="1050" b="1" u="sng" dirty="0">
              <a:solidFill>
                <a:schemeClr val="tx1"/>
              </a:solidFill>
            </a:endParaRPr>
          </a:p>
          <a:p>
            <a:pPr algn="l"/>
            <a:r>
              <a:rPr lang="en-US" altLang="ja-JP" sz="1050" dirty="0">
                <a:solidFill>
                  <a:schemeClr val="tx1"/>
                </a:solidFill>
              </a:rPr>
              <a:t>CA</a:t>
            </a:r>
            <a:r>
              <a:rPr lang="ja-JP" altLang="en-US" sz="1050" dirty="0">
                <a:solidFill>
                  <a:schemeClr val="tx1"/>
                </a:solidFill>
              </a:rPr>
              <a:t>からの非公開求人紹介</a:t>
            </a:r>
            <a:endParaRPr kumimoji="1" lang="ja-JP" altLang="en-US" sz="1050" dirty="0">
              <a:solidFill>
                <a:schemeClr val="tx1"/>
              </a:solidFill>
            </a:endParaRPr>
          </a:p>
        </p:txBody>
      </p:sp>
      <p:graphicFrame>
        <p:nvGraphicFramePr>
          <p:cNvPr id="6" name="グラフ 5">
            <a:extLst>
              <a:ext uri="{FF2B5EF4-FFF2-40B4-BE49-F238E27FC236}">
                <a16:creationId xmlns:a16="http://schemas.microsoft.com/office/drawing/2014/main" id="{C8A096E1-EC57-42EF-857A-F109E46334BA}"/>
              </a:ext>
            </a:extLst>
          </p:cNvPr>
          <p:cNvGraphicFramePr>
            <a:graphicFrameLocks/>
          </p:cNvGraphicFramePr>
          <p:nvPr>
            <p:extLst>
              <p:ext uri="{D42A27DB-BD31-4B8C-83A1-F6EECF244321}">
                <p14:modId xmlns:p14="http://schemas.microsoft.com/office/powerpoint/2010/main" val="2346117486"/>
              </p:ext>
            </p:extLst>
          </p:nvPr>
        </p:nvGraphicFramePr>
        <p:xfrm>
          <a:off x="582955" y="1958108"/>
          <a:ext cx="5627077" cy="437498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グラフ 6">
            <a:extLst>
              <a:ext uri="{FF2B5EF4-FFF2-40B4-BE49-F238E27FC236}">
                <a16:creationId xmlns:a16="http://schemas.microsoft.com/office/drawing/2014/main" id="{2A2229B4-E6C9-48F0-B6E1-85AEFBEA0917}"/>
              </a:ext>
            </a:extLst>
          </p:cNvPr>
          <p:cNvGraphicFramePr>
            <a:graphicFrameLocks/>
          </p:cNvGraphicFramePr>
          <p:nvPr>
            <p:extLst>
              <p:ext uri="{D42A27DB-BD31-4B8C-83A1-F6EECF244321}">
                <p14:modId xmlns:p14="http://schemas.microsoft.com/office/powerpoint/2010/main" val="3534732451"/>
              </p:ext>
            </p:extLst>
          </p:nvPr>
        </p:nvGraphicFramePr>
        <p:xfrm>
          <a:off x="5543060" y="1958109"/>
          <a:ext cx="6389077" cy="474592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765578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B67730C3-610B-70CD-D7B2-31153552A192}"/>
              </a:ext>
            </a:extLst>
          </p:cNvPr>
          <p:cNvSpPr>
            <a:spLocks noGrp="1"/>
          </p:cNvSpPr>
          <p:nvPr>
            <p:ph sz="quarter" idx="14"/>
          </p:nvPr>
        </p:nvSpPr>
        <p:spPr>
          <a:xfrm>
            <a:off x="360363" y="840552"/>
            <a:ext cx="11447462" cy="1233585"/>
          </a:xfrm>
        </p:spPr>
        <p:txBody>
          <a:bodyPr>
            <a:normAutofit/>
          </a:bodyPr>
          <a:lstStyle/>
          <a:p>
            <a:pPr marL="285750" indent="-285750">
              <a:buFont typeface="Wingdings" panose="05000000000000000000" pitchFamily="2" charset="2"/>
              <a:buChar char="ü"/>
            </a:pPr>
            <a:r>
              <a:rPr kumimoji="1" lang="ja-JP" altLang="en-US" sz="1200" dirty="0"/>
              <a:t>面談希望無し</a:t>
            </a:r>
            <a:r>
              <a:rPr kumimoji="1" lang="en-US" altLang="ja-JP" sz="1200" dirty="0"/>
              <a:t>CS</a:t>
            </a:r>
            <a:r>
              <a:rPr lang="ja-JP" altLang="en-US" sz="1200" dirty="0"/>
              <a:t>も転職回数で二極化傾向にある可能性。</a:t>
            </a:r>
          </a:p>
          <a:p>
            <a:r>
              <a:rPr kumimoji="1" lang="ja-JP" altLang="en-US" sz="1200" dirty="0"/>
              <a:t>∟①転職回数０回：情報収集をしながら</a:t>
            </a:r>
            <a:r>
              <a:rPr lang="ja-JP" altLang="en-US" sz="1200" dirty="0"/>
              <a:t>転職活動のペースを決めていきたいが、転職自体の意向は固まっていないため面談が必要か判断がしずらいと想定。応募も気になる求人は一定見つかっていても最後の一歩が踏み切れていない。</a:t>
            </a:r>
            <a:endParaRPr kumimoji="1" lang="en-US" altLang="ja-JP" sz="1200" dirty="0"/>
          </a:p>
          <a:p>
            <a:r>
              <a:rPr lang="ja-JP" altLang="en-US" sz="1200" dirty="0"/>
              <a:t>∟②転職回数</a:t>
            </a:r>
            <a:r>
              <a:rPr lang="en-US" altLang="ja-JP" sz="1200" dirty="0"/>
              <a:t>2-4</a:t>
            </a:r>
            <a:r>
              <a:rPr lang="ja-JP" altLang="en-US" sz="1200" dirty="0"/>
              <a:t>回：自分のペースで活動したいため、時期先であることも踏まえてまだ面談は必要ないと判断。希望する求人が見つからなかったのも活動に至らなかった理由になっているのではないか。</a:t>
            </a:r>
            <a:endParaRPr kumimoji="1" lang="ja-JP" altLang="en-US" sz="1200" dirty="0"/>
          </a:p>
        </p:txBody>
      </p:sp>
      <p:sp>
        <p:nvSpPr>
          <p:cNvPr id="3" name="テキスト プレースホルダー 2">
            <a:extLst>
              <a:ext uri="{FF2B5EF4-FFF2-40B4-BE49-F238E27FC236}">
                <a16:creationId xmlns:a16="http://schemas.microsoft.com/office/drawing/2014/main" id="{AD11D133-1963-5E0C-9310-8DC4FBEBDA7B}"/>
              </a:ext>
            </a:extLst>
          </p:cNvPr>
          <p:cNvSpPr>
            <a:spLocks noGrp="1"/>
          </p:cNvSpPr>
          <p:nvPr>
            <p:ph type="body" sz="quarter" idx="13"/>
          </p:nvPr>
        </p:nvSpPr>
        <p:spPr>
          <a:xfrm>
            <a:off x="360363" y="183090"/>
            <a:ext cx="11448000" cy="284693"/>
          </a:xfrm>
        </p:spPr>
        <p:txBody>
          <a:bodyPr/>
          <a:lstStyle/>
          <a:p>
            <a:r>
              <a:rPr lang="ja-JP" altLang="en-US" dirty="0"/>
              <a:t>活動ステータス別サマリ：</a:t>
            </a:r>
            <a:r>
              <a:rPr kumimoji="1" lang="ja-JP" altLang="en-US" dirty="0"/>
              <a:t>面談希望</a:t>
            </a:r>
            <a:r>
              <a:rPr kumimoji="1" lang="ja-JP" altLang="en-US" dirty="0">
                <a:solidFill>
                  <a:srgbClr val="FF0000"/>
                </a:solidFill>
              </a:rPr>
              <a:t>なし</a:t>
            </a:r>
            <a:r>
              <a:rPr kumimoji="1" lang="en-US" altLang="ja-JP" dirty="0"/>
              <a:t>【</a:t>
            </a:r>
            <a:r>
              <a:rPr kumimoji="1" lang="ja-JP" altLang="en-US" dirty="0"/>
              <a:t>セグメント考察</a:t>
            </a:r>
            <a:r>
              <a:rPr kumimoji="1" lang="en-US" altLang="ja-JP" dirty="0"/>
              <a:t>】</a:t>
            </a:r>
            <a:endParaRPr kumimoji="1" lang="ja-JP" altLang="en-US" dirty="0">
              <a:solidFill>
                <a:srgbClr val="FF0000"/>
              </a:solidFill>
            </a:endParaRPr>
          </a:p>
        </p:txBody>
      </p:sp>
      <p:sp>
        <p:nvSpPr>
          <p:cNvPr id="4" name="フッター プレースホルダー 3">
            <a:extLst>
              <a:ext uri="{FF2B5EF4-FFF2-40B4-BE49-F238E27FC236}">
                <a16:creationId xmlns:a16="http://schemas.microsoft.com/office/drawing/2014/main" id="{5D12ADD8-59AB-709C-0D6A-B0B7B7F26734}"/>
              </a:ext>
            </a:extLst>
          </p:cNvPr>
          <p:cNvSpPr>
            <a:spLocks noGrp="1"/>
          </p:cNvSpPr>
          <p:nvPr>
            <p:ph type="ftr" sz="quarter" idx="3"/>
          </p:nvPr>
        </p:nvSpPr>
        <p:spPr/>
        <p:txBody>
          <a:bodyPr/>
          <a:lstStyle/>
          <a:p>
            <a:r>
              <a:rPr lang="en" altLang="ja-JP"/>
              <a:t>(C) Recruit Co., Ltd. All rights reserved. </a:t>
            </a:r>
            <a:endParaRPr lang="ja-JP" altLang="en-US"/>
          </a:p>
        </p:txBody>
      </p:sp>
      <p:sp>
        <p:nvSpPr>
          <p:cNvPr id="5" name="スライド番号プレースホルダー 4">
            <a:extLst>
              <a:ext uri="{FF2B5EF4-FFF2-40B4-BE49-F238E27FC236}">
                <a16:creationId xmlns:a16="http://schemas.microsoft.com/office/drawing/2014/main" id="{9CC9D749-C03A-D6FD-F171-0AD69D54C52C}"/>
              </a:ext>
            </a:extLst>
          </p:cNvPr>
          <p:cNvSpPr>
            <a:spLocks noGrp="1"/>
          </p:cNvSpPr>
          <p:nvPr>
            <p:ph type="sldNum" sz="quarter" idx="4"/>
          </p:nvPr>
        </p:nvSpPr>
        <p:spPr/>
        <p:txBody>
          <a:bodyPr/>
          <a:lstStyle/>
          <a:p>
            <a:fld id="{EDD55F78-D87A-074E-B5DA-6C9B598DD91F}" type="slidenum">
              <a:rPr lang="ja-JP" altLang="en-US" smtClean="0"/>
              <a:pPr/>
              <a:t>18</a:t>
            </a:fld>
            <a:endParaRPr lang="ja-JP" altLang="en-US"/>
          </a:p>
        </p:txBody>
      </p:sp>
      <p:graphicFrame>
        <p:nvGraphicFramePr>
          <p:cNvPr id="6" name="表 5">
            <a:extLst>
              <a:ext uri="{FF2B5EF4-FFF2-40B4-BE49-F238E27FC236}">
                <a16:creationId xmlns:a16="http://schemas.microsoft.com/office/drawing/2014/main" id="{5C544DEE-6784-568B-F23C-785046344A12}"/>
              </a:ext>
            </a:extLst>
          </p:cNvPr>
          <p:cNvGraphicFramePr>
            <a:graphicFrameLocks noGrp="1"/>
          </p:cNvGraphicFramePr>
          <p:nvPr>
            <p:extLst>
              <p:ext uri="{D42A27DB-BD31-4B8C-83A1-F6EECF244321}">
                <p14:modId xmlns:p14="http://schemas.microsoft.com/office/powerpoint/2010/main" val="3271338469"/>
              </p:ext>
            </p:extLst>
          </p:nvPr>
        </p:nvGraphicFramePr>
        <p:xfrm>
          <a:off x="674074" y="2273122"/>
          <a:ext cx="10515605" cy="1905804"/>
        </p:xfrm>
        <a:graphic>
          <a:graphicData uri="http://schemas.openxmlformats.org/drawingml/2006/table">
            <a:tbl>
              <a:tblPr/>
              <a:tblGrid>
                <a:gridCol w="1972616">
                  <a:extLst>
                    <a:ext uri="{9D8B030D-6E8A-4147-A177-3AD203B41FA5}">
                      <a16:colId xmlns:a16="http://schemas.microsoft.com/office/drawing/2014/main" val="2048706104"/>
                    </a:ext>
                  </a:extLst>
                </a:gridCol>
                <a:gridCol w="1470441">
                  <a:extLst>
                    <a:ext uri="{9D8B030D-6E8A-4147-A177-3AD203B41FA5}">
                      <a16:colId xmlns:a16="http://schemas.microsoft.com/office/drawing/2014/main" val="2596869706"/>
                    </a:ext>
                  </a:extLst>
                </a:gridCol>
                <a:gridCol w="505182">
                  <a:extLst>
                    <a:ext uri="{9D8B030D-6E8A-4147-A177-3AD203B41FA5}">
                      <a16:colId xmlns:a16="http://schemas.microsoft.com/office/drawing/2014/main" val="4130852014"/>
                    </a:ext>
                  </a:extLst>
                </a:gridCol>
                <a:gridCol w="505182">
                  <a:extLst>
                    <a:ext uri="{9D8B030D-6E8A-4147-A177-3AD203B41FA5}">
                      <a16:colId xmlns:a16="http://schemas.microsoft.com/office/drawing/2014/main" val="2755461139"/>
                    </a:ext>
                  </a:extLst>
                </a:gridCol>
                <a:gridCol w="505182">
                  <a:extLst>
                    <a:ext uri="{9D8B030D-6E8A-4147-A177-3AD203B41FA5}">
                      <a16:colId xmlns:a16="http://schemas.microsoft.com/office/drawing/2014/main" val="3594383499"/>
                    </a:ext>
                  </a:extLst>
                </a:gridCol>
                <a:gridCol w="505182">
                  <a:extLst>
                    <a:ext uri="{9D8B030D-6E8A-4147-A177-3AD203B41FA5}">
                      <a16:colId xmlns:a16="http://schemas.microsoft.com/office/drawing/2014/main" val="739823104"/>
                    </a:ext>
                  </a:extLst>
                </a:gridCol>
                <a:gridCol w="505182">
                  <a:extLst>
                    <a:ext uri="{9D8B030D-6E8A-4147-A177-3AD203B41FA5}">
                      <a16:colId xmlns:a16="http://schemas.microsoft.com/office/drawing/2014/main" val="1367145554"/>
                    </a:ext>
                  </a:extLst>
                </a:gridCol>
                <a:gridCol w="505182">
                  <a:extLst>
                    <a:ext uri="{9D8B030D-6E8A-4147-A177-3AD203B41FA5}">
                      <a16:colId xmlns:a16="http://schemas.microsoft.com/office/drawing/2014/main" val="724090523"/>
                    </a:ext>
                  </a:extLst>
                </a:gridCol>
                <a:gridCol w="505182">
                  <a:extLst>
                    <a:ext uri="{9D8B030D-6E8A-4147-A177-3AD203B41FA5}">
                      <a16:colId xmlns:a16="http://schemas.microsoft.com/office/drawing/2014/main" val="1544230337"/>
                    </a:ext>
                  </a:extLst>
                </a:gridCol>
                <a:gridCol w="505182">
                  <a:extLst>
                    <a:ext uri="{9D8B030D-6E8A-4147-A177-3AD203B41FA5}">
                      <a16:colId xmlns:a16="http://schemas.microsoft.com/office/drawing/2014/main" val="1294189539"/>
                    </a:ext>
                  </a:extLst>
                </a:gridCol>
                <a:gridCol w="505182">
                  <a:extLst>
                    <a:ext uri="{9D8B030D-6E8A-4147-A177-3AD203B41FA5}">
                      <a16:colId xmlns:a16="http://schemas.microsoft.com/office/drawing/2014/main" val="3244111611"/>
                    </a:ext>
                  </a:extLst>
                </a:gridCol>
                <a:gridCol w="505182">
                  <a:extLst>
                    <a:ext uri="{9D8B030D-6E8A-4147-A177-3AD203B41FA5}">
                      <a16:colId xmlns:a16="http://schemas.microsoft.com/office/drawing/2014/main" val="80916640"/>
                    </a:ext>
                  </a:extLst>
                </a:gridCol>
                <a:gridCol w="505182">
                  <a:extLst>
                    <a:ext uri="{9D8B030D-6E8A-4147-A177-3AD203B41FA5}">
                      <a16:colId xmlns:a16="http://schemas.microsoft.com/office/drawing/2014/main" val="41803034"/>
                    </a:ext>
                  </a:extLst>
                </a:gridCol>
                <a:gridCol w="505182">
                  <a:extLst>
                    <a:ext uri="{9D8B030D-6E8A-4147-A177-3AD203B41FA5}">
                      <a16:colId xmlns:a16="http://schemas.microsoft.com/office/drawing/2014/main" val="3195594102"/>
                    </a:ext>
                  </a:extLst>
                </a:gridCol>
                <a:gridCol w="505182">
                  <a:extLst>
                    <a:ext uri="{9D8B030D-6E8A-4147-A177-3AD203B41FA5}">
                      <a16:colId xmlns:a16="http://schemas.microsoft.com/office/drawing/2014/main" val="3187650741"/>
                    </a:ext>
                  </a:extLst>
                </a:gridCol>
                <a:gridCol w="505182">
                  <a:extLst>
                    <a:ext uri="{9D8B030D-6E8A-4147-A177-3AD203B41FA5}">
                      <a16:colId xmlns:a16="http://schemas.microsoft.com/office/drawing/2014/main" val="3302619108"/>
                    </a:ext>
                  </a:extLst>
                </a:gridCol>
              </a:tblGrid>
              <a:tr h="1488909">
                <a:tc>
                  <a:txBody>
                    <a:bodyPr/>
                    <a:lstStyle/>
                    <a:p>
                      <a:pPr algn="l" fontAlgn="ctr"/>
                      <a:endParaRPr lang="ja-JP" altLang="en-US" sz="800" b="0" i="0" u="none" strike="noStrike" dirty="0">
                        <a:effectLst/>
                        <a:latin typeface="Meiryo UI" panose="020B0604030504040204" pitchFamily="50" charset="-128"/>
                        <a:ea typeface="Meiryo UI" panose="020B0604030504040204" pitchFamily="50" charset="-128"/>
                      </a:endParaRPr>
                    </a:p>
                  </a:txBody>
                  <a:tcPr marL="9024" marR="9024" marT="9024"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ctr"/>
                      <a:endParaRPr lang="ja-JP" altLang="en-US" sz="800" b="0" i="0" u="none" strike="noStrike" dirty="0">
                        <a:effectLst/>
                        <a:latin typeface="Meiryo UI" panose="020B0604030504040204" pitchFamily="50" charset="-128"/>
                        <a:ea typeface="Meiryo UI" panose="020B0604030504040204" pitchFamily="50" charset="-128"/>
                      </a:endParaRPr>
                    </a:p>
                  </a:txBody>
                  <a:tcPr marL="9024" marR="9024" marT="9024"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まだ転職時期は先</a:t>
                      </a:r>
                      <a:r>
                        <a:rPr lang="en-US" altLang="ja-JP" sz="800" b="0" i="0" u="none" strike="noStrike">
                          <a:effectLst/>
                          <a:latin typeface="Meiryo UI" panose="020B0604030504040204" pitchFamily="50" charset="-128"/>
                          <a:ea typeface="Meiryo UI" panose="020B0604030504040204" pitchFamily="50" charset="-128"/>
                        </a:rPr>
                        <a:t>/</a:t>
                      </a:r>
                      <a:r>
                        <a:rPr lang="ja-JP" altLang="en-US" sz="800" b="0" i="0" u="none" strike="noStrike">
                          <a:effectLst/>
                          <a:latin typeface="Meiryo UI" panose="020B0604030504040204" pitchFamily="50" charset="-128"/>
                          <a:ea typeface="Meiryo UI" panose="020B0604030504040204" pitchFamily="50" charset="-128"/>
                        </a:rPr>
                        <a:t>未定だと考えていた</a:t>
                      </a:r>
                    </a:p>
                  </a:txBody>
                  <a:tcPr marL="9024" marR="9024" marT="90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まだ転職するかは明確に決めていなかった</a:t>
                      </a:r>
                    </a:p>
                  </a:txBody>
                  <a:tcPr marL="9024" marR="9024" marT="90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情報収集目的で登録をした</a:t>
                      </a:r>
                    </a:p>
                  </a:txBody>
                  <a:tcPr marL="9024" marR="9024" marT="90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自分のペースで転職活動を進めたいと思っていた</a:t>
                      </a:r>
                    </a:p>
                  </a:txBody>
                  <a:tcPr marL="9024" marR="9024" marT="90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他のサービスで面談を実施しようと考えていた</a:t>
                      </a:r>
                    </a:p>
                  </a:txBody>
                  <a:tcPr marL="9024" marR="9024" marT="90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他のサービスで面談を実施し、自分には面談は不要と感じた</a:t>
                      </a:r>
                    </a:p>
                  </a:txBody>
                  <a:tcPr marL="9024" marR="9024" marT="90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過去実施したキャリアアドバイザーとの面談で満足度が低かった</a:t>
                      </a:r>
                    </a:p>
                  </a:txBody>
                  <a:tcPr marL="9024" marR="9024" marT="90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過去実施したキャリアアドバイザーとの面談時に、紹介された求人の満足度が低かった</a:t>
                      </a:r>
                    </a:p>
                  </a:txBody>
                  <a:tcPr marL="9024" marR="9024" marT="90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時期先</a:t>
                      </a:r>
                      <a:r>
                        <a:rPr lang="en-US" altLang="ja-JP" sz="800" b="0" i="0" u="none" strike="noStrike">
                          <a:effectLst/>
                          <a:latin typeface="Meiryo UI" panose="020B0604030504040204" pitchFamily="50" charset="-128"/>
                          <a:ea typeface="Meiryo UI" panose="020B0604030504040204" pitchFamily="50" charset="-128"/>
                        </a:rPr>
                        <a:t>/</a:t>
                      </a:r>
                      <a:r>
                        <a:rPr lang="ja-JP" altLang="en-US" sz="800" b="0" i="0" u="none" strike="noStrike">
                          <a:effectLst/>
                          <a:latin typeface="Meiryo UI" panose="020B0604030504040204" pitchFamily="50" charset="-128"/>
                          <a:ea typeface="Meiryo UI" panose="020B0604030504040204" pitchFamily="50" charset="-128"/>
                        </a:rPr>
                        <a:t>転職するか明確に決めていなかったため、面談は必要ないと思った</a:t>
                      </a:r>
                    </a:p>
                  </a:txBody>
                  <a:tcPr marL="9024" marR="9024" marT="90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時期先</a:t>
                      </a:r>
                      <a:r>
                        <a:rPr lang="en-US" altLang="ja-JP" sz="800" b="0" i="0" u="none" strike="noStrike">
                          <a:effectLst/>
                          <a:latin typeface="Meiryo UI" panose="020B0604030504040204" pitchFamily="50" charset="-128"/>
                          <a:ea typeface="Meiryo UI" panose="020B0604030504040204" pitchFamily="50" charset="-128"/>
                        </a:rPr>
                        <a:t>/</a:t>
                      </a:r>
                      <a:r>
                        <a:rPr lang="ja-JP" altLang="en-US" sz="800" b="0" i="0" u="none" strike="noStrike">
                          <a:effectLst/>
                          <a:latin typeface="Meiryo UI" panose="020B0604030504040204" pitchFamily="50" charset="-128"/>
                          <a:ea typeface="Meiryo UI" panose="020B0604030504040204" pitchFamily="50" charset="-128"/>
                        </a:rPr>
                        <a:t>転職するか明確に決めていなかったため、面談をしてよいのか迷った／わからなかった</a:t>
                      </a:r>
                    </a:p>
                  </a:txBody>
                  <a:tcPr marL="9024" marR="9024" marT="90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面談をすると、必ず求人への応募や転職をしないといけないと考えていた</a:t>
                      </a:r>
                    </a:p>
                  </a:txBody>
                  <a:tcPr marL="9024" marR="9024" marT="90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サービスへの口コミを見て、面談を受けるのが怖くなった</a:t>
                      </a:r>
                    </a:p>
                  </a:txBody>
                  <a:tcPr marL="9024" marR="9024" marT="90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その他</a:t>
                      </a:r>
                    </a:p>
                  </a:txBody>
                  <a:tcPr marL="9024" marR="9024" marT="90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明確な理由はない</a:t>
                      </a:r>
                    </a:p>
                  </a:txBody>
                  <a:tcPr marL="9024" marR="9024" marT="90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58482633"/>
                  </a:ext>
                </a:extLst>
              </a:tr>
              <a:tr h="138965">
                <a:tc rowSpan="2">
                  <a:txBody>
                    <a:bodyPr/>
                    <a:lstStyle/>
                    <a:p>
                      <a:pPr algn="ctr" fontAlgn="t"/>
                      <a:r>
                        <a:rPr lang="ja-JP" altLang="en-US" sz="800" b="0" i="0" u="none" strike="noStrike">
                          <a:effectLst/>
                          <a:latin typeface="Meiryo UI" panose="020B0604030504040204" pitchFamily="50" charset="-128"/>
                          <a:ea typeface="Meiryo UI" panose="020B0604030504040204" pitchFamily="50" charset="-128"/>
                        </a:rPr>
                        <a:t>面談希望なし</a:t>
                      </a:r>
                      <a:r>
                        <a:rPr lang="en-US" altLang="ja-JP" sz="800" b="0" i="0" u="none" strike="noStrike">
                          <a:effectLst/>
                          <a:latin typeface="Meiryo UI" panose="020B0604030504040204" pitchFamily="50" charset="-128"/>
                          <a:ea typeface="Meiryo UI" panose="020B0604030504040204" pitchFamily="50" charset="-128"/>
                        </a:rPr>
                        <a:t>/</a:t>
                      </a:r>
                      <a:r>
                        <a:rPr lang="ja-JP" altLang="en-US" sz="800" b="0" i="0" u="none" strike="noStrike">
                          <a:effectLst/>
                          <a:latin typeface="Meiryo UI" panose="020B0604030504040204" pitchFamily="50" charset="-128"/>
                          <a:ea typeface="Meiryo UI" panose="020B0604030504040204" pitchFamily="50" charset="-128"/>
                        </a:rPr>
                        <a:t>どちらともいえない</a:t>
                      </a:r>
                    </a:p>
                  </a:txBody>
                  <a:tcPr marL="9024" marR="9024" marT="90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altLang="ja-JP" sz="800" b="0" i="0" u="none" strike="noStrike" dirty="0">
                          <a:effectLst/>
                          <a:latin typeface="Meiryo UI" panose="020B0604030504040204" pitchFamily="50" charset="-128"/>
                          <a:ea typeface="Meiryo UI" panose="020B0604030504040204" pitchFamily="50" charset="-128"/>
                        </a:rPr>
                        <a:t>0</a:t>
                      </a:r>
                      <a:r>
                        <a:rPr lang="ja-JP" altLang="en-US" sz="800" b="0" i="0" u="none" strike="noStrike" dirty="0">
                          <a:effectLst/>
                          <a:latin typeface="Meiryo UI" panose="020B0604030504040204" pitchFamily="50" charset="-128"/>
                          <a:ea typeface="Meiryo UI" panose="020B0604030504040204" pitchFamily="50" charset="-128"/>
                        </a:rPr>
                        <a:t>回（転職経験なし）</a:t>
                      </a:r>
                      <a:r>
                        <a:rPr lang="en-US" altLang="ja-JP" sz="800" b="0" i="0" u="none" strike="noStrike" dirty="0">
                          <a:effectLst/>
                          <a:latin typeface="Meiryo UI" panose="020B0604030504040204" pitchFamily="50" charset="-128"/>
                          <a:ea typeface="Meiryo UI" panose="020B0604030504040204" pitchFamily="50" charset="-128"/>
                        </a:rPr>
                        <a:t>…</a:t>
                      </a:r>
                      <a:r>
                        <a:rPr lang="ja-JP" altLang="en-US" sz="800" b="0" i="0" u="none" strike="noStrike" dirty="0">
                          <a:effectLst/>
                          <a:latin typeface="Meiryo UI" panose="020B0604030504040204" pitchFamily="50" charset="-128"/>
                          <a:ea typeface="Meiryo UI" panose="020B0604030504040204" pitchFamily="50" charset="-128"/>
                        </a:rPr>
                        <a:t>①</a:t>
                      </a:r>
                    </a:p>
                  </a:txBody>
                  <a:tcPr marL="9024" marR="9024" marT="90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50%</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BC88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45%</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7CD9A"/>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58%</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54%</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FC386"/>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5%</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F7F4"/>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FAFB"/>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5%</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F7F4"/>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26%</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E1C4"/>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40%</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3D2A4"/>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E2C7"/>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6%</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F6F2"/>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5FAF9"/>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FCFE"/>
                    </a:solidFill>
                  </a:tcPr>
                </a:tc>
                <a:extLst>
                  <a:ext uri="{0D108BD9-81ED-4DB2-BD59-A6C34878D82A}">
                    <a16:rowId xmlns:a16="http://schemas.microsoft.com/office/drawing/2014/main" val="910093762"/>
                  </a:ext>
                </a:extLst>
              </a:tr>
              <a:tr h="138965">
                <a:tc vMerge="1">
                  <a:txBody>
                    <a:bodyPr/>
                    <a:lstStyle/>
                    <a:p>
                      <a:endParaRPr kumimoji="1" lang="ja-JP" altLang="en-US"/>
                    </a:p>
                  </a:txBody>
                  <a:tcPr/>
                </a:tc>
                <a:tc>
                  <a:txBody>
                    <a:bodyPr/>
                    <a:lstStyle/>
                    <a:p>
                      <a:pPr algn="l" fontAlgn="t"/>
                      <a:r>
                        <a:rPr lang="en-US" altLang="ja-JP" sz="800" b="0" i="0" u="none" strike="noStrike" dirty="0">
                          <a:effectLst/>
                          <a:latin typeface="Meiryo UI" panose="020B0604030504040204" pitchFamily="50" charset="-128"/>
                          <a:ea typeface="Meiryo UI" panose="020B0604030504040204" pitchFamily="50" charset="-128"/>
                        </a:rPr>
                        <a:t>1</a:t>
                      </a:r>
                      <a:r>
                        <a:rPr lang="ja-JP" altLang="en-US" sz="800" b="0" i="0" u="none" strike="noStrike" dirty="0">
                          <a:effectLst/>
                          <a:latin typeface="Meiryo UI" panose="020B0604030504040204" pitchFamily="50" charset="-128"/>
                          <a:ea typeface="Meiryo UI" panose="020B0604030504040204" pitchFamily="50" charset="-128"/>
                        </a:rPr>
                        <a:t>回以上（転職経験あり）</a:t>
                      </a:r>
                      <a:r>
                        <a:rPr lang="en-US" altLang="ja-JP" sz="800" b="0" i="0" u="none" strike="noStrike" dirty="0">
                          <a:effectLst/>
                          <a:latin typeface="Meiryo UI" panose="020B0604030504040204" pitchFamily="50" charset="-128"/>
                          <a:ea typeface="Meiryo UI" panose="020B0604030504040204" pitchFamily="50" charset="-128"/>
                        </a:rPr>
                        <a:t>…</a:t>
                      </a:r>
                      <a:r>
                        <a:rPr lang="ja-JP" altLang="en-US" sz="800" b="0" i="0" u="none" strike="noStrike" dirty="0">
                          <a:effectLst/>
                          <a:latin typeface="Meiryo UI" panose="020B0604030504040204" pitchFamily="50" charset="-128"/>
                          <a:ea typeface="Meiryo UI" panose="020B0604030504040204" pitchFamily="50" charset="-128"/>
                        </a:rPr>
                        <a:t>②</a:t>
                      </a:r>
                    </a:p>
                  </a:txBody>
                  <a:tcPr marL="9024" marR="9024" marT="902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42%</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0D0A1"/>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23%</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CB"/>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31%</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DCBA"/>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58%</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5BF7D"/>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6%</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F6F1"/>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13%</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EFE3"/>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15%</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EDD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11%</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EF0E6"/>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42%</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FD0A1"/>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9%</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4F2EA"/>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9%</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4F2EA"/>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AFA"/>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024" marR="9024" marT="9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extLst>
                  <a:ext uri="{0D108BD9-81ED-4DB2-BD59-A6C34878D82A}">
                    <a16:rowId xmlns:a16="http://schemas.microsoft.com/office/drawing/2014/main" val="3870664256"/>
                  </a:ext>
                </a:extLst>
              </a:tr>
              <a:tr h="138965">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024" marR="9024" marT="9024"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024" marR="9024" marT="9024"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-8%</a:t>
                      </a:r>
                    </a:p>
                  </a:txBody>
                  <a:tcPr marL="9024" marR="9024" marT="9024"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highlight>
                            <a:srgbClr val="FFFF00"/>
                          </a:highlight>
                          <a:latin typeface="Meiryo UI" panose="020B0604030504040204" pitchFamily="50" charset="-128"/>
                          <a:ea typeface="Meiryo UI" panose="020B0604030504040204" pitchFamily="50" charset="-128"/>
                        </a:rPr>
                        <a:t>-22%</a:t>
                      </a:r>
                    </a:p>
                  </a:txBody>
                  <a:tcPr marL="9024" marR="9024" marT="9024"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highlight>
                            <a:srgbClr val="FFFF00"/>
                          </a:highlight>
                          <a:latin typeface="Meiryo UI" panose="020B0604030504040204" pitchFamily="50" charset="-128"/>
                          <a:ea typeface="Meiryo UI" panose="020B0604030504040204" pitchFamily="50" charset="-128"/>
                        </a:rPr>
                        <a:t>-28%</a:t>
                      </a:r>
                    </a:p>
                  </a:txBody>
                  <a:tcPr marL="9024" marR="9024" marT="9024"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a:t>
                      </a:r>
                    </a:p>
                  </a:txBody>
                  <a:tcPr marL="9024" marR="9024" marT="9024"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a:t>
                      </a:r>
                    </a:p>
                  </a:txBody>
                  <a:tcPr marL="9024" marR="9024" marT="9024"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11%</a:t>
                      </a:r>
                    </a:p>
                  </a:txBody>
                  <a:tcPr marL="9024" marR="9024" marT="9024"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9%</a:t>
                      </a:r>
                    </a:p>
                  </a:txBody>
                  <a:tcPr marL="9024" marR="9024" marT="9024"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11%</a:t>
                      </a:r>
                    </a:p>
                  </a:txBody>
                  <a:tcPr marL="9024" marR="9024" marT="9024"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16%</a:t>
                      </a:r>
                    </a:p>
                  </a:txBody>
                  <a:tcPr marL="9024" marR="9024" marT="9024"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highlight>
                            <a:srgbClr val="FFFF00"/>
                          </a:highlight>
                          <a:latin typeface="Meiryo UI" panose="020B0604030504040204" pitchFamily="50" charset="-128"/>
                          <a:ea typeface="Meiryo UI" panose="020B0604030504040204" pitchFamily="50" charset="-128"/>
                        </a:rPr>
                        <a:t>-31%</a:t>
                      </a:r>
                    </a:p>
                  </a:txBody>
                  <a:tcPr marL="9024" marR="9024" marT="9024"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-15%</a:t>
                      </a:r>
                    </a:p>
                  </a:txBody>
                  <a:tcPr marL="9024" marR="9024" marT="9024"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-6%</a:t>
                      </a:r>
                    </a:p>
                  </a:txBody>
                  <a:tcPr marL="9024" marR="9024" marT="9024"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024" marR="9024" marT="9024"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9024" marR="9024" marT="9024"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672536391"/>
                  </a:ext>
                </a:extLst>
              </a:tr>
            </a:tbl>
          </a:graphicData>
        </a:graphic>
      </p:graphicFrame>
      <p:graphicFrame>
        <p:nvGraphicFramePr>
          <p:cNvPr id="7" name="表 6">
            <a:extLst>
              <a:ext uri="{FF2B5EF4-FFF2-40B4-BE49-F238E27FC236}">
                <a16:creationId xmlns:a16="http://schemas.microsoft.com/office/drawing/2014/main" id="{CD83F965-FA51-7D31-20F7-9D8B489FA17D}"/>
              </a:ext>
            </a:extLst>
          </p:cNvPr>
          <p:cNvGraphicFramePr>
            <a:graphicFrameLocks noGrp="1"/>
          </p:cNvGraphicFramePr>
          <p:nvPr>
            <p:extLst>
              <p:ext uri="{D42A27DB-BD31-4B8C-83A1-F6EECF244321}">
                <p14:modId xmlns:p14="http://schemas.microsoft.com/office/powerpoint/2010/main" val="3653990747"/>
              </p:ext>
            </p:extLst>
          </p:nvPr>
        </p:nvGraphicFramePr>
        <p:xfrm>
          <a:off x="674073" y="4457327"/>
          <a:ext cx="10515605" cy="1560121"/>
        </p:xfrm>
        <a:graphic>
          <a:graphicData uri="http://schemas.openxmlformats.org/drawingml/2006/table">
            <a:tbl>
              <a:tblPr/>
              <a:tblGrid>
                <a:gridCol w="1882193">
                  <a:extLst>
                    <a:ext uri="{9D8B030D-6E8A-4147-A177-3AD203B41FA5}">
                      <a16:colId xmlns:a16="http://schemas.microsoft.com/office/drawing/2014/main" val="113523253"/>
                    </a:ext>
                  </a:extLst>
                </a:gridCol>
                <a:gridCol w="1403037">
                  <a:extLst>
                    <a:ext uri="{9D8B030D-6E8A-4147-A177-3AD203B41FA5}">
                      <a16:colId xmlns:a16="http://schemas.microsoft.com/office/drawing/2014/main" val="442109950"/>
                    </a:ext>
                  </a:extLst>
                </a:gridCol>
                <a:gridCol w="482025">
                  <a:extLst>
                    <a:ext uri="{9D8B030D-6E8A-4147-A177-3AD203B41FA5}">
                      <a16:colId xmlns:a16="http://schemas.microsoft.com/office/drawing/2014/main" val="3399739206"/>
                    </a:ext>
                  </a:extLst>
                </a:gridCol>
                <a:gridCol w="482025">
                  <a:extLst>
                    <a:ext uri="{9D8B030D-6E8A-4147-A177-3AD203B41FA5}">
                      <a16:colId xmlns:a16="http://schemas.microsoft.com/office/drawing/2014/main" val="1771868030"/>
                    </a:ext>
                  </a:extLst>
                </a:gridCol>
                <a:gridCol w="482025">
                  <a:extLst>
                    <a:ext uri="{9D8B030D-6E8A-4147-A177-3AD203B41FA5}">
                      <a16:colId xmlns:a16="http://schemas.microsoft.com/office/drawing/2014/main" val="799394515"/>
                    </a:ext>
                  </a:extLst>
                </a:gridCol>
                <a:gridCol w="482025">
                  <a:extLst>
                    <a:ext uri="{9D8B030D-6E8A-4147-A177-3AD203B41FA5}">
                      <a16:colId xmlns:a16="http://schemas.microsoft.com/office/drawing/2014/main" val="246866759"/>
                    </a:ext>
                  </a:extLst>
                </a:gridCol>
                <a:gridCol w="482025">
                  <a:extLst>
                    <a:ext uri="{9D8B030D-6E8A-4147-A177-3AD203B41FA5}">
                      <a16:colId xmlns:a16="http://schemas.microsoft.com/office/drawing/2014/main" val="2441482561"/>
                    </a:ext>
                  </a:extLst>
                </a:gridCol>
                <a:gridCol w="482025">
                  <a:extLst>
                    <a:ext uri="{9D8B030D-6E8A-4147-A177-3AD203B41FA5}">
                      <a16:colId xmlns:a16="http://schemas.microsoft.com/office/drawing/2014/main" val="2370248809"/>
                    </a:ext>
                  </a:extLst>
                </a:gridCol>
                <a:gridCol w="482025">
                  <a:extLst>
                    <a:ext uri="{9D8B030D-6E8A-4147-A177-3AD203B41FA5}">
                      <a16:colId xmlns:a16="http://schemas.microsoft.com/office/drawing/2014/main" val="3542021176"/>
                    </a:ext>
                  </a:extLst>
                </a:gridCol>
                <a:gridCol w="482025">
                  <a:extLst>
                    <a:ext uri="{9D8B030D-6E8A-4147-A177-3AD203B41FA5}">
                      <a16:colId xmlns:a16="http://schemas.microsoft.com/office/drawing/2014/main" val="1130368576"/>
                    </a:ext>
                  </a:extLst>
                </a:gridCol>
                <a:gridCol w="482025">
                  <a:extLst>
                    <a:ext uri="{9D8B030D-6E8A-4147-A177-3AD203B41FA5}">
                      <a16:colId xmlns:a16="http://schemas.microsoft.com/office/drawing/2014/main" val="2344029524"/>
                    </a:ext>
                  </a:extLst>
                </a:gridCol>
                <a:gridCol w="482025">
                  <a:extLst>
                    <a:ext uri="{9D8B030D-6E8A-4147-A177-3AD203B41FA5}">
                      <a16:colId xmlns:a16="http://schemas.microsoft.com/office/drawing/2014/main" val="2475733374"/>
                    </a:ext>
                  </a:extLst>
                </a:gridCol>
                <a:gridCol w="482025">
                  <a:extLst>
                    <a:ext uri="{9D8B030D-6E8A-4147-A177-3AD203B41FA5}">
                      <a16:colId xmlns:a16="http://schemas.microsoft.com/office/drawing/2014/main" val="3486438138"/>
                    </a:ext>
                  </a:extLst>
                </a:gridCol>
                <a:gridCol w="482025">
                  <a:extLst>
                    <a:ext uri="{9D8B030D-6E8A-4147-A177-3AD203B41FA5}">
                      <a16:colId xmlns:a16="http://schemas.microsoft.com/office/drawing/2014/main" val="1663291820"/>
                    </a:ext>
                  </a:extLst>
                </a:gridCol>
                <a:gridCol w="482025">
                  <a:extLst>
                    <a:ext uri="{9D8B030D-6E8A-4147-A177-3AD203B41FA5}">
                      <a16:colId xmlns:a16="http://schemas.microsoft.com/office/drawing/2014/main" val="3963080154"/>
                    </a:ext>
                  </a:extLst>
                </a:gridCol>
                <a:gridCol w="482025">
                  <a:extLst>
                    <a:ext uri="{9D8B030D-6E8A-4147-A177-3AD203B41FA5}">
                      <a16:colId xmlns:a16="http://schemas.microsoft.com/office/drawing/2014/main" val="1774759795"/>
                    </a:ext>
                  </a:extLst>
                </a:gridCol>
                <a:gridCol w="482025">
                  <a:extLst>
                    <a:ext uri="{9D8B030D-6E8A-4147-A177-3AD203B41FA5}">
                      <a16:colId xmlns:a16="http://schemas.microsoft.com/office/drawing/2014/main" val="2183179397"/>
                    </a:ext>
                  </a:extLst>
                </a:gridCol>
              </a:tblGrid>
              <a:tr h="1162342">
                <a:tc>
                  <a:txBody>
                    <a:bodyPr/>
                    <a:lstStyle/>
                    <a:p>
                      <a:pPr algn="l" fontAlgn="ctr"/>
                      <a:endParaRPr lang="ja-JP" altLang="en-US" sz="800" b="0" i="0" u="none" strike="noStrike" dirty="0">
                        <a:effectLst/>
                        <a:latin typeface="Meiryo UI" panose="020B0604030504040204" pitchFamily="50" charset="-128"/>
                        <a:ea typeface="Meiryo UI" panose="020B0604030504040204" pitchFamily="50" charset="-128"/>
                      </a:endParaRPr>
                    </a:p>
                  </a:txBody>
                  <a:tcPr marL="8610" marR="8610" marT="861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8610" marR="8610" marT="861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紹介された求人の量が少なかった</a:t>
                      </a:r>
                    </a:p>
                  </a:txBody>
                  <a:tcPr marL="8610" marR="8610" marT="86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紹介された求人の職種が自分にあわなかった</a:t>
                      </a:r>
                    </a:p>
                  </a:txBody>
                  <a:tcPr marL="8610" marR="8610" marT="86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紹介された求人の業界が自分にあわなかった</a:t>
                      </a:r>
                    </a:p>
                  </a:txBody>
                  <a:tcPr marL="8610" marR="8610" marT="86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紹介された求人の業務内容が自分にあわなかった</a:t>
                      </a:r>
                    </a:p>
                  </a:txBody>
                  <a:tcPr marL="8610" marR="8610" marT="86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紹介された求人の年収帯が自分にあわなかった</a:t>
                      </a:r>
                    </a:p>
                  </a:txBody>
                  <a:tcPr marL="8610" marR="8610" marT="86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紹介された求人の勤務地が自分にあわなかった</a:t>
                      </a:r>
                    </a:p>
                  </a:txBody>
                  <a:tcPr marL="8610" marR="8610" marT="86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紹介された求人の福利厚生が自分にあわなかった</a:t>
                      </a:r>
                    </a:p>
                  </a:txBody>
                  <a:tcPr marL="8610" marR="8610" marT="86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希望する求人が見つなかった</a:t>
                      </a:r>
                    </a:p>
                  </a:txBody>
                  <a:tcPr marL="8610" marR="8610" marT="86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希望する求人の件数がすくなかった</a:t>
                      </a:r>
                    </a:p>
                  </a:txBody>
                  <a:tcPr marL="8610" marR="8610" marT="86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システムやアプリが使いづらかった</a:t>
                      </a:r>
                    </a:p>
                  </a:txBody>
                  <a:tcPr marL="8610" marR="8610" marT="86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気になる求人はあったが、他サービスや企業の</a:t>
                      </a:r>
                      <a:r>
                        <a:rPr lang="en-US" altLang="ja-JP" sz="800" b="0" i="0" u="none" strike="noStrike">
                          <a:effectLst/>
                          <a:latin typeface="Meiryo UI" panose="020B0604030504040204" pitchFamily="50" charset="-128"/>
                          <a:ea typeface="Meiryo UI" panose="020B0604030504040204" pitchFamily="50" charset="-128"/>
                        </a:rPr>
                        <a:t>HP</a:t>
                      </a:r>
                      <a:r>
                        <a:rPr lang="ja-JP" altLang="en-US" sz="800" b="0" i="0" u="none" strike="noStrike">
                          <a:effectLst/>
                          <a:latin typeface="Meiryo UI" panose="020B0604030504040204" pitchFamily="50" charset="-128"/>
                          <a:ea typeface="Meiryo UI" panose="020B0604030504040204" pitchFamily="50" charset="-128"/>
                        </a:rPr>
                        <a:t>応募できた</a:t>
                      </a:r>
                    </a:p>
                  </a:txBody>
                  <a:tcPr marL="8610" marR="8610" marT="86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気になる求人はあったが、応募したいとまでは思わなかった</a:t>
                      </a:r>
                    </a:p>
                  </a:txBody>
                  <a:tcPr marL="8610" marR="8610" marT="86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気になる求人はあったが、応募に踏み切れなかった</a:t>
                      </a:r>
                    </a:p>
                  </a:txBody>
                  <a:tcPr marL="8610" marR="8610" marT="86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その他</a:t>
                      </a:r>
                    </a:p>
                  </a:txBody>
                  <a:tcPr marL="8610" marR="8610" marT="86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明確な理由はない</a:t>
                      </a:r>
                    </a:p>
                  </a:txBody>
                  <a:tcPr marL="8610" marR="8610" marT="86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65919130"/>
                  </a:ext>
                </a:extLst>
              </a:tr>
              <a:tr h="132593">
                <a:tc rowSpan="2">
                  <a:txBody>
                    <a:bodyPr/>
                    <a:lstStyle/>
                    <a:p>
                      <a:pPr algn="ctr" fontAlgn="t"/>
                      <a:r>
                        <a:rPr lang="ja-JP" altLang="en-US" sz="800" b="0" i="0" u="none" strike="noStrike">
                          <a:effectLst/>
                          <a:latin typeface="Meiryo UI" panose="020B0604030504040204" pitchFamily="50" charset="-128"/>
                          <a:ea typeface="Meiryo UI" panose="020B0604030504040204" pitchFamily="50" charset="-128"/>
                        </a:rPr>
                        <a:t>面談希望なし</a:t>
                      </a:r>
                      <a:r>
                        <a:rPr lang="en-US" altLang="ja-JP" sz="800" b="0" i="0" u="none" strike="noStrike">
                          <a:effectLst/>
                          <a:latin typeface="Meiryo UI" panose="020B0604030504040204" pitchFamily="50" charset="-128"/>
                          <a:ea typeface="Meiryo UI" panose="020B0604030504040204" pitchFamily="50" charset="-128"/>
                        </a:rPr>
                        <a:t>/</a:t>
                      </a:r>
                      <a:r>
                        <a:rPr lang="ja-JP" altLang="en-US" sz="800" b="0" i="0" u="none" strike="noStrike">
                          <a:effectLst/>
                          <a:latin typeface="Meiryo UI" panose="020B0604030504040204" pitchFamily="50" charset="-128"/>
                          <a:ea typeface="Meiryo UI" panose="020B0604030504040204" pitchFamily="50" charset="-128"/>
                        </a:rPr>
                        <a:t>どちらともいえない</a:t>
                      </a:r>
                    </a:p>
                  </a:txBody>
                  <a:tcPr marL="8610" marR="8610" marT="86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altLang="ja-JP" sz="800" b="0" i="0" u="none" strike="noStrike" dirty="0">
                          <a:effectLst/>
                          <a:latin typeface="Meiryo UI" panose="020B0604030504040204" pitchFamily="50" charset="-128"/>
                          <a:ea typeface="Meiryo UI" panose="020B0604030504040204" pitchFamily="50" charset="-128"/>
                        </a:rPr>
                        <a:t>0</a:t>
                      </a:r>
                      <a:r>
                        <a:rPr lang="ja-JP" altLang="en-US" sz="800" b="0" i="0" u="none" strike="noStrike" dirty="0">
                          <a:effectLst/>
                          <a:latin typeface="Meiryo UI" panose="020B0604030504040204" pitchFamily="50" charset="-128"/>
                          <a:ea typeface="Meiryo UI" panose="020B0604030504040204" pitchFamily="50" charset="-128"/>
                        </a:rPr>
                        <a:t>回（転職経験なし）</a:t>
                      </a:r>
                      <a:r>
                        <a:rPr lang="en-US" altLang="ja-JP" sz="800" b="0" i="0" u="none" strike="noStrike" dirty="0">
                          <a:effectLst/>
                          <a:latin typeface="Meiryo UI" panose="020B0604030504040204" pitchFamily="50" charset="-128"/>
                          <a:ea typeface="Meiryo UI" panose="020B0604030504040204" pitchFamily="50" charset="-128"/>
                        </a:rPr>
                        <a:t>…</a:t>
                      </a:r>
                      <a:r>
                        <a:rPr lang="ja-JP" altLang="en-US" sz="800" b="0" i="0" u="none" strike="noStrike" dirty="0">
                          <a:effectLst/>
                          <a:latin typeface="Meiryo UI" panose="020B0604030504040204" pitchFamily="50" charset="-128"/>
                          <a:ea typeface="Meiryo UI" panose="020B0604030504040204" pitchFamily="50" charset="-128"/>
                        </a:rPr>
                        <a:t>①</a:t>
                      </a:r>
                    </a:p>
                  </a:txBody>
                  <a:tcPr marL="8610" marR="8610" marT="86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9%</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EE0"/>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9%</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E1"/>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8F6"/>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5%</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F4ED"/>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9%</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EE1"/>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10%</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EDDE"/>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8F6"/>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15%</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5CD"/>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10%</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ECDC"/>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10%</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EDDE"/>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20%</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DDCBB"/>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40%</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16%</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C9"/>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F7F4"/>
                    </a:solidFill>
                  </a:tcPr>
                </a:tc>
                <a:extLst>
                  <a:ext uri="{0D108BD9-81ED-4DB2-BD59-A6C34878D82A}">
                    <a16:rowId xmlns:a16="http://schemas.microsoft.com/office/drawing/2014/main" val="1390107402"/>
                  </a:ext>
                </a:extLst>
              </a:tr>
              <a:tr h="132593">
                <a:tc vMerge="1">
                  <a:txBody>
                    <a:bodyPr/>
                    <a:lstStyle/>
                    <a:p>
                      <a:endParaRPr kumimoji="1" lang="ja-JP" altLang="en-US"/>
                    </a:p>
                  </a:txBody>
                  <a:tcPr/>
                </a:tc>
                <a:tc>
                  <a:txBody>
                    <a:bodyPr/>
                    <a:lstStyle/>
                    <a:p>
                      <a:pPr algn="l" fontAlgn="t"/>
                      <a:r>
                        <a:rPr lang="en-US" altLang="ja-JP" sz="800" b="0" i="0" u="none" strike="noStrike" dirty="0">
                          <a:effectLst/>
                          <a:latin typeface="Meiryo UI" panose="020B0604030504040204" pitchFamily="50" charset="-128"/>
                          <a:ea typeface="Meiryo UI" panose="020B0604030504040204" pitchFamily="50" charset="-128"/>
                        </a:rPr>
                        <a:t>1</a:t>
                      </a:r>
                      <a:r>
                        <a:rPr lang="ja-JP" altLang="en-US" sz="800" b="0" i="0" u="none" strike="noStrike" dirty="0">
                          <a:effectLst/>
                          <a:latin typeface="Meiryo UI" panose="020B0604030504040204" pitchFamily="50" charset="-128"/>
                          <a:ea typeface="Meiryo UI" panose="020B0604030504040204" pitchFamily="50" charset="-128"/>
                        </a:rPr>
                        <a:t>回以上（転職経験あり）</a:t>
                      </a:r>
                      <a:r>
                        <a:rPr lang="en-US" altLang="ja-JP" sz="800" b="0" i="0" u="none" strike="noStrike" dirty="0">
                          <a:effectLst/>
                          <a:latin typeface="Meiryo UI" panose="020B0604030504040204" pitchFamily="50" charset="-128"/>
                          <a:ea typeface="Meiryo UI" panose="020B0604030504040204" pitchFamily="50" charset="-128"/>
                        </a:rPr>
                        <a:t>…</a:t>
                      </a:r>
                      <a:r>
                        <a:rPr lang="ja-JP" altLang="en-US" sz="800" b="0" i="0" u="none" strike="noStrike" dirty="0">
                          <a:effectLst/>
                          <a:latin typeface="Meiryo UI" panose="020B0604030504040204" pitchFamily="50" charset="-128"/>
                          <a:ea typeface="Meiryo UI" panose="020B0604030504040204" pitchFamily="50" charset="-128"/>
                        </a:rPr>
                        <a:t>②</a:t>
                      </a:r>
                    </a:p>
                  </a:txBody>
                  <a:tcPr marL="8610" marR="8610" marT="861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F6F1"/>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0F7F4"/>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0F7F4"/>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F6F2"/>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9%</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EFE3"/>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8%</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FF0E6"/>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FBFD"/>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31%</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B96"/>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8F6"/>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11%</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EBD9"/>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CD5AC"/>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17%</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CE2C7"/>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27%</a:t>
                      </a:r>
                    </a:p>
                  </a:txBody>
                  <a:tcPr marL="8610" marR="8610" marT="86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6D3A7"/>
                    </a:solidFill>
                  </a:tcPr>
                </a:tc>
                <a:extLst>
                  <a:ext uri="{0D108BD9-81ED-4DB2-BD59-A6C34878D82A}">
                    <a16:rowId xmlns:a16="http://schemas.microsoft.com/office/drawing/2014/main" val="91205078"/>
                  </a:ext>
                </a:extLst>
              </a:tr>
              <a:tr h="132593">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8610" marR="8610" marT="861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ctr"/>
                      <a:endParaRPr lang="ja-JP" altLang="en-US" sz="800" b="0" i="0" u="none" strike="noStrike" dirty="0">
                        <a:effectLst/>
                        <a:latin typeface="Meiryo UI" panose="020B0604030504040204" pitchFamily="50" charset="-128"/>
                        <a:ea typeface="Meiryo UI" panose="020B0604030504040204" pitchFamily="50" charset="-128"/>
                      </a:endParaRPr>
                    </a:p>
                  </a:txBody>
                  <a:tcPr marL="8610" marR="8610" marT="861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-5%</a:t>
                      </a:r>
                    </a:p>
                  </a:txBody>
                  <a:tcPr marL="8610" marR="8610" marT="861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-6%</a:t>
                      </a:r>
                    </a:p>
                  </a:txBody>
                  <a:tcPr marL="8610" marR="8610" marT="861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a:t>
                      </a:r>
                    </a:p>
                  </a:txBody>
                  <a:tcPr marL="8610" marR="8610" marT="861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a:t>
                      </a:r>
                    </a:p>
                  </a:txBody>
                  <a:tcPr marL="8610" marR="8610" marT="861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8610" marR="8610" marT="861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a:t>
                      </a:r>
                    </a:p>
                  </a:txBody>
                  <a:tcPr marL="8610" marR="8610" marT="861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a:t>
                      </a:r>
                    </a:p>
                  </a:txBody>
                  <a:tcPr marL="8610" marR="8610" marT="861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highlight>
                            <a:srgbClr val="FFFF00"/>
                          </a:highlight>
                          <a:latin typeface="Meiryo UI" panose="020B0604030504040204" pitchFamily="50" charset="-128"/>
                          <a:ea typeface="Meiryo UI" panose="020B0604030504040204" pitchFamily="50" charset="-128"/>
                        </a:rPr>
                        <a:t>16%</a:t>
                      </a:r>
                    </a:p>
                  </a:txBody>
                  <a:tcPr marL="8610" marR="8610" marT="861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3%</a:t>
                      </a:r>
                    </a:p>
                  </a:txBody>
                  <a:tcPr marL="8610" marR="8610" marT="861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-10%</a:t>
                      </a:r>
                    </a:p>
                  </a:txBody>
                  <a:tcPr marL="8610" marR="8610" marT="861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-10%</a:t>
                      </a:r>
                    </a:p>
                  </a:txBody>
                  <a:tcPr marL="8610" marR="8610" marT="861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-9%</a:t>
                      </a:r>
                    </a:p>
                  </a:txBody>
                  <a:tcPr marL="8610" marR="8610" marT="861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highlight>
                            <a:srgbClr val="FFFF00"/>
                          </a:highlight>
                          <a:latin typeface="Meiryo UI" panose="020B0604030504040204" pitchFamily="50" charset="-128"/>
                          <a:ea typeface="Meiryo UI" panose="020B0604030504040204" pitchFamily="50" charset="-128"/>
                        </a:rPr>
                        <a:t>-15%</a:t>
                      </a:r>
                    </a:p>
                  </a:txBody>
                  <a:tcPr marL="8610" marR="8610" marT="861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0%</a:t>
                      </a:r>
                    </a:p>
                  </a:txBody>
                  <a:tcPr marL="8610" marR="8610" marT="861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highlight>
                            <a:srgbClr val="FFFF00"/>
                          </a:highlight>
                          <a:latin typeface="Meiryo UI" panose="020B0604030504040204" pitchFamily="50" charset="-128"/>
                          <a:ea typeface="Meiryo UI" panose="020B0604030504040204" pitchFamily="50" charset="-128"/>
                        </a:rPr>
                        <a:t>23%</a:t>
                      </a:r>
                    </a:p>
                  </a:txBody>
                  <a:tcPr marL="8610" marR="8610" marT="8610"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508649156"/>
                  </a:ext>
                </a:extLst>
              </a:tr>
            </a:tbl>
          </a:graphicData>
        </a:graphic>
      </p:graphicFrame>
      <p:sp>
        <p:nvSpPr>
          <p:cNvPr id="8" name="テキスト ボックス 7">
            <a:extLst>
              <a:ext uri="{FF2B5EF4-FFF2-40B4-BE49-F238E27FC236}">
                <a16:creationId xmlns:a16="http://schemas.microsoft.com/office/drawing/2014/main" id="{EF88F03F-054B-4B05-E70D-557522B72F88}"/>
              </a:ext>
            </a:extLst>
          </p:cNvPr>
          <p:cNvSpPr txBox="1"/>
          <p:nvPr/>
        </p:nvSpPr>
        <p:spPr>
          <a:xfrm>
            <a:off x="674074" y="2446906"/>
            <a:ext cx="2704123" cy="246221"/>
          </a:xfrm>
          <a:prstGeom prst="rect">
            <a:avLst/>
          </a:prstGeom>
          <a:noFill/>
        </p:spPr>
        <p:txBody>
          <a:bodyPr wrap="square" rtlCol="0">
            <a:spAutoFit/>
          </a:bodyPr>
          <a:lstStyle/>
          <a:p>
            <a:r>
              <a:rPr kumimoji="1" lang="ja-JP" altLang="en-US" sz="1000" b="1" u="sng" dirty="0"/>
              <a:t>▼面談を希望しなかった理由</a:t>
            </a:r>
          </a:p>
        </p:txBody>
      </p:sp>
      <p:sp>
        <p:nvSpPr>
          <p:cNvPr id="9" name="テキスト ボックス 8">
            <a:extLst>
              <a:ext uri="{FF2B5EF4-FFF2-40B4-BE49-F238E27FC236}">
                <a16:creationId xmlns:a16="http://schemas.microsoft.com/office/drawing/2014/main" id="{8E1C68ED-AD1D-F9BE-FD8B-77F8DF7D95CD}"/>
              </a:ext>
            </a:extLst>
          </p:cNvPr>
          <p:cNvSpPr txBox="1"/>
          <p:nvPr/>
        </p:nvSpPr>
        <p:spPr>
          <a:xfrm>
            <a:off x="674074" y="4675604"/>
            <a:ext cx="2704123" cy="246221"/>
          </a:xfrm>
          <a:prstGeom prst="rect">
            <a:avLst/>
          </a:prstGeom>
          <a:noFill/>
        </p:spPr>
        <p:txBody>
          <a:bodyPr wrap="square" rtlCol="0">
            <a:spAutoFit/>
          </a:bodyPr>
          <a:lstStyle/>
          <a:p>
            <a:r>
              <a:rPr kumimoji="1" lang="ja-JP" altLang="en-US" sz="1000" b="1" u="sng" dirty="0"/>
              <a:t>▼面談希望なしで応募もしなかった理由</a:t>
            </a:r>
          </a:p>
        </p:txBody>
      </p:sp>
    </p:spTree>
    <p:extLst>
      <p:ext uri="{BB962C8B-B14F-4D97-AF65-F5344CB8AC3E}">
        <p14:creationId xmlns:p14="http://schemas.microsoft.com/office/powerpoint/2010/main" val="16150419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B2751C1A-FF63-C68A-5F13-E2B4A11E599C}"/>
              </a:ext>
            </a:extLst>
          </p:cNvPr>
          <p:cNvSpPr>
            <a:spLocks noGrp="1"/>
          </p:cNvSpPr>
          <p:nvPr>
            <p:ph sz="quarter" idx="14"/>
          </p:nvPr>
        </p:nvSpPr>
        <p:spPr>
          <a:xfrm>
            <a:off x="360363" y="863999"/>
            <a:ext cx="11447462" cy="1011693"/>
          </a:xfrm>
        </p:spPr>
        <p:txBody>
          <a:bodyPr>
            <a:normAutofit/>
          </a:bodyPr>
          <a:lstStyle/>
          <a:p>
            <a:pPr marL="285750" indent="-285750">
              <a:buFont typeface="Wingdings" panose="05000000000000000000" pitchFamily="2" charset="2"/>
              <a:buChar char="ü"/>
            </a:pPr>
            <a:r>
              <a:rPr kumimoji="1" lang="ja-JP" altLang="en-US" sz="1200" dirty="0"/>
              <a:t>①②共に面談に向けたサポートで最もニーズが高いのは面談でしか共有されない求人情報だが、①の方が転職事例や強味</a:t>
            </a:r>
            <a:r>
              <a:rPr kumimoji="1" lang="en-US" altLang="ja-JP" sz="1200" dirty="0"/>
              <a:t>/</a:t>
            </a:r>
            <a:r>
              <a:rPr kumimoji="1" lang="ja-JP" altLang="en-US" sz="1200" dirty="0"/>
              <a:t>特性理解、市場価値など自己理解に対するサポートニーズが高い。</a:t>
            </a:r>
            <a:endParaRPr kumimoji="1" lang="en-US" altLang="ja-JP" sz="1200" dirty="0"/>
          </a:p>
          <a:p>
            <a:pPr marL="285750" indent="-285750">
              <a:buFont typeface="Wingdings" panose="05000000000000000000" pitchFamily="2" charset="2"/>
              <a:buChar char="ü"/>
            </a:pPr>
            <a:r>
              <a:rPr lang="ja-JP" altLang="en-US" sz="1200" dirty="0"/>
              <a:t>求人応募については非公開求人のニーズが高いが、①はシステム経由②は</a:t>
            </a:r>
            <a:r>
              <a:rPr lang="en-US" altLang="ja-JP" sz="1200" dirty="0"/>
              <a:t>CA</a:t>
            </a:r>
            <a:r>
              <a:rPr lang="ja-JP" altLang="en-US" sz="1200" dirty="0"/>
              <a:t>経由の案内を希望する割合が高い。合格可能性の把握については</a:t>
            </a:r>
            <a:r>
              <a:rPr lang="en-US" altLang="ja-JP" sz="1200" dirty="0"/>
              <a:t>CA/</a:t>
            </a:r>
            <a:r>
              <a:rPr lang="ja-JP" altLang="en-US" sz="1200" dirty="0"/>
              <a:t>システムがほぼ同じだが、内定者事例については①②共にシステム経由での共有希望度合が高い。</a:t>
            </a:r>
            <a:endParaRPr lang="en-US" altLang="ja-JP" sz="1200" dirty="0"/>
          </a:p>
        </p:txBody>
      </p:sp>
      <p:sp>
        <p:nvSpPr>
          <p:cNvPr id="3" name="テキスト プレースホルダー 2">
            <a:extLst>
              <a:ext uri="{FF2B5EF4-FFF2-40B4-BE49-F238E27FC236}">
                <a16:creationId xmlns:a16="http://schemas.microsoft.com/office/drawing/2014/main" id="{7B0F2A08-C58F-7211-4BBE-8C25D5919FCE}"/>
              </a:ext>
            </a:extLst>
          </p:cNvPr>
          <p:cNvSpPr>
            <a:spLocks noGrp="1"/>
          </p:cNvSpPr>
          <p:nvPr>
            <p:ph type="body" sz="quarter" idx="13"/>
          </p:nvPr>
        </p:nvSpPr>
        <p:spPr>
          <a:xfrm>
            <a:off x="360363" y="183090"/>
            <a:ext cx="11448000" cy="284693"/>
          </a:xfrm>
        </p:spPr>
        <p:txBody>
          <a:bodyPr/>
          <a:lstStyle/>
          <a:p>
            <a:r>
              <a:rPr lang="ja-JP" altLang="en-US" dirty="0"/>
              <a:t>活動ステータス別サマリ：</a:t>
            </a:r>
            <a:r>
              <a:rPr kumimoji="1" lang="ja-JP" altLang="en-US" dirty="0"/>
              <a:t>面談希望</a:t>
            </a:r>
            <a:r>
              <a:rPr kumimoji="1" lang="ja-JP" altLang="en-US" dirty="0">
                <a:solidFill>
                  <a:srgbClr val="FF0000"/>
                </a:solidFill>
              </a:rPr>
              <a:t>なし</a:t>
            </a:r>
            <a:r>
              <a:rPr kumimoji="1" lang="en-US" altLang="ja-JP" dirty="0"/>
              <a:t>【</a:t>
            </a:r>
            <a:r>
              <a:rPr kumimoji="1" lang="ja-JP" altLang="en-US" dirty="0"/>
              <a:t>セグメント考察</a:t>
            </a:r>
            <a:r>
              <a:rPr kumimoji="1" lang="en-US" altLang="ja-JP" dirty="0"/>
              <a:t>】</a:t>
            </a:r>
            <a:endParaRPr kumimoji="1" lang="ja-JP" altLang="en-US" dirty="0">
              <a:solidFill>
                <a:srgbClr val="FF0000"/>
              </a:solidFill>
            </a:endParaRPr>
          </a:p>
        </p:txBody>
      </p:sp>
      <p:sp>
        <p:nvSpPr>
          <p:cNvPr id="4" name="フッター プレースホルダー 3">
            <a:extLst>
              <a:ext uri="{FF2B5EF4-FFF2-40B4-BE49-F238E27FC236}">
                <a16:creationId xmlns:a16="http://schemas.microsoft.com/office/drawing/2014/main" id="{0284330B-4003-4A92-68D3-6202D991A34A}"/>
              </a:ext>
            </a:extLst>
          </p:cNvPr>
          <p:cNvSpPr>
            <a:spLocks noGrp="1"/>
          </p:cNvSpPr>
          <p:nvPr>
            <p:ph type="ftr" sz="quarter" idx="3"/>
          </p:nvPr>
        </p:nvSpPr>
        <p:spPr/>
        <p:txBody>
          <a:bodyPr/>
          <a:lstStyle/>
          <a:p>
            <a:r>
              <a:rPr lang="en" altLang="ja-JP"/>
              <a:t>(C) Recruit Co., Ltd. All rights reserved. </a:t>
            </a:r>
            <a:endParaRPr lang="ja-JP" altLang="en-US"/>
          </a:p>
        </p:txBody>
      </p:sp>
      <p:sp>
        <p:nvSpPr>
          <p:cNvPr id="5" name="スライド番号プレースホルダー 4">
            <a:extLst>
              <a:ext uri="{FF2B5EF4-FFF2-40B4-BE49-F238E27FC236}">
                <a16:creationId xmlns:a16="http://schemas.microsoft.com/office/drawing/2014/main" id="{10E0507A-EB2E-3CDB-C417-6A524D10ACAC}"/>
              </a:ext>
            </a:extLst>
          </p:cNvPr>
          <p:cNvSpPr>
            <a:spLocks noGrp="1"/>
          </p:cNvSpPr>
          <p:nvPr>
            <p:ph type="sldNum" sz="quarter" idx="4"/>
          </p:nvPr>
        </p:nvSpPr>
        <p:spPr/>
        <p:txBody>
          <a:bodyPr/>
          <a:lstStyle/>
          <a:p>
            <a:fld id="{EDD55F78-D87A-074E-B5DA-6C9B598DD91F}" type="slidenum">
              <a:rPr lang="ja-JP" altLang="en-US" smtClean="0"/>
              <a:pPr/>
              <a:t>19</a:t>
            </a:fld>
            <a:endParaRPr lang="ja-JP" altLang="en-US"/>
          </a:p>
        </p:txBody>
      </p:sp>
      <p:graphicFrame>
        <p:nvGraphicFramePr>
          <p:cNvPr id="6" name="表 5">
            <a:extLst>
              <a:ext uri="{FF2B5EF4-FFF2-40B4-BE49-F238E27FC236}">
                <a16:creationId xmlns:a16="http://schemas.microsoft.com/office/drawing/2014/main" id="{ADD50616-29A2-B79D-B9CE-F6DA496A88A0}"/>
              </a:ext>
            </a:extLst>
          </p:cNvPr>
          <p:cNvGraphicFramePr>
            <a:graphicFrameLocks noGrp="1"/>
          </p:cNvGraphicFramePr>
          <p:nvPr>
            <p:extLst>
              <p:ext uri="{D42A27DB-BD31-4B8C-83A1-F6EECF244321}">
                <p14:modId xmlns:p14="http://schemas.microsoft.com/office/powerpoint/2010/main" val="2611692798"/>
              </p:ext>
            </p:extLst>
          </p:nvPr>
        </p:nvGraphicFramePr>
        <p:xfrm>
          <a:off x="948593" y="2434492"/>
          <a:ext cx="10032997" cy="1616600"/>
        </p:xfrm>
        <a:graphic>
          <a:graphicData uri="http://schemas.openxmlformats.org/drawingml/2006/table">
            <a:tbl>
              <a:tblPr/>
              <a:tblGrid>
                <a:gridCol w="2082141">
                  <a:extLst>
                    <a:ext uri="{9D8B030D-6E8A-4147-A177-3AD203B41FA5}">
                      <a16:colId xmlns:a16="http://schemas.microsoft.com/office/drawing/2014/main" val="1701471207"/>
                    </a:ext>
                  </a:extLst>
                </a:gridCol>
                <a:gridCol w="1552084">
                  <a:extLst>
                    <a:ext uri="{9D8B030D-6E8A-4147-A177-3AD203B41FA5}">
                      <a16:colId xmlns:a16="http://schemas.microsoft.com/office/drawing/2014/main" val="314509778"/>
                    </a:ext>
                  </a:extLst>
                </a:gridCol>
                <a:gridCol w="533231">
                  <a:extLst>
                    <a:ext uri="{9D8B030D-6E8A-4147-A177-3AD203B41FA5}">
                      <a16:colId xmlns:a16="http://schemas.microsoft.com/office/drawing/2014/main" val="423737785"/>
                    </a:ext>
                  </a:extLst>
                </a:gridCol>
                <a:gridCol w="533231">
                  <a:extLst>
                    <a:ext uri="{9D8B030D-6E8A-4147-A177-3AD203B41FA5}">
                      <a16:colId xmlns:a16="http://schemas.microsoft.com/office/drawing/2014/main" val="710061943"/>
                    </a:ext>
                  </a:extLst>
                </a:gridCol>
                <a:gridCol w="533231">
                  <a:extLst>
                    <a:ext uri="{9D8B030D-6E8A-4147-A177-3AD203B41FA5}">
                      <a16:colId xmlns:a16="http://schemas.microsoft.com/office/drawing/2014/main" val="2491348590"/>
                    </a:ext>
                  </a:extLst>
                </a:gridCol>
                <a:gridCol w="533231">
                  <a:extLst>
                    <a:ext uri="{9D8B030D-6E8A-4147-A177-3AD203B41FA5}">
                      <a16:colId xmlns:a16="http://schemas.microsoft.com/office/drawing/2014/main" val="2970695958"/>
                    </a:ext>
                  </a:extLst>
                </a:gridCol>
                <a:gridCol w="533231">
                  <a:extLst>
                    <a:ext uri="{9D8B030D-6E8A-4147-A177-3AD203B41FA5}">
                      <a16:colId xmlns:a16="http://schemas.microsoft.com/office/drawing/2014/main" val="2633913655"/>
                    </a:ext>
                  </a:extLst>
                </a:gridCol>
                <a:gridCol w="533231">
                  <a:extLst>
                    <a:ext uri="{9D8B030D-6E8A-4147-A177-3AD203B41FA5}">
                      <a16:colId xmlns:a16="http://schemas.microsoft.com/office/drawing/2014/main" val="1066241590"/>
                    </a:ext>
                  </a:extLst>
                </a:gridCol>
                <a:gridCol w="533231">
                  <a:extLst>
                    <a:ext uri="{9D8B030D-6E8A-4147-A177-3AD203B41FA5}">
                      <a16:colId xmlns:a16="http://schemas.microsoft.com/office/drawing/2014/main" val="2065835216"/>
                    </a:ext>
                  </a:extLst>
                </a:gridCol>
                <a:gridCol w="533231">
                  <a:extLst>
                    <a:ext uri="{9D8B030D-6E8A-4147-A177-3AD203B41FA5}">
                      <a16:colId xmlns:a16="http://schemas.microsoft.com/office/drawing/2014/main" val="3469812165"/>
                    </a:ext>
                  </a:extLst>
                </a:gridCol>
                <a:gridCol w="533231">
                  <a:extLst>
                    <a:ext uri="{9D8B030D-6E8A-4147-A177-3AD203B41FA5}">
                      <a16:colId xmlns:a16="http://schemas.microsoft.com/office/drawing/2014/main" val="1695390901"/>
                    </a:ext>
                  </a:extLst>
                </a:gridCol>
                <a:gridCol w="533231">
                  <a:extLst>
                    <a:ext uri="{9D8B030D-6E8A-4147-A177-3AD203B41FA5}">
                      <a16:colId xmlns:a16="http://schemas.microsoft.com/office/drawing/2014/main" val="1089419408"/>
                    </a:ext>
                  </a:extLst>
                </a:gridCol>
                <a:gridCol w="533231">
                  <a:extLst>
                    <a:ext uri="{9D8B030D-6E8A-4147-A177-3AD203B41FA5}">
                      <a16:colId xmlns:a16="http://schemas.microsoft.com/office/drawing/2014/main" val="1966851251"/>
                    </a:ext>
                  </a:extLst>
                </a:gridCol>
                <a:gridCol w="533231">
                  <a:extLst>
                    <a:ext uri="{9D8B030D-6E8A-4147-A177-3AD203B41FA5}">
                      <a16:colId xmlns:a16="http://schemas.microsoft.com/office/drawing/2014/main" val="3516666780"/>
                    </a:ext>
                  </a:extLst>
                </a:gridCol>
              </a:tblGrid>
              <a:tr h="1187975">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ctr"/>
                      <a:endParaRPr lang="ja-JP" altLang="en-US" sz="800" b="0" i="0" u="none" strike="noStrike" dirty="0">
                        <a:effectLst/>
                        <a:latin typeface="Meiryo UI" panose="020B0604030504040204" pitchFamily="50" charset="-128"/>
                        <a:ea typeface="Meiryo UI" panose="020B0604030504040204" pitchFamily="50" charset="-128"/>
                      </a:endParaRPr>
                    </a:p>
                  </a:txBody>
                  <a:tcPr marL="9525" marR="9525" marT="952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t"/>
                      <a:r>
                        <a:rPr lang="ja-JP" altLang="en-US" sz="800" b="0" i="0" u="none" strike="noStrike" dirty="0">
                          <a:effectLst/>
                          <a:latin typeface="Meiryo UI" panose="020B0604030504040204" pitchFamily="50" charset="-128"/>
                          <a:ea typeface="Meiryo UI" panose="020B0604030504040204" pitchFamily="50" charset="-128"/>
                        </a:rPr>
                        <a:t>面談でしか共有されない求人情報がもらえる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面談でしか共有されない企業情報がもらえる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面談に参加することで、自分の興味のある企業の現場担当者と会話の機会を得られる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面談に参加することで、自分の強み・特性がわかる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面談に参加することで、自分の市場価値（スキルに対する適正年収など）がわかる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面談に参加することで、自分と類似スキルを持つ求職者の転職先例を知ることができる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面談に参加することで、副業サービスを紹介してくれる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面談に参加することで、資格取得やスキルアップのためのサポートをしてくれる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面談はキャリアアドバイザー</a:t>
                      </a:r>
                      <a:r>
                        <a:rPr lang="en-US" altLang="ja-JP" sz="800" b="0" i="0" u="none" strike="noStrike">
                          <a:effectLst/>
                          <a:latin typeface="Meiryo UI" panose="020B0604030504040204" pitchFamily="50" charset="-128"/>
                          <a:ea typeface="Meiryo UI" panose="020B0604030504040204" pitchFamily="50" charset="-128"/>
                        </a:rPr>
                        <a:t>1</a:t>
                      </a:r>
                      <a:r>
                        <a:rPr lang="ja-JP" altLang="en-US" sz="800" b="0" i="0" u="none" strike="noStrike">
                          <a:effectLst/>
                          <a:latin typeface="Meiryo UI" panose="020B0604030504040204" pitchFamily="50" charset="-128"/>
                          <a:ea typeface="Meiryo UI" panose="020B0604030504040204" pitchFamily="50" charset="-128"/>
                        </a:rPr>
                        <a:t>人だけでなく、複数のキャリアアドバイザーが多角的・迅速にサポートしてくれる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面談に参加することで、キャリアアドバイザーから求人を提案してもらうことができる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その他</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dirty="0">
                          <a:effectLst/>
                          <a:latin typeface="Meiryo UI" panose="020B0604030504040204" pitchFamily="50" charset="-128"/>
                          <a:ea typeface="Meiryo UI" panose="020B0604030504040204" pitchFamily="50" charset="-128"/>
                        </a:rPr>
                        <a:t>当てはまるサポートはない</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65023311"/>
                  </a:ext>
                </a:extLst>
              </a:tr>
              <a:tr h="142875">
                <a:tc rowSpan="2">
                  <a:txBody>
                    <a:bodyPr/>
                    <a:lstStyle/>
                    <a:p>
                      <a:pPr algn="ctr" fontAlgn="t"/>
                      <a:r>
                        <a:rPr lang="ja-JP" altLang="en-US" sz="800" b="0" i="0" u="none" strike="noStrike">
                          <a:effectLst/>
                          <a:latin typeface="Meiryo UI" panose="020B0604030504040204" pitchFamily="50" charset="-128"/>
                          <a:ea typeface="Meiryo UI" panose="020B0604030504040204" pitchFamily="50" charset="-128"/>
                        </a:rPr>
                        <a:t>面談希望なし</a:t>
                      </a:r>
                      <a:r>
                        <a:rPr lang="en-US" altLang="ja-JP" sz="800" b="0" i="0" u="none" strike="noStrike">
                          <a:effectLst/>
                          <a:latin typeface="Meiryo UI" panose="020B0604030504040204" pitchFamily="50" charset="-128"/>
                          <a:ea typeface="Meiryo UI" panose="020B0604030504040204" pitchFamily="50" charset="-128"/>
                        </a:rPr>
                        <a:t>/</a:t>
                      </a:r>
                      <a:r>
                        <a:rPr lang="ja-JP" altLang="en-US" sz="800" b="0" i="0" u="none" strike="noStrike">
                          <a:effectLst/>
                          <a:latin typeface="Meiryo UI" panose="020B0604030504040204" pitchFamily="50" charset="-128"/>
                          <a:ea typeface="Meiryo UI" panose="020B0604030504040204" pitchFamily="50" charset="-128"/>
                        </a:rPr>
                        <a:t>どちらともいえない</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altLang="ja-JP" sz="800" b="0" i="0" u="none" strike="noStrike" dirty="0">
                          <a:effectLst/>
                          <a:latin typeface="Meiryo UI" panose="020B0604030504040204" pitchFamily="50" charset="-128"/>
                          <a:ea typeface="Meiryo UI" panose="020B0604030504040204" pitchFamily="50" charset="-128"/>
                        </a:rPr>
                        <a:t>0</a:t>
                      </a:r>
                      <a:r>
                        <a:rPr lang="ja-JP" altLang="en-US" sz="800" b="0" i="0" u="none" strike="noStrike" dirty="0">
                          <a:effectLst/>
                          <a:latin typeface="Meiryo UI" panose="020B0604030504040204" pitchFamily="50" charset="-128"/>
                          <a:ea typeface="Meiryo UI" panose="020B0604030504040204" pitchFamily="50" charset="-128"/>
                        </a:rPr>
                        <a:t>回（転職経験なし）</a:t>
                      </a:r>
                      <a:r>
                        <a:rPr lang="en-US" altLang="ja-JP" sz="800" b="0" i="0" u="none" strike="noStrike" dirty="0">
                          <a:effectLst/>
                          <a:latin typeface="Meiryo UI" panose="020B0604030504040204" pitchFamily="50" charset="-128"/>
                          <a:ea typeface="Meiryo UI" panose="020B0604030504040204" pitchFamily="50" charset="-128"/>
                        </a:rPr>
                        <a:t>…</a:t>
                      </a:r>
                      <a:r>
                        <a:rPr lang="ja-JP" altLang="en-US" sz="800" b="0" i="0" u="none" strike="noStrike" dirty="0">
                          <a:effectLst/>
                          <a:latin typeface="Meiryo UI" panose="020B0604030504040204" pitchFamily="50" charset="-128"/>
                          <a:ea typeface="Meiryo UI" panose="020B0604030504040204" pitchFamily="50" charset="-128"/>
                        </a:rPr>
                        <a:t>①</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altLang="ja-JP" sz="800" b="1" i="0" u="none" strike="noStrike" dirty="0">
                          <a:solidFill>
                            <a:srgbClr val="FF0000"/>
                          </a:solidFill>
                          <a:effectLst/>
                          <a:latin typeface="Meiryo UI" panose="020B0604030504040204" pitchFamily="50" charset="-128"/>
                          <a:ea typeface="Meiryo UI" panose="020B0604030504040204" pitchFamily="50" charset="-128"/>
                        </a:rPr>
                        <a:t>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1CA95"/>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D9B5"/>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AC88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AC88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3C589"/>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0F1E7"/>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EBD9"/>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ECDD"/>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2D8B2"/>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F9F8"/>
                    </a:solidFill>
                  </a:tcPr>
                </a:tc>
                <a:extLst>
                  <a:ext uri="{0D108BD9-81ED-4DB2-BD59-A6C34878D82A}">
                    <a16:rowId xmlns:a16="http://schemas.microsoft.com/office/drawing/2014/main" val="2375843269"/>
                  </a:ext>
                </a:extLst>
              </a:tr>
              <a:tr h="142875">
                <a:tc vMerge="1">
                  <a:txBody>
                    <a:bodyPr/>
                    <a:lstStyle/>
                    <a:p>
                      <a:endParaRPr kumimoji="1" lang="ja-JP" altLang="en-US"/>
                    </a:p>
                  </a:txBody>
                  <a:tcPr/>
                </a:tc>
                <a:tc>
                  <a:txBody>
                    <a:bodyPr/>
                    <a:lstStyle/>
                    <a:p>
                      <a:pPr algn="l" fontAlgn="t"/>
                      <a:r>
                        <a:rPr lang="en-US" altLang="ja-JP" sz="800" b="0" i="0" u="none" strike="noStrike" dirty="0">
                          <a:effectLst/>
                          <a:latin typeface="Meiryo UI" panose="020B0604030504040204" pitchFamily="50" charset="-128"/>
                          <a:ea typeface="Meiryo UI" panose="020B0604030504040204" pitchFamily="50" charset="-128"/>
                        </a:rPr>
                        <a:t>1</a:t>
                      </a:r>
                      <a:r>
                        <a:rPr lang="ja-JP" altLang="en-US" sz="800" b="0" i="0" u="none" strike="noStrike" dirty="0">
                          <a:effectLst/>
                          <a:latin typeface="Meiryo UI" panose="020B0604030504040204" pitchFamily="50" charset="-128"/>
                          <a:ea typeface="Meiryo UI" panose="020B0604030504040204" pitchFamily="50" charset="-128"/>
                        </a:rPr>
                        <a:t>回以上（転職経験あり）</a:t>
                      </a:r>
                      <a:r>
                        <a:rPr lang="en-US" altLang="ja-JP" sz="800" b="0" i="0" u="none" strike="noStrike" dirty="0">
                          <a:effectLst/>
                          <a:latin typeface="Meiryo UI" panose="020B0604030504040204" pitchFamily="50" charset="-128"/>
                          <a:ea typeface="Meiryo UI" panose="020B0604030504040204" pitchFamily="50" charset="-128"/>
                        </a:rPr>
                        <a:t>…</a:t>
                      </a:r>
                      <a:r>
                        <a:rPr lang="ja-JP" altLang="en-US" sz="800" b="0" i="0" u="none" strike="noStrike" dirty="0">
                          <a:effectLst/>
                          <a:latin typeface="Meiryo UI" panose="020B0604030504040204" pitchFamily="50" charset="-128"/>
                          <a:ea typeface="Meiryo UI" panose="020B0604030504040204" pitchFamily="50" charset="-128"/>
                        </a:rPr>
                        <a:t>②</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9C180"/>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CC97"/>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AE2C6"/>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1D7B0"/>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DD6AD"/>
                    </a:solidFill>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E3C9"/>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F2E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FE4"/>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EBD9"/>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DD6AD"/>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5EDDE"/>
                    </a:solidFill>
                  </a:tcPr>
                </a:tc>
                <a:extLst>
                  <a:ext uri="{0D108BD9-81ED-4DB2-BD59-A6C34878D82A}">
                    <a16:rowId xmlns:a16="http://schemas.microsoft.com/office/drawing/2014/main" val="1969114790"/>
                  </a:ext>
                </a:extLst>
              </a:tr>
              <a:tr h="142875">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-7%</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highlight>
                            <a:srgbClr val="FFFF00"/>
                          </a:highlight>
                          <a:latin typeface="Meiryo UI" panose="020B0604030504040204" pitchFamily="50" charset="-128"/>
                          <a:ea typeface="Meiryo UI" panose="020B0604030504040204" pitchFamily="50" charset="-128"/>
                        </a:rPr>
                        <a:t>-14%</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highlight>
                            <a:srgbClr val="FFFF00"/>
                          </a:highlight>
                          <a:latin typeface="Meiryo UI" panose="020B0604030504040204" pitchFamily="50" charset="-128"/>
                          <a:ea typeface="Meiryo UI" panose="020B0604030504040204" pitchFamily="50" charset="-128"/>
                        </a:rPr>
                        <a:t>-12%</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highlight>
                            <a:srgbClr val="FFFF00"/>
                          </a:highlight>
                          <a:latin typeface="Meiryo UI" panose="020B0604030504040204" pitchFamily="50" charset="-128"/>
                          <a:ea typeface="Meiryo UI" panose="020B0604030504040204" pitchFamily="50" charset="-128"/>
                        </a:rPr>
                        <a:t>-26%</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-1%</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latin typeface="Meiryo UI" panose="020B0604030504040204" pitchFamily="50" charset="-128"/>
                          <a:ea typeface="Meiryo UI" panose="020B0604030504040204" pitchFamily="50" charset="-128"/>
                        </a:rPr>
                        <a:t>11%</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89596241"/>
                  </a:ext>
                </a:extLst>
              </a:tr>
            </a:tbl>
          </a:graphicData>
        </a:graphic>
      </p:graphicFrame>
      <p:graphicFrame>
        <p:nvGraphicFramePr>
          <p:cNvPr id="7" name="表 6">
            <a:extLst>
              <a:ext uri="{FF2B5EF4-FFF2-40B4-BE49-F238E27FC236}">
                <a16:creationId xmlns:a16="http://schemas.microsoft.com/office/drawing/2014/main" id="{5E6A1B06-6B91-6FD8-3EC8-DDAB406A888F}"/>
              </a:ext>
            </a:extLst>
          </p:cNvPr>
          <p:cNvGraphicFramePr>
            <a:graphicFrameLocks noGrp="1"/>
          </p:cNvGraphicFramePr>
          <p:nvPr>
            <p:extLst>
              <p:ext uri="{D42A27DB-BD31-4B8C-83A1-F6EECF244321}">
                <p14:modId xmlns:p14="http://schemas.microsoft.com/office/powerpoint/2010/main" val="2799929366"/>
              </p:ext>
            </p:extLst>
          </p:nvPr>
        </p:nvGraphicFramePr>
        <p:xfrm>
          <a:off x="948593" y="4470400"/>
          <a:ext cx="9968519" cy="1656178"/>
        </p:xfrm>
        <a:graphic>
          <a:graphicData uri="http://schemas.openxmlformats.org/drawingml/2006/table">
            <a:tbl>
              <a:tblPr/>
              <a:tblGrid>
                <a:gridCol w="2314815">
                  <a:extLst>
                    <a:ext uri="{9D8B030D-6E8A-4147-A177-3AD203B41FA5}">
                      <a16:colId xmlns:a16="http://schemas.microsoft.com/office/drawing/2014/main" val="909269203"/>
                    </a:ext>
                  </a:extLst>
                </a:gridCol>
                <a:gridCol w="1725524">
                  <a:extLst>
                    <a:ext uri="{9D8B030D-6E8A-4147-A177-3AD203B41FA5}">
                      <a16:colId xmlns:a16="http://schemas.microsoft.com/office/drawing/2014/main" val="1339229421"/>
                    </a:ext>
                  </a:extLst>
                </a:gridCol>
                <a:gridCol w="592818">
                  <a:extLst>
                    <a:ext uri="{9D8B030D-6E8A-4147-A177-3AD203B41FA5}">
                      <a16:colId xmlns:a16="http://schemas.microsoft.com/office/drawing/2014/main" val="2593489986"/>
                    </a:ext>
                  </a:extLst>
                </a:gridCol>
                <a:gridCol w="592818">
                  <a:extLst>
                    <a:ext uri="{9D8B030D-6E8A-4147-A177-3AD203B41FA5}">
                      <a16:colId xmlns:a16="http://schemas.microsoft.com/office/drawing/2014/main" val="2633880809"/>
                    </a:ext>
                  </a:extLst>
                </a:gridCol>
                <a:gridCol w="592818">
                  <a:extLst>
                    <a:ext uri="{9D8B030D-6E8A-4147-A177-3AD203B41FA5}">
                      <a16:colId xmlns:a16="http://schemas.microsoft.com/office/drawing/2014/main" val="1878422937"/>
                    </a:ext>
                  </a:extLst>
                </a:gridCol>
                <a:gridCol w="592818">
                  <a:extLst>
                    <a:ext uri="{9D8B030D-6E8A-4147-A177-3AD203B41FA5}">
                      <a16:colId xmlns:a16="http://schemas.microsoft.com/office/drawing/2014/main" val="788566908"/>
                    </a:ext>
                  </a:extLst>
                </a:gridCol>
                <a:gridCol w="592818">
                  <a:extLst>
                    <a:ext uri="{9D8B030D-6E8A-4147-A177-3AD203B41FA5}">
                      <a16:colId xmlns:a16="http://schemas.microsoft.com/office/drawing/2014/main" val="2794583672"/>
                    </a:ext>
                  </a:extLst>
                </a:gridCol>
                <a:gridCol w="592818">
                  <a:extLst>
                    <a:ext uri="{9D8B030D-6E8A-4147-A177-3AD203B41FA5}">
                      <a16:colId xmlns:a16="http://schemas.microsoft.com/office/drawing/2014/main" val="808238148"/>
                    </a:ext>
                  </a:extLst>
                </a:gridCol>
                <a:gridCol w="592818">
                  <a:extLst>
                    <a:ext uri="{9D8B030D-6E8A-4147-A177-3AD203B41FA5}">
                      <a16:colId xmlns:a16="http://schemas.microsoft.com/office/drawing/2014/main" val="3527939220"/>
                    </a:ext>
                  </a:extLst>
                </a:gridCol>
                <a:gridCol w="592818">
                  <a:extLst>
                    <a:ext uri="{9D8B030D-6E8A-4147-A177-3AD203B41FA5}">
                      <a16:colId xmlns:a16="http://schemas.microsoft.com/office/drawing/2014/main" val="1498015613"/>
                    </a:ext>
                  </a:extLst>
                </a:gridCol>
                <a:gridCol w="592818">
                  <a:extLst>
                    <a:ext uri="{9D8B030D-6E8A-4147-A177-3AD203B41FA5}">
                      <a16:colId xmlns:a16="http://schemas.microsoft.com/office/drawing/2014/main" val="223066086"/>
                    </a:ext>
                  </a:extLst>
                </a:gridCol>
                <a:gridCol w="592818">
                  <a:extLst>
                    <a:ext uri="{9D8B030D-6E8A-4147-A177-3AD203B41FA5}">
                      <a16:colId xmlns:a16="http://schemas.microsoft.com/office/drawing/2014/main" val="1222741392"/>
                    </a:ext>
                  </a:extLst>
                </a:gridCol>
              </a:tblGrid>
              <a:tr h="867508">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非公開求人が、キャリアアドバイザーを経由して定期的に案内される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自分の大まかな合格可能性を、キャリアアドバイザーに相談できる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過去同じ企業に内定した求職者の傾向が、キャリアアドバイザーを経由して案内される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dirty="0">
                          <a:effectLst/>
                          <a:latin typeface="Meiryo UI" panose="020B0604030504040204" pitchFamily="50" charset="-128"/>
                          <a:ea typeface="Meiryo UI" panose="020B0604030504040204" pitchFamily="50" charset="-128"/>
                        </a:rPr>
                        <a:t>キャリアアドバイザーが応募書類の添削・アドバイスをしてくれる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キャリアアドバイザーが面接対策・面接へのアドバイスをしてくれる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非公開求人が、システムを経由して定期的に共有される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自分の大まかな合格可能性が、システムを経由して共有される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過去同じ企業に内定した求職者の傾向が、システムを経由して共有される</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その他</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ja-JP" altLang="en-US" sz="800" b="0" i="0" u="none" strike="noStrike">
                          <a:effectLst/>
                          <a:latin typeface="Meiryo UI" panose="020B0604030504040204" pitchFamily="50" charset="-128"/>
                          <a:ea typeface="Meiryo UI" panose="020B0604030504040204" pitchFamily="50" charset="-128"/>
                        </a:rPr>
                        <a:t>当てはまるサポートはない</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62659980"/>
                  </a:ext>
                </a:extLst>
              </a:tr>
              <a:tr h="118102">
                <a:tc rowSpan="2">
                  <a:txBody>
                    <a:bodyPr/>
                    <a:lstStyle/>
                    <a:p>
                      <a:pPr algn="ctr" fontAlgn="t"/>
                      <a:r>
                        <a:rPr lang="ja-JP" altLang="en-US" sz="800" b="0" i="0" u="none" strike="noStrike">
                          <a:effectLst/>
                          <a:latin typeface="Meiryo UI" panose="020B0604030504040204" pitchFamily="50" charset="-128"/>
                          <a:ea typeface="Meiryo UI" panose="020B0604030504040204" pitchFamily="50" charset="-128"/>
                        </a:rPr>
                        <a:t>面談希望なし</a:t>
                      </a:r>
                      <a:r>
                        <a:rPr lang="en-US" altLang="ja-JP" sz="800" b="0" i="0" u="none" strike="noStrike">
                          <a:effectLst/>
                          <a:latin typeface="Meiryo UI" panose="020B0604030504040204" pitchFamily="50" charset="-128"/>
                          <a:ea typeface="Meiryo UI" panose="020B0604030504040204" pitchFamily="50" charset="-128"/>
                        </a:rPr>
                        <a:t>/</a:t>
                      </a:r>
                      <a:r>
                        <a:rPr lang="ja-JP" altLang="en-US" sz="800" b="0" i="0" u="none" strike="noStrike">
                          <a:effectLst/>
                          <a:latin typeface="Meiryo UI" panose="020B0604030504040204" pitchFamily="50" charset="-128"/>
                          <a:ea typeface="Meiryo UI" panose="020B0604030504040204" pitchFamily="50" charset="-128"/>
                        </a:rPr>
                        <a:t>どちらともいえない</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r>
                        <a:rPr lang="en-US" altLang="ja-JP" sz="800" b="0" i="0" u="none" strike="noStrike" dirty="0">
                          <a:effectLst/>
                          <a:latin typeface="Meiryo UI" panose="020B0604030504040204" pitchFamily="50" charset="-128"/>
                          <a:ea typeface="Meiryo UI" panose="020B0604030504040204" pitchFamily="50" charset="-128"/>
                        </a:rPr>
                        <a:t>0</a:t>
                      </a:r>
                      <a:r>
                        <a:rPr lang="ja-JP" altLang="en-US" sz="800" b="0" i="0" u="none" strike="noStrike" dirty="0">
                          <a:effectLst/>
                          <a:latin typeface="Meiryo UI" panose="020B0604030504040204" pitchFamily="50" charset="-128"/>
                          <a:ea typeface="Meiryo UI" panose="020B0604030504040204" pitchFamily="50" charset="-128"/>
                        </a:rPr>
                        <a:t>回（転職経験なし）</a:t>
                      </a:r>
                      <a:r>
                        <a:rPr lang="en-US" altLang="ja-JP" sz="800" b="0" i="0" u="none" strike="noStrike" dirty="0">
                          <a:effectLst/>
                          <a:latin typeface="Meiryo UI" panose="020B0604030504040204" pitchFamily="50" charset="-128"/>
                          <a:ea typeface="Meiryo UI" panose="020B0604030504040204" pitchFamily="50" charset="-128"/>
                        </a:rPr>
                        <a:t>…</a:t>
                      </a:r>
                      <a:r>
                        <a:rPr lang="ja-JP" altLang="en-US" sz="800" b="0" i="0" u="none" strike="noStrike" dirty="0">
                          <a:effectLst/>
                          <a:latin typeface="Meiryo UI" panose="020B0604030504040204" pitchFamily="50" charset="-128"/>
                          <a:ea typeface="Meiryo UI" panose="020B0604030504040204" pitchFamily="50" charset="-128"/>
                        </a:rPr>
                        <a:t>①</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9C78E"/>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B97"/>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DFC1"/>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D5AC"/>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CF9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2CB96"/>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5CC98"/>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F4ED"/>
                    </a:solidFill>
                  </a:tcPr>
                </a:tc>
                <a:extLst>
                  <a:ext uri="{0D108BD9-81ED-4DB2-BD59-A6C34878D82A}">
                    <a16:rowId xmlns:a16="http://schemas.microsoft.com/office/drawing/2014/main" val="3677006835"/>
                  </a:ext>
                </a:extLst>
              </a:tr>
              <a:tr h="118102">
                <a:tc vMerge="1">
                  <a:txBody>
                    <a:bodyPr/>
                    <a:lstStyle/>
                    <a:p>
                      <a:endParaRPr kumimoji="1" lang="ja-JP" altLang="en-US"/>
                    </a:p>
                  </a:txBody>
                  <a:tcPr/>
                </a:tc>
                <a:tc>
                  <a:txBody>
                    <a:bodyPr/>
                    <a:lstStyle/>
                    <a:p>
                      <a:pPr algn="l" fontAlgn="t"/>
                      <a:r>
                        <a:rPr lang="en-US" altLang="ja-JP" sz="800" b="0" i="0" u="none" strike="noStrike" dirty="0">
                          <a:effectLst/>
                          <a:latin typeface="Meiryo UI" panose="020B0604030504040204" pitchFamily="50" charset="-128"/>
                          <a:ea typeface="Meiryo UI" panose="020B0604030504040204" pitchFamily="50" charset="-128"/>
                        </a:rPr>
                        <a:t>1</a:t>
                      </a:r>
                      <a:r>
                        <a:rPr lang="ja-JP" altLang="en-US" sz="800" b="0" i="0" u="none" strike="noStrike" dirty="0">
                          <a:effectLst/>
                          <a:latin typeface="Meiryo UI" panose="020B0604030504040204" pitchFamily="50" charset="-128"/>
                          <a:ea typeface="Meiryo UI" panose="020B0604030504040204" pitchFamily="50" charset="-128"/>
                        </a:rPr>
                        <a:t>回以上（転職経験あり）</a:t>
                      </a:r>
                      <a:r>
                        <a:rPr lang="en-US" altLang="ja-JP" sz="800" b="0" i="0" u="none" strike="noStrike" dirty="0">
                          <a:effectLst/>
                          <a:latin typeface="Meiryo UI" panose="020B0604030504040204" pitchFamily="50" charset="-128"/>
                          <a:ea typeface="Meiryo UI" panose="020B0604030504040204" pitchFamily="50" charset="-128"/>
                        </a:rPr>
                        <a:t>…</a:t>
                      </a:r>
                      <a:r>
                        <a:rPr lang="ja-JP" altLang="en-US" sz="800" b="0" i="0" u="none" strike="noStrike" dirty="0">
                          <a:effectLst/>
                          <a:latin typeface="Meiryo UI" panose="020B0604030504040204" pitchFamily="50" charset="-128"/>
                          <a:ea typeface="Meiryo UI" panose="020B0604030504040204" pitchFamily="50" charset="-128"/>
                        </a:rPr>
                        <a:t>②</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CC283"/>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5D2A6"/>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D4AA"/>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5D9B4"/>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DCBA"/>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3D2A5"/>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AD5AB"/>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6CC99"/>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3EB"/>
                    </a:solidFill>
                  </a:tcPr>
                </a:tc>
                <a:extLst>
                  <a:ext uri="{0D108BD9-81ED-4DB2-BD59-A6C34878D82A}">
                    <a16:rowId xmlns:a16="http://schemas.microsoft.com/office/drawing/2014/main" val="1967548129"/>
                  </a:ext>
                </a:extLst>
              </a:tr>
              <a:tr h="118102">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4%</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-5%</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8%</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-3%</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highlight>
                            <a:srgbClr val="FFFF00"/>
                          </a:highlight>
                          <a:latin typeface="Meiryo UI" panose="020B0604030504040204" pitchFamily="50" charset="-128"/>
                          <a:ea typeface="Meiryo UI" panose="020B0604030504040204" pitchFamily="50" charset="-128"/>
                        </a:rPr>
                        <a:t>-9%</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dirty="0">
                          <a:effectLst/>
                          <a:highlight>
                            <a:srgbClr val="FFFF00"/>
                          </a:highlight>
                          <a:latin typeface="Meiryo UI" panose="020B0604030504040204" pitchFamily="50" charset="-128"/>
                          <a:ea typeface="Meiryo UI" panose="020B0604030504040204" pitchFamily="50" charset="-128"/>
                        </a:rPr>
                        <a:t>-14%</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-7%</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0%</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ctr"/>
                      <a:r>
                        <a:rPr lang="en-US" altLang="ja-JP" sz="800" b="0" i="0" u="none" strike="noStrike">
                          <a:effectLst/>
                          <a:latin typeface="Meiryo UI" panose="020B0604030504040204" pitchFamily="50" charset="-128"/>
                          <a:ea typeface="Meiryo UI" panose="020B0604030504040204" pitchFamily="50" charset="-128"/>
                        </a:rPr>
                        <a:t>1%</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287810644"/>
                  </a:ext>
                </a:extLst>
              </a:tr>
              <a:tr h="118102">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extLst>
                  <a:ext uri="{0D108BD9-81ED-4DB2-BD59-A6C34878D82A}">
                    <a16:rowId xmlns:a16="http://schemas.microsoft.com/office/drawing/2014/main" val="357666197"/>
                  </a:ext>
                </a:extLst>
              </a:tr>
              <a:tr h="118102">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extLst>
                  <a:ext uri="{0D108BD9-81ED-4DB2-BD59-A6C34878D82A}">
                    <a16:rowId xmlns:a16="http://schemas.microsoft.com/office/drawing/2014/main" val="2064159080"/>
                  </a:ext>
                </a:extLst>
              </a:tr>
              <a:tr h="118102">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800" b="0" i="0" u="none" strike="noStrike" dirty="0">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extLst>
                  <a:ext uri="{0D108BD9-81ED-4DB2-BD59-A6C34878D82A}">
                    <a16:rowId xmlns:a16="http://schemas.microsoft.com/office/drawing/2014/main" val="2806534587"/>
                  </a:ext>
                </a:extLst>
              </a:tr>
            </a:tbl>
          </a:graphicData>
        </a:graphic>
      </p:graphicFrame>
      <p:sp>
        <p:nvSpPr>
          <p:cNvPr id="8" name="テキスト ボックス 7">
            <a:extLst>
              <a:ext uri="{FF2B5EF4-FFF2-40B4-BE49-F238E27FC236}">
                <a16:creationId xmlns:a16="http://schemas.microsoft.com/office/drawing/2014/main" id="{33F39A4B-568C-D30F-FF96-F8BE5CA98786}"/>
              </a:ext>
            </a:extLst>
          </p:cNvPr>
          <p:cNvSpPr txBox="1"/>
          <p:nvPr/>
        </p:nvSpPr>
        <p:spPr>
          <a:xfrm>
            <a:off x="948597" y="4806272"/>
            <a:ext cx="2704123" cy="246221"/>
          </a:xfrm>
          <a:prstGeom prst="rect">
            <a:avLst/>
          </a:prstGeom>
          <a:noFill/>
        </p:spPr>
        <p:txBody>
          <a:bodyPr wrap="square" rtlCol="0">
            <a:spAutoFit/>
          </a:bodyPr>
          <a:lstStyle/>
          <a:p>
            <a:r>
              <a:rPr kumimoji="1" lang="ja-JP" altLang="en-US" sz="1000" b="1" u="sng" dirty="0"/>
              <a:t>▼求人応募を検討するサポート</a:t>
            </a:r>
          </a:p>
        </p:txBody>
      </p:sp>
      <p:sp>
        <p:nvSpPr>
          <p:cNvPr id="9" name="テキスト ボックス 8">
            <a:extLst>
              <a:ext uri="{FF2B5EF4-FFF2-40B4-BE49-F238E27FC236}">
                <a16:creationId xmlns:a16="http://schemas.microsoft.com/office/drawing/2014/main" id="{2828E7B6-9F65-C756-8085-09E645CF7E4B}"/>
              </a:ext>
            </a:extLst>
          </p:cNvPr>
          <p:cNvSpPr txBox="1"/>
          <p:nvPr/>
        </p:nvSpPr>
        <p:spPr>
          <a:xfrm>
            <a:off x="948593" y="2387600"/>
            <a:ext cx="2704123" cy="246221"/>
          </a:xfrm>
          <a:prstGeom prst="rect">
            <a:avLst/>
          </a:prstGeom>
          <a:noFill/>
        </p:spPr>
        <p:txBody>
          <a:bodyPr wrap="square" rtlCol="0">
            <a:spAutoFit/>
          </a:bodyPr>
          <a:lstStyle/>
          <a:p>
            <a:r>
              <a:rPr kumimoji="1" lang="ja-JP" altLang="en-US" sz="1000" b="1" u="sng" dirty="0"/>
              <a:t>▼面談をしようと思うサポート</a:t>
            </a:r>
          </a:p>
        </p:txBody>
      </p:sp>
    </p:spTree>
    <p:extLst>
      <p:ext uri="{BB962C8B-B14F-4D97-AF65-F5344CB8AC3E}">
        <p14:creationId xmlns:p14="http://schemas.microsoft.com/office/powerpoint/2010/main" val="2831943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正方形/長方形 61">
            <a:extLst>
              <a:ext uri="{FF2B5EF4-FFF2-40B4-BE49-F238E27FC236}">
                <a16:creationId xmlns:a16="http://schemas.microsoft.com/office/drawing/2014/main" id="{7D3D4FD4-7312-A43B-6851-4AE39430DFC2}"/>
              </a:ext>
            </a:extLst>
          </p:cNvPr>
          <p:cNvSpPr/>
          <p:nvPr/>
        </p:nvSpPr>
        <p:spPr>
          <a:xfrm>
            <a:off x="3375956" y="1686855"/>
            <a:ext cx="1964976" cy="3997429"/>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b"/>
          <a:lstStyle/>
          <a:p>
            <a:pPr algn="ctr"/>
            <a:r>
              <a:rPr kumimoji="1" lang="en-US" altLang="ja-JP" sz="1050" dirty="0">
                <a:solidFill>
                  <a:schemeClr val="tx1"/>
                </a:solidFill>
              </a:rPr>
              <a:t>【</a:t>
            </a:r>
            <a:r>
              <a:rPr kumimoji="1" lang="ja-JP" altLang="en-US" sz="1050" dirty="0">
                <a:solidFill>
                  <a:schemeClr val="tx1"/>
                </a:solidFill>
              </a:rPr>
              <a:t>面談希望聴取</a:t>
            </a:r>
            <a:r>
              <a:rPr kumimoji="1" lang="en-US" altLang="ja-JP" sz="1050" dirty="0">
                <a:solidFill>
                  <a:schemeClr val="tx1"/>
                </a:solidFill>
              </a:rPr>
              <a:t>】</a:t>
            </a:r>
          </a:p>
          <a:p>
            <a:pPr algn="ctr"/>
            <a:r>
              <a:rPr kumimoji="1" lang="ja-JP" altLang="en-US" sz="900" dirty="0">
                <a:solidFill>
                  <a:schemeClr val="tx1"/>
                </a:solidFill>
              </a:rPr>
              <a:t>フォロー</a:t>
            </a:r>
            <a:r>
              <a:rPr lang="ja-JP" altLang="en-US" sz="900" dirty="0">
                <a:solidFill>
                  <a:schemeClr val="tx1"/>
                </a:solidFill>
              </a:rPr>
              <a:t>観点</a:t>
            </a:r>
            <a:r>
              <a:rPr kumimoji="1" lang="ja-JP" altLang="en-US" sz="900" dirty="0">
                <a:solidFill>
                  <a:schemeClr val="tx1"/>
                </a:solidFill>
              </a:rPr>
              <a:t>が変わるため希望有無を確認。希望なしの場合は理由や、転職活動の進め方イメージを聴取</a:t>
            </a:r>
          </a:p>
        </p:txBody>
      </p:sp>
      <p:sp>
        <p:nvSpPr>
          <p:cNvPr id="51" name="正方形/長方形 50">
            <a:extLst>
              <a:ext uri="{FF2B5EF4-FFF2-40B4-BE49-F238E27FC236}">
                <a16:creationId xmlns:a16="http://schemas.microsoft.com/office/drawing/2014/main" id="{A1C13423-7773-4552-D7E5-DEA490801474}"/>
              </a:ext>
            </a:extLst>
          </p:cNvPr>
          <p:cNvSpPr/>
          <p:nvPr/>
        </p:nvSpPr>
        <p:spPr>
          <a:xfrm>
            <a:off x="1160886" y="1686855"/>
            <a:ext cx="1728072" cy="3997429"/>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b"/>
          <a:lstStyle/>
          <a:p>
            <a:pPr algn="ctr"/>
            <a:r>
              <a:rPr kumimoji="1" lang="en-US" altLang="ja-JP" sz="1050" dirty="0">
                <a:solidFill>
                  <a:schemeClr val="tx1"/>
                </a:solidFill>
              </a:rPr>
              <a:t>【</a:t>
            </a:r>
            <a:r>
              <a:rPr kumimoji="1" lang="ja-JP" altLang="en-US" sz="1050" dirty="0">
                <a:solidFill>
                  <a:schemeClr val="tx1"/>
                </a:solidFill>
              </a:rPr>
              <a:t>サービス説明</a:t>
            </a:r>
            <a:r>
              <a:rPr lang="en-US" altLang="ja-JP" sz="1050" dirty="0">
                <a:solidFill>
                  <a:schemeClr val="tx1"/>
                </a:solidFill>
              </a:rPr>
              <a:t>】</a:t>
            </a:r>
          </a:p>
          <a:p>
            <a:pPr algn="ctr"/>
            <a:r>
              <a:rPr lang="ja-JP" altLang="en-US" sz="900" dirty="0">
                <a:solidFill>
                  <a:schemeClr val="tx1"/>
                </a:solidFill>
              </a:rPr>
              <a:t>どんなことが出来るサービスなのかをラインナップ</a:t>
            </a:r>
            <a:r>
              <a:rPr lang="en-US" altLang="ja-JP" sz="900" dirty="0">
                <a:solidFill>
                  <a:schemeClr val="tx1"/>
                </a:solidFill>
              </a:rPr>
              <a:t>or</a:t>
            </a:r>
            <a:r>
              <a:rPr lang="ja-JP" altLang="en-US" sz="900" dirty="0">
                <a:solidFill>
                  <a:schemeClr val="tx1"/>
                </a:solidFill>
              </a:rPr>
              <a:t>転職活動モデル化して提示</a:t>
            </a:r>
            <a:endParaRPr lang="en-US" altLang="ja-JP" sz="900" dirty="0">
              <a:solidFill>
                <a:schemeClr val="tx1"/>
              </a:solidFill>
            </a:endParaRPr>
          </a:p>
        </p:txBody>
      </p:sp>
      <p:sp>
        <p:nvSpPr>
          <p:cNvPr id="3" name="テキスト プレースホルダー 2">
            <a:extLst>
              <a:ext uri="{FF2B5EF4-FFF2-40B4-BE49-F238E27FC236}">
                <a16:creationId xmlns:a16="http://schemas.microsoft.com/office/drawing/2014/main" id="{37F006F8-7DAA-FB3E-0106-C9950C549D2C}"/>
              </a:ext>
            </a:extLst>
          </p:cNvPr>
          <p:cNvSpPr>
            <a:spLocks noGrp="1"/>
          </p:cNvSpPr>
          <p:nvPr>
            <p:ph type="body" sz="quarter" idx="13"/>
          </p:nvPr>
        </p:nvSpPr>
        <p:spPr/>
        <p:txBody>
          <a:bodyPr/>
          <a:lstStyle/>
          <a:p>
            <a:r>
              <a:rPr kumimoji="1" lang="ja-JP" altLang="en-US" dirty="0"/>
              <a:t>サポート原案：エントリー～面談の創出まで</a:t>
            </a:r>
          </a:p>
        </p:txBody>
      </p:sp>
      <p:sp>
        <p:nvSpPr>
          <p:cNvPr id="4" name="フッター プレースホルダー 3">
            <a:extLst>
              <a:ext uri="{FF2B5EF4-FFF2-40B4-BE49-F238E27FC236}">
                <a16:creationId xmlns:a16="http://schemas.microsoft.com/office/drawing/2014/main" id="{AB108C43-D245-2D6A-6870-7D52ED60D41A}"/>
              </a:ext>
            </a:extLst>
          </p:cNvPr>
          <p:cNvSpPr>
            <a:spLocks noGrp="1"/>
          </p:cNvSpPr>
          <p:nvPr>
            <p:ph type="ftr" sz="quarter" idx="3"/>
          </p:nvPr>
        </p:nvSpPr>
        <p:spPr/>
        <p:txBody>
          <a:bodyPr/>
          <a:lstStyle/>
          <a:p>
            <a:r>
              <a:rPr lang="en" altLang="ja-JP"/>
              <a:t>(C) Recruit Co., Ltd. All rights reserved. </a:t>
            </a:r>
            <a:endParaRPr lang="ja-JP" altLang="en-US"/>
          </a:p>
        </p:txBody>
      </p:sp>
      <p:sp>
        <p:nvSpPr>
          <p:cNvPr id="5" name="スライド番号プレースホルダー 4">
            <a:extLst>
              <a:ext uri="{FF2B5EF4-FFF2-40B4-BE49-F238E27FC236}">
                <a16:creationId xmlns:a16="http://schemas.microsoft.com/office/drawing/2014/main" id="{132D6525-9968-9C64-5A26-934D9E8C8EE0}"/>
              </a:ext>
            </a:extLst>
          </p:cNvPr>
          <p:cNvSpPr>
            <a:spLocks noGrp="1"/>
          </p:cNvSpPr>
          <p:nvPr>
            <p:ph type="sldNum" sz="quarter" idx="4"/>
          </p:nvPr>
        </p:nvSpPr>
        <p:spPr/>
        <p:txBody>
          <a:bodyPr/>
          <a:lstStyle/>
          <a:p>
            <a:fld id="{EDD55F78-D87A-074E-B5DA-6C9B598DD91F}" type="slidenum">
              <a:rPr lang="ja-JP" altLang="en-US" smtClean="0"/>
              <a:pPr/>
              <a:t>20</a:t>
            </a:fld>
            <a:endParaRPr lang="ja-JP" altLang="en-US" dirty="0"/>
          </a:p>
        </p:txBody>
      </p:sp>
      <p:sp>
        <p:nvSpPr>
          <p:cNvPr id="7" name="正方形/長方形 6">
            <a:extLst>
              <a:ext uri="{FF2B5EF4-FFF2-40B4-BE49-F238E27FC236}">
                <a16:creationId xmlns:a16="http://schemas.microsoft.com/office/drawing/2014/main" id="{53CD78D3-6D83-447E-DE3E-28832894FAEC}"/>
              </a:ext>
            </a:extLst>
          </p:cNvPr>
          <p:cNvSpPr/>
          <p:nvPr/>
        </p:nvSpPr>
        <p:spPr>
          <a:xfrm>
            <a:off x="3722493" y="4154827"/>
            <a:ext cx="1307164" cy="732976"/>
          </a:xfrm>
          <a:prstGeom prst="rect">
            <a:avLst/>
          </a:prstGeom>
          <a:solidFill>
            <a:srgbClr val="0052A4"/>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面談希望</a:t>
            </a:r>
            <a:r>
              <a:rPr kumimoji="0" lang="ja-JP" altLang="en-US" sz="1050" b="1" i="0" u="sng"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なし</a:t>
            </a:r>
            <a:endParaRPr kumimoji="0" lang="en-US" altLang="ja-JP" sz="1050" b="1" i="0" u="sng"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8" name="直線コネクタ 7">
            <a:extLst>
              <a:ext uri="{FF2B5EF4-FFF2-40B4-BE49-F238E27FC236}">
                <a16:creationId xmlns:a16="http://schemas.microsoft.com/office/drawing/2014/main" id="{FABC0422-F96F-8323-BF8E-41E552533CA4}"/>
              </a:ext>
            </a:extLst>
          </p:cNvPr>
          <p:cNvCxnSpPr>
            <a:cxnSpLocks/>
          </p:cNvCxnSpPr>
          <p:nvPr/>
        </p:nvCxnSpPr>
        <p:spPr>
          <a:xfrm>
            <a:off x="5029657" y="4483455"/>
            <a:ext cx="1461530" cy="0"/>
          </a:xfrm>
          <a:prstGeom prst="line">
            <a:avLst/>
          </a:prstGeom>
          <a:solidFill>
            <a:srgbClr val="C3D69B"/>
          </a:solidFill>
          <a:ln w="28575" cap="flat" cmpd="sng" algn="ctr">
            <a:solidFill>
              <a:sysClr val="window" lastClr="FFFFFF">
                <a:lumMod val="50000"/>
              </a:sysClr>
            </a:solidFill>
            <a:prstDash val="solid"/>
          </a:ln>
          <a:effectLst/>
        </p:spPr>
      </p:cxnSp>
      <p:sp>
        <p:nvSpPr>
          <p:cNvPr id="9" name="矢印: 右 8">
            <a:extLst>
              <a:ext uri="{FF2B5EF4-FFF2-40B4-BE49-F238E27FC236}">
                <a16:creationId xmlns:a16="http://schemas.microsoft.com/office/drawing/2014/main" id="{F67DFA85-D232-829A-CAA2-5C1892981D42}"/>
              </a:ext>
            </a:extLst>
          </p:cNvPr>
          <p:cNvSpPr/>
          <p:nvPr/>
        </p:nvSpPr>
        <p:spPr>
          <a:xfrm>
            <a:off x="1160886" y="1184885"/>
            <a:ext cx="8446931" cy="493283"/>
          </a:xfrm>
          <a:prstGeom prst="rightArrow">
            <a:avLst/>
          </a:prstGeom>
          <a:solidFill>
            <a:sysClr val="window" lastClr="FFFFFF">
              <a:lumMod val="50000"/>
            </a:sys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エントリー～面談実施まで</a:t>
            </a:r>
          </a:p>
        </p:txBody>
      </p:sp>
      <p:sp>
        <p:nvSpPr>
          <p:cNvPr id="10" name="正方形/長方形 9">
            <a:extLst>
              <a:ext uri="{FF2B5EF4-FFF2-40B4-BE49-F238E27FC236}">
                <a16:creationId xmlns:a16="http://schemas.microsoft.com/office/drawing/2014/main" id="{24F4D41B-7FE4-4027-9075-D0E19821A645}"/>
              </a:ext>
            </a:extLst>
          </p:cNvPr>
          <p:cNvSpPr/>
          <p:nvPr/>
        </p:nvSpPr>
        <p:spPr>
          <a:xfrm>
            <a:off x="1372431" y="1853218"/>
            <a:ext cx="1307164" cy="732976"/>
          </a:xfrm>
          <a:prstGeom prst="rect">
            <a:avLst/>
          </a:prstGeom>
          <a:solidFill>
            <a:sysClr val="window" lastClr="FFFFFF">
              <a:lumMod val="85000"/>
            </a:sys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エントリ（登録）</a:t>
            </a:r>
            <a:endParaRPr kumimoji="0" lang="en-US" altLang="ja-JP" sz="105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正方形/長方形 10">
            <a:extLst>
              <a:ext uri="{FF2B5EF4-FFF2-40B4-BE49-F238E27FC236}">
                <a16:creationId xmlns:a16="http://schemas.microsoft.com/office/drawing/2014/main" id="{7A3E9B97-1129-4ED5-F1A9-84070FE12026}"/>
              </a:ext>
            </a:extLst>
          </p:cNvPr>
          <p:cNvSpPr/>
          <p:nvPr/>
        </p:nvSpPr>
        <p:spPr>
          <a:xfrm>
            <a:off x="3698387" y="1841286"/>
            <a:ext cx="1307164" cy="732976"/>
          </a:xfrm>
          <a:prstGeom prst="rect">
            <a:avLst/>
          </a:prstGeom>
          <a:solidFill>
            <a:sysClr val="window" lastClr="FFFFFF">
              <a:lumMod val="85000"/>
            </a:sys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面談希望</a:t>
            </a:r>
            <a:r>
              <a:rPr kumimoji="0" lang="ja-JP" altLang="en-US" sz="1050" b="1" i="0" u="sng"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あり</a:t>
            </a:r>
            <a:endParaRPr kumimoji="0" lang="en-US" altLang="ja-JP" sz="1050" b="1" i="0" u="sng"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正方形/長方形 12">
            <a:extLst>
              <a:ext uri="{FF2B5EF4-FFF2-40B4-BE49-F238E27FC236}">
                <a16:creationId xmlns:a16="http://schemas.microsoft.com/office/drawing/2014/main" id="{0A11D5A5-E423-4718-2F94-095EE4F54D24}"/>
              </a:ext>
            </a:extLst>
          </p:cNvPr>
          <p:cNvSpPr/>
          <p:nvPr/>
        </p:nvSpPr>
        <p:spPr>
          <a:xfrm>
            <a:off x="6116595" y="3893235"/>
            <a:ext cx="1307164" cy="1400257"/>
          </a:xfrm>
          <a:prstGeom prst="rect">
            <a:avLst/>
          </a:prstGeom>
          <a:solidFill>
            <a:srgbClr val="0052A4"/>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面談実施</a:t>
            </a:r>
            <a:r>
              <a:rPr kumimoji="0" lang="ja-JP" altLang="en-US" sz="1050" b="1" i="0" u="sng"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なし</a:t>
            </a:r>
            <a:endParaRPr kumimoji="0" lang="en-US" altLang="ja-JP" sz="1050" b="1" i="0" u="sng"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4" name="直線コネクタ 13">
            <a:extLst>
              <a:ext uri="{FF2B5EF4-FFF2-40B4-BE49-F238E27FC236}">
                <a16:creationId xmlns:a16="http://schemas.microsoft.com/office/drawing/2014/main" id="{F6C3C3A0-8D33-7D3A-524F-4C6A554E172F}"/>
              </a:ext>
            </a:extLst>
          </p:cNvPr>
          <p:cNvCxnSpPr>
            <a:stCxn id="10" idx="3"/>
            <a:endCxn id="11" idx="1"/>
          </p:cNvCxnSpPr>
          <p:nvPr/>
        </p:nvCxnSpPr>
        <p:spPr>
          <a:xfrm flipV="1">
            <a:off x="2679595" y="2207774"/>
            <a:ext cx="1018792" cy="11932"/>
          </a:xfrm>
          <a:prstGeom prst="line">
            <a:avLst/>
          </a:prstGeom>
          <a:solidFill>
            <a:srgbClr val="C3D69B"/>
          </a:solidFill>
          <a:ln w="28575" cap="flat" cmpd="sng" algn="ctr">
            <a:solidFill>
              <a:sysClr val="window" lastClr="FFFFFF">
                <a:lumMod val="50000"/>
              </a:sysClr>
            </a:solidFill>
            <a:prstDash val="solid"/>
          </a:ln>
          <a:effectLst/>
        </p:spPr>
      </p:cxnSp>
      <p:sp>
        <p:nvSpPr>
          <p:cNvPr id="15" name="正方形/長方形 14">
            <a:extLst>
              <a:ext uri="{FF2B5EF4-FFF2-40B4-BE49-F238E27FC236}">
                <a16:creationId xmlns:a16="http://schemas.microsoft.com/office/drawing/2014/main" id="{9EEC0748-2392-A28A-5F96-41F38A272E17}"/>
              </a:ext>
            </a:extLst>
          </p:cNvPr>
          <p:cNvSpPr/>
          <p:nvPr/>
        </p:nvSpPr>
        <p:spPr>
          <a:xfrm>
            <a:off x="6116595" y="1841286"/>
            <a:ext cx="1307164" cy="732976"/>
          </a:xfrm>
          <a:prstGeom prst="rect">
            <a:avLst/>
          </a:prstGeom>
          <a:solidFill>
            <a:sysClr val="window" lastClr="FFFFFF">
              <a:lumMod val="85000"/>
            </a:sys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面談実施あり</a:t>
            </a:r>
            <a:endParaRPr kumimoji="0" lang="en-US" altLang="ja-JP" sz="105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6" name="直線コネクタ 15">
            <a:extLst>
              <a:ext uri="{FF2B5EF4-FFF2-40B4-BE49-F238E27FC236}">
                <a16:creationId xmlns:a16="http://schemas.microsoft.com/office/drawing/2014/main" id="{496D3423-F433-D77B-3709-A3BBE60C9EB8}"/>
              </a:ext>
            </a:extLst>
          </p:cNvPr>
          <p:cNvCxnSpPr>
            <a:cxnSpLocks/>
            <a:stCxn id="11" idx="3"/>
            <a:endCxn id="15" idx="1"/>
          </p:cNvCxnSpPr>
          <p:nvPr/>
        </p:nvCxnSpPr>
        <p:spPr>
          <a:xfrm>
            <a:off x="5005551" y="2207774"/>
            <a:ext cx="1111044" cy="0"/>
          </a:xfrm>
          <a:prstGeom prst="line">
            <a:avLst/>
          </a:prstGeom>
          <a:solidFill>
            <a:srgbClr val="C3D69B"/>
          </a:solidFill>
          <a:ln w="28575" cap="flat" cmpd="sng" algn="ctr">
            <a:solidFill>
              <a:sysClr val="window" lastClr="FFFFFF">
                <a:lumMod val="50000"/>
              </a:sysClr>
            </a:solidFill>
            <a:prstDash val="solid"/>
          </a:ln>
          <a:effectLst/>
        </p:spPr>
      </p:cxnSp>
      <p:cxnSp>
        <p:nvCxnSpPr>
          <p:cNvPr id="23" name="コネクタ: カギ線 22">
            <a:extLst>
              <a:ext uri="{FF2B5EF4-FFF2-40B4-BE49-F238E27FC236}">
                <a16:creationId xmlns:a16="http://schemas.microsoft.com/office/drawing/2014/main" id="{373BFF1D-FD45-F307-F917-0FD92CF1C38B}"/>
              </a:ext>
            </a:extLst>
          </p:cNvPr>
          <p:cNvCxnSpPr>
            <a:stCxn id="10" idx="3"/>
            <a:endCxn id="7" idx="1"/>
          </p:cNvCxnSpPr>
          <p:nvPr/>
        </p:nvCxnSpPr>
        <p:spPr>
          <a:xfrm>
            <a:off x="2679595" y="2219706"/>
            <a:ext cx="1042898" cy="2301609"/>
          </a:xfrm>
          <a:prstGeom prst="bentConnector3">
            <a:avLst/>
          </a:prstGeom>
          <a:ln>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24" name="コネクタ: カギ線 23">
            <a:extLst>
              <a:ext uri="{FF2B5EF4-FFF2-40B4-BE49-F238E27FC236}">
                <a16:creationId xmlns:a16="http://schemas.microsoft.com/office/drawing/2014/main" id="{DEA3CE6F-841A-2786-6622-0EB4EE3B26A8}"/>
              </a:ext>
            </a:extLst>
          </p:cNvPr>
          <p:cNvCxnSpPr>
            <a:cxnSpLocks/>
          </p:cNvCxnSpPr>
          <p:nvPr/>
        </p:nvCxnSpPr>
        <p:spPr>
          <a:xfrm rot="16200000" flipH="1">
            <a:off x="4829495" y="2920888"/>
            <a:ext cx="2013293" cy="554846"/>
          </a:xfrm>
          <a:prstGeom prst="bentConnector3">
            <a:avLst>
              <a:gd name="adj1" fmla="val 98348"/>
            </a:avLst>
          </a:prstGeom>
          <a:ln>
            <a:solidFill>
              <a:schemeClr val="bg1">
                <a:lumMod val="50000"/>
              </a:schemeClr>
            </a:solidFill>
          </a:ln>
        </p:spPr>
        <p:style>
          <a:lnRef idx="3">
            <a:schemeClr val="dk1"/>
          </a:lnRef>
          <a:fillRef idx="0">
            <a:schemeClr val="dk1"/>
          </a:fillRef>
          <a:effectRef idx="2">
            <a:schemeClr val="dk1"/>
          </a:effectRef>
          <a:fontRef idx="minor">
            <a:schemeClr val="tx1"/>
          </a:fontRef>
        </p:style>
      </p:cxnSp>
      <p:sp>
        <p:nvSpPr>
          <p:cNvPr id="84" name="矢印: 上 83">
            <a:extLst>
              <a:ext uri="{FF2B5EF4-FFF2-40B4-BE49-F238E27FC236}">
                <a16:creationId xmlns:a16="http://schemas.microsoft.com/office/drawing/2014/main" id="{00D2C680-AD99-C175-9797-0B6BEFF10B6F}"/>
              </a:ext>
            </a:extLst>
          </p:cNvPr>
          <p:cNvSpPr/>
          <p:nvPr/>
        </p:nvSpPr>
        <p:spPr>
          <a:xfrm>
            <a:off x="6458619" y="2759445"/>
            <a:ext cx="598485" cy="761168"/>
          </a:xfrm>
          <a:prstGeom prst="upArrow">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t"/>
          <a:lstStyle/>
          <a:p>
            <a:pPr algn="l"/>
            <a:endParaRPr kumimoji="1" lang="ja-JP" altLang="en-US" sz="1050">
              <a:solidFill>
                <a:schemeClr val="tx1"/>
              </a:solidFill>
            </a:endParaRPr>
          </a:p>
        </p:txBody>
      </p:sp>
      <p:sp>
        <p:nvSpPr>
          <p:cNvPr id="93" name="吹き出し: 四角形 92">
            <a:extLst>
              <a:ext uri="{FF2B5EF4-FFF2-40B4-BE49-F238E27FC236}">
                <a16:creationId xmlns:a16="http://schemas.microsoft.com/office/drawing/2014/main" id="{F14A9FF3-4D1D-D451-584F-DAA4EF9B75D2}"/>
              </a:ext>
            </a:extLst>
          </p:cNvPr>
          <p:cNvSpPr/>
          <p:nvPr/>
        </p:nvSpPr>
        <p:spPr>
          <a:xfrm>
            <a:off x="7829737" y="2176066"/>
            <a:ext cx="3680226" cy="1541905"/>
          </a:xfrm>
          <a:prstGeom prst="wedgeRectCallout">
            <a:avLst>
              <a:gd name="adj1" fmla="val -59031"/>
              <a:gd name="adj2" fmla="val 12285"/>
            </a:avLst>
          </a:prstGeom>
          <a:solidFill>
            <a:schemeClr val="accent4"/>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l"/>
            <a:r>
              <a:rPr kumimoji="1" lang="en-US" altLang="ja-JP" sz="900" b="1" dirty="0">
                <a:solidFill>
                  <a:schemeClr val="tx1"/>
                </a:solidFill>
              </a:rPr>
              <a:t>【</a:t>
            </a:r>
            <a:r>
              <a:rPr kumimoji="1" lang="ja-JP" altLang="en-US" sz="900" b="1" dirty="0">
                <a:solidFill>
                  <a:schemeClr val="tx1"/>
                </a:solidFill>
              </a:rPr>
              <a:t>面談喚起</a:t>
            </a:r>
            <a:r>
              <a:rPr kumimoji="1" lang="en-US" altLang="ja-JP" sz="900" b="1" dirty="0">
                <a:solidFill>
                  <a:schemeClr val="tx1"/>
                </a:solidFill>
              </a:rPr>
              <a:t>】</a:t>
            </a:r>
          </a:p>
          <a:p>
            <a:pPr algn="l"/>
            <a:r>
              <a:rPr kumimoji="1" lang="ja-JP" altLang="en-US" sz="900" b="1" u="sng" dirty="0">
                <a:solidFill>
                  <a:schemeClr val="tx1"/>
                </a:solidFill>
              </a:rPr>
              <a:t>■希望あり＞実施なし（</a:t>
            </a:r>
            <a:r>
              <a:rPr kumimoji="1" lang="en-US" altLang="ja-JP" sz="900" b="1" u="sng" dirty="0">
                <a:solidFill>
                  <a:schemeClr val="tx1"/>
                </a:solidFill>
              </a:rPr>
              <a:t>CA/</a:t>
            </a:r>
            <a:r>
              <a:rPr kumimoji="1" lang="ja-JP" altLang="en-US" sz="900" b="1" u="sng" dirty="0">
                <a:solidFill>
                  <a:schemeClr val="tx1"/>
                </a:solidFill>
              </a:rPr>
              <a:t>メール・オンライン</a:t>
            </a:r>
            <a:endParaRPr lang="en-US" altLang="ja-JP" sz="900" b="1" u="sng" dirty="0">
              <a:solidFill>
                <a:schemeClr val="tx1"/>
              </a:solidFill>
            </a:endParaRPr>
          </a:p>
          <a:p>
            <a:pPr algn="l"/>
            <a:r>
              <a:rPr kumimoji="1" lang="ja-JP" altLang="en-US" sz="900" dirty="0">
                <a:solidFill>
                  <a:schemeClr val="tx1"/>
                </a:solidFill>
              </a:rPr>
              <a:t>スケジュールフォローの</a:t>
            </a:r>
            <a:r>
              <a:rPr kumimoji="1" lang="en-US" altLang="ja-JP" sz="900" dirty="0">
                <a:solidFill>
                  <a:schemeClr val="tx1"/>
                </a:solidFill>
              </a:rPr>
              <a:t>LT</a:t>
            </a:r>
            <a:r>
              <a:rPr kumimoji="1" lang="ja-JP" altLang="en-US" sz="900" dirty="0">
                <a:solidFill>
                  <a:schemeClr val="tx1"/>
                </a:solidFill>
              </a:rPr>
              <a:t>を伸ばしつつ、気軽に相談できる体制を</a:t>
            </a:r>
            <a:r>
              <a:rPr lang="ja-JP" altLang="en-US" sz="900" dirty="0">
                <a:solidFill>
                  <a:schemeClr val="tx1"/>
                </a:solidFill>
              </a:rPr>
              <a:t>提案。そのうえで求人提案や転職事例紹介など、パーソナライズされた提案が面談で出来ることを訴求。</a:t>
            </a:r>
            <a:endParaRPr lang="en-US" altLang="ja-JP" sz="900" dirty="0">
              <a:solidFill>
                <a:schemeClr val="tx1"/>
              </a:solidFill>
            </a:endParaRPr>
          </a:p>
          <a:p>
            <a:pPr algn="l"/>
            <a:endParaRPr lang="en-US" altLang="ja-JP" sz="900" b="1" u="sng" dirty="0">
              <a:solidFill>
                <a:schemeClr val="tx1"/>
              </a:solidFill>
            </a:endParaRPr>
          </a:p>
          <a:p>
            <a:pPr algn="l"/>
            <a:r>
              <a:rPr kumimoji="1" lang="ja-JP" altLang="en-US" sz="900" b="1" u="sng" dirty="0">
                <a:solidFill>
                  <a:schemeClr val="tx1"/>
                </a:solidFill>
              </a:rPr>
              <a:t>■面談希望なし（</a:t>
            </a:r>
            <a:r>
              <a:rPr kumimoji="1" lang="en-US" altLang="ja-JP" sz="900" b="1" u="sng" dirty="0">
                <a:solidFill>
                  <a:schemeClr val="tx1"/>
                </a:solidFill>
              </a:rPr>
              <a:t>CA/</a:t>
            </a:r>
            <a:r>
              <a:rPr kumimoji="1" lang="ja-JP" altLang="en-US" sz="900" b="1" u="sng" dirty="0">
                <a:solidFill>
                  <a:schemeClr val="tx1"/>
                </a:solidFill>
              </a:rPr>
              <a:t>メール・</a:t>
            </a:r>
            <a:r>
              <a:rPr kumimoji="1" lang="en-US" altLang="ja-JP" sz="900" b="1" u="sng" dirty="0">
                <a:solidFill>
                  <a:schemeClr val="tx1"/>
                </a:solidFill>
              </a:rPr>
              <a:t>LINE</a:t>
            </a:r>
            <a:endParaRPr lang="en-US" altLang="ja-JP" sz="900" b="1" u="sng" dirty="0">
              <a:solidFill>
                <a:schemeClr val="tx1"/>
              </a:solidFill>
            </a:endParaRPr>
          </a:p>
          <a:p>
            <a:pPr algn="l"/>
            <a:r>
              <a:rPr kumimoji="1" lang="ja-JP" altLang="en-US" sz="900" dirty="0">
                <a:solidFill>
                  <a:schemeClr val="tx1"/>
                </a:solidFill>
              </a:rPr>
              <a:t>時期先や情報収集段階でも、面談でしか得られない求人や企業情報があることを提案。</a:t>
            </a:r>
            <a:r>
              <a:rPr kumimoji="1" lang="en-US" altLang="ja-JP" sz="900" dirty="0">
                <a:solidFill>
                  <a:schemeClr val="tx1"/>
                </a:solidFill>
              </a:rPr>
              <a:t>(</a:t>
            </a:r>
            <a:r>
              <a:rPr kumimoji="1" lang="ja-JP" altLang="en-US" sz="900" dirty="0">
                <a:solidFill>
                  <a:schemeClr val="tx1"/>
                </a:solidFill>
              </a:rPr>
              <a:t>自分のペースでの活動を阻害しないようなアピールも必要か</a:t>
            </a:r>
          </a:p>
        </p:txBody>
      </p:sp>
      <p:sp>
        <p:nvSpPr>
          <p:cNvPr id="27" name="正方形/長方形 26">
            <a:extLst>
              <a:ext uri="{FF2B5EF4-FFF2-40B4-BE49-F238E27FC236}">
                <a16:creationId xmlns:a16="http://schemas.microsoft.com/office/drawing/2014/main" id="{73170C00-BCC2-DFAF-9C2E-0E70AF37E802}"/>
              </a:ext>
            </a:extLst>
          </p:cNvPr>
          <p:cNvSpPr/>
          <p:nvPr/>
        </p:nvSpPr>
        <p:spPr>
          <a:xfrm>
            <a:off x="3062471" y="3717971"/>
            <a:ext cx="4603074" cy="2218255"/>
          </a:xfrm>
          <a:prstGeom prst="rect">
            <a:avLst/>
          </a:prstGeom>
          <a:noFill/>
          <a:ln w="38100">
            <a:solidFill>
              <a:schemeClr val="accent4">
                <a:lumMod val="75000"/>
              </a:schemeClr>
            </a:solidFill>
            <a:prstDash val="dash"/>
          </a:ln>
        </p:spPr>
        <p:style>
          <a:lnRef idx="2">
            <a:schemeClr val="accent2">
              <a:shade val="50000"/>
            </a:schemeClr>
          </a:lnRef>
          <a:fillRef idx="1">
            <a:schemeClr val="accent2"/>
          </a:fillRef>
          <a:effectRef idx="0">
            <a:schemeClr val="accent2"/>
          </a:effectRef>
          <a:fontRef idx="minor">
            <a:schemeClr val="lt1"/>
          </a:fontRef>
        </p:style>
        <p:txBody>
          <a:bodyPr rtlCol="0" anchor="b"/>
          <a:lstStyle/>
          <a:p>
            <a:pPr algn="r"/>
            <a:r>
              <a:rPr kumimoji="1" lang="ja-JP" altLang="en-US" sz="1050" dirty="0">
                <a:solidFill>
                  <a:schemeClr val="accent4">
                    <a:lumMod val="50000"/>
                  </a:schemeClr>
                </a:solidFill>
              </a:rPr>
              <a:t>既存モデル該当なし</a:t>
            </a:r>
          </a:p>
        </p:txBody>
      </p:sp>
      <p:sp>
        <p:nvSpPr>
          <p:cNvPr id="33" name="正方形/長方形 32">
            <a:extLst>
              <a:ext uri="{FF2B5EF4-FFF2-40B4-BE49-F238E27FC236}">
                <a16:creationId xmlns:a16="http://schemas.microsoft.com/office/drawing/2014/main" id="{ACF96238-E4FB-C169-D104-24B2F31C9862}"/>
              </a:ext>
            </a:extLst>
          </p:cNvPr>
          <p:cNvSpPr/>
          <p:nvPr/>
        </p:nvSpPr>
        <p:spPr>
          <a:xfrm>
            <a:off x="1160886" y="4887803"/>
            <a:ext cx="1683801" cy="1048423"/>
          </a:xfrm>
          <a:prstGeom prst="rect">
            <a:avLst/>
          </a:prstGeom>
          <a:noFill/>
          <a:ln w="38100">
            <a:solidFill>
              <a:schemeClr val="accent4">
                <a:lumMod val="75000"/>
              </a:schemeClr>
            </a:solidFill>
            <a:prstDash val="dash"/>
          </a:ln>
        </p:spPr>
        <p:style>
          <a:lnRef idx="2">
            <a:schemeClr val="accent2">
              <a:shade val="50000"/>
            </a:schemeClr>
          </a:lnRef>
          <a:fillRef idx="1">
            <a:schemeClr val="accent2"/>
          </a:fillRef>
          <a:effectRef idx="0">
            <a:schemeClr val="accent2"/>
          </a:effectRef>
          <a:fontRef idx="minor">
            <a:schemeClr val="lt1"/>
          </a:fontRef>
        </p:style>
        <p:txBody>
          <a:bodyPr rtlCol="0" anchor="b"/>
          <a:lstStyle/>
          <a:p>
            <a:pPr algn="ctr"/>
            <a:r>
              <a:rPr kumimoji="1" lang="ja-JP" altLang="en-US" sz="1050" dirty="0">
                <a:solidFill>
                  <a:schemeClr val="accent4">
                    <a:lumMod val="50000"/>
                  </a:schemeClr>
                </a:solidFill>
              </a:rPr>
              <a:t>既存モデル該当なし</a:t>
            </a:r>
          </a:p>
        </p:txBody>
      </p:sp>
      <p:sp>
        <p:nvSpPr>
          <p:cNvPr id="12" name="吹き出し: 四角形 11">
            <a:extLst>
              <a:ext uri="{FF2B5EF4-FFF2-40B4-BE49-F238E27FC236}">
                <a16:creationId xmlns:a16="http://schemas.microsoft.com/office/drawing/2014/main" id="{A8A67A36-D905-FDAE-B131-070D4F211CFC}"/>
              </a:ext>
            </a:extLst>
          </p:cNvPr>
          <p:cNvSpPr/>
          <p:nvPr/>
        </p:nvSpPr>
        <p:spPr>
          <a:xfrm>
            <a:off x="7829737" y="3893235"/>
            <a:ext cx="3680226" cy="1723979"/>
          </a:xfrm>
          <a:prstGeom prst="wedgeRectCallout">
            <a:avLst>
              <a:gd name="adj1" fmla="val -59259"/>
              <a:gd name="adj2" fmla="val -31437"/>
            </a:avLst>
          </a:prstGeom>
          <a:solidFill>
            <a:schemeClr val="accent4"/>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kumimoji="1" lang="en-US" altLang="ja-JP" sz="900" b="1" dirty="0">
                <a:solidFill>
                  <a:schemeClr val="tx1"/>
                </a:solidFill>
                <a:latin typeface="+mn-ea"/>
                <a:ea typeface="+mn-ea"/>
                <a:cs typeface="Meiryo UI" panose="020B0604030504040204" pitchFamily="50" charset="-128"/>
              </a:rPr>
              <a:t>【</a:t>
            </a:r>
            <a:r>
              <a:rPr kumimoji="1" lang="ja-JP" altLang="en-US" sz="900" b="1" dirty="0">
                <a:solidFill>
                  <a:schemeClr val="tx1"/>
                </a:solidFill>
                <a:latin typeface="+mn-ea"/>
                <a:ea typeface="+mn-ea"/>
                <a:cs typeface="Meiryo UI" panose="020B0604030504040204" pitchFamily="50" charset="-128"/>
              </a:rPr>
              <a:t>活動サポート</a:t>
            </a:r>
            <a:r>
              <a:rPr kumimoji="1" lang="en-US" altLang="ja-JP" sz="900" b="1" dirty="0">
                <a:solidFill>
                  <a:schemeClr val="tx1"/>
                </a:solidFill>
                <a:latin typeface="+mn-ea"/>
                <a:ea typeface="+mn-ea"/>
                <a:cs typeface="Meiryo UI" panose="020B0604030504040204" pitchFamily="50" charset="-128"/>
              </a:rPr>
              <a:t>】</a:t>
            </a:r>
          </a:p>
          <a:p>
            <a:pPr algn="l"/>
            <a:r>
              <a:rPr kumimoji="1" lang="ja-JP" altLang="en-US" sz="900" b="1" u="sng" dirty="0">
                <a:solidFill>
                  <a:schemeClr val="tx1"/>
                </a:solidFill>
              </a:rPr>
              <a:t>■希望あり＞実施なし（</a:t>
            </a:r>
            <a:r>
              <a:rPr kumimoji="1" lang="en-US" altLang="ja-JP" sz="900" b="1" u="sng" dirty="0">
                <a:solidFill>
                  <a:schemeClr val="tx1"/>
                </a:solidFill>
              </a:rPr>
              <a:t>CA/</a:t>
            </a:r>
            <a:r>
              <a:rPr kumimoji="1" lang="ja-JP" altLang="en-US" sz="900" b="1" u="sng" dirty="0">
                <a:solidFill>
                  <a:schemeClr val="tx1"/>
                </a:solidFill>
              </a:rPr>
              <a:t>メール・オンライン</a:t>
            </a:r>
            <a:endParaRPr lang="en-US" altLang="ja-JP" sz="900" b="1" u="sng" dirty="0">
              <a:solidFill>
                <a:schemeClr val="tx1"/>
              </a:solidFill>
            </a:endParaRPr>
          </a:p>
          <a:p>
            <a:r>
              <a:rPr kumimoji="1" lang="ja-JP" altLang="en-US" sz="900" dirty="0">
                <a:solidFill>
                  <a:schemeClr val="tx1"/>
                </a:solidFill>
                <a:latin typeface="+mn-ea"/>
                <a:ea typeface="+mn-ea"/>
                <a:cs typeface="Meiryo UI" panose="020B0604030504040204" pitchFamily="50" charset="-128"/>
              </a:rPr>
              <a:t>時間ない層には</a:t>
            </a:r>
            <a:r>
              <a:rPr kumimoji="1" lang="en-US" altLang="ja-JP" sz="900" dirty="0">
                <a:solidFill>
                  <a:schemeClr val="tx1"/>
                </a:solidFill>
                <a:latin typeface="+mn-ea"/>
                <a:ea typeface="+mn-ea"/>
                <a:cs typeface="Meiryo UI" panose="020B0604030504040204" pitchFamily="50" charset="-128"/>
              </a:rPr>
              <a:t>60</a:t>
            </a:r>
            <a:r>
              <a:rPr kumimoji="1" lang="ja-JP" altLang="en-US" sz="900" dirty="0">
                <a:solidFill>
                  <a:schemeClr val="tx1"/>
                </a:solidFill>
                <a:latin typeface="+mn-ea"/>
                <a:ea typeface="+mn-ea"/>
                <a:cs typeface="Meiryo UI" panose="020B0604030504040204" pitchFamily="50" charset="-128"/>
              </a:rPr>
              <a:t>分面談ではなく短く接点を持つ、時期先層には転職時期のイメージを共有したうえで、いつ面談するのが良いか活動スケジュールを提示</a:t>
            </a:r>
          </a:p>
          <a:p>
            <a:endParaRPr kumimoji="1" lang="en-US" altLang="ja-JP" sz="900" b="1" u="sng" dirty="0">
              <a:solidFill>
                <a:schemeClr val="tx1"/>
              </a:solidFill>
              <a:latin typeface="+mn-ea"/>
              <a:ea typeface="+mn-ea"/>
              <a:cs typeface="Meiryo UI" panose="020B0604030504040204" pitchFamily="50" charset="-128"/>
            </a:endParaRPr>
          </a:p>
          <a:p>
            <a:r>
              <a:rPr lang="ja-JP" altLang="en-US" sz="900" b="1" u="sng" dirty="0">
                <a:solidFill>
                  <a:schemeClr val="tx1"/>
                </a:solidFill>
                <a:latin typeface="+mn-ea"/>
                <a:cs typeface="Meiryo UI" panose="020B0604030504040204" pitchFamily="50" charset="-128"/>
              </a:rPr>
              <a:t>■面談希望なし</a:t>
            </a:r>
            <a:r>
              <a:rPr kumimoji="1" lang="ja-JP" altLang="en-US" sz="900" b="1" u="sng" dirty="0">
                <a:solidFill>
                  <a:schemeClr val="tx1"/>
                </a:solidFill>
              </a:rPr>
              <a:t>（</a:t>
            </a:r>
            <a:r>
              <a:rPr kumimoji="1" lang="en-US" altLang="ja-JP" sz="900" b="1" u="sng" dirty="0">
                <a:solidFill>
                  <a:schemeClr val="tx1"/>
                </a:solidFill>
              </a:rPr>
              <a:t>CA/</a:t>
            </a:r>
            <a:r>
              <a:rPr kumimoji="1" lang="ja-JP" altLang="en-US" sz="900" b="1" u="sng" dirty="0">
                <a:solidFill>
                  <a:schemeClr val="tx1"/>
                </a:solidFill>
              </a:rPr>
              <a:t>メール・</a:t>
            </a:r>
            <a:r>
              <a:rPr kumimoji="1" lang="en-US" altLang="ja-JP" sz="900" b="1" u="sng" dirty="0">
                <a:solidFill>
                  <a:schemeClr val="tx1"/>
                </a:solidFill>
              </a:rPr>
              <a:t>LINE</a:t>
            </a:r>
            <a:endParaRPr kumimoji="1" lang="en-US" altLang="ja-JP" sz="900" b="1" u="sng" dirty="0">
              <a:solidFill>
                <a:schemeClr val="tx1"/>
              </a:solidFill>
              <a:latin typeface="+mn-ea"/>
              <a:ea typeface="+mn-ea"/>
              <a:cs typeface="Meiryo UI" panose="020B0604030504040204" pitchFamily="50" charset="-128"/>
            </a:endParaRPr>
          </a:p>
          <a:p>
            <a:r>
              <a:rPr kumimoji="1" lang="ja-JP" altLang="en-US" sz="900" dirty="0">
                <a:solidFill>
                  <a:schemeClr val="tx1"/>
                </a:solidFill>
                <a:latin typeface="+mn-ea"/>
                <a:ea typeface="+mn-ea"/>
                <a:cs typeface="Meiryo UI" panose="020B0604030504040204" pitchFamily="50" charset="-128"/>
              </a:rPr>
              <a:t>「良い求人」の解像度向上とそれにあった求人接点による転職活動化意欲の向上</a:t>
            </a:r>
            <a:endParaRPr kumimoji="1" lang="en-US" altLang="ja-JP" sz="900" dirty="0">
              <a:solidFill>
                <a:schemeClr val="tx1"/>
              </a:solidFill>
              <a:latin typeface="+mn-ea"/>
              <a:ea typeface="+mn-ea"/>
              <a:cs typeface="Meiryo UI" panose="020B0604030504040204" pitchFamily="50" charset="-128"/>
            </a:endParaRPr>
          </a:p>
          <a:p>
            <a:r>
              <a:rPr kumimoji="1" lang="ja-JP" altLang="en-US" sz="900" dirty="0">
                <a:solidFill>
                  <a:schemeClr val="tx1"/>
                </a:solidFill>
                <a:latin typeface="+mn-ea"/>
                <a:ea typeface="+mn-ea"/>
                <a:cs typeface="Meiryo UI" panose="020B0604030504040204" pitchFamily="50" charset="-128"/>
              </a:rPr>
              <a:t>∟希望無し</a:t>
            </a:r>
            <a:r>
              <a:rPr kumimoji="1" lang="en-US" altLang="ja-JP" sz="900" dirty="0">
                <a:solidFill>
                  <a:schemeClr val="tx1"/>
                </a:solidFill>
                <a:latin typeface="+mn-ea"/>
                <a:ea typeface="+mn-ea"/>
                <a:cs typeface="Meiryo UI" panose="020B0604030504040204" pitchFamily="50" charset="-128"/>
              </a:rPr>
              <a:t>CS</a:t>
            </a:r>
            <a:r>
              <a:rPr kumimoji="1" lang="ja-JP" altLang="en-US" sz="900" dirty="0">
                <a:solidFill>
                  <a:schemeClr val="tx1"/>
                </a:solidFill>
                <a:latin typeface="+mn-ea"/>
                <a:ea typeface="+mn-ea"/>
                <a:cs typeface="Meiryo UI" panose="020B0604030504040204" pitchFamily="50" charset="-128"/>
              </a:rPr>
              <a:t>は仕事内容不満が低いため、ピンとくる求人を見つけにくいのでは</a:t>
            </a:r>
            <a:endParaRPr kumimoji="1" lang="en-US" altLang="ja-JP" sz="900" dirty="0">
              <a:solidFill>
                <a:schemeClr val="tx1"/>
              </a:solidFill>
              <a:latin typeface="+mn-ea"/>
              <a:ea typeface="+mn-ea"/>
              <a:cs typeface="Meiryo UI" panose="020B0604030504040204" pitchFamily="50" charset="-128"/>
            </a:endParaRPr>
          </a:p>
        </p:txBody>
      </p:sp>
      <p:sp>
        <p:nvSpPr>
          <p:cNvPr id="31" name="コンテンツ プレースホルダー 1">
            <a:extLst>
              <a:ext uri="{FF2B5EF4-FFF2-40B4-BE49-F238E27FC236}">
                <a16:creationId xmlns:a16="http://schemas.microsoft.com/office/drawing/2014/main" id="{EE2D9166-E302-F11E-EBC2-12493DDC7118}"/>
              </a:ext>
            </a:extLst>
          </p:cNvPr>
          <p:cNvSpPr>
            <a:spLocks noGrp="1"/>
          </p:cNvSpPr>
          <p:nvPr>
            <p:ph sz="quarter" idx="14"/>
          </p:nvPr>
        </p:nvSpPr>
        <p:spPr>
          <a:xfrm>
            <a:off x="360363" y="760592"/>
            <a:ext cx="11447462" cy="487090"/>
          </a:xfrm>
        </p:spPr>
        <p:txBody>
          <a:bodyPr>
            <a:normAutofit/>
          </a:bodyPr>
          <a:lstStyle/>
          <a:p>
            <a:pPr marL="285750" indent="-285750">
              <a:buFont typeface="Wingdings" panose="05000000000000000000" pitchFamily="2" charset="2"/>
              <a:buChar char="ü"/>
            </a:pPr>
            <a:r>
              <a:rPr lang="ja-JP" altLang="en-US" sz="1200" dirty="0"/>
              <a:t>面談喚起や活動サポートのイメージは以下の通り。どのようなコンテンツ</a:t>
            </a:r>
            <a:r>
              <a:rPr lang="en-US" altLang="ja-JP" sz="1200" dirty="0"/>
              <a:t>/</a:t>
            </a:r>
            <a:r>
              <a:rPr lang="ja-JP" altLang="en-US" sz="1200" dirty="0"/>
              <a:t>媒体でサポートを提供するかや、実際に活用してもらう方法は検証が必要</a:t>
            </a:r>
            <a:endParaRPr lang="en-US" altLang="ja-JP" sz="1200" dirty="0"/>
          </a:p>
        </p:txBody>
      </p:sp>
    </p:spTree>
    <p:extLst>
      <p:ext uri="{BB962C8B-B14F-4D97-AF65-F5344CB8AC3E}">
        <p14:creationId xmlns:p14="http://schemas.microsoft.com/office/powerpoint/2010/main" val="420855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37F006F8-7DAA-FB3E-0106-C9950C549D2C}"/>
              </a:ext>
            </a:extLst>
          </p:cNvPr>
          <p:cNvSpPr>
            <a:spLocks noGrp="1"/>
          </p:cNvSpPr>
          <p:nvPr>
            <p:ph type="body" sz="quarter" idx="13"/>
          </p:nvPr>
        </p:nvSpPr>
        <p:spPr/>
        <p:txBody>
          <a:bodyPr/>
          <a:lstStyle/>
          <a:p>
            <a:r>
              <a:rPr kumimoji="1" lang="ja-JP" altLang="en-US" dirty="0"/>
              <a:t>サポート原案：応募の創出まで</a:t>
            </a:r>
          </a:p>
        </p:txBody>
      </p:sp>
      <p:sp>
        <p:nvSpPr>
          <p:cNvPr id="4" name="フッター プレースホルダー 3">
            <a:extLst>
              <a:ext uri="{FF2B5EF4-FFF2-40B4-BE49-F238E27FC236}">
                <a16:creationId xmlns:a16="http://schemas.microsoft.com/office/drawing/2014/main" id="{AB108C43-D245-2D6A-6870-7D52ED60D41A}"/>
              </a:ext>
            </a:extLst>
          </p:cNvPr>
          <p:cNvSpPr>
            <a:spLocks noGrp="1"/>
          </p:cNvSpPr>
          <p:nvPr>
            <p:ph type="ftr" sz="quarter" idx="3"/>
          </p:nvPr>
        </p:nvSpPr>
        <p:spPr/>
        <p:txBody>
          <a:bodyPr/>
          <a:lstStyle/>
          <a:p>
            <a:r>
              <a:rPr lang="en" altLang="ja-JP"/>
              <a:t>(C) Recruit Co., Ltd. All rights reserved. </a:t>
            </a:r>
            <a:endParaRPr lang="ja-JP" altLang="en-US"/>
          </a:p>
        </p:txBody>
      </p:sp>
      <p:sp>
        <p:nvSpPr>
          <p:cNvPr id="5" name="スライド番号プレースホルダー 4">
            <a:extLst>
              <a:ext uri="{FF2B5EF4-FFF2-40B4-BE49-F238E27FC236}">
                <a16:creationId xmlns:a16="http://schemas.microsoft.com/office/drawing/2014/main" id="{132D6525-9968-9C64-5A26-934D9E8C8EE0}"/>
              </a:ext>
            </a:extLst>
          </p:cNvPr>
          <p:cNvSpPr>
            <a:spLocks noGrp="1"/>
          </p:cNvSpPr>
          <p:nvPr>
            <p:ph type="sldNum" sz="quarter" idx="4"/>
          </p:nvPr>
        </p:nvSpPr>
        <p:spPr/>
        <p:txBody>
          <a:bodyPr/>
          <a:lstStyle/>
          <a:p>
            <a:fld id="{EDD55F78-D87A-074E-B5DA-6C9B598DD91F}" type="slidenum">
              <a:rPr lang="ja-JP" altLang="en-US" smtClean="0"/>
              <a:pPr/>
              <a:t>21</a:t>
            </a:fld>
            <a:endParaRPr lang="ja-JP" altLang="en-US"/>
          </a:p>
        </p:txBody>
      </p:sp>
      <p:sp>
        <p:nvSpPr>
          <p:cNvPr id="9" name="矢印: 右 8">
            <a:extLst>
              <a:ext uri="{FF2B5EF4-FFF2-40B4-BE49-F238E27FC236}">
                <a16:creationId xmlns:a16="http://schemas.microsoft.com/office/drawing/2014/main" id="{F67DFA85-D232-829A-CAA2-5C1892981D42}"/>
              </a:ext>
            </a:extLst>
          </p:cNvPr>
          <p:cNvSpPr/>
          <p:nvPr/>
        </p:nvSpPr>
        <p:spPr>
          <a:xfrm>
            <a:off x="1670951" y="1293849"/>
            <a:ext cx="8446931" cy="493283"/>
          </a:xfrm>
          <a:prstGeom prst="rightArrow">
            <a:avLst/>
          </a:prstGeom>
          <a:solidFill>
            <a:sysClr val="window" lastClr="FFFFFF">
              <a:lumMod val="50000"/>
            </a:sys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面談→求人応募までの流れ</a:t>
            </a:r>
          </a:p>
        </p:txBody>
      </p:sp>
      <p:sp>
        <p:nvSpPr>
          <p:cNvPr id="12" name="正方形/長方形 11">
            <a:extLst>
              <a:ext uri="{FF2B5EF4-FFF2-40B4-BE49-F238E27FC236}">
                <a16:creationId xmlns:a16="http://schemas.microsoft.com/office/drawing/2014/main" id="{8989A1D5-1C10-39A5-4398-2F6A2FCFF8E4}"/>
              </a:ext>
            </a:extLst>
          </p:cNvPr>
          <p:cNvSpPr/>
          <p:nvPr/>
        </p:nvSpPr>
        <p:spPr>
          <a:xfrm>
            <a:off x="4371228" y="1819915"/>
            <a:ext cx="1307164" cy="732976"/>
          </a:xfrm>
          <a:prstGeom prst="rect">
            <a:avLst/>
          </a:prstGeom>
          <a:solidFill>
            <a:sysClr val="window" lastClr="FFFFFF">
              <a:lumMod val="85000"/>
            </a:sys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求人応募</a:t>
            </a:r>
            <a:r>
              <a:rPr kumimoji="0" lang="ja-JP" altLang="en-US" sz="1050" b="1" i="0" u="sng"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あり</a:t>
            </a:r>
            <a:endParaRPr kumimoji="0" lang="en-US" altLang="ja-JP" sz="1050" b="1" i="0" u="sng"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正方形/長方形 12">
            <a:extLst>
              <a:ext uri="{FF2B5EF4-FFF2-40B4-BE49-F238E27FC236}">
                <a16:creationId xmlns:a16="http://schemas.microsoft.com/office/drawing/2014/main" id="{0A11D5A5-E423-4718-2F94-095EE4F54D24}"/>
              </a:ext>
            </a:extLst>
          </p:cNvPr>
          <p:cNvSpPr/>
          <p:nvPr/>
        </p:nvSpPr>
        <p:spPr>
          <a:xfrm>
            <a:off x="1755254" y="3826655"/>
            <a:ext cx="1307164" cy="1782255"/>
          </a:xfrm>
          <a:prstGeom prst="rect">
            <a:avLst/>
          </a:prstGeom>
          <a:solidFill>
            <a:srgbClr val="0052A4"/>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面談実施</a:t>
            </a:r>
            <a:r>
              <a:rPr kumimoji="0" lang="ja-JP" altLang="en-US" sz="1050" b="1" i="0" u="sng"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なし</a:t>
            </a:r>
            <a:endParaRPr kumimoji="0" lang="en-US" altLang="ja-JP" sz="1050" b="1" i="0" u="sng"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正方形/長方形 14">
            <a:extLst>
              <a:ext uri="{FF2B5EF4-FFF2-40B4-BE49-F238E27FC236}">
                <a16:creationId xmlns:a16="http://schemas.microsoft.com/office/drawing/2014/main" id="{9EEC0748-2392-A28A-5F96-41F38A272E17}"/>
              </a:ext>
            </a:extLst>
          </p:cNvPr>
          <p:cNvSpPr/>
          <p:nvPr/>
        </p:nvSpPr>
        <p:spPr>
          <a:xfrm>
            <a:off x="1755254" y="1825958"/>
            <a:ext cx="1307164" cy="1770353"/>
          </a:xfrm>
          <a:prstGeom prst="rect">
            <a:avLst/>
          </a:prstGeom>
          <a:solidFill>
            <a:sysClr val="window" lastClr="FFFFFF">
              <a:lumMod val="85000"/>
            </a:sys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面談実施あり</a:t>
            </a:r>
            <a:endParaRPr kumimoji="0" lang="en-US" altLang="ja-JP" sz="105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7" name="直線コネクタ 16">
            <a:extLst>
              <a:ext uri="{FF2B5EF4-FFF2-40B4-BE49-F238E27FC236}">
                <a16:creationId xmlns:a16="http://schemas.microsoft.com/office/drawing/2014/main" id="{3002C418-6811-6BA0-8D44-E5D823D9257B}"/>
              </a:ext>
            </a:extLst>
          </p:cNvPr>
          <p:cNvCxnSpPr>
            <a:cxnSpLocks/>
          </p:cNvCxnSpPr>
          <p:nvPr/>
        </p:nvCxnSpPr>
        <p:spPr>
          <a:xfrm>
            <a:off x="3062418" y="2271820"/>
            <a:ext cx="1308810" cy="0"/>
          </a:xfrm>
          <a:prstGeom prst="line">
            <a:avLst/>
          </a:prstGeom>
          <a:solidFill>
            <a:srgbClr val="C3D69B"/>
          </a:solidFill>
          <a:ln w="28575" cap="flat" cmpd="sng" algn="ctr">
            <a:solidFill>
              <a:sysClr val="window" lastClr="FFFFFF">
                <a:lumMod val="50000"/>
              </a:sysClr>
            </a:solidFill>
            <a:prstDash val="solid"/>
          </a:ln>
          <a:effectLst/>
        </p:spPr>
      </p:cxnSp>
      <p:sp>
        <p:nvSpPr>
          <p:cNvPr id="21" name="正方形/長方形 20">
            <a:extLst>
              <a:ext uri="{FF2B5EF4-FFF2-40B4-BE49-F238E27FC236}">
                <a16:creationId xmlns:a16="http://schemas.microsoft.com/office/drawing/2014/main" id="{2976D366-7D16-0D6A-5321-1B491B7955A9}"/>
              </a:ext>
            </a:extLst>
          </p:cNvPr>
          <p:cNvSpPr/>
          <p:nvPr/>
        </p:nvSpPr>
        <p:spPr>
          <a:xfrm>
            <a:off x="4371228" y="2863335"/>
            <a:ext cx="1307164" cy="732976"/>
          </a:xfrm>
          <a:prstGeom prst="rect">
            <a:avLst/>
          </a:prstGeom>
          <a:solidFill>
            <a:srgbClr val="0052A4"/>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求人応募</a:t>
            </a:r>
            <a:r>
              <a:rPr kumimoji="0" lang="ja-JP" altLang="en-US" sz="1050" b="1" i="0" u="sng"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なし</a:t>
            </a:r>
            <a:endParaRPr kumimoji="0" lang="en-US" altLang="ja-JP" sz="1050" b="1" i="0" u="sng"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5" name="コネクタ: カギ線 24">
            <a:extLst>
              <a:ext uri="{FF2B5EF4-FFF2-40B4-BE49-F238E27FC236}">
                <a16:creationId xmlns:a16="http://schemas.microsoft.com/office/drawing/2014/main" id="{BC589764-9BA2-09C2-1FF3-E187EA88CB8F}"/>
              </a:ext>
            </a:extLst>
          </p:cNvPr>
          <p:cNvCxnSpPr>
            <a:cxnSpLocks/>
            <a:endCxn id="21" idx="1"/>
          </p:cNvCxnSpPr>
          <p:nvPr/>
        </p:nvCxnSpPr>
        <p:spPr>
          <a:xfrm>
            <a:off x="3062418" y="2266619"/>
            <a:ext cx="1308810" cy="963204"/>
          </a:xfrm>
          <a:prstGeom prst="bentConnector3">
            <a:avLst>
              <a:gd name="adj1" fmla="val 50000"/>
            </a:avLst>
          </a:prstGeom>
          <a:ln>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26" name="コネクタ: カギ線 25">
            <a:extLst>
              <a:ext uri="{FF2B5EF4-FFF2-40B4-BE49-F238E27FC236}">
                <a16:creationId xmlns:a16="http://schemas.microsoft.com/office/drawing/2014/main" id="{550CA358-A331-8CA5-6545-1BBC28EE483C}"/>
              </a:ext>
            </a:extLst>
          </p:cNvPr>
          <p:cNvCxnSpPr>
            <a:cxnSpLocks/>
            <a:endCxn id="32" idx="1"/>
          </p:cNvCxnSpPr>
          <p:nvPr/>
        </p:nvCxnSpPr>
        <p:spPr>
          <a:xfrm rot="16200000" flipH="1">
            <a:off x="3545839" y="4417035"/>
            <a:ext cx="1049283" cy="601496"/>
          </a:xfrm>
          <a:prstGeom prst="bentConnector2">
            <a:avLst/>
          </a:prstGeom>
          <a:ln>
            <a:solidFill>
              <a:schemeClr val="bg1">
                <a:lumMod val="50000"/>
              </a:schemeClr>
            </a:solidFill>
          </a:ln>
        </p:spPr>
        <p:style>
          <a:lnRef idx="3">
            <a:schemeClr val="dk1"/>
          </a:lnRef>
          <a:fillRef idx="0">
            <a:schemeClr val="dk1"/>
          </a:fillRef>
          <a:effectRef idx="2">
            <a:schemeClr val="dk1"/>
          </a:effectRef>
          <a:fontRef idx="minor">
            <a:schemeClr val="tx1"/>
          </a:fontRef>
        </p:style>
      </p:cxnSp>
      <p:sp>
        <p:nvSpPr>
          <p:cNvPr id="31" name="正方形/長方形 30">
            <a:extLst>
              <a:ext uri="{FF2B5EF4-FFF2-40B4-BE49-F238E27FC236}">
                <a16:creationId xmlns:a16="http://schemas.microsoft.com/office/drawing/2014/main" id="{FB7374F2-2CFE-C540-C458-C6A695FC1E00}"/>
              </a:ext>
            </a:extLst>
          </p:cNvPr>
          <p:cNvSpPr/>
          <p:nvPr/>
        </p:nvSpPr>
        <p:spPr>
          <a:xfrm>
            <a:off x="4371228" y="3826656"/>
            <a:ext cx="1307403" cy="732976"/>
          </a:xfrm>
          <a:prstGeom prst="rect">
            <a:avLst/>
          </a:prstGeom>
          <a:solidFill>
            <a:sysClr val="window" lastClr="FFFFFF">
              <a:lumMod val="85000"/>
            </a:sys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求人応募</a:t>
            </a:r>
            <a:r>
              <a:rPr kumimoji="0" lang="ja-JP" altLang="en-US" sz="1050" b="1" i="0" u="sng"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あり</a:t>
            </a:r>
            <a:endParaRPr kumimoji="0" lang="en-US" altLang="ja-JP" sz="1050" b="1" i="0" u="sng" strike="noStrike" kern="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32" name="正方形/長方形 31">
            <a:extLst>
              <a:ext uri="{FF2B5EF4-FFF2-40B4-BE49-F238E27FC236}">
                <a16:creationId xmlns:a16="http://schemas.microsoft.com/office/drawing/2014/main" id="{8967B446-C8C8-F6BE-0B2E-3089C2105A25}"/>
              </a:ext>
            </a:extLst>
          </p:cNvPr>
          <p:cNvSpPr/>
          <p:nvPr/>
        </p:nvSpPr>
        <p:spPr>
          <a:xfrm>
            <a:off x="4371228" y="4875937"/>
            <a:ext cx="1307164" cy="732976"/>
          </a:xfrm>
          <a:prstGeom prst="rect">
            <a:avLst/>
          </a:prstGeom>
          <a:solidFill>
            <a:srgbClr val="0052A4"/>
          </a:solidFill>
          <a:ln w="127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求人応募</a:t>
            </a:r>
            <a:r>
              <a:rPr kumimoji="0" lang="ja-JP" altLang="en-US" sz="1050" b="1" i="0" u="sng"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なし</a:t>
            </a:r>
            <a:endParaRPr kumimoji="0" lang="en-US" altLang="ja-JP" sz="1050" b="1" i="0" u="sng"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60" name="直線コネクタ 59">
            <a:extLst>
              <a:ext uri="{FF2B5EF4-FFF2-40B4-BE49-F238E27FC236}">
                <a16:creationId xmlns:a16="http://schemas.microsoft.com/office/drawing/2014/main" id="{33C8D216-5277-A0A8-2353-E0AD8F79C18B}"/>
              </a:ext>
            </a:extLst>
          </p:cNvPr>
          <p:cNvCxnSpPr>
            <a:cxnSpLocks/>
          </p:cNvCxnSpPr>
          <p:nvPr/>
        </p:nvCxnSpPr>
        <p:spPr>
          <a:xfrm flipV="1">
            <a:off x="3073053" y="4182032"/>
            <a:ext cx="1297602" cy="11110"/>
          </a:xfrm>
          <a:prstGeom prst="line">
            <a:avLst/>
          </a:prstGeom>
          <a:solidFill>
            <a:srgbClr val="C3D69B"/>
          </a:solidFill>
          <a:ln w="28575" cap="flat" cmpd="sng" algn="ctr">
            <a:solidFill>
              <a:sysClr val="window" lastClr="FFFFFF">
                <a:lumMod val="50000"/>
              </a:sysClr>
            </a:solidFill>
            <a:prstDash val="solid"/>
          </a:ln>
          <a:effectLst/>
        </p:spPr>
      </p:cxnSp>
      <p:sp>
        <p:nvSpPr>
          <p:cNvPr id="91" name="矢印: 上 90">
            <a:extLst>
              <a:ext uri="{FF2B5EF4-FFF2-40B4-BE49-F238E27FC236}">
                <a16:creationId xmlns:a16="http://schemas.microsoft.com/office/drawing/2014/main" id="{D83844B6-B864-0F81-06F7-0207D08A30C9}"/>
              </a:ext>
            </a:extLst>
          </p:cNvPr>
          <p:cNvSpPr/>
          <p:nvPr/>
        </p:nvSpPr>
        <p:spPr>
          <a:xfrm>
            <a:off x="4795839" y="2415924"/>
            <a:ext cx="398584" cy="431645"/>
          </a:xfrm>
          <a:prstGeom prst="upArrow">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t"/>
          <a:lstStyle/>
          <a:p>
            <a:pPr algn="l"/>
            <a:endParaRPr kumimoji="1" lang="ja-JP" altLang="en-US" sz="1050">
              <a:solidFill>
                <a:schemeClr val="tx1"/>
              </a:solidFill>
            </a:endParaRPr>
          </a:p>
        </p:txBody>
      </p:sp>
      <p:sp>
        <p:nvSpPr>
          <p:cNvPr id="92" name="矢印: 上 91">
            <a:extLst>
              <a:ext uri="{FF2B5EF4-FFF2-40B4-BE49-F238E27FC236}">
                <a16:creationId xmlns:a16="http://schemas.microsoft.com/office/drawing/2014/main" id="{321B35FC-91C9-AF30-0E5A-395A5A526751}"/>
              </a:ext>
            </a:extLst>
          </p:cNvPr>
          <p:cNvSpPr/>
          <p:nvPr/>
        </p:nvSpPr>
        <p:spPr>
          <a:xfrm>
            <a:off x="4795839" y="4551335"/>
            <a:ext cx="398584" cy="431645"/>
          </a:xfrm>
          <a:prstGeom prst="upArrow">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t"/>
          <a:lstStyle/>
          <a:p>
            <a:pPr algn="l"/>
            <a:endParaRPr kumimoji="1" lang="ja-JP" altLang="en-US" sz="1050">
              <a:solidFill>
                <a:schemeClr val="tx1"/>
              </a:solidFill>
            </a:endParaRPr>
          </a:p>
        </p:txBody>
      </p:sp>
      <p:sp>
        <p:nvSpPr>
          <p:cNvPr id="94" name="吹き出し: 四角形 93">
            <a:extLst>
              <a:ext uri="{FF2B5EF4-FFF2-40B4-BE49-F238E27FC236}">
                <a16:creationId xmlns:a16="http://schemas.microsoft.com/office/drawing/2014/main" id="{51EBBAF2-FFA4-6EF2-E625-6C5D267CB26E}"/>
              </a:ext>
            </a:extLst>
          </p:cNvPr>
          <p:cNvSpPr/>
          <p:nvPr/>
        </p:nvSpPr>
        <p:spPr>
          <a:xfrm>
            <a:off x="5988246" y="1938868"/>
            <a:ext cx="4247135" cy="1185040"/>
          </a:xfrm>
          <a:prstGeom prst="wedgeRectCallout">
            <a:avLst>
              <a:gd name="adj1" fmla="val -60303"/>
              <a:gd name="adj2" fmla="val 5577"/>
            </a:avLst>
          </a:prstGeom>
          <a:solidFill>
            <a:schemeClr val="accent4"/>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kumimoji="1" lang="en-US" altLang="ja-JP" sz="900" b="1" dirty="0">
                <a:solidFill>
                  <a:schemeClr val="tx1"/>
                </a:solidFill>
                <a:latin typeface="+mn-ea"/>
              </a:rPr>
              <a:t>【</a:t>
            </a:r>
            <a:r>
              <a:rPr kumimoji="1" lang="ja-JP" altLang="en-US" sz="900" b="1" dirty="0">
                <a:solidFill>
                  <a:schemeClr val="tx1"/>
                </a:solidFill>
                <a:latin typeface="+mn-ea"/>
              </a:rPr>
              <a:t>応募喚起</a:t>
            </a:r>
            <a:r>
              <a:rPr kumimoji="1" lang="en-US" altLang="ja-JP" sz="900" b="1" dirty="0">
                <a:solidFill>
                  <a:schemeClr val="tx1"/>
                </a:solidFill>
                <a:latin typeface="+mn-ea"/>
              </a:rPr>
              <a:t>】</a:t>
            </a:r>
            <a:r>
              <a:rPr kumimoji="1" lang="ja-JP" altLang="en-US" sz="900" b="1" dirty="0">
                <a:solidFill>
                  <a:schemeClr val="tx1"/>
                </a:solidFill>
              </a:rPr>
              <a:t>（</a:t>
            </a:r>
            <a:r>
              <a:rPr kumimoji="1" lang="en-US" altLang="ja-JP" sz="900" b="1" dirty="0">
                <a:solidFill>
                  <a:schemeClr val="tx1"/>
                </a:solidFill>
              </a:rPr>
              <a:t>CA/</a:t>
            </a:r>
            <a:r>
              <a:rPr kumimoji="1" lang="ja-JP" altLang="en-US" sz="900" b="1" dirty="0">
                <a:solidFill>
                  <a:schemeClr val="tx1"/>
                </a:solidFill>
              </a:rPr>
              <a:t>メール・オンライン</a:t>
            </a:r>
            <a:endParaRPr kumimoji="1" lang="en-US" altLang="ja-JP" sz="900" b="1" dirty="0">
              <a:solidFill>
                <a:schemeClr val="tx1"/>
              </a:solidFill>
              <a:latin typeface="+mn-ea"/>
            </a:endParaRPr>
          </a:p>
          <a:p>
            <a:pPr algn="l"/>
            <a:r>
              <a:rPr kumimoji="1" lang="ja-JP" altLang="en-US" sz="900" dirty="0">
                <a:solidFill>
                  <a:schemeClr val="tx1"/>
                </a:solidFill>
                <a:latin typeface="+mn-ea"/>
              </a:rPr>
              <a:t>書類サポート・面接対策といった実践的なサポートをしつつ、合格可能性を伝えることで転職活動開始を後押し</a:t>
            </a:r>
          </a:p>
          <a:p>
            <a:pPr algn="l"/>
            <a:r>
              <a:rPr kumimoji="1" lang="ja-JP" altLang="en-US" sz="900" dirty="0">
                <a:solidFill>
                  <a:schemeClr val="tx1"/>
                </a:solidFill>
                <a:latin typeface="+mn-ea"/>
              </a:rPr>
              <a:t>∟合格可能性の明示は難しそうなため、マッチング度合の提示が近しいイメージ</a:t>
            </a:r>
            <a:r>
              <a:rPr kumimoji="1" lang="en-US" altLang="ja-JP" sz="900" dirty="0">
                <a:solidFill>
                  <a:schemeClr val="tx1"/>
                </a:solidFill>
                <a:latin typeface="+mn-ea"/>
              </a:rPr>
              <a:t>(0/100</a:t>
            </a:r>
            <a:r>
              <a:rPr kumimoji="1" lang="ja-JP" altLang="en-US" sz="900" dirty="0">
                <a:solidFill>
                  <a:schemeClr val="tx1"/>
                </a:solidFill>
                <a:latin typeface="+mn-ea"/>
              </a:rPr>
              <a:t>ではなく％提示が出来ると良さそう。</a:t>
            </a:r>
            <a:r>
              <a:rPr kumimoji="1" lang="en-US" altLang="ja-JP" sz="900" dirty="0">
                <a:solidFill>
                  <a:schemeClr val="tx1"/>
                </a:solidFill>
                <a:latin typeface="+mn-ea"/>
              </a:rPr>
              <a:t>I2A</a:t>
            </a:r>
            <a:r>
              <a:rPr kumimoji="1" lang="ja-JP" altLang="en-US" sz="900" dirty="0">
                <a:solidFill>
                  <a:schemeClr val="tx1"/>
                </a:solidFill>
                <a:latin typeface="+mn-ea"/>
              </a:rPr>
              <a:t>ロジックなどから流用等</a:t>
            </a:r>
          </a:p>
        </p:txBody>
      </p:sp>
      <p:sp>
        <p:nvSpPr>
          <p:cNvPr id="41" name="正方形/長方形 40">
            <a:extLst>
              <a:ext uri="{FF2B5EF4-FFF2-40B4-BE49-F238E27FC236}">
                <a16:creationId xmlns:a16="http://schemas.microsoft.com/office/drawing/2014/main" id="{46080D4E-2506-5E37-1281-ABD78112396A}"/>
              </a:ext>
            </a:extLst>
          </p:cNvPr>
          <p:cNvSpPr/>
          <p:nvPr/>
        </p:nvSpPr>
        <p:spPr>
          <a:xfrm>
            <a:off x="4155203" y="4694420"/>
            <a:ext cx="1739214" cy="1334132"/>
          </a:xfrm>
          <a:prstGeom prst="rect">
            <a:avLst/>
          </a:prstGeom>
          <a:noFill/>
          <a:ln w="38100">
            <a:solidFill>
              <a:schemeClr val="accent4">
                <a:lumMod val="75000"/>
              </a:schemeClr>
            </a:solidFill>
            <a:prstDash val="dash"/>
          </a:ln>
        </p:spPr>
        <p:style>
          <a:lnRef idx="2">
            <a:schemeClr val="accent2">
              <a:shade val="50000"/>
            </a:schemeClr>
          </a:lnRef>
          <a:fillRef idx="1">
            <a:schemeClr val="accent2"/>
          </a:fillRef>
          <a:effectRef idx="0">
            <a:schemeClr val="accent2"/>
          </a:effectRef>
          <a:fontRef idx="minor">
            <a:schemeClr val="lt1"/>
          </a:fontRef>
        </p:style>
        <p:txBody>
          <a:bodyPr rtlCol="0" anchor="b"/>
          <a:lstStyle/>
          <a:p>
            <a:pPr algn="ctr"/>
            <a:r>
              <a:rPr kumimoji="1" lang="ja-JP" altLang="en-US" sz="1050" dirty="0">
                <a:solidFill>
                  <a:schemeClr val="accent4">
                    <a:lumMod val="50000"/>
                  </a:schemeClr>
                </a:solidFill>
              </a:rPr>
              <a:t>既存モデル該当なし</a:t>
            </a:r>
            <a:endParaRPr kumimoji="1" lang="en-US" altLang="ja-JP" sz="1050" dirty="0">
              <a:solidFill>
                <a:schemeClr val="accent4">
                  <a:lumMod val="50000"/>
                </a:schemeClr>
              </a:solidFill>
            </a:endParaRPr>
          </a:p>
          <a:p>
            <a:pPr algn="ctr"/>
            <a:r>
              <a:rPr kumimoji="1" lang="en-US" altLang="ja-JP" sz="700" dirty="0">
                <a:solidFill>
                  <a:schemeClr val="accent4">
                    <a:lumMod val="50000"/>
                  </a:schemeClr>
                </a:solidFill>
              </a:rPr>
              <a:t>(DB/ </a:t>
            </a:r>
            <a:r>
              <a:rPr kumimoji="1" lang="ja-JP" altLang="en-US" sz="700" dirty="0">
                <a:solidFill>
                  <a:schemeClr val="accent4">
                    <a:lumMod val="50000"/>
                  </a:schemeClr>
                </a:solidFill>
              </a:rPr>
              <a:t>オンラインモデルチャレンジ箇所</a:t>
            </a:r>
            <a:endParaRPr kumimoji="1" lang="ja-JP" altLang="en-US" sz="1050" dirty="0">
              <a:solidFill>
                <a:schemeClr val="accent4">
                  <a:lumMod val="50000"/>
                </a:schemeClr>
              </a:solidFill>
            </a:endParaRPr>
          </a:p>
        </p:txBody>
      </p:sp>
      <p:sp>
        <p:nvSpPr>
          <p:cNvPr id="23" name="吹き出し: 四角形 22">
            <a:extLst>
              <a:ext uri="{FF2B5EF4-FFF2-40B4-BE49-F238E27FC236}">
                <a16:creationId xmlns:a16="http://schemas.microsoft.com/office/drawing/2014/main" id="{62B5F054-2315-BA4C-0F77-AD5F9C74AFE5}"/>
              </a:ext>
            </a:extLst>
          </p:cNvPr>
          <p:cNvSpPr/>
          <p:nvPr/>
        </p:nvSpPr>
        <p:spPr>
          <a:xfrm>
            <a:off x="5988246" y="4479829"/>
            <a:ext cx="4247135" cy="1155636"/>
          </a:xfrm>
          <a:prstGeom prst="wedgeRectCallout">
            <a:avLst>
              <a:gd name="adj1" fmla="val -60956"/>
              <a:gd name="adj2" fmla="val 8592"/>
            </a:avLst>
          </a:prstGeom>
          <a:solidFill>
            <a:schemeClr val="accent4"/>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kumimoji="1" lang="en-US" altLang="ja-JP" sz="900" b="1" dirty="0">
                <a:solidFill>
                  <a:sysClr val="windowText" lastClr="000000"/>
                </a:solidFill>
                <a:latin typeface="+mn-ea"/>
                <a:ea typeface="+mn-ea"/>
              </a:rPr>
              <a:t>【</a:t>
            </a:r>
            <a:r>
              <a:rPr lang="ja-JP" altLang="en-US" sz="900" b="1" dirty="0">
                <a:solidFill>
                  <a:sysClr val="windowText" lastClr="000000"/>
                </a:solidFill>
                <a:latin typeface="+mn-ea"/>
              </a:rPr>
              <a:t>活動サポート</a:t>
            </a:r>
            <a:r>
              <a:rPr kumimoji="1" lang="en-US" altLang="ja-JP" sz="900" b="1" dirty="0">
                <a:solidFill>
                  <a:sysClr val="windowText" lastClr="000000"/>
                </a:solidFill>
                <a:latin typeface="+mn-ea"/>
                <a:ea typeface="+mn-ea"/>
              </a:rPr>
              <a:t>】</a:t>
            </a:r>
            <a:r>
              <a:rPr kumimoji="1" lang="ja-JP" altLang="en-US" sz="900" b="1" dirty="0">
                <a:solidFill>
                  <a:schemeClr val="tx1"/>
                </a:solidFill>
              </a:rPr>
              <a:t>（</a:t>
            </a:r>
            <a:r>
              <a:rPr kumimoji="1" lang="en-US" altLang="ja-JP" sz="900" b="1" dirty="0">
                <a:solidFill>
                  <a:schemeClr val="tx1"/>
                </a:solidFill>
              </a:rPr>
              <a:t>CA/</a:t>
            </a:r>
            <a:r>
              <a:rPr kumimoji="1" lang="ja-JP" altLang="en-US" sz="900" b="1" dirty="0">
                <a:solidFill>
                  <a:schemeClr val="tx1"/>
                </a:solidFill>
              </a:rPr>
              <a:t>メール・</a:t>
            </a:r>
            <a:r>
              <a:rPr kumimoji="1" lang="en-US" altLang="ja-JP" sz="900" b="1" dirty="0">
                <a:solidFill>
                  <a:schemeClr val="tx1"/>
                </a:solidFill>
              </a:rPr>
              <a:t>LINE</a:t>
            </a:r>
            <a:endParaRPr kumimoji="1" lang="en-US" altLang="ja-JP" sz="900" b="1" dirty="0">
              <a:solidFill>
                <a:sysClr val="windowText" lastClr="000000"/>
              </a:solidFill>
              <a:latin typeface="+mn-ea"/>
              <a:ea typeface="+mn-ea"/>
            </a:endParaRPr>
          </a:p>
          <a:p>
            <a:r>
              <a:rPr kumimoji="1" lang="ja-JP" altLang="en-US" sz="900" dirty="0">
                <a:solidFill>
                  <a:sysClr val="windowText" lastClr="000000"/>
                </a:solidFill>
                <a:latin typeface="+mn-ea"/>
                <a:ea typeface="+mn-ea"/>
              </a:rPr>
              <a:t>非公開求人の提供と共に応募に踏み切る後押し、希望する求人の解像度を上げるサポート</a:t>
            </a:r>
            <a:endParaRPr kumimoji="1" lang="en-US" altLang="ja-JP" sz="900" dirty="0">
              <a:solidFill>
                <a:sysClr val="windowText" lastClr="000000"/>
              </a:solidFill>
              <a:latin typeface="+mn-ea"/>
              <a:ea typeface="+mn-ea"/>
            </a:endParaRPr>
          </a:p>
          <a:p>
            <a:r>
              <a:rPr kumimoji="1" lang="ja-JP" altLang="en-US" sz="900" dirty="0">
                <a:solidFill>
                  <a:sysClr val="windowText" lastClr="000000"/>
                </a:solidFill>
                <a:latin typeface="+mn-ea"/>
                <a:ea typeface="+mn-ea"/>
              </a:rPr>
              <a:t>∟なぜ踏み切れないか</a:t>
            </a:r>
            <a:r>
              <a:rPr kumimoji="1" lang="en-US" altLang="ja-JP" sz="900" dirty="0">
                <a:solidFill>
                  <a:sysClr val="windowText" lastClr="000000"/>
                </a:solidFill>
                <a:latin typeface="+mn-ea"/>
                <a:ea typeface="+mn-ea"/>
              </a:rPr>
              <a:t>/</a:t>
            </a:r>
            <a:r>
              <a:rPr kumimoji="1" lang="ja-JP" altLang="en-US" sz="900" dirty="0">
                <a:solidFill>
                  <a:sysClr val="windowText" lastClr="000000"/>
                </a:solidFill>
                <a:latin typeface="+mn-ea"/>
                <a:ea typeface="+mn-ea"/>
              </a:rPr>
              <a:t>迷いポイントの解明と払拭サポートがあると良い。</a:t>
            </a:r>
            <a:endParaRPr kumimoji="1" lang="en-US" altLang="ja-JP" sz="900" dirty="0">
              <a:solidFill>
                <a:sysClr val="windowText" lastClr="000000"/>
              </a:solidFill>
              <a:latin typeface="+mn-ea"/>
              <a:ea typeface="+mn-ea"/>
            </a:endParaRPr>
          </a:p>
          <a:p>
            <a:r>
              <a:rPr kumimoji="1" lang="ja-JP" altLang="en-US" sz="900" dirty="0">
                <a:solidFill>
                  <a:sysClr val="windowText" lastClr="000000"/>
                </a:solidFill>
                <a:latin typeface="+mn-ea"/>
                <a:ea typeface="+mn-ea"/>
              </a:rPr>
              <a:t>状況把握はお気に入り有無や</a:t>
            </a:r>
            <a:r>
              <a:rPr kumimoji="1" lang="en-US" altLang="ja-JP" sz="900" dirty="0">
                <a:solidFill>
                  <a:sysClr val="windowText" lastClr="000000"/>
                </a:solidFill>
                <a:latin typeface="+mn-ea"/>
                <a:ea typeface="+mn-ea"/>
              </a:rPr>
              <a:t>PDT</a:t>
            </a:r>
            <a:r>
              <a:rPr kumimoji="1" lang="ja-JP" altLang="en-US" sz="900" dirty="0">
                <a:solidFill>
                  <a:sysClr val="windowText" lastClr="000000"/>
                </a:solidFill>
                <a:latin typeface="+mn-ea"/>
                <a:ea typeface="+mn-ea"/>
              </a:rPr>
              <a:t>ログイン頻度から推測できないか。</a:t>
            </a:r>
            <a:endParaRPr kumimoji="1" lang="en-US" altLang="ja-JP" sz="900" dirty="0">
              <a:solidFill>
                <a:sysClr val="windowText" lastClr="000000"/>
              </a:solidFill>
              <a:latin typeface="+mn-ea"/>
              <a:ea typeface="+mn-ea"/>
            </a:endParaRPr>
          </a:p>
        </p:txBody>
      </p:sp>
      <p:sp>
        <p:nvSpPr>
          <p:cNvPr id="28" name="コンテンツ プレースホルダー 1">
            <a:extLst>
              <a:ext uri="{FF2B5EF4-FFF2-40B4-BE49-F238E27FC236}">
                <a16:creationId xmlns:a16="http://schemas.microsoft.com/office/drawing/2014/main" id="{7EF9C458-A170-DBF9-3012-BDE47D3879DC}"/>
              </a:ext>
            </a:extLst>
          </p:cNvPr>
          <p:cNvSpPr>
            <a:spLocks noGrp="1"/>
          </p:cNvSpPr>
          <p:nvPr>
            <p:ph sz="quarter" idx="14"/>
          </p:nvPr>
        </p:nvSpPr>
        <p:spPr>
          <a:xfrm>
            <a:off x="360363" y="760592"/>
            <a:ext cx="11447462" cy="487090"/>
          </a:xfrm>
        </p:spPr>
        <p:txBody>
          <a:bodyPr>
            <a:normAutofit/>
          </a:bodyPr>
          <a:lstStyle/>
          <a:p>
            <a:pPr marL="285750" indent="-285750">
              <a:buFont typeface="Wingdings" panose="05000000000000000000" pitchFamily="2" charset="2"/>
              <a:buChar char="ü"/>
            </a:pPr>
            <a:r>
              <a:rPr lang="ja-JP" altLang="en-US" sz="1200" dirty="0"/>
              <a:t>応募喚起や活動サポートのイメージは以下の通り。どのようなコンテンツ</a:t>
            </a:r>
            <a:r>
              <a:rPr lang="en-US" altLang="ja-JP" sz="1200" dirty="0"/>
              <a:t>/</a:t>
            </a:r>
            <a:r>
              <a:rPr lang="ja-JP" altLang="en-US" sz="1200" dirty="0"/>
              <a:t>媒体でサポートを提供するかや、実際に活用してもらう方法は検証が必要。</a:t>
            </a:r>
            <a:endParaRPr lang="en-US" altLang="ja-JP" sz="1200" dirty="0"/>
          </a:p>
        </p:txBody>
      </p:sp>
    </p:spTree>
    <p:extLst>
      <p:ext uri="{BB962C8B-B14F-4D97-AF65-F5344CB8AC3E}">
        <p14:creationId xmlns:p14="http://schemas.microsoft.com/office/powerpoint/2010/main" val="14342792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3657CB2B-6A32-A0CF-013F-0A4A6971E26A}"/>
              </a:ext>
            </a:extLst>
          </p:cNvPr>
          <p:cNvSpPr>
            <a:spLocks noGrp="1"/>
          </p:cNvSpPr>
          <p:nvPr>
            <p:ph sz="quarter" idx="14"/>
          </p:nvPr>
        </p:nvSpPr>
        <p:spPr>
          <a:xfrm>
            <a:off x="360363" y="863999"/>
            <a:ext cx="11447462" cy="750949"/>
          </a:xfrm>
        </p:spPr>
        <p:txBody>
          <a:bodyPr>
            <a:normAutofit/>
          </a:bodyPr>
          <a:lstStyle/>
          <a:p>
            <a:pPr marL="285750" indent="-285750">
              <a:buFont typeface="Wingdings" panose="05000000000000000000" pitchFamily="2" charset="2"/>
              <a:buChar char="ü"/>
            </a:pPr>
            <a:r>
              <a:rPr kumimoji="1" lang="ja-JP" altLang="en-US" sz="1200" dirty="0"/>
              <a:t>インサイトに基づいたサポートを具体化していくためには、下記</a:t>
            </a:r>
            <a:r>
              <a:rPr lang="ja-JP" altLang="en-US" sz="1200" dirty="0"/>
              <a:t>観点を深堀し検証していく必要がある。</a:t>
            </a:r>
            <a:endParaRPr kumimoji="1" lang="ja-JP" altLang="en-US" sz="1200" dirty="0"/>
          </a:p>
        </p:txBody>
      </p:sp>
      <p:sp>
        <p:nvSpPr>
          <p:cNvPr id="3" name="テキスト プレースホルダー 2">
            <a:extLst>
              <a:ext uri="{FF2B5EF4-FFF2-40B4-BE49-F238E27FC236}">
                <a16:creationId xmlns:a16="http://schemas.microsoft.com/office/drawing/2014/main" id="{8A54E2DC-9367-4BCF-5104-9B8FF820D5D5}"/>
              </a:ext>
            </a:extLst>
          </p:cNvPr>
          <p:cNvSpPr>
            <a:spLocks noGrp="1"/>
          </p:cNvSpPr>
          <p:nvPr>
            <p:ph type="body" sz="quarter" idx="13"/>
          </p:nvPr>
        </p:nvSpPr>
        <p:spPr/>
        <p:txBody>
          <a:bodyPr/>
          <a:lstStyle/>
          <a:p>
            <a:r>
              <a:rPr kumimoji="1" lang="ja-JP" altLang="en-US" dirty="0"/>
              <a:t>サポート実現に向けたネクストステップ</a:t>
            </a:r>
          </a:p>
        </p:txBody>
      </p:sp>
      <p:sp>
        <p:nvSpPr>
          <p:cNvPr id="4" name="フッター プレースホルダー 3">
            <a:extLst>
              <a:ext uri="{FF2B5EF4-FFF2-40B4-BE49-F238E27FC236}">
                <a16:creationId xmlns:a16="http://schemas.microsoft.com/office/drawing/2014/main" id="{9F96D3BC-77D6-E789-4AED-1B3BCC61F975}"/>
              </a:ext>
            </a:extLst>
          </p:cNvPr>
          <p:cNvSpPr>
            <a:spLocks noGrp="1"/>
          </p:cNvSpPr>
          <p:nvPr>
            <p:ph type="ftr" sz="quarter" idx="3"/>
          </p:nvPr>
        </p:nvSpPr>
        <p:spPr/>
        <p:txBody>
          <a:bodyPr/>
          <a:lstStyle/>
          <a:p>
            <a:r>
              <a:rPr lang="en" altLang="ja-JP"/>
              <a:t>(C) Recruit Co., Ltd. All rights reserved. </a:t>
            </a:r>
            <a:endParaRPr lang="ja-JP" altLang="en-US"/>
          </a:p>
        </p:txBody>
      </p:sp>
      <p:sp>
        <p:nvSpPr>
          <p:cNvPr id="5" name="スライド番号プレースホルダー 4">
            <a:extLst>
              <a:ext uri="{FF2B5EF4-FFF2-40B4-BE49-F238E27FC236}">
                <a16:creationId xmlns:a16="http://schemas.microsoft.com/office/drawing/2014/main" id="{19DE4FF7-20B8-8FB8-17A0-DD76B7FA7D30}"/>
              </a:ext>
            </a:extLst>
          </p:cNvPr>
          <p:cNvSpPr>
            <a:spLocks noGrp="1"/>
          </p:cNvSpPr>
          <p:nvPr>
            <p:ph type="sldNum" sz="quarter" idx="4"/>
          </p:nvPr>
        </p:nvSpPr>
        <p:spPr/>
        <p:txBody>
          <a:bodyPr/>
          <a:lstStyle/>
          <a:p>
            <a:fld id="{EDD55F78-D87A-074E-B5DA-6C9B598DD91F}" type="slidenum">
              <a:rPr lang="ja-JP" altLang="en-US" smtClean="0"/>
              <a:pPr/>
              <a:t>22</a:t>
            </a:fld>
            <a:endParaRPr lang="ja-JP" altLang="en-US"/>
          </a:p>
        </p:txBody>
      </p:sp>
      <p:sp>
        <p:nvSpPr>
          <p:cNvPr id="9" name="正方形/長方形 8">
            <a:extLst>
              <a:ext uri="{FF2B5EF4-FFF2-40B4-BE49-F238E27FC236}">
                <a16:creationId xmlns:a16="http://schemas.microsoft.com/office/drawing/2014/main" id="{4C76F831-3828-8F23-9282-606A380F496F}"/>
              </a:ext>
            </a:extLst>
          </p:cNvPr>
          <p:cNvSpPr/>
          <p:nvPr/>
        </p:nvSpPr>
        <p:spPr>
          <a:xfrm>
            <a:off x="1098755" y="1259848"/>
            <a:ext cx="1799303" cy="1101678"/>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kumimoji="1" lang="en-US" altLang="ja-JP" sz="1100" b="1" dirty="0">
                <a:solidFill>
                  <a:schemeClr val="tx1"/>
                </a:solidFill>
              </a:rPr>
              <a:t>【</a:t>
            </a:r>
            <a:r>
              <a:rPr kumimoji="1" lang="ja-JP" altLang="en-US" sz="1100" b="1" dirty="0">
                <a:solidFill>
                  <a:schemeClr val="tx1"/>
                </a:solidFill>
              </a:rPr>
              <a:t>全体</a:t>
            </a:r>
            <a:r>
              <a:rPr kumimoji="1" lang="en-US" altLang="ja-JP" sz="1100" b="1" dirty="0">
                <a:solidFill>
                  <a:schemeClr val="tx1"/>
                </a:solidFill>
              </a:rPr>
              <a:t>】</a:t>
            </a:r>
          </a:p>
          <a:p>
            <a:r>
              <a:rPr kumimoji="1" lang="ja-JP" altLang="en-US" sz="1100" b="1" dirty="0">
                <a:solidFill>
                  <a:schemeClr val="tx1"/>
                </a:solidFill>
              </a:rPr>
              <a:t>面談の再定義</a:t>
            </a:r>
          </a:p>
        </p:txBody>
      </p:sp>
      <p:sp>
        <p:nvSpPr>
          <p:cNvPr id="10" name="正方形/長方形 9">
            <a:extLst>
              <a:ext uri="{FF2B5EF4-FFF2-40B4-BE49-F238E27FC236}">
                <a16:creationId xmlns:a16="http://schemas.microsoft.com/office/drawing/2014/main" id="{15144E00-44E6-3379-BD31-27B2A5700BC7}"/>
              </a:ext>
            </a:extLst>
          </p:cNvPr>
          <p:cNvSpPr/>
          <p:nvPr/>
        </p:nvSpPr>
        <p:spPr>
          <a:xfrm>
            <a:off x="1098748" y="4083474"/>
            <a:ext cx="1799303" cy="1179238"/>
          </a:xfrm>
          <a:prstGeom prst="rect">
            <a:avLst/>
          </a:prstGeom>
          <a:solidFill>
            <a:srgbClr val="E2EFDA"/>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kumimoji="1" lang="en-US" altLang="ja-JP" sz="1100" b="1" dirty="0">
                <a:solidFill>
                  <a:schemeClr val="tx1"/>
                </a:solidFill>
              </a:rPr>
              <a:t>【</a:t>
            </a:r>
            <a:r>
              <a:rPr kumimoji="1" lang="ja-JP" altLang="en-US" sz="1100" b="1" dirty="0">
                <a:solidFill>
                  <a:schemeClr val="tx1"/>
                </a:solidFill>
              </a:rPr>
              <a:t>面談希望なし</a:t>
            </a:r>
            <a:r>
              <a:rPr kumimoji="1" lang="en-US" altLang="ja-JP" sz="1100" b="1" dirty="0">
                <a:solidFill>
                  <a:schemeClr val="tx1"/>
                </a:solidFill>
              </a:rPr>
              <a:t>】</a:t>
            </a:r>
          </a:p>
          <a:p>
            <a:r>
              <a:rPr kumimoji="1" lang="ja-JP" altLang="en-US" sz="1100" b="1" dirty="0">
                <a:solidFill>
                  <a:schemeClr val="tx1"/>
                </a:solidFill>
              </a:rPr>
              <a:t>未活動</a:t>
            </a:r>
            <a:r>
              <a:rPr kumimoji="1" lang="en-US" altLang="ja-JP" sz="1100" b="1" dirty="0">
                <a:solidFill>
                  <a:schemeClr val="tx1"/>
                </a:solidFill>
              </a:rPr>
              <a:t>CS</a:t>
            </a:r>
            <a:r>
              <a:rPr kumimoji="1" lang="ja-JP" altLang="en-US" sz="1100" b="1" dirty="0">
                <a:solidFill>
                  <a:schemeClr val="tx1"/>
                </a:solidFill>
              </a:rPr>
              <a:t>の</a:t>
            </a:r>
            <a:endParaRPr kumimoji="1" lang="en-US" altLang="ja-JP" sz="1100" b="1" dirty="0">
              <a:solidFill>
                <a:schemeClr val="tx1"/>
              </a:solidFill>
            </a:endParaRPr>
          </a:p>
          <a:p>
            <a:r>
              <a:rPr kumimoji="1" lang="ja-JP" altLang="en-US" sz="1100" b="1" dirty="0">
                <a:solidFill>
                  <a:schemeClr val="tx1"/>
                </a:solidFill>
              </a:rPr>
              <a:t>意識変容</a:t>
            </a:r>
            <a:r>
              <a:rPr lang="ja-JP" altLang="en-US" sz="1100" b="1" dirty="0">
                <a:solidFill>
                  <a:schemeClr val="tx1"/>
                </a:solidFill>
              </a:rPr>
              <a:t>プロセス解明</a:t>
            </a:r>
            <a:endParaRPr kumimoji="1" lang="en-US" altLang="ja-JP" sz="1100" b="1" dirty="0">
              <a:solidFill>
                <a:schemeClr val="tx1"/>
              </a:solidFill>
            </a:endParaRPr>
          </a:p>
        </p:txBody>
      </p:sp>
      <p:sp>
        <p:nvSpPr>
          <p:cNvPr id="11" name="正方形/長方形 10">
            <a:extLst>
              <a:ext uri="{FF2B5EF4-FFF2-40B4-BE49-F238E27FC236}">
                <a16:creationId xmlns:a16="http://schemas.microsoft.com/office/drawing/2014/main" id="{EFC0D5B6-FA56-E1A0-6AAC-6DDADA95444F}"/>
              </a:ext>
            </a:extLst>
          </p:cNvPr>
          <p:cNvSpPr/>
          <p:nvPr/>
        </p:nvSpPr>
        <p:spPr>
          <a:xfrm>
            <a:off x="1098747" y="5336062"/>
            <a:ext cx="1799303" cy="656858"/>
          </a:xfrm>
          <a:prstGeom prst="rect">
            <a:avLst/>
          </a:prstGeom>
          <a:solidFill>
            <a:srgbClr val="E2EFDA"/>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kumimoji="1" lang="en-US" altLang="ja-JP" sz="1100" b="1" dirty="0">
                <a:solidFill>
                  <a:schemeClr val="tx1"/>
                </a:solidFill>
              </a:rPr>
              <a:t>【</a:t>
            </a:r>
            <a:r>
              <a:rPr kumimoji="1" lang="ja-JP" altLang="en-US" sz="1100" b="1" dirty="0">
                <a:solidFill>
                  <a:schemeClr val="tx1"/>
                </a:solidFill>
              </a:rPr>
              <a:t>面談希望なし</a:t>
            </a:r>
            <a:r>
              <a:rPr kumimoji="1" lang="en-US" altLang="ja-JP" sz="1100" b="1" dirty="0">
                <a:solidFill>
                  <a:schemeClr val="tx1"/>
                </a:solidFill>
              </a:rPr>
              <a:t>】</a:t>
            </a:r>
            <a:endParaRPr lang="en-US" altLang="ja-JP" sz="1100" b="1" dirty="0">
              <a:solidFill>
                <a:schemeClr val="tx1"/>
              </a:solidFill>
            </a:endParaRPr>
          </a:p>
          <a:p>
            <a:r>
              <a:rPr lang="ja-JP" altLang="en-US" sz="1100" b="1" dirty="0">
                <a:solidFill>
                  <a:schemeClr val="tx1"/>
                </a:solidFill>
              </a:rPr>
              <a:t>時間をおいて活動化する</a:t>
            </a:r>
            <a:endParaRPr lang="en-US" altLang="ja-JP" sz="1100" b="1" dirty="0">
              <a:solidFill>
                <a:schemeClr val="tx1"/>
              </a:solidFill>
            </a:endParaRPr>
          </a:p>
          <a:p>
            <a:r>
              <a:rPr lang="en-US" altLang="ja-JP" sz="1100" b="1" dirty="0">
                <a:solidFill>
                  <a:schemeClr val="tx1"/>
                </a:solidFill>
              </a:rPr>
              <a:t>CS</a:t>
            </a:r>
            <a:r>
              <a:rPr lang="ja-JP" altLang="en-US" sz="1100" b="1" dirty="0">
                <a:solidFill>
                  <a:schemeClr val="tx1"/>
                </a:solidFill>
              </a:rPr>
              <a:t>インサイトの解明</a:t>
            </a:r>
            <a:endParaRPr kumimoji="1" lang="ja-JP" altLang="en-US" sz="1100" b="1" dirty="0">
              <a:solidFill>
                <a:schemeClr val="tx1"/>
              </a:solidFill>
            </a:endParaRPr>
          </a:p>
        </p:txBody>
      </p:sp>
      <p:sp>
        <p:nvSpPr>
          <p:cNvPr id="12" name="正方形/長方形 11">
            <a:extLst>
              <a:ext uri="{FF2B5EF4-FFF2-40B4-BE49-F238E27FC236}">
                <a16:creationId xmlns:a16="http://schemas.microsoft.com/office/drawing/2014/main" id="{BC0B183B-7437-E27D-32AF-05D32891AEFE}"/>
              </a:ext>
            </a:extLst>
          </p:cNvPr>
          <p:cNvSpPr/>
          <p:nvPr/>
        </p:nvSpPr>
        <p:spPr>
          <a:xfrm>
            <a:off x="2984085" y="1269032"/>
            <a:ext cx="7907599" cy="1092494"/>
          </a:xfrm>
          <a:prstGeom prst="rect">
            <a:avLst/>
          </a:prstGeom>
          <a:noFill/>
          <a:ln w="952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171450" indent="-171450">
              <a:buFont typeface="Wingdings" panose="05000000000000000000" pitchFamily="2" charset="2"/>
              <a:buChar char="l"/>
            </a:pPr>
            <a:r>
              <a:rPr kumimoji="1" lang="ja-JP" altLang="en-US" sz="1050" dirty="0">
                <a:solidFill>
                  <a:schemeClr val="tx1"/>
                </a:solidFill>
              </a:rPr>
              <a:t>面談実施なし</a:t>
            </a:r>
            <a:r>
              <a:rPr kumimoji="1" lang="en-US" altLang="ja-JP" sz="1050" dirty="0">
                <a:solidFill>
                  <a:schemeClr val="tx1"/>
                </a:solidFill>
              </a:rPr>
              <a:t>/</a:t>
            </a:r>
            <a:r>
              <a:rPr kumimoji="1" lang="ja-JP" altLang="en-US" sz="1050" dirty="0">
                <a:solidFill>
                  <a:schemeClr val="tx1"/>
                </a:solidFill>
              </a:rPr>
              <a:t>希望なし層でも転職活動中の相談ニーズが無いわけではないが、</a:t>
            </a:r>
            <a:r>
              <a:rPr lang="ja-JP" altLang="en-US" sz="1050" dirty="0">
                <a:solidFill>
                  <a:schemeClr val="tx1"/>
                </a:solidFill>
              </a:rPr>
              <a:t>従来の</a:t>
            </a:r>
            <a:r>
              <a:rPr lang="en-US" altLang="ja-JP" sz="1050" dirty="0">
                <a:solidFill>
                  <a:schemeClr val="tx1"/>
                </a:solidFill>
              </a:rPr>
              <a:t>60</a:t>
            </a:r>
            <a:r>
              <a:rPr lang="ja-JP" altLang="en-US" sz="1050" dirty="0">
                <a:solidFill>
                  <a:schemeClr val="tx1"/>
                </a:solidFill>
              </a:rPr>
              <a:t>分事前予約型の面談では相談ニーズを拾い切れていない。</a:t>
            </a:r>
            <a:endParaRPr lang="en-US" altLang="ja-JP" sz="1050" dirty="0">
              <a:solidFill>
                <a:schemeClr val="tx1"/>
              </a:solidFill>
            </a:endParaRPr>
          </a:p>
          <a:p>
            <a:pPr marL="171450" indent="-171450">
              <a:buFont typeface="Wingdings" panose="05000000000000000000" pitchFamily="2" charset="2"/>
              <a:buChar char="l"/>
            </a:pPr>
            <a:r>
              <a:rPr lang="ja-JP" altLang="en-US" sz="1050" dirty="0">
                <a:solidFill>
                  <a:schemeClr val="tx1"/>
                </a:solidFill>
              </a:rPr>
              <a:t>時間がない</a:t>
            </a:r>
            <a:r>
              <a:rPr lang="en-US" altLang="ja-JP" sz="1050" dirty="0">
                <a:solidFill>
                  <a:schemeClr val="tx1"/>
                </a:solidFill>
              </a:rPr>
              <a:t>/</a:t>
            </a:r>
            <a:r>
              <a:rPr lang="ja-JP" altLang="en-US" sz="1050" dirty="0">
                <a:solidFill>
                  <a:schemeClr val="tx1"/>
                </a:solidFill>
              </a:rPr>
              <a:t>予約するほどの強い希望はない</a:t>
            </a:r>
            <a:r>
              <a:rPr lang="en-US" altLang="ja-JP" sz="1050" dirty="0">
                <a:solidFill>
                  <a:schemeClr val="tx1"/>
                </a:solidFill>
              </a:rPr>
              <a:t>CS</a:t>
            </a:r>
            <a:r>
              <a:rPr lang="ja-JP" altLang="en-US" sz="1050" dirty="0">
                <a:solidFill>
                  <a:schemeClr val="tx1"/>
                </a:solidFill>
              </a:rPr>
              <a:t>への提案として、短時間の接点やチャット等様々な手法を試していく中でどこまでを「面談」と定義するのかは要検討。</a:t>
            </a:r>
            <a:endParaRPr lang="en-US" altLang="ja-JP" sz="1050" dirty="0">
              <a:solidFill>
                <a:schemeClr val="tx1"/>
              </a:solidFill>
            </a:endParaRPr>
          </a:p>
          <a:p>
            <a:pPr marL="171450" indent="-171450">
              <a:buFont typeface="Wingdings" panose="05000000000000000000" pitchFamily="2" charset="2"/>
              <a:buChar char="l"/>
            </a:pPr>
            <a:r>
              <a:rPr lang="ja-JP" altLang="en-US" sz="1050" dirty="0">
                <a:solidFill>
                  <a:schemeClr val="tx1"/>
                </a:solidFill>
              </a:rPr>
              <a:t>また従来と異なる初回接点を持つ場合、データ保有方法も同時検討が必要。</a:t>
            </a:r>
            <a:r>
              <a:rPr lang="en-US" altLang="ja-JP" sz="1050" dirty="0">
                <a:solidFill>
                  <a:schemeClr val="tx1"/>
                </a:solidFill>
              </a:rPr>
              <a:t>(</a:t>
            </a:r>
            <a:r>
              <a:rPr lang="ja-JP" altLang="en-US" sz="1050" dirty="0">
                <a:solidFill>
                  <a:schemeClr val="tx1"/>
                </a:solidFill>
              </a:rPr>
              <a:t>初回面談日管理なのか、別データが良いのか</a:t>
            </a:r>
            <a:endParaRPr lang="en-US" altLang="ja-JP" sz="1050" dirty="0">
              <a:solidFill>
                <a:schemeClr val="tx1"/>
              </a:solidFill>
            </a:endParaRPr>
          </a:p>
        </p:txBody>
      </p:sp>
      <p:sp>
        <p:nvSpPr>
          <p:cNvPr id="13" name="正方形/長方形 12">
            <a:extLst>
              <a:ext uri="{FF2B5EF4-FFF2-40B4-BE49-F238E27FC236}">
                <a16:creationId xmlns:a16="http://schemas.microsoft.com/office/drawing/2014/main" id="{41CCA1C1-C6D6-1F7C-CA41-B776CB65AEF1}"/>
              </a:ext>
            </a:extLst>
          </p:cNvPr>
          <p:cNvSpPr/>
          <p:nvPr/>
        </p:nvSpPr>
        <p:spPr>
          <a:xfrm>
            <a:off x="2984085" y="4083474"/>
            <a:ext cx="7907599" cy="1179238"/>
          </a:xfrm>
          <a:prstGeom prst="rect">
            <a:avLst/>
          </a:prstGeom>
          <a:noFill/>
          <a:ln w="952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171450" indent="-171450">
              <a:buFont typeface="Wingdings" panose="05000000000000000000" pitchFamily="2" charset="2"/>
              <a:buChar char="l"/>
            </a:pPr>
            <a:r>
              <a:rPr lang="ja-JP" altLang="en-US" sz="1050" dirty="0">
                <a:solidFill>
                  <a:schemeClr val="tx1"/>
                </a:solidFill>
              </a:rPr>
              <a:t>未活動</a:t>
            </a:r>
            <a:r>
              <a:rPr lang="en-US" altLang="ja-JP" sz="1050" dirty="0">
                <a:solidFill>
                  <a:schemeClr val="tx1"/>
                </a:solidFill>
              </a:rPr>
              <a:t>CS</a:t>
            </a:r>
            <a:r>
              <a:rPr lang="ja-JP" altLang="en-US" sz="1050" dirty="0">
                <a:solidFill>
                  <a:schemeClr val="tx1"/>
                </a:solidFill>
              </a:rPr>
              <a:t>は「良い求人があれば」「非公開求人」など求人期待が高くみえるが、求人イメージは漠然としており単なる求人紹介だけでは上記希望は満たせない。</a:t>
            </a:r>
            <a:endParaRPr lang="en-US" altLang="ja-JP" sz="1050" dirty="0">
              <a:solidFill>
                <a:schemeClr val="tx1"/>
              </a:solidFill>
            </a:endParaRPr>
          </a:p>
          <a:p>
            <a:pPr marL="171450" indent="-171450">
              <a:buFont typeface="Wingdings" panose="05000000000000000000" pitchFamily="2" charset="2"/>
              <a:buChar char="l"/>
            </a:pPr>
            <a:r>
              <a:rPr lang="ja-JP" altLang="en-US" sz="1050" dirty="0">
                <a:solidFill>
                  <a:schemeClr val="tx1"/>
                </a:solidFill>
              </a:rPr>
              <a:t>また一般的な非公開求人は「自社の転職サイトやホームページなど、インターネット上に掲載していない、非公開の求人」を指すが、</a:t>
            </a:r>
            <a:r>
              <a:rPr lang="en-US" altLang="ja-JP" sz="1050" dirty="0">
                <a:solidFill>
                  <a:schemeClr val="tx1"/>
                </a:solidFill>
              </a:rPr>
              <a:t>RAG</a:t>
            </a:r>
            <a:r>
              <a:rPr lang="ja-JP" altLang="en-US" sz="1050" dirty="0">
                <a:solidFill>
                  <a:schemeClr val="tx1"/>
                </a:solidFill>
              </a:rPr>
              <a:t>内で該当する求人は多くないため非公開求人をフックにした活動訴求は難しい。</a:t>
            </a:r>
            <a:endParaRPr lang="en-US" altLang="ja-JP" sz="1050" dirty="0">
              <a:solidFill>
                <a:schemeClr val="tx1"/>
              </a:solidFill>
            </a:endParaRPr>
          </a:p>
          <a:p>
            <a:pPr marL="171450" indent="-171450">
              <a:buFont typeface="Wingdings" panose="05000000000000000000" pitchFamily="2" charset="2"/>
              <a:buChar char="l"/>
            </a:pPr>
            <a:r>
              <a:rPr lang="en-US" altLang="ja-JP" sz="1050" dirty="0">
                <a:solidFill>
                  <a:schemeClr val="tx1"/>
                </a:solidFill>
              </a:rPr>
              <a:t>CS</a:t>
            </a:r>
            <a:r>
              <a:rPr lang="ja-JP" altLang="en-US" sz="1050" dirty="0">
                <a:solidFill>
                  <a:schemeClr val="tx1"/>
                </a:solidFill>
              </a:rPr>
              <a:t>にとって良い求人だと気付いてもらうために必要な意識変容プロセスの解明が検証観点となる。</a:t>
            </a:r>
            <a:endParaRPr lang="en-US" altLang="ja-JP" sz="1050" dirty="0">
              <a:solidFill>
                <a:schemeClr val="tx1"/>
              </a:solidFill>
            </a:endParaRPr>
          </a:p>
        </p:txBody>
      </p:sp>
      <p:sp>
        <p:nvSpPr>
          <p:cNvPr id="14" name="正方形/長方形 13">
            <a:extLst>
              <a:ext uri="{FF2B5EF4-FFF2-40B4-BE49-F238E27FC236}">
                <a16:creationId xmlns:a16="http://schemas.microsoft.com/office/drawing/2014/main" id="{24F31098-7598-1548-D62B-21BD0B35D451}"/>
              </a:ext>
            </a:extLst>
          </p:cNvPr>
          <p:cNvSpPr/>
          <p:nvPr/>
        </p:nvSpPr>
        <p:spPr>
          <a:xfrm>
            <a:off x="2984085" y="5337143"/>
            <a:ext cx="7907599" cy="656858"/>
          </a:xfrm>
          <a:prstGeom prst="rect">
            <a:avLst/>
          </a:prstGeom>
          <a:noFill/>
          <a:ln w="952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171450" indent="-171450">
              <a:buFont typeface="Wingdings" panose="05000000000000000000" pitchFamily="2" charset="2"/>
              <a:buChar char="l"/>
            </a:pPr>
            <a:r>
              <a:rPr lang="ja-JP" altLang="en-US" sz="1050" dirty="0">
                <a:solidFill>
                  <a:schemeClr val="tx1"/>
                </a:solidFill>
              </a:rPr>
              <a:t>漠然とした活動イメージで活動化しなかった</a:t>
            </a:r>
            <a:r>
              <a:rPr lang="en-US" altLang="ja-JP" sz="1050" dirty="0">
                <a:solidFill>
                  <a:schemeClr val="tx1"/>
                </a:solidFill>
              </a:rPr>
              <a:t>CS</a:t>
            </a:r>
            <a:r>
              <a:rPr lang="ja-JP" altLang="en-US" sz="1050" dirty="0">
                <a:solidFill>
                  <a:schemeClr val="tx1"/>
                </a:solidFill>
              </a:rPr>
              <a:t>が一定期間後</a:t>
            </a:r>
            <a:r>
              <a:rPr lang="en-US" altLang="ja-JP" sz="1050" dirty="0">
                <a:solidFill>
                  <a:schemeClr val="tx1"/>
                </a:solidFill>
              </a:rPr>
              <a:t>DB</a:t>
            </a:r>
            <a:r>
              <a:rPr lang="ja-JP" altLang="en-US" sz="1050" dirty="0">
                <a:solidFill>
                  <a:schemeClr val="tx1"/>
                </a:solidFill>
              </a:rPr>
              <a:t>アプローチで起き上がる場合、何をきっかけに面談や応募をしようと思ったのかを明らかに出来れば、サービスからのアプローチで醸成可能かを検討できる。</a:t>
            </a:r>
            <a:endParaRPr lang="en-US" altLang="ja-JP" sz="1050" dirty="0">
              <a:solidFill>
                <a:schemeClr val="tx1"/>
              </a:solidFill>
            </a:endParaRPr>
          </a:p>
        </p:txBody>
      </p:sp>
      <p:sp>
        <p:nvSpPr>
          <p:cNvPr id="15" name="正方形/長方形 14">
            <a:extLst>
              <a:ext uri="{FF2B5EF4-FFF2-40B4-BE49-F238E27FC236}">
                <a16:creationId xmlns:a16="http://schemas.microsoft.com/office/drawing/2014/main" id="{7B06DEB1-2D1F-790A-9C71-B270D1892A9D}"/>
              </a:ext>
            </a:extLst>
          </p:cNvPr>
          <p:cNvSpPr/>
          <p:nvPr/>
        </p:nvSpPr>
        <p:spPr>
          <a:xfrm>
            <a:off x="1098752" y="2434876"/>
            <a:ext cx="1799303" cy="750949"/>
          </a:xfrm>
          <a:prstGeom prst="rect">
            <a:avLst/>
          </a:prstGeom>
          <a:solidFill>
            <a:schemeClr val="accent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kumimoji="1" lang="en-US" altLang="ja-JP" sz="1100" b="1" dirty="0">
                <a:solidFill>
                  <a:schemeClr val="tx1"/>
                </a:solidFill>
              </a:rPr>
              <a:t>【</a:t>
            </a:r>
            <a:r>
              <a:rPr kumimoji="1" lang="ja-JP" altLang="en-US" sz="1100" b="1" dirty="0">
                <a:solidFill>
                  <a:schemeClr val="tx1"/>
                </a:solidFill>
              </a:rPr>
              <a:t>全体</a:t>
            </a:r>
            <a:r>
              <a:rPr kumimoji="1" lang="en-US" altLang="ja-JP" sz="1100" b="1" dirty="0">
                <a:solidFill>
                  <a:schemeClr val="tx1"/>
                </a:solidFill>
              </a:rPr>
              <a:t>】</a:t>
            </a:r>
          </a:p>
          <a:p>
            <a:r>
              <a:rPr lang="ja-JP" altLang="en-US" sz="1100" b="1" dirty="0">
                <a:solidFill>
                  <a:schemeClr val="tx1"/>
                </a:solidFill>
              </a:rPr>
              <a:t>登録初期の</a:t>
            </a:r>
            <a:endParaRPr lang="en-US" altLang="ja-JP" sz="1100" b="1" dirty="0">
              <a:solidFill>
                <a:schemeClr val="tx1"/>
              </a:solidFill>
            </a:endParaRPr>
          </a:p>
          <a:p>
            <a:r>
              <a:rPr lang="ja-JP" altLang="en-US" sz="1100" b="1" dirty="0">
                <a:solidFill>
                  <a:schemeClr val="tx1"/>
                </a:solidFill>
              </a:rPr>
              <a:t>コミュニケーション改善</a:t>
            </a:r>
            <a:endParaRPr kumimoji="1" lang="ja-JP" altLang="en-US" sz="1100" b="1" dirty="0">
              <a:solidFill>
                <a:schemeClr val="tx1"/>
              </a:solidFill>
            </a:endParaRPr>
          </a:p>
        </p:txBody>
      </p:sp>
      <p:sp>
        <p:nvSpPr>
          <p:cNvPr id="16" name="正方形/長方形 15">
            <a:extLst>
              <a:ext uri="{FF2B5EF4-FFF2-40B4-BE49-F238E27FC236}">
                <a16:creationId xmlns:a16="http://schemas.microsoft.com/office/drawing/2014/main" id="{CAFAA5B8-5707-D354-4AE6-5442BB533CFE}"/>
              </a:ext>
            </a:extLst>
          </p:cNvPr>
          <p:cNvSpPr/>
          <p:nvPr/>
        </p:nvSpPr>
        <p:spPr>
          <a:xfrm>
            <a:off x="2984085" y="2441072"/>
            <a:ext cx="7907599" cy="744753"/>
          </a:xfrm>
          <a:prstGeom prst="rect">
            <a:avLst/>
          </a:prstGeom>
          <a:noFill/>
          <a:ln w="952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171450" indent="-171450">
              <a:buFont typeface="Wingdings" panose="05000000000000000000" pitchFamily="2" charset="2"/>
              <a:buChar char="l"/>
            </a:pPr>
            <a:r>
              <a:rPr lang="ja-JP" altLang="en-US" sz="1050" dirty="0">
                <a:solidFill>
                  <a:schemeClr val="tx1"/>
                </a:solidFill>
              </a:rPr>
              <a:t>サービス内容を認知していない</a:t>
            </a:r>
            <a:r>
              <a:rPr lang="en-US" altLang="ja-JP" sz="1050" dirty="0">
                <a:solidFill>
                  <a:schemeClr val="tx1"/>
                </a:solidFill>
              </a:rPr>
              <a:t>CS</a:t>
            </a:r>
            <a:r>
              <a:rPr lang="ja-JP" altLang="en-US" sz="1050" dirty="0">
                <a:solidFill>
                  <a:schemeClr val="tx1"/>
                </a:solidFill>
              </a:rPr>
              <a:t>が多いため、サービス理解をしてもらえるコミュニケーションが必要。また</a:t>
            </a:r>
            <a:r>
              <a:rPr lang="en-US" altLang="ja-JP" sz="1050" dirty="0">
                <a:solidFill>
                  <a:schemeClr val="tx1"/>
                </a:solidFill>
              </a:rPr>
              <a:t>CA</a:t>
            </a:r>
            <a:r>
              <a:rPr lang="ja-JP" altLang="en-US" sz="1050" dirty="0">
                <a:solidFill>
                  <a:schemeClr val="tx1"/>
                </a:solidFill>
              </a:rPr>
              <a:t>サービス以外の自分で求人検索</a:t>
            </a:r>
            <a:r>
              <a:rPr lang="en-US" altLang="ja-JP" sz="1050" dirty="0">
                <a:solidFill>
                  <a:schemeClr val="tx1"/>
                </a:solidFill>
              </a:rPr>
              <a:t>/</a:t>
            </a:r>
            <a:r>
              <a:rPr lang="ja-JP" altLang="en-US" sz="1050" dirty="0">
                <a:solidFill>
                  <a:schemeClr val="tx1"/>
                </a:solidFill>
              </a:rPr>
              <a:t>応募が出来る・スカウト機能がある、の</a:t>
            </a:r>
            <a:r>
              <a:rPr lang="en-US" altLang="ja-JP" sz="1050" dirty="0">
                <a:solidFill>
                  <a:schemeClr val="tx1"/>
                </a:solidFill>
              </a:rPr>
              <a:t>2</a:t>
            </a:r>
            <a:r>
              <a:rPr lang="ja-JP" altLang="en-US" sz="1050" dirty="0">
                <a:solidFill>
                  <a:schemeClr val="tx1"/>
                </a:solidFill>
              </a:rPr>
              <a:t>点については特に認知が低いため活用訴求には白地がある。</a:t>
            </a:r>
            <a:endParaRPr lang="en-US" altLang="ja-JP" sz="1050" dirty="0">
              <a:solidFill>
                <a:schemeClr val="tx1"/>
              </a:solidFill>
            </a:endParaRPr>
          </a:p>
        </p:txBody>
      </p:sp>
      <p:sp>
        <p:nvSpPr>
          <p:cNvPr id="17" name="正方形/長方形 16">
            <a:extLst>
              <a:ext uri="{FF2B5EF4-FFF2-40B4-BE49-F238E27FC236}">
                <a16:creationId xmlns:a16="http://schemas.microsoft.com/office/drawing/2014/main" id="{255F2615-5012-5DC4-49F9-96A7B48E7B94}"/>
              </a:ext>
            </a:extLst>
          </p:cNvPr>
          <p:cNvSpPr/>
          <p:nvPr/>
        </p:nvSpPr>
        <p:spPr>
          <a:xfrm>
            <a:off x="1098749" y="3259175"/>
            <a:ext cx="1799303" cy="750949"/>
          </a:xfrm>
          <a:prstGeom prst="rect">
            <a:avLst/>
          </a:prstGeom>
          <a:solidFill>
            <a:srgbClr val="FCE4D6"/>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kumimoji="1" lang="en-US" altLang="ja-JP" sz="1100" b="1" dirty="0">
                <a:solidFill>
                  <a:schemeClr val="tx1"/>
                </a:solidFill>
              </a:rPr>
              <a:t>【</a:t>
            </a:r>
            <a:r>
              <a:rPr kumimoji="1" lang="ja-JP" altLang="en-US" sz="1100" b="1" dirty="0">
                <a:solidFill>
                  <a:schemeClr val="tx1"/>
                </a:solidFill>
              </a:rPr>
              <a:t>面談希望あり</a:t>
            </a:r>
            <a:r>
              <a:rPr kumimoji="1" lang="en-US" altLang="ja-JP" sz="1100" b="1" dirty="0">
                <a:solidFill>
                  <a:schemeClr val="tx1"/>
                </a:solidFill>
              </a:rPr>
              <a:t>】</a:t>
            </a:r>
            <a:endParaRPr lang="en-US" altLang="ja-JP" sz="1100" b="1" dirty="0">
              <a:solidFill>
                <a:schemeClr val="tx1"/>
              </a:solidFill>
            </a:endParaRPr>
          </a:p>
          <a:p>
            <a:r>
              <a:rPr kumimoji="1" lang="ja-JP" altLang="en-US" sz="1100" b="1" dirty="0">
                <a:solidFill>
                  <a:schemeClr val="tx1"/>
                </a:solidFill>
              </a:rPr>
              <a:t>時期先</a:t>
            </a:r>
            <a:r>
              <a:rPr kumimoji="1" lang="en-US" altLang="ja-JP" sz="1100" b="1" dirty="0">
                <a:solidFill>
                  <a:schemeClr val="tx1"/>
                </a:solidFill>
              </a:rPr>
              <a:t>CS</a:t>
            </a:r>
            <a:r>
              <a:rPr kumimoji="1" lang="ja-JP" altLang="en-US" sz="1100" b="1" dirty="0">
                <a:solidFill>
                  <a:schemeClr val="tx1"/>
                </a:solidFill>
              </a:rPr>
              <a:t>への</a:t>
            </a:r>
            <a:endParaRPr kumimoji="1" lang="en-US" altLang="ja-JP" sz="1100" b="1" dirty="0">
              <a:solidFill>
                <a:schemeClr val="tx1"/>
              </a:solidFill>
            </a:endParaRPr>
          </a:p>
          <a:p>
            <a:r>
              <a:rPr kumimoji="1" lang="ja-JP" altLang="en-US" sz="1100" b="1" dirty="0">
                <a:solidFill>
                  <a:schemeClr val="tx1"/>
                </a:solidFill>
              </a:rPr>
              <a:t>フォロー体制と</a:t>
            </a:r>
            <a:r>
              <a:rPr kumimoji="1" lang="en-US" altLang="ja-JP" sz="1100" b="1" dirty="0">
                <a:solidFill>
                  <a:schemeClr val="tx1"/>
                </a:solidFill>
              </a:rPr>
              <a:t>KPI</a:t>
            </a:r>
            <a:r>
              <a:rPr kumimoji="1" lang="ja-JP" altLang="en-US" sz="1100" b="1" dirty="0">
                <a:solidFill>
                  <a:schemeClr val="tx1"/>
                </a:solidFill>
              </a:rPr>
              <a:t>設計</a:t>
            </a:r>
          </a:p>
        </p:txBody>
      </p:sp>
      <p:sp>
        <p:nvSpPr>
          <p:cNvPr id="18" name="正方形/長方形 17">
            <a:extLst>
              <a:ext uri="{FF2B5EF4-FFF2-40B4-BE49-F238E27FC236}">
                <a16:creationId xmlns:a16="http://schemas.microsoft.com/office/drawing/2014/main" id="{2B4F8D6F-EF8D-B73C-30B2-F2758D2E474C}"/>
              </a:ext>
            </a:extLst>
          </p:cNvPr>
          <p:cNvSpPr/>
          <p:nvPr/>
        </p:nvSpPr>
        <p:spPr>
          <a:xfrm>
            <a:off x="2984085" y="3259175"/>
            <a:ext cx="7907599" cy="713295"/>
          </a:xfrm>
          <a:prstGeom prst="rect">
            <a:avLst/>
          </a:prstGeom>
          <a:noFill/>
          <a:ln w="952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171450" indent="-171450">
              <a:buFont typeface="Wingdings" panose="05000000000000000000" pitchFamily="2" charset="2"/>
              <a:buChar char="l"/>
            </a:pPr>
            <a:r>
              <a:rPr lang="ja-JP" altLang="en-US" sz="1050" dirty="0">
                <a:solidFill>
                  <a:sysClr val="windowText" lastClr="000000"/>
                </a:solidFill>
              </a:rPr>
              <a:t>面談希望ありで時期先希望の場合、面談に来てもすぐの活動は難しいため後工程</a:t>
            </a:r>
            <a:r>
              <a:rPr lang="en-US" altLang="ja-JP" sz="1050" dirty="0">
                <a:solidFill>
                  <a:sysClr val="windowText" lastClr="000000"/>
                </a:solidFill>
              </a:rPr>
              <a:t>KPI</a:t>
            </a:r>
            <a:r>
              <a:rPr lang="ja-JP" altLang="en-US" sz="1050" dirty="0">
                <a:solidFill>
                  <a:sysClr val="windowText" lastClr="000000"/>
                </a:solidFill>
              </a:rPr>
              <a:t>に影響しやすく、中長期的なフォローも十分には出来ていない。</a:t>
            </a:r>
            <a:r>
              <a:rPr lang="en-US" altLang="ja-JP" sz="1050" dirty="0">
                <a:solidFill>
                  <a:sysClr val="windowText" lastClr="000000"/>
                </a:solidFill>
              </a:rPr>
              <a:t>CS</a:t>
            </a:r>
            <a:r>
              <a:rPr lang="ja-JP" altLang="en-US" sz="1050" dirty="0">
                <a:solidFill>
                  <a:sysClr val="windowText" lastClr="000000"/>
                </a:solidFill>
              </a:rPr>
              <a:t>属性を踏まえて、誰がどのように活動サポートするのが良いかを検討したい。</a:t>
            </a:r>
            <a:endParaRPr lang="en-US" altLang="ja-JP" sz="1050" dirty="0">
              <a:solidFill>
                <a:sysClr val="windowText" lastClr="000000"/>
              </a:solidFill>
            </a:endParaRPr>
          </a:p>
        </p:txBody>
      </p:sp>
    </p:spTree>
    <p:extLst>
      <p:ext uri="{BB962C8B-B14F-4D97-AF65-F5344CB8AC3E}">
        <p14:creationId xmlns:p14="http://schemas.microsoft.com/office/powerpoint/2010/main" val="35097677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82E5D74A-DB91-7908-EA1D-4EF42A70F314}"/>
              </a:ext>
            </a:extLst>
          </p:cNvPr>
          <p:cNvSpPr>
            <a:spLocks noGrp="1"/>
          </p:cNvSpPr>
          <p:nvPr>
            <p:ph type="body" sz="quarter" idx="13"/>
          </p:nvPr>
        </p:nvSpPr>
        <p:spPr/>
        <p:txBody>
          <a:bodyPr/>
          <a:lstStyle/>
          <a:p>
            <a:r>
              <a:rPr kumimoji="1" lang="ja-JP" altLang="en-US" dirty="0"/>
              <a:t>活動ステータス</a:t>
            </a:r>
            <a:r>
              <a:rPr kumimoji="1" lang="en-US" altLang="ja-JP" dirty="0"/>
              <a:t>×</a:t>
            </a:r>
            <a:r>
              <a:rPr kumimoji="1" lang="ja-JP" altLang="en-US" dirty="0"/>
              <a:t>セグメント別出現率</a:t>
            </a:r>
          </a:p>
        </p:txBody>
      </p:sp>
      <p:sp>
        <p:nvSpPr>
          <p:cNvPr id="4" name="フッター プレースホルダー 3">
            <a:extLst>
              <a:ext uri="{FF2B5EF4-FFF2-40B4-BE49-F238E27FC236}">
                <a16:creationId xmlns:a16="http://schemas.microsoft.com/office/drawing/2014/main" id="{E6D1240E-7425-47A3-4B46-045D115FF6F3}"/>
              </a:ext>
            </a:extLst>
          </p:cNvPr>
          <p:cNvSpPr>
            <a:spLocks noGrp="1"/>
          </p:cNvSpPr>
          <p:nvPr>
            <p:ph type="ftr" sz="quarter" idx="3"/>
          </p:nvPr>
        </p:nvSpPr>
        <p:spPr/>
        <p:txBody>
          <a:bodyPr/>
          <a:lstStyle/>
          <a:p>
            <a:r>
              <a:rPr lang="en" altLang="ja-JP"/>
              <a:t>(C) Recruit Co., Ltd. All rights reserved. </a:t>
            </a:r>
            <a:endParaRPr lang="ja-JP" altLang="en-US"/>
          </a:p>
        </p:txBody>
      </p:sp>
      <p:sp>
        <p:nvSpPr>
          <p:cNvPr id="5" name="スライド番号プレースホルダー 4">
            <a:extLst>
              <a:ext uri="{FF2B5EF4-FFF2-40B4-BE49-F238E27FC236}">
                <a16:creationId xmlns:a16="http://schemas.microsoft.com/office/drawing/2014/main" id="{5532F40E-2E7B-BB62-2CF1-F490457F7699}"/>
              </a:ext>
            </a:extLst>
          </p:cNvPr>
          <p:cNvSpPr>
            <a:spLocks noGrp="1"/>
          </p:cNvSpPr>
          <p:nvPr>
            <p:ph type="sldNum" sz="quarter" idx="4"/>
          </p:nvPr>
        </p:nvSpPr>
        <p:spPr/>
        <p:txBody>
          <a:bodyPr/>
          <a:lstStyle/>
          <a:p>
            <a:fld id="{EDD55F78-D87A-074E-B5DA-6C9B598DD91F}" type="slidenum">
              <a:rPr lang="ja-JP" altLang="en-US" smtClean="0"/>
              <a:pPr/>
              <a:t>23</a:t>
            </a:fld>
            <a:endParaRPr lang="ja-JP" altLang="en-US"/>
          </a:p>
        </p:txBody>
      </p:sp>
      <p:graphicFrame>
        <p:nvGraphicFramePr>
          <p:cNvPr id="6" name="表 5">
            <a:extLst>
              <a:ext uri="{FF2B5EF4-FFF2-40B4-BE49-F238E27FC236}">
                <a16:creationId xmlns:a16="http://schemas.microsoft.com/office/drawing/2014/main" id="{4DBE9521-A255-0DE7-B7A5-8A10311F8AA2}"/>
              </a:ext>
            </a:extLst>
          </p:cNvPr>
          <p:cNvGraphicFramePr>
            <a:graphicFrameLocks noGrp="1"/>
          </p:cNvGraphicFramePr>
          <p:nvPr>
            <p:extLst>
              <p:ext uri="{D42A27DB-BD31-4B8C-83A1-F6EECF244321}">
                <p14:modId xmlns:p14="http://schemas.microsoft.com/office/powerpoint/2010/main" val="580483092"/>
              </p:ext>
            </p:extLst>
          </p:nvPr>
        </p:nvGraphicFramePr>
        <p:xfrm>
          <a:off x="467033" y="901979"/>
          <a:ext cx="5321705" cy="2551530"/>
        </p:xfrm>
        <a:graphic>
          <a:graphicData uri="http://schemas.openxmlformats.org/drawingml/2006/table">
            <a:tbl>
              <a:tblPr/>
              <a:tblGrid>
                <a:gridCol w="932366">
                  <a:extLst>
                    <a:ext uri="{9D8B030D-6E8A-4147-A177-3AD203B41FA5}">
                      <a16:colId xmlns:a16="http://schemas.microsoft.com/office/drawing/2014/main" val="1828012894"/>
                    </a:ext>
                  </a:extLst>
                </a:gridCol>
                <a:gridCol w="470786">
                  <a:extLst>
                    <a:ext uri="{9D8B030D-6E8A-4147-A177-3AD203B41FA5}">
                      <a16:colId xmlns:a16="http://schemas.microsoft.com/office/drawing/2014/main" val="3329489735"/>
                    </a:ext>
                  </a:extLst>
                </a:gridCol>
                <a:gridCol w="1403152">
                  <a:extLst>
                    <a:ext uri="{9D8B030D-6E8A-4147-A177-3AD203B41FA5}">
                      <a16:colId xmlns:a16="http://schemas.microsoft.com/office/drawing/2014/main" val="1800196654"/>
                    </a:ext>
                  </a:extLst>
                </a:gridCol>
                <a:gridCol w="359343">
                  <a:extLst>
                    <a:ext uri="{9D8B030D-6E8A-4147-A177-3AD203B41FA5}">
                      <a16:colId xmlns:a16="http://schemas.microsoft.com/office/drawing/2014/main" val="913548599"/>
                    </a:ext>
                  </a:extLst>
                </a:gridCol>
                <a:gridCol w="359343">
                  <a:extLst>
                    <a:ext uri="{9D8B030D-6E8A-4147-A177-3AD203B41FA5}">
                      <a16:colId xmlns:a16="http://schemas.microsoft.com/office/drawing/2014/main" val="3795951788"/>
                    </a:ext>
                  </a:extLst>
                </a:gridCol>
                <a:gridCol w="359343">
                  <a:extLst>
                    <a:ext uri="{9D8B030D-6E8A-4147-A177-3AD203B41FA5}">
                      <a16:colId xmlns:a16="http://schemas.microsoft.com/office/drawing/2014/main" val="4249732776"/>
                    </a:ext>
                  </a:extLst>
                </a:gridCol>
                <a:gridCol w="359343">
                  <a:extLst>
                    <a:ext uri="{9D8B030D-6E8A-4147-A177-3AD203B41FA5}">
                      <a16:colId xmlns:a16="http://schemas.microsoft.com/office/drawing/2014/main" val="1970148009"/>
                    </a:ext>
                  </a:extLst>
                </a:gridCol>
                <a:gridCol w="359343">
                  <a:extLst>
                    <a:ext uri="{9D8B030D-6E8A-4147-A177-3AD203B41FA5}">
                      <a16:colId xmlns:a16="http://schemas.microsoft.com/office/drawing/2014/main" val="3387697228"/>
                    </a:ext>
                  </a:extLst>
                </a:gridCol>
                <a:gridCol w="359343">
                  <a:extLst>
                    <a:ext uri="{9D8B030D-6E8A-4147-A177-3AD203B41FA5}">
                      <a16:colId xmlns:a16="http://schemas.microsoft.com/office/drawing/2014/main" val="1012590871"/>
                    </a:ext>
                  </a:extLst>
                </a:gridCol>
                <a:gridCol w="359343">
                  <a:extLst>
                    <a:ext uri="{9D8B030D-6E8A-4147-A177-3AD203B41FA5}">
                      <a16:colId xmlns:a16="http://schemas.microsoft.com/office/drawing/2014/main" val="2899713519"/>
                    </a:ext>
                  </a:extLst>
                </a:gridCol>
              </a:tblGrid>
              <a:tr h="359910">
                <a:tc gridSpan="2">
                  <a:txBody>
                    <a:bodyPr/>
                    <a:lstStyle/>
                    <a:p>
                      <a:pPr algn="l" fontAlgn="ctr"/>
                      <a:endParaRPr lang="ja-JP" altLang="en-US" sz="700" b="0" i="0" u="none" strike="noStrike" dirty="0">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hMerge="1">
                  <a:txBody>
                    <a:bodyPr/>
                    <a:lstStyle/>
                    <a:p>
                      <a:pPr algn="l" fontAlgn="ctr"/>
                      <a:endParaRPr lang="ja-JP" altLang="en-US" sz="7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7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w="6350" cap="flat" cmpd="sng" algn="ctr">
                      <a:solidFill>
                        <a:srgbClr val="A9A9A9"/>
                      </a:solidFill>
                      <a:prstDash val="solid"/>
                      <a:round/>
                      <a:headEnd type="none" w="med" len="med"/>
                      <a:tailEnd type="none" w="med" len="med"/>
                    </a:lnR>
                    <a:lnT>
                      <a:noFill/>
                    </a:lnT>
                    <a:lnB>
                      <a:noFill/>
                    </a:lnB>
                  </a:tcPr>
                </a:tc>
                <a:tc>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全体</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fontAlgn="t"/>
                      <a:r>
                        <a:rPr lang="en-US" altLang="ja-JP" sz="700" b="0" i="0" u="none" strike="noStrike">
                          <a:effectLst/>
                          <a:latin typeface="Meiryo UI" panose="020B0604030504040204" pitchFamily="50" charset="-128"/>
                          <a:ea typeface="Meiryo UI" panose="020B0604030504040204" pitchFamily="50" charset="-128"/>
                        </a:rPr>
                        <a:t>300</a:t>
                      </a:r>
                      <a:r>
                        <a:rPr lang="ja-JP" altLang="en-US" sz="700" b="0" i="0" u="none" strike="noStrike">
                          <a:effectLst/>
                          <a:latin typeface="Meiryo UI" panose="020B0604030504040204" pitchFamily="50" charset="-128"/>
                          <a:ea typeface="Meiryo UI" panose="020B0604030504040204" pitchFamily="50" charset="-128"/>
                        </a:rPr>
                        <a:t>万円未満</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dot"/>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t"/>
                      <a:r>
                        <a:rPr lang="en-US" altLang="ja-JP" sz="700" b="0" i="0" u="none" strike="noStrike">
                          <a:effectLst/>
                          <a:latin typeface="Meiryo UI" panose="020B0604030504040204" pitchFamily="50" charset="-128"/>
                          <a:ea typeface="Meiryo UI" panose="020B0604030504040204" pitchFamily="50" charset="-128"/>
                        </a:rPr>
                        <a:t>300-399</a:t>
                      </a:r>
                      <a:r>
                        <a:rPr lang="ja-JP" altLang="en-US" sz="700" b="0" i="0" u="none" strike="noStrike">
                          <a:effectLst/>
                          <a:latin typeface="Meiryo UI" panose="020B0604030504040204" pitchFamily="50" charset="-128"/>
                          <a:ea typeface="Meiryo UI" panose="020B0604030504040204" pitchFamily="50" charset="-128"/>
                        </a:rPr>
                        <a:t>万円以下</a:t>
                      </a:r>
                    </a:p>
                  </a:txBody>
                  <a:tcPr marL="9525" marR="9525" marT="9525" marB="0">
                    <a:lnL w="6350" cap="flat" cmpd="sng" algn="ctr">
                      <a:solidFill>
                        <a:srgbClr val="A9A9A9"/>
                      </a:solidFill>
                      <a:prstDash val="dot"/>
                      <a:round/>
                      <a:headEnd type="none" w="med" len="med"/>
                      <a:tailEnd type="none" w="med" len="med"/>
                    </a:lnL>
                    <a:lnR w="6350" cap="flat" cmpd="sng" algn="ctr">
                      <a:solidFill>
                        <a:srgbClr val="A9A9A9"/>
                      </a:solidFill>
                      <a:prstDash val="dot"/>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t"/>
                      <a:r>
                        <a:rPr lang="en-US" altLang="ja-JP" sz="700" b="0" i="0" u="none" strike="noStrike">
                          <a:effectLst/>
                          <a:latin typeface="Meiryo UI" panose="020B0604030504040204" pitchFamily="50" charset="-128"/>
                          <a:ea typeface="Meiryo UI" panose="020B0604030504040204" pitchFamily="50" charset="-128"/>
                        </a:rPr>
                        <a:t>400-599</a:t>
                      </a:r>
                      <a:r>
                        <a:rPr lang="ja-JP" altLang="en-US" sz="700" b="0" i="0" u="none" strike="noStrike">
                          <a:effectLst/>
                          <a:latin typeface="Meiryo UI" panose="020B0604030504040204" pitchFamily="50" charset="-128"/>
                          <a:ea typeface="Meiryo UI" panose="020B0604030504040204" pitchFamily="50" charset="-128"/>
                        </a:rPr>
                        <a:t>万円以下</a:t>
                      </a:r>
                    </a:p>
                  </a:txBody>
                  <a:tcPr marL="9525" marR="9525" marT="9525" marB="0">
                    <a:lnL w="6350" cap="flat" cmpd="sng" algn="ctr">
                      <a:solidFill>
                        <a:srgbClr val="A9A9A9"/>
                      </a:solidFill>
                      <a:prstDash val="dot"/>
                      <a:round/>
                      <a:headEnd type="none" w="med" len="med"/>
                      <a:tailEnd type="none" w="med" len="med"/>
                    </a:lnL>
                    <a:lnR w="6350" cap="flat" cmpd="sng" algn="ctr">
                      <a:solidFill>
                        <a:srgbClr val="A9A9A9"/>
                      </a:solidFill>
                      <a:prstDash val="dot"/>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t"/>
                      <a:r>
                        <a:rPr lang="en-US" altLang="ja-JP" sz="700" b="0" i="0" u="none" strike="noStrike" dirty="0">
                          <a:effectLst/>
                          <a:latin typeface="Meiryo UI" panose="020B0604030504040204" pitchFamily="50" charset="-128"/>
                          <a:ea typeface="Meiryo UI" panose="020B0604030504040204" pitchFamily="50" charset="-128"/>
                        </a:rPr>
                        <a:t>600-799</a:t>
                      </a:r>
                      <a:r>
                        <a:rPr lang="ja-JP" altLang="en-US" sz="700" b="0" i="0" u="none" strike="noStrike" dirty="0">
                          <a:effectLst/>
                          <a:latin typeface="Meiryo UI" panose="020B0604030504040204" pitchFamily="50" charset="-128"/>
                          <a:ea typeface="Meiryo UI" panose="020B0604030504040204" pitchFamily="50" charset="-128"/>
                        </a:rPr>
                        <a:t>万円以下</a:t>
                      </a:r>
                    </a:p>
                  </a:txBody>
                  <a:tcPr marL="9525" marR="9525" marT="9525" marB="0">
                    <a:lnL w="6350" cap="flat" cmpd="sng" algn="ctr">
                      <a:solidFill>
                        <a:srgbClr val="A9A9A9"/>
                      </a:solidFill>
                      <a:prstDash val="dot"/>
                      <a:round/>
                      <a:headEnd type="none" w="med" len="med"/>
                      <a:tailEnd type="none" w="med" len="med"/>
                    </a:lnL>
                    <a:lnR w="6350" cap="flat" cmpd="sng" algn="ctr">
                      <a:solidFill>
                        <a:srgbClr val="A9A9A9"/>
                      </a:solidFill>
                      <a:prstDash val="dot"/>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bg1">
                        <a:lumMod val="85000"/>
                      </a:schemeClr>
                    </a:solidFill>
                  </a:tcPr>
                </a:tc>
                <a:tc>
                  <a:txBody>
                    <a:bodyPr/>
                    <a:lstStyle/>
                    <a:p>
                      <a:pPr algn="l" fontAlgn="t"/>
                      <a:r>
                        <a:rPr lang="en-US" altLang="ja-JP" sz="700" b="0" i="0" u="none" strike="noStrike" dirty="0">
                          <a:effectLst/>
                          <a:latin typeface="Meiryo UI" panose="020B0604030504040204" pitchFamily="50" charset="-128"/>
                          <a:ea typeface="Meiryo UI" panose="020B0604030504040204" pitchFamily="50" charset="-128"/>
                        </a:rPr>
                        <a:t>800</a:t>
                      </a:r>
                      <a:r>
                        <a:rPr lang="ja-JP" altLang="en-US" sz="700" b="0" i="0" u="none" strike="noStrike" dirty="0">
                          <a:effectLst/>
                          <a:latin typeface="Meiryo UI" panose="020B0604030504040204" pitchFamily="50" charset="-128"/>
                          <a:ea typeface="Meiryo UI" panose="020B0604030504040204" pitchFamily="50" charset="-128"/>
                        </a:rPr>
                        <a:t>万円以上</a:t>
                      </a:r>
                    </a:p>
                  </a:txBody>
                  <a:tcPr marL="9525" marR="9525" marT="9525" marB="0">
                    <a:lnL w="6350" cap="flat" cmpd="sng" algn="ctr">
                      <a:solidFill>
                        <a:srgbClr val="A9A9A9"/>
                      </a:solidFill>
                      <a:prstDash val="dot"/>
                      <a:round/>
                      <a:headEnd type="none" w="med" len="med"/>
                      <a:tailEnd type="none" w="med" len="med"/>
                    </a:lnL>
                    <a:lnR w="6350" cap="flat" cmpd="sng" algn="ctr">
                      <a:solidFill>
                        <a:srgbClr val="A9A9A9"/>
                      </a:solidFill>
                      <a:prstDash val="dot"/>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bg1">
                        <a:lumMod val="85000"/>
                      </a:schemeClr>
                    </a:solidFill>
                  </a:tcPr>
                </a:tc>
                <a:tc>
                  <a:txBody>
                    <a:bodyPr/>
                    <a:lstStyle/>
                    <a:p>
                      <a:pPr algn="l" fontAlgn="t"/>
                      <a:r>
                        <a:rPr lang="ja-JP" altLang="en-US" sz="700" b="0" i="0" u="none" strike="noStrike" dirty="0">
                          <a:effectLst/>
                          <a:latin typeface="Meiryo UI" panose="020B0604030504040204" pitchFamily="50" charset="-128"/>
                          <a:ea typeface="Meiryo UI" panose="020B0604030504040204" pitchFamily="50" charset="-128"/>
                        </a:rPr>
                        <a:t>無回答</a:t>
                      </a:r>
                    </a:p>
                  </a:txBody>
                  <a:tcPr marL="9525" marR="9525" marT="9525" marB="0">
                    <a:lnL w="6350" cap="flat" cmpd="sng" algn="ctr">
                      <a:solidFill>
                        <a:srgbClr val="A9A9A9"/>
                      </a:solidFill>
                      <a:prstDash val="dot"/>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320905937"/>
                  </a:ext>
                </a:extLst>
              </a:tr>
              <a:tr h="146108">
                <a:tc gridSpan="3">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全体</a:t>
                      </a:r>
                    </a:p>
                  </a:txBody>
                  <a:tcPr marL="9525" marR="9525" marT="9525" marB="0">
                    <a:lnL>
                      <a:noFill/>
                    </a:lnL>
                    <a:lnR w="6350" cap="flat" cmpd="sng" algn="ctr">
                      <a:solidFill>
                        <a:srgbClr val="A9A9A9"/>
                      </a:solidFill>
                      <a:prstDash val="solid"/>
                      <a:round/>
                      <a:headEnd type="none" w="med" len="med"/>
                      <a:tailEnd type="none" w="med" len="med"/>
                    </a:lnR>
                    <a:lnT>
                      <a:noFill/>
                    </a:lnT>
                    <a:lnB w="6350" cap="flat" cmpd="sng" algn="ctr">
                      <a:solidFill>
                        <a:srgbClr val="A9A9A9"/>
                      </a:solidFill>
                      <a:prstDash val="solid"/>
                      <a:round/>
                      <a:headEnd type="none" w="med" len="med"/>
                      <a:tailEnd type="none" w="med" len="med"/>
                    </a:lnB>
                    <a:solidFill>
                      <a:srgbClr val="FFFFFF"/>
                    </a:solidFill>
                  </a:tcPr>
                </a:tc>
                <a:tc hMerge="1">
                  <a:txBody>
                    <a:bodyPr/>
                    <a:lstStyle/>
                    <a:p>
                      <a:endParaRPr kumimoji="1" lang="ja-JP" altLang="en-US"/>
                    </a:p>
                  </a:txBody>
                  <a:tcPr/>
                </a:tc>
                <a:tc hMerge="1">
                  <a:txBody>
                    <a:bodyPr/>
                    <a:lstStyle/>
                    <a:p>
                      <a:endParaRPr kumimoji="1" lang="ja-JP" altLang="en-US"/>
                    </a:p>
                  </a:txBody>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(312)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2F2F2"/>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72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dot"/>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92</a:t>
                      </a:r>
                    </a:p>
                  </a:txBody>
                  <a:tcPr marL="9525" marR="9525" marT="9525" marB="0" anchor="ctr">
                    <a:lnL w="6350" cap="flat" cmpd="sng" algn="ctr">
                      <a:solidFill>
                        <a:srgbClr val="A9A9A9"/>
                      </a:solidFill>
                      <a:prstDash val="dot"/>
                      <a:round/>
                      <a:headEnd type="none" w="med" len="med"/>
                      <a:tailEnd type="none" w="med" len="med"/>
                    </a:lnL>
                    <a:lnR w="6350" cap="flat" cmpd="sng" algn="ctr">
                      <a:solidFill>
                        <a:srgbClr val="A9A9A9"/>
                      </a:solidFill>
                      <a:prstDash val="dot"/>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108</a:t>
                      </a:r>
                    </a:p>
                  </a:txBody>
                  <a:tcPr marL="9525" marR="9525" marT="9525" marB="0" anchor="ctr">
                    <a:lnL w="6350" cap="flat" cmpd="sng" algn="ctr">
                      <a:solidFill>
                        <a:srgbClr val="A9A9A9"/>
                      </a:solidFill>
                      <a:prstDash val="dot"/>
                      <a:round/>
                      <a:headEnd type="none" w="med" len="med"/>
                      <a:tailEnd type="none" w="med" len="med"/>
                    </a:lnL>
                    <a:lnR w="6350" cap="flat" cmpd="sng" algn="ctr">
                      <a:solidFill>
                        <a:srgbClr val="A9A9A9"/>
                      </a:solidFill>
                      <a:prstDash val="dot"/>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A9A9A9"/>
                      </a:solidFill>
                      <a:prstDash val="dot"/>
                      <a:round/>
                      <a:headEnd type="none" w="med" len="med"/>
                      <a:tailEnd type="none" w="med" len="med"/>
                    </a:lnL>
                    <a:lnR w="6350" cap="flat" cmpd="sng" algn="ctr">
                      <a:solidFill>
                        <a:srgbClr val="A9A9A9"/>
                      </a:solidFill>
                      <a:prstDash val="dot"/>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chemeClr val="bg1">
                        <a:lumMod val="85000"/>
                      </a:schemeClr>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11</a:t>
                      </a:r>
                    </a:p>
                  </a:txBody>
                  <a:tcPr marL="9525" marR="9525" marT="9525" marB="0" anchor="ctr">
                    <a:lnL w="6350" cap="flat" cmpd="sng" algn="ctr">
                      <a:solidFill>
                        <a:srgbClr val="A9A9A9"/>
                      </a:solidFill>
                      <a:prstDash val="dot"/>
                      <a:round/>
                      <a:headEnd type="none" w="med" len="med"/>
                      <a:tailEnd type="none" w="med" len="med"/>
                    </a:lnL>
                    <a:lnR w="6350" cap="flat" cmpd="sng" algn="ctr">
                      <a:solidFill>
                        <a:srgbClr val="A9A9A9"/>
                      </a:solidFill>
                      <a:prstDash val="dot"/>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chemeClr val="bg1">
                        <a:lumMod val="85000"/>
                      </a:schemeClr>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5</a:t>
                      </a:r>
                    </a:p>
                  </a:txBody>
                  <a:tcPr marL="9525" marR="9525" marT="9525" marB="0" anchor="ctr">
                    <a:lnL w="6350" cap="flat" cmpd="sng" algn="ctr">
                      <a:solidFill>
                        <a:srgbClr val="A9A9A9"/>
                      </a:solidFill>
                      <a:prstDash val="dot"/>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07963501"/>
                  </a:ext>
                </a:extLst>
              </a:tr>
              <a:tr h="146108">
                <a:tc rowSpan="14">
                  <a:txBody>
                    <a:bodyPr/>
                    <a:lstStyle/>
                    <a:p>
                      <a:pPr algn="l" fontAlgn="t"/>
                      <a:r>
                        <a:rPr lang="ja-JP" altLang="en-US" sz="700" b="0" i="0" u="none" strike="noStrike" dirty="0">
                          <a:effectLst/>
                          <a:latin typeface="Meiryo UI" panose="020B0604030504040204" pitchFamily="50" charset="-128"/>
                          <a:ea typeface="Meiryo UI" panose="020B0604030504040204" pitchFamily="50" charset="-128"/>
                        </a:rPr>
                        <a:t>未活動ステータス別</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FFFFF"/>
                    </a:solidFill>
                  </a:tcPr>
                </a:tc>
                <a:tc gridSpan="2">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面談希望あり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面談希望あり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AFDDBD"/>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45%</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A6DAB5"/>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D3ECDC"/>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9DD6AD"/>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A4D9B3"/>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65%</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80CA94"/>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D6EDDE"/>
                    </a:solidFill>
                  </a:tcPr>
                </a:tc>
                <a:extLst>
                  <a:ext uri="{0D108BD9-81ED-4DB2-BD59-A6C34878D82A}">
                    <a16:rowId xmlns:a16="http://schemas.microsoft.com/office/drawing/2014/main" val="3134463192"/>
                  </a:ext>
                </a:extLst>
              </a:tr>
              <a:tr h="146108">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∟面談実施あり</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∟面談実施あり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3F2EA"/>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5F3EB"/>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3F2E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15%</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0F1E7"/>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5F3EB"/>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8%</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DF6F2"/>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CFCFF"/>
                    </a:solidFill>
                  </a:tcPr>
                </a:tc>
                <a:extLst>
                  <a:ext uri="{0D108BD9-81ED-4DB2-BD59-A6C34878D82A}">
                    <a16:rowId xmlns:a16="http://schemas.microsoft.com/office/drawing/2014/main" val="724479159"/>
                  </a:ext>
                </a:extLst>
              </a:tr>
              <a:tr h="146108">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∟求人応募あり</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8%</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EF7F3"/>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0F8F5"/>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8%</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DF6F2"/>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9%</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CF6F1"/>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7%</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EF7F3"/>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6FAFA"/>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CFCFF"/>
                    </a:solidFill>
                  </a:tcPr>
                </a:tc>
                <a:extLst>
                  <a:ext uri="{0D108BD9-81ED-4DB2-BD59-A6C34878D82A}">
                    <a16:rowId xmlns:a16="http://schemas.microsoft.com/office/drawing/2014/main" val="2639716740"/>
                  </a:ext>
                </a:extLst>
              </a:tr>
              <a:tr h="146108">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∟求人応募なし</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∟求人応募なし</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2F8F6"/>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1F8F6"/>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2F8F7"/>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0F7F5"/>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3F9F7"/>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3F9F8"/>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CFCFF"/>
                    </a:solidFill>
                  </a:tcPr>
                </a:tc>
                <a:extLst>
                  <a:ext uri="{0D108BD9-81ED-4DB2-BD59-A6C34878D82A}">
                    <a16:rowId xmlns:a16="http://schemas.microsoft.com/office/drawing/2014/main" val="1966223549"/>
                  </a:ext>
                </a:extLst>
              </a:tr>
              <a:tr h="146108">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∟面談実施なし</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∟面談実施なし</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27%</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C9E8D3"/>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BEE3CA"/>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8%</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CF6F2"/>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35%</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B9E1C6"/>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34%</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BBE2C7"/>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57%</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90D0A1"/>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D6EDDE"/>
                    </a:solidFill>
                  </a:tcPr>
                </a:tc>
                <a:extLst>
                  <a:ext uri="{0D108BD9-81ED-4DB2-BD59-A6C34878D82A}">
                    <a16:rowId xmlns:a16="http://schemas.microsoft.com/office/drawing/2014/main" val="2946488340"/>
                  </a:ext>
                </a:extLst>
              </a:tr>
              <a:tr h="146108">
                <a:tc vMerge="1">
                  <a:txBody>
                    <a:bodyPr/>
                    <a:lstStyle/>
                    <a:p>
                      <a:endParaRPr kumimoji="1" lang="ja-JP" altLang="en-US"/>
                    </a:p>
                  </a:txBody>
                  <a:tcPr/>
                </a:tc>
                <a:tc gridSpan="2">
                  <a:txBody>
                    <a:bodyPr/>
                    <a:lstStyle/>
                    <a:p>
                      <a:r>
                        <a:rPr lang="ja-JP" altLang="en-US" sz="700" b="0" i="0" u="none" strike="noStrike" dirty="0">
                          <a:effectLst/>
                          <a:latin typeface="Meiryo UI" panose="020B0604030504040204" pitchFamily="50" charset="-128"/>
                          <a:ea typeface="Meiryo UI" panose="020B0604030504040204" pitchFamily="50" charset="-128"/>
                        </a:rPr>
                        <a:t>　　∟求人応募あり</a:t>
                      </a:r>
                      <a:endParaRPr kumimoji="1" lang="ja-JP" altLang="en-US" dirty="0"/>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hMerge="1">
                  <a:txBody>
                    <a:bodyPr/>
                    <a:lstStyle/>
                    <a:p>
                      <a:pPr algn="l" fontAlgn="t"/>
                      <a:r>
                        <a:rPr lang="ja-JP" altLang="en-US" sz="700" b="0" i="0" u="none" strike="noStrike" dirty="0">
                          <a:effectLst/>
                          <a:latin typeface="Meiryo UI" panose="020B0604030504040204" pitchFamily="50" charset="-128"/>
                          <a:ea typeface="Meiryo UI" panose="020B0604030504040204" pitchFamily="50" charset="-128"/>
                        </a:rPr>
                        <a:t>　　∟求人応募あり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1F8F6"/>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9FBFC"/>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8FBFC"/>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AF5E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7F4ED"/>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14%</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1F1E8"/>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CFCFF"/>
                    </a:solidFill>
                  </a:tcPr>
                </a:tc>
                <a:extLst>
                  <a:ext uri="{0D108BD9-81ED-4DB2-BD59-A6C34878D82A}">
                    <a16:rowId xmlns:a16="http://schemas.microsoft.com/office/drawing/2014/main" val="3028929221"/>
                  </a:ext>
                </a:extLst>
              </a:tr>
              <a:tr h="146108">
                <a:tc vMerge="1">
                  <a:txBody>
                    <a:bodyPr/>
                    <a:lstStyle/>
                    <a:p>
                      <a:endParaRPr kumimoji="1" lang="ja-JP" altLang="en-US"/>
                    </a:p>
                  </a:txBody>
                  <a:tcPr/>
                </a:tc>
                <a:tc gridSpan="2">
                  <a:txBody>
                    <a:bodyPr/>
                    <a:lstStyle/>
                    <a:p>
                      <a:r>
                        <a:rPr lang="ja-JP" altLang="en-US" sz="700" b="0" i="0" u="none" strike="noStrike" dirty="0">
                          <a:effectLst/>
                          <a:latin typeface="Meiryo UI" panose="020B0604030504040204" pitchFamily="50" charset="-128"/>
                          <a:ea typeface="Meiryo UI" panose="020B0604030504040204" pitchFamily="50" charset="-128"/>
                        </a:rPr>
                        <a:t>　　∟求人応募なし</a:t>
                      </a:r>
                      <a:endParaRPr kumimoji="1" lang="ja-JP" altLang="en-US" dirty="0"/>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FFFFFF"/>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∟求人応募なし</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21%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D4ECDC"/>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31%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C2E5CD"/>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F0F8F5"/>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CCE9D6"/>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23%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D1EBDA"/>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43%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ABDBB9"/>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20%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D6EDDE"/>
                    </a:solidFill>
                  </a:tcPr>
                </a:tc>
                <a:extLst>
                  <a:ext uri="{0D108BD9-81ED-4DB2-BD59-A6C34878D82A}">
                    <a16:rowId xmlns:a16="http://schemas.microsoft.com/office/drawing/2014/main" val="3422020138"/>
                  </a:ext>
                </a:extLst>
              </a:tr>
              <a:tr h="146108">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面談希望なし</a:t>
                      </a:r>
                      <a:r>
                        <a:rPr lang="en-US" altLang="ja-JP" sz="700" b="0" i="0" u="none" strike="noStrike">
                          <a:effectLst/>
                          <a:latin typeface="Meiryo UI" panose="020B0604030504040204" pitchFamily="50" charset="-128"/>
                          <a:ea typeface="Meiryo UI" panose="020B0604030504040204" pitchFamily="50" charset="-128"/>
                        </a:rPr>
                        <a:t>/</a:t>
                      </a:r>
                      <a:r>
                        <a:rPr lang="ja-JP" altLang="en-US" sz="700" b="0" i="0" u="none" strike="noStrike">
                          <a:effectLst/>
                          <a:latin typeface="Meiryo UI" panose="020B0604030504040204" pitchFamily="50" charset="-128"/>
                          <a:ea typeface="Meiryo UI" panose="020B0604030504040204" pitchFamily="50" charset="-128"/>
                        </a:rPr>
                        <a:t>どちらともいえない</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面談希望なし</a:t>
                      </a:r>
                      <a:r>
                        <a:rPr lang="en-US" altLang="ja-JP" sz="700" b="0" i="0" u="none" strike="noStrike">
                          <a:effectLst/>
                          <a:latin typeface="Meiryo UI" panose="020B0604030504040204" pitchFamily="50" charset="-128"/>
                          <a:ea typeface="Meiryo UI" panose="020B0604030504040204" pitchFamily="50" charset="-128"/>
                        </a:rPr>
                        <a:t>/</a:t>
                      </a:r>
                      <a:r>
                        <a:rPr lang="ja-JP" altLang="en-US" sz="700" b="0" i="0" u="none" strike="noStrike">
                          <a:effectLst/>
                          <a:latin typeface="Meiryo UI" panose="020B0604030504040204" pitchFamily="50" charset="-128"/>
                          <a:ea typeface="Meiryo UI" panose="020B0604030504040204" pitchFamily="50" charset="-128"/>
                        </a:rPr>
                        <a:t>どちらともいえない</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8ACE9D"/>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55%</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93D2A5"/>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78%</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67C07E"/>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9DD6AD"/>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54%</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96D3A7"/>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35%</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BAE1C6"/>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80%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63BE7B"/>
                    </a:solidFill>
                  </a:tcPr>
                </a:tc>
                <a:extLst>
                  <a:ext uri="{0D108BD9-81ED-4DB2-BD59-A6C34878D82A}">
                    <a16:rowId xmlns:a16="http://schemas.microsoft.com/office/drawing/2014/main" val="2867890521"/>
                  </a:ext>
                </a:extLst>
              </a:tr>
              <a:tr h="146108">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∟面談実施あり</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∟面談実施あり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5FAF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9FBFC"/>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3F9F7"/>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7FAFA"/>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8FBFB"/>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0F7F5"/>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D6EDDE"/>
                    </a:solidFill>
                  </a:tcPr>
                </a:tc>
                <a:extLst>
                  <a:ext uri="{0D108BD9-81ED-4DB2-BD59-A6C34878D82A}">
                    <a16:rowId xmlns:a16="http://schemas.microsoft.com/office/drawing/2014/main" val="2270902850"/>
                  </a:ext>
                </a:extLst>
              </a:tr>
              <a:tr h="146108">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∟求人応募あり</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9FBFC"/>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AFCFE"/>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9FBFC"/>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8FBFC"/>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CFC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6FAFA"/>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D6EDDE"/>
                    </a:solidFill>
                  </a:tcPr>
                </a:tc>
                <a:extLst>
                  <a:ext uri="{0D108BD9-81ED-4DB2-BD59-A6C34878D82A}">
                    <a16:rowId xmlns:a16="http://schemas.microsoft.com/office/drawing/2014/main" val="2608794272"/>
                  </a:ext>
                </a:extLst>
              </a:tr>
              <a:tr h="146108">
                <a:tc vMerge="1">
                  <a:txBody>
                    <a:bodyPr/>
                    <a:lstStyle/>
                    <a:p>
                      <a:endParaRPr kumimoji="1" lang="ja-JP" altLang="en-US"/>
                    </a:p>
                  </a:txBody>
                  <a:tcPr/>
                </a:tc>
                <a:tc gridSpan="2">
                  <a:txBody>
                    <a:bodyPr/>
                    <a:lstStyle/>
                    <a:p>
                      <a:r>
                        <a:rPr lang="ja-JP" altLang="en-US" sz="700" b="0" i="0" u="none" strike="noStrike" dirty="0">
                          <a:effectLst/>
                          <a:latin typeface="Meiryo UI" panose="020B0604030504040204" pitchFamily="50" charset="-128"/>
                          <a:ea typeface="Meiryo UI" panose="020B0604030504040204" pitchFamily="50" charset="-128"/>
                        </a:rPr>
                        <a:t>　　∟求人応募なし</a:t>
                      </a:r>
                      <a:endParaRPr kumimoji="1" lang="ja-JP" altLang="en-US" dirty="0"/>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∟求人応募なし</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9FBFD"/>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BFCFE"/>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7FAFB"/>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BFCFE"/>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8FBFB"/>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6FAFA"/>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CFCFF"/>
                    </a:solidFill>
                  </a:tcPr>
                </a:tc>
                <a:extLst>
                  <a:ext uri="{0D108BD9-81ED-4DB2-BD59-A6C34878D82A}">
                    <a16:rowId xmlns:a16="http://schemas.microsoft.com/office/drawing/2014/main" val="594541589"/>
                  </a:ext>
                </a:extLst>
              </a:tr>
              <a:tr h="146108">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∟面談実施なし</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∟面談実施なし</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91D1A3"/>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97D3A8"/>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73%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70C487"/>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47%</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A3D8B2"/>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9BD5AB"/>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28%</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C6E6D0"/>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8ACE9D"/>
                    </a:solidFill>
                  </a:tcPr>
                </a:tc>
                <a:extLst>
                  <a:ext uri="{0D108BD9-81ED-4DB2-BD59-A6C34878D82A}">
                    <a16:rowId xmlns:a16="http://schemas.microsoft.com/office/drawing/2014/main" val="587437512"/>
                  </a:ext>
                </a:extLst>
              </a:tr>
              <a:tr h="146108">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∟求人応募あり</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8%</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EF7F3"/>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9F5E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8%</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CF6F2"/>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1F8F6"/>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2F8F6"/>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CFC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D6EDDE"/>
                    </a:solidFill>
                  </a:tcPr>
                </a:tc>
                <a:extLst>
                  <a:ext uri="{0D108BD9-81ED-4DB2-BD59-A6C34878D82A}">
                    <a16:rowId xmlns:a16="http://schemas.microsoft.com/office/drawing/2014/main" val="2219201368"/>
                  </a:ext>
                </a:extLst>
              </a:tr>
              <a:tr h="146108">
                <a:tc vMerge="1">
                  <a:txBody>
                    <a:bodyPr/>
                    <a:lstStyle/>
                    <a:p>
                      <a:endParaRPr kumimoji="1" lang="ja-JP" altLang="en-US"/>
                    </a:p>
                  </a:txBody>
                  <a:tcPr/>
                </a:tc>
                <a:tc gridSpan="2">
                  <a:txBody>
                    <a:bodyPr/>
                    <a:lstStyle/>
                    <a:p>
                      <a:r>
                        <a:rPr lang="ja-JP" altLang="en-US" sz="700" b="0" i="0" u="none" strike="noStrike" dirty="0">
                          <a:effectLst/>
                          <a:latin typeface="Meiryo UI" panose="020B0604030504040204" pitchFamily="50" charset="-128"/>
                          <a:ea typeface="Meiryo UI" panose="020B0604030504040204" pitchFamily="50" charset="-128"/>
                        </a:rPr>
                        <a:t>　　∟求人応募なし</a:t>
                      </a:r>
                      <a:endParaRPr kumimoji="1" lang="ja-JP" altLang="en-US" dirty="0"/>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solid"/>
                      <a:round/>
                      <a:headEnd type="none" w="med" len="med"/>
                      <a:tailEnd type="none" w="med" len="med"/>
                    </a:lnB>
                    <a:solidFill>
                      <a:srgbClr val="FFFFFF"/>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∟求人応募なし</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48%</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A0D7B0"/>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AADBB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65%</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80CA94"/>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AEDDBC"/>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45%</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A5D9B4"/>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28%</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C6E6D0"/>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40%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B0DDBD"/>
                    </a:solidFill>
                  </a:tcPr>
                </a:tc>
                <a:extLst>
                  <a:ext uri="{0D108BD9-81ED-4DB2-BD59-A6C34878D82A}">
                    <a16:rowId xmlns:a16="http://schemas.microsoft.com/office/drawing/2014/main" val="1940188274"/>
                  </a:ext>
                </a:extLst>
              </a:tr>
            </a:tbl>
          </a:graphicData>
        </a:graphic>
      </p:graphicFrame>
      <p:graphicFrame>
        <p:nvGraphicFramePr>
          <p:cNvPr id="7" name="表 6">
            <a:extLst>
              <a:ext uri="{FF2B5EF4-FFF2-40B4-BE49-F238E27FC236}">
                <a16:creationId xmlns:a16="http://schemas.microsoft.com/office/drawing/2014/main" id="{D50206D4-1F99-8F74-4055-AA64C5FDAE33}"/>
              </a:ext>
            </a:extLst>
          </p:cNvPr>
          <p:cNvGraphicFramePr>
            <a:graphicFrameLocks noGrp="1"/>
          </p:cNvGraphicFramePr>
          <p:nvPr>
            <p:extLst>
              <p:ext uri="{D42A27DB-BD31-4B8C-83A1-F6EECF244321}">
                <p14:modId xmlns:p14="http://schemas.microsoft.com/office/powerpoint/2010/main" val="1884893133"/>
              </p:ext>
            </p:extLst>
          </p:nvPr>
        </p:nvGraphicFramePr>
        <p:xfrm>
          <a:off x="5102942" y="3641582"/>
          <a:ext cx="6705056" cy="2429156"/>
        </p:xfrm>
        <a:graphic>
          <a:graphicData uri="http://schemas.openxmlformats.org/drawingml/2006/table">
            <a:tbl>
              <a:tblPr/>
              <a:tblGrid>
                <a:gridCol w="988996">
                  <a:extLst>
                    <a:ext uri="{9D8B030D-6E8A-4147-A177-3AD203B41FA5}">
                      <a16:colId xmlns:a16="http://schemas.microsoft.com/office/drawing/2014/main" val="2111963644"/>
                    </a:ext>
                  </a:extLst>
                </a:gridCol>
                <a:gridCol w="568553">
                  <a:extLst>
                    <a:ext uri="{9D8B030D-6E8A-4147-A177-3AD203B41FA5}">
                      <a16:colId xmlns:a16="http://schemas.microsoft.com/office/drawing/2014/main" val="2871035649"/>
                    </a:ext>
                  </a:extLst>
                </a:gridCol>
                <a:gridCol w="1389436">
                  <a:extLst>
                    <a:ext uri="{9D8B030D-6E8A-4147-A177-3AD203B41FA5}">
                      <a16:colId xmlns:a16="http://schemas.microsoft.com/office/drawing/2014/main" val="3258059077"/>
                    </a:ext>
                  </a:extLst>
                </a:gridCol>
                <a:gridCol w="467841">
                  <a:extLst>
                    <a:ext uri="{9D8B030D-6E8A-4147-A177-3AD203B41FA5}">
                      <a16:colId xmlns:a16="http://schemas.microsoft.com/office/drawing/2014/main" val="1904966917"/>
                    </a:ext>
                  </a:extLst>
                </a:gridCol>
                <a:gridCol w="414156">
                  <a:extLst>
                    <a:ext uri="{9D8B030D-6E8A-4147-A177-3AD203B41FA5}">
                      <a16:colId xmlns:a16="http://schemas.microsoft.com/office/drawing/2014/main" val="2167145932"/>
                    </a:ext>
                  </a:extLst>
                </a:gridCol>
                <a:gridCol w="482770">
                  <a:extLst>
                    <a:ext uri="{9D8B030D-6E8A-4147-A177-3AD203B41FA5}">
                      <a16:colId xmlns:a16="http://schemas.microsoft.com/office/drawing/2014/main" val="3355083160"/>
                    </a:ext>
                  </a:extLst>
                </a:gridCol>
                <a:gridCol w="398884">
                  <a:extLst>
                    <a:ext uri="{9D8B030D-6E8A-4147-A177-3AD203B41FA5}">
                      <a16:colId xmlns:a16="http://schemas.microsoft.com/office/drawing/2014/main" val="4245522068"/>
                    </a:ext>
                  </a:extLst>
                </a:gridCol>
                <a:gridCol w="398884">
                  <a:extLst>
                    <a:ext uri="{9D8B030D-6E8A-4147-A177-3AD203B41FA5}">
                      <a16:colId xmlns:a16="http://schemas.microsoft.com/office/drawing/2014/main" val="74509776"/>
                    </a:ext>
                  </a:extLst>
                </a:gridCol>
                <a:gridCol w="398884">
                  <a:extLst>
                    <a:ext uri="{9D8B030D-6E8A-4147-A177-3AD203B41FA5}">
                      <a16:colId xmlns:a16="http://schemas.microsoft.com/office/drawing/2014/main" val="1127714030"/>
                    </a:ext>
                  </a:extLst>
                </a:gridCol>
                <a:gridCol w="398884">
                  <a:extLst>
                    <a:ext uri="{9D8B030D-6E8A-4147-A177-3AD203B41FA5}">
                      <a16:colId xmlns:a16="http://schemas.microsoft.com/office/drawing/2014/main" val="2384738508"/>
                    </a:ext>
                  </a:extLst>
                </a:gridCol>
                <a:gridCol w="398884">
                  <a:extLst>
                    <a:ext uri="{9D8B030D-6E8A-4147-A177-3AD203B41FA5}">
                      <a16:colId xmlns:a16="http://schemas.microsoft.com/office/drawing/2014/main" val="4118685738"/>
                    </a:ext>
                  </a:extLst>
                </a:gridCol>
                <a:gridCol w="398884">
                  <a:extLst>
                    <a:ext uri="{9D8B030D-6E8A-4147-A177-3AD203B41FA5}">
                      <a16:colId xmlns:a16="http://schemas.microsoft.com/office/drawing/2014/main" val="1475153453"/>
                    </a:ext>
                  </a:extLst>
                </a:gridCol>
              </a:tblGrid>
              <a:tr h="404861">
                <a:tc gridSpan="2">
                  <a:txBody>
                    <a:bodyPr/>
                    <a:lstStyle/>
                    <a:p>
                      <a:pPr algn="l" fontAlgn="ctr"/>
                      <a:endParaRPr lang="ja-JP" altLang="en-US" sz="700" b="0" i="0" u="none" strike="noStrike" dirty="0">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hMerge="1">
                  <a:txBody>
                    <a:bodyPr/>
                    <a:lstStyle/>
                    <a:p>
                      <a:pPr algn="l" fontAlgn="ctr"/>
                      <a:endParaRPr lang="ja-JP" altLang="en-US" sz="700" b="0" i="0" u="none" strike="noStrike" dirty="0">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700" b="0" i="0" u="none" strike="noStrike" dirty="0">
                        <a:effectLst/>
                        <a:latin typeface="Meiryo UI" panose="020B0604030504040204" pitchFamily="50" charset="-128"/>
                        <a:ea typeface="Meiryo UI" panose="020B0604030504040204" pitchFamily="50" charset="-128"/>
                      </a:endParaRPr>
                    </a:p>
                  </a:txBody>
                  <a:tcPr marL="9525" marR="9525" marT="9525" marB="0" anchor="ctr">
                    <a:lnL>
                      <a:noFill/>
                    </a:lnL>
                    <a:lnR w="6350" cap="flat" cmpd="sng" algn="ctr">
                      <a:solidFill>
                        <a:srgbClr val="A9A9A9"/>
                      </a:solidFill>
                      <a:prstDash val="solid"/>
                      <a:round/>
                      <a:headEnd type="none" w="med" len="med"/>
                      <a:tailEnd type="none" w="med" len="med"/>
                    </a:lnR>
                    <a:lnT>
                      <a:noFill/>
                    </a:lnT>
                    <a:lnB>
                      <a:noFill/>
                    </a:lnB>
                  </a:tcPr>
                </a:tc>
                <a:tc>
                  <a:txBody>
                    <a:bodyPr/>
                    <a:lstStyle/>
                    <a:p>
                      <a:pPr algn="l" fontAlgn="t"/>
                      <a:r>
                        <a:rPr lang="ja-JP" altLang="en-US" sz="700" b="0" i="0" u="none" strike="noStrike" dirty="0">
                          <a:effectLst/>
                          <a:latin typeface="Meiryo UI" panose="020B0604030504040204" pitchFamily="50" charset="-128"/>
                          <a:ea typeface="Meiryo UI" panose="020B0604030504040204" pitchFamily="50" charset="-128"/>
                        </a:rPr>
                        <a:t>全体</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fontAlgn="t"/>
                      <a:r>
                        <a:rPr lang="ja-JP" altLang="en-US" sz="700" b="0" i="0" u="none" strike="noStrike" dirty="0">
                          <a:effectLst/>
                          <a:latin typeface="Meiryo UI" panose="020B0604030504040204" pitchFamily="50" charset="-128"/>
                          <a:ea typeface="Meiryo UI" panose="020B0604030504040204" pitchFamily="50" charset="-128"/>
                        </a:rPr>
                        <a:t>企画・管理系職種</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dot"/>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営業職種</a:t>
                      </a:r>
                    </a:p>
                  </a:txBody>
                  <a:tcPr marL="9525" marR="9525" marT="9525" marB="0">
                    <a:lnL w="6350" cap="flat" cmpd="sng" algn="ctr">
                      <a:solidFill>
                        <a:srgbClr val="A9A9A9"/>
                      </a:solidFill>
                      <a:prstDash val="dot"/>
                      <a:round/>
                      <a:headEnd type="none" w="med" len="med"/>
                      <a:tailEnd type="none" w="med" len="med"/>
                    </a:lnL>
                    <a:lnR w="6350" cap="flat" cmpd="sng" algn="ctr">
                      <a:solidFill>
                        <a:srgbClr val="A9A9A9"/>
                      </a:solidFill>
                      <a:prstDash val="dot"/>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事務職種</a:t>
                      </a:r>
                    </a:p>
                  </a:txBody>
                  <a:tcPr marL="9525" marR="9525" marT="9525" marB="0">
                    <a:lnL w="6350" cap="flat" cmpd="sng" algn="ctr">
                      <a:solidFill>
                        <a:srgbClr val="A9A9A9"/>
                      </a:solidFill>
                      <a:prstDash val="dot"/>
                      <a:round/>
                      <a:headEnd type="none" w="med" len="med"/>
                      <a:tailEnd type="none" w="med" len="med"/>
                    </a:lnL>
                    <a:lnR w="6350" cap="flat" cmpd="sng" algn="ctr">
                      <a:solidFill>
                        <a:srgbClr val="A9A9A9"/>
                      </a:solidFill>
                      <a:prstDash val="dot"/>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t"/>
                      <a:r>
                        <a:rPr lang="zh-TW" altLang="en-US" sz="700" b="0" i="0" u="none" strike="noStrike">
                          <a:effectLst/>
                          <a:latin typeface="Meiryo UI" panose="020B0604030504040204" pitchFamily="50" charset="-128"/>
                          <a:ea typeface="Meiryo UI" panose="020B0604030504040204" pitchFamily="50" charset="-128"/>
                        </a:rPr>
                        <a:t>製造業系職種</a:t>
                      </a:r>
                    </a:p>
                  </a:txBody>
                  <a:tcPr marL="9525" marR="9525" marT="9525" marB="0">
                    <a:lnL w="6350" cap="flat" cmpd="sng" algn="ctr">
                      <a:solidFill>
                        <a:srgbClr val="A9A9A9"/>
                      </a:solidFill>
                      <a:prstDash val="dot"/>
                      <a:round/>
                      <a:headEnd type="none" w="med" len="med"/>
                      <a:tailEnd type="none" w="med" len="med"/>
                    </a:lnL>
                    <a:lnR w="6350" cap="flat" cmpd="sng" algn="ctr">
                      <a:solidFill>
                        <a:srgbClr val="A9A9A9"/>
                      </a:solidFill>
                      <a:prstDash val="dot"/>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t"/>
                      <a:r>
                        <a:rPr lang="en-US" altLang="ja-JP" sz="700" b="0" i="0" u="none" strike="noStrike" dirty="0">
                          <a:effectLst/>
                          <a:latin typeface="Meiryo UI" panose="020B0604030504040204" pitchFamily="50" charset="-128"/>
                          <a:ea typeface="Meiryo UI" panose="020B0604030504040204" pitchFamily="50" charset="-128"/>
                        </a:rPr>
                        <a:t>IT</a:t>
                      </a:r>
                      <a:r>
                        <a:rPr lang="ja-JP" altLang="en-US" sz="700" b="0" i="0" u="none" strike="noStrike" dirty="0">
                          <a:effectLst/>
                          <a:latin typeface="Meiryo UI" panose="020B0604030504040204" pitchFamily="50" charset="-128"/>
                          <a:ea typeface="Meiryo UI" panose="020B0604030504040204" pitchFamily="50" charset="-128"/>
                        </a:rPr>
                        <a:t>・ネット系職種</a:t>
                      </a:r>
                    </a:p>
                  </a:txBody>
                  <a:tcPr marL="9525" marR="9525" marT="9525" marB="0">
                    <a:lnL w="6350" cap="flat" cmpd="sng" algn="ctr">
                      <a:solidFill>
                        <a:srgbClr val="A9A9A9"/>
                      </a:solidFill>
                      <a:prstDash val="dot"/>
                      <a:round/>
                      <a:headEnd type="none" w="med" len="med"/>
                      <a:tailEnd type="none" w="med" len="med"/>
                    </a:lnL>
                    <a:lnR w="6350" cap="flat" cmpd="sng" algn="ctr">
                      <a:solidFill>
                        <a:srgbClr val="A9A9A9"/>
                      </a:solidFill>
                      <a:prstDash val="dot"/>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bg1">
                        <a:lumMod val="85000"/>
                      </a:schemeClr>
                    </a:solidFill>
                  </a:tcPr>
                </a:tc>
                <a:tc>
                  <a:txBody>
                    <a:bodyPr/>
                    <a:lstStyle/>
                    <a:p>
                      <a:pPr algn="l" fontAlgn="t"/>
                      <a:r>
                        <a:rPr lang="ja-JP" altLang="en-US" sz="700" b="0" i="0" u="none" strike="noStrike" dirty="0">
                          <a:effectLst/>
                          <a:latin typeface="Meiryo UI" panose="020B0604030504040204" pitchFamily="50" charset="-128"/>
                          <a:ea typeface="Meiryo UI" panose="020B0604030504040204" pitchFamily="50" charset="-128"/>
                        </a:rPr>
                        <a:t>コンサルタント系職種</a:t>
                      </a:r>
                    </a:p>
                  </a:txBody>
                  <a:tcPr marL="9525" marR="9525" marT="9525" marB="0">
                    <a:lnL w="6350" cap="flat" cmpd="sng" algn="ctr">
                      <a:solidFill>
                        <a:srgbClr val="A9A9A9"/>
                      </a:solidFill>
                      <a:prstDash val="dot"/>
                      <a:round/>
                      <a:headEnd type="none" w="med" len="med"/>
                      <a:tailEnd type="none" w="med" len="med"/>
                    </a:lnL>
                    <a:lnR w="6350" cap="flat" cmpd="sng" algn="ctr">
                      <a:solidFill>
                        <a:srgbClr val="A9A9A9"/>
                      </a:solidFill>
                      <a:prstDash val="dot"/>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bg1">
                        <a:lumMod val="85000"/>
                      </a:schemeClr>
                    </a:solidFill>
                  </a:tcPr>
                </a:tc>
                <a:tc>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専門系職種</a:t>
                      </a:r>
                    </a:p>
                  </a:txBody>
                  <a:tcPr marL="9525" marR="9525" marT="9525" marB="0">
                    <a:lnL w="6350" cap="flat" cmpd="sng" algn="ctr">
                      <a:solidFill>
                        <a:srgbClr val="A9A9A9"/>
                      </a:solidFill>
                      <a:prstDash val="dot"/>
                      <a:round/>
                      <a:headEnd type="none" w="med" len="med"/>
                      <a:tailEnd type="none" w="med" len="med"/>
                    </a:lnL>
                    <a:lnR w="6350" cap="flat" cmpd="sng" algn="ctr">
                      <a:solidFill>
                        <a:srgbClr val="A9A9A9"/>
                      </a:solidFill>
                      <a:prstDash val="dot"/>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無回答</a:t>
                      </a:r>
                    </a:p>
                  </a:txBody>
                  <a:tcPr marL="9525" marR="9525" marT="9525" marB="0">
                    <a:lnL w="6350" cap="flat" cmpd="sng" algn="ctr">
                      <a:solidFill>
                        <a:srgbClr val="A9A9A9"/>
                      </a:solidFill>
                      <a:prstDash val="dot"/>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76556427"/>
                  </a:ext>
                </a:extLst>
              </a:tr>
              <a:tr h="134953">
                <a:tc gridSpan="3">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全体</a:t>
                      </a:r>
                    </a:p>
                  </a:txBody>
                  <a:tcPr marL="9525" marR="9525" marT="9525" marB="0">
                    <a:lnL>
                      <a:noFill/>
                    </a:lnL>
                    <a:lnR w="6350" cap="flat" cmpd="sng" algn="ctr">
                      <a:solidFill>
                        <a:srgbClr val="A9A9A9"/>
                      </a:solidFill>
                      <a:prstDash val="solid"/>
                      <a:round/>
                      <a:headEnd type="none" w="med" len="med"/>
                      <a:tailEnd type="none" w="med" len="med"/>
                    </a:lnR>
                    <a:lnT>
                      <a:noFill/>
                    </a:lnT>
                    <a:lnB w="6350" cap="flat" cmpd="sng" algn="ctr">
                      <a:solidFill>
                        <a:srgbClr val="A9A9A9"/>
                      </a:solidFill>
                      <a:prstDash val="solid"/>
                      <a:round/>
                      <a:headEnd type="none" w="med" len="med"/>
                      <a:tailEnd type="none" w="med" len="med"/>
                    </a:lnB>
                    <a:solidFill>
                      <a:srgbClr val="FFFFFF"/>
                    </a:solidFill>
                  </a:tcPr>
                </a:tc>
                <a:tc hMerge="1">
                  <a:txBody>
                    <a:bodyPr/>
                    <a:lstStyle/>
                    <a:p>
                      <a:endParaRPr kumimoji="1" lang="ja-JP" altLang="en-US"/>
                    </a:p>
                  </a:txBody>
                  <a:tcPr/>
                </a:tc>
                <a:tc hMerge="1">
                  <a:txBody>
                    <a:bodyPr/>
                    <a:lstStyle/>
                    <a:p>
                      <a:endParaRPr kumimoji="1" lang="ja-JP" altLang="en-US"/>
                    </a:p>
                  </a:txBody>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(312)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2F2F2"/>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68</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dot"/>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FFFFF"/>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43</a:t>
                      </a:r>
                    </a:p>
                  </a:txBody>
                  <a:tcPr marL="9525" marR="9525" marT="9525" marB="0" anchor="ctr">
                    <a:lnL w="6350" cap="flat" cmpd="sng" algn="ctr">
                      <a:solidFill>
                        <a:srgbClr val="A9A9A9"/>
                      </a:solidFill>
                      <a:prstDash val="dot"/>
                      <a:round/>
                      <a:headEnd type="none" w="med" len="med"/>
                      <a:tailEnd type="none" w="med" len="med"/>
                    </a:lnL>
                    <a:lnR w="6350" cap="flat" cmpd="sng" algn="ctr">
                      <a:solidFill>
                        <a:srgbClr val="A9A9A9"/>
                      </a:solidFill>
                      <a:prstDash val="dot"/>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53</a:t>
                      </a:r>
                    </a:p>
                  </a:txBody>
                  <a:tcPr marL="9525" marR="9525" marT="9525" marB="0" anchor="ctr">
                    <a:lnL w="6350" cap="flat" cmpd="sng" algn="ctr">
                      <a:solidFill>
                        <a:srgbClr val="A9A9A9"/>
                      </a:solidFill>
                      <a:prstDash val="dot"/>
                      <a:round/>
                      <a:headEnd type="none" w="med" len="med"/>
                      <a:tailEnd type="none" w="med" len="med"/>
                    </a:lnL>
                    <a:lnR w="6350" cap="flat" cmpd="sng" algn="ctr">
                      <a:solidFill>
                        <a:srgbClr val="A9A9A9"/>
                      </a:solidFill>
                      <a:prstDash val="dot"/>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32</a:t>
                      </a:r>
                    </a:p>
                  </a:txBody>
                  <a:tcPr marL="9525" marR="9525" marT="9525" marB="0" anchor="ctr">
                    <a:lnL w="6350" cap="flat" cmpd="sng" algn="ctr">
                      <a:solidFill>
                        <a:srgbClr val="A9A9A9"/>
                      </a:solidFill>
                      <a:prstDash val="dot"/>
                      <a:round/>
                      <a:headEnd type="none" w="med" len="med"/>
                      <a:tailEnd type="none" w="med" len="med"/>
                    </a:lnL>
                    <a:lnR w="6350" cap="flat" cmpd="sng" algn="ctr">
                      <a:solidFill>
                        <a:srgbClr val="A9A9A9"/>
                      </a:solidFill>
                      <a:prstDash val="dot"/>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15</a:t>
                      </a:r>
                    </a:p>
                  </a:txBody>
                  <a:tcPr marL="9525" marR="9525" marT="9525" marB="0" anchor="ctr">
                    <a:lnL w="6350" cap="flat" cmpd="sng" algn="ctr">
                      <a:solidFill>
                        <a:srgbClr val="A9A9A9"/>
                      </a:solidFill>
                      <a:prstDash val="dot"/>
                      <a:round/>
                      <a:headEnd type="none" w="med" len="med"/>
                      <a:tailEnd type="none" w="med" len="med"/>
                    </a:lnL>
                    <a:lnR w="6350" cap="flat" cmpd="sng" algn="ctr">
                      <a:solidFill>
                        <a:srgbClr val="A9A9A9"/>
                      </a:solidFill>
                      <a:prstDash val="dot"/>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chemeClr val="bg1">
                        <a:lumMod val="85000"/>
                      </a:schemeClr>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1</a:t>
                      </a:r>
                    </a:p>
                  </a:txBody>
                  <a:tcPr marL="9525" marR="9525" marT="9525" marB="0" anchor="ctr">
                    <a:lnL w="6350" cap="flat" cmpd="sng" algn="ctr">
                      <a:solidFill>
                        <a:srgbClr val="A9A9A9"/>
                      </a:solidFill>
                      <a:prstDash val="dot"/>
                      <a:round/>
                      <a:headEnd type="none" w="med" len="med"/>
                      <a:tailEnd type="none" w="med" len="med"/>
                    </a:lnL>
                    <a:lnR w="6350" cap="flat" cmpd="sng" algn="ctr">
                      <a:solidFill>
                        <a:srgbClr val="A9A9A9"/>
                      </a:solidFill>
                      <a:prstDash val="dot"/>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chemeClr val="bg1">
                        <a:lumMod val="85000"/>
                      </a:schemeClr>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53</a:t>
                      </a:r>
                    </a:p>
                  </a:txBody>
                  <a:tcPr marL="9525" marR="9525" marT="9525" marB="0" anchor="ctr">
                    <a:lnL w="6350" cap="flat" cmpd="sng" algn="ctr">
                      <a:solidFill>
                        <a:srgbClr val="A9A9A9"/>
                      </a:solidFill>
                      <a:prstDash val="dot"/>
                      <a:round/>
                      <a:headEnd type="none" w="med" len="med"/>
                      <a:tailEnd type="none" w="med" len="med"/>
                    </a:lnL>
                    <a:lnR w="6350" cap="flat" cmpd="sng" algn="ctr">
                      <a:solidFill>
                        <a:srgbClr val="A9A9A9"/>
                      </a:solidFill>
                      <a:prstDash val="dot"/>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45</a:t>
                      </a:r>
                    </a:p>
                  </a:txBody>
                  <a:tcPr marL="9525" marR="9525" marT="9525" marB="0" anchor="ctr">
                    <a:lnL w="6350" cap="flat" cmpd="sng" algn="ctr">
                      <a:solidFill>
                        <a:srgbClr val="A9A9A9"/>
                      </a:solidFill>
                      <a:prstDash val="dot"/>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FFFFF"/>
                    </a:solidFill>
                  </a:tcPr>
                </a:tc>
                <a:extLst>
                  <a:ext uri="{0D108BD9-81ED-4DB2-BD59-A6C34878D82A}">
                    <a16:rowId xmlns:a16="http://schemas.microsoft.com/office/drawing/2014/main" val="3723489660"/>
                  </a:ext>
                </a:extLst>
              </a:tr>
              <a:tr h="134953">
                <a:tc rowSpan="14">
                  <a:txBody>
                    <a:bodyPr/>
                    <a:lstStyle/>
                    <a:p>
                      <a:pPr algn="l" fontAlgn="t"/>
                      <a:r>
                        <a:rPr lang="ja-JP" altLang="en-US" sz="700" b="0" i="0" u="none" strike="noStrike" dirty="0">
                          <a:effectLst/>
                          <a:latin typeface="Meiryo UI" panose="020B0604030504040204" pitchFamily="50" charset="-128"/>
                          <a:ea typeface="Meiryo UI" panose="020B0604030504040204" pitchFamily="50" charset="-128"/>
                        </a:rPr>
                        <a:t>未活動ステータス別</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FFFFF"/>
                    </a:solidFill>
                  </a:tcPr>
                </a:tc>
                <a:tc gridSpan="2">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面談希望あり</a:t>
                      </a:r>
                      <a:endParaRPr lang="ja-JP" altLang="en-US" sz="700" b="0" i="0" u="none" strike="noStrike" dirty="0">
                        <a:effectLst/>
                        <a:latin typeface="Meiryo UI" panose="020B0604030504040204" pitchFamily="50" charset="-128"/>
                        <a:ea typeface="Meiryo UI" panose="020B0604030504040204" pitchFamily="50" charset="-128"/>
                      </a:endParaRP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面談希望あり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B3DFC0"/>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47%</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A7DAB6"/>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CCE9D6"/>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37%</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B9E1C5"/>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29%</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C8E7D3"/>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9DD6AD"/>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84%</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63BE7B"/>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48%</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A4D9B3"/>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B0DDBD"/>
                    </a:solidFill>
                  </a:tcPr>
                </a:tc>
                <a:extLst>
                  <a:ext uri="{0D108BD9-81ED-4DB2-BD59-A6C34878D82A}">
                    <a16:rowId xmlns:a16="http://schemas.microsoft.com/office/drawing/2014/main" val="3698577437"/>
                  </a:ext>
                </a:extLst>
              </a:tr>
              <a:tr h="134953">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∟面談実施あり</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∟面談実施あり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4F3EB"/>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0F1E7"/>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15%</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2F2E8"/>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15%</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1F1E8"/>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BF5F0"/>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24%</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D1EBDA"/>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84%</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63BE7B"/>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3F9F7"/>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4F3EA"/>
                    </a:solidFill>
                  </a:tcPr>
                </a:tc>
                <a:extLst>
                  <a:ext uri="{0D108BD9-81ED-4DB2-BD59-A6C34878D82A}">
                    <a16:rowId xmlns:a16="http://schemas.microsoft.com/office/drawing/2014/main" val="2158452955"/>
                  </a:ext>
                </a:extLst>
              </a:tr>
              <a:tr h="134953">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∟求人応募あり</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8%</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FF7F4"/>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9F5E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9F4EE"/>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1F8F6"/>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4F9F8"/>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6F3EC"/>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BBE2C7"/>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9FBFD"/>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8%</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EF7F3"/>
                    </a:solidFill>
                  </a:tcPr>
                </a:tc>
                <a:extLst>
                  <a:ext uri="{0D108BD9-81ED-4DB2-BD59-A6C34878D82A}">
                    <a16:rowId xmlns:a16="http://schemas.microsoft.com/office/drawing/2014/main" val="224307104"/>
                  </a:ext>
                </a:extLst>
              </a:tr>
              <a:tr h="134953">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∟求人応募なし</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∟求人応募なし</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2F8F6"/>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3F9F8"/>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5FAF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9%</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CF6F1"/>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3F9F8"/>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8F4EE"/>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48%</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A5D9B4"/>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6FAFA"/>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3F9F7"/>
                    </a:solidFill>
                  </a:tcPr>
                </a:tc>
                <a:extLst>
                  <a:ext uri="{0D108BD9-81ED-4DB2-BD59-A6C34878D82A}">
                    <a16:rowId xmlns:a16="http://schemas.microsoft.com/office/drawing/2014/main" val="3886257363"/>
                  </a:ext>
                </a:extLst>
              </a:tr>
              <a:tr h="134953">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∟面談実施なし</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∟面談実施なし</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27%</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CBE8D5"/>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C3E5CE"/>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7F4ED"/>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D5ECDD"/>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19%</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DAEEE2"/>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28%</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C9E7D3"/>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CFC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AEDDBB"/>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29%</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C8E7D2"/>
                    </a:solidFill>
                  </a:tcPr>
                </a:tc>
                <a:extLst>
                  <a:ext uri="{0D108BD9-81ED-4DB2-BD59-A6C34878D82A}">
                    <a16:rowId xmlns:a16="http://schemas.microsoft.com/office/drawing/2014/main" val="3374406649"/>
                  </a:ext>
                </a:extLst>
              </a:tr>
              <a:tr h="134953">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∟求人応募あり</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2F8F6"/>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6F3EC"/>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7FAFA"/>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CFC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6F3EC"/>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CFC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CFC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8%</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EF7F3"/>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CFCFF"/>
                    </a:solidFill>
                  </a:tcPr>
                </a:tc>
                <a:extLst>
                  <a:ext uri="{0D108BD9-81ED-4DB2-BD59-A6C34878D82A}">
                    <a16:rowId xmlns:a16="http://schemas.microsoft.com/office/drawing/2014/main" val="4126270501"/>
                  </a:ext>
                </a:extLst>
              </a:tr>
              <a:tr h="134953">
                <a:tc vMerge="1">
                  <a:txBody>
                    <a:bodyPr/>
                    <a:lstStyle/>
                    <a:p>
                      <a:endParaRPr kumimoji="1" lang="ja-JP" altLang="en-US"/>
                    </a:p>
                  </a:txBody>
                  <a:tcPr/>
                </a:tc>
                <a:tc gridSpan="2">
                  <a:txBody>
                    <a:bodyPr/>
                    <a:lstStyle/>
                    <a:p>
                      <a:r>
                        <a:rPr lang="ja-JP" altLang="en-US" sz="700" b="0" i="0" u="none" strike="noStrike" dirty="0">
                          <a:effectLst/>
                          <a:latin typeface="Meiryo UI" panose="020B0604030504040204" pitchFamily="50" charset="-128"/>
                          <a:ea typeface="Meiryo UI" panose="020B0604030504040204" pitchFamily="50" charset="-128"/>
                        </a:rPr>
                        <a:t>　　∟求人応募なし</a:t>
                      </a:r>
                      <a:endParaRPr kumimoji="1" lang="ja-JP" altLang="en-US" dirty="0"/>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FFFFFF"/>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∟求人応募なし</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D6EDDE"/>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19%</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DAEFE2"/>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8%</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EDF6F2"/>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D5ECDD"/>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F1F8F5"/>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28%</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C9E7D3"/>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FCFC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35%</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BCE2C8"/>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29%</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C8E7D2"/>
                    </a:solidFill>
                  </a:tcPr>
                </a:tc>
                <a:extLst>
                  <a:ext uri="{0D108BD9-81ED-4DB2-BD59-A6C34878D82A}">
                    <a16:rowId xmlns:a16="http://schemas.microsoft.com/office/drawing/2014/main" val="239597959"/>
                  </a:ext>
                </a:extLst>
              </a:tr>
              <a:tr h="134953">
                <a:tc vMerge="1">
                  <a:txBody>
                    <a:bodyPr/>
                    <a:lstStyle/>
                    <a:p>
                      <a:endParaRPr kumimoji="1" lang="ja-JP" altLang="en-US"/>
                    </a:p>
                  </a:txBody>
                  <a:tcPr/>
                </a:tc>
                <a:tc gridSpan="2">
                  <a:txBody>
                    <a:bodyPr/>
                    <a:lstStyle/>
                    <a:p>
                      <a:r>
                        <a:rPr lang="ja-JP" altLang="en-US" sz="700" b="0" i="0" u="none" strike="noStrike" dirty="0">
                          <a:effectLst/>
                          <a:latin typeface="Meiryo UI" panose="020B0604030504040204" pitchFamily="50" charset="-128"/>
                          <a:ea typeface="Meiryo UI" panose="020B0604030504040204" pitchFamily="50" charset="-128"/>
                        </a:rPr>
                        <a:t>面談希望なし</a:t>
                      </a:r>
                      <a:r>
                        <a:rPr lang="en-US" altLang="ja-JP" sz="700" b="0" i="0" u="none" strike="noStrike" dirty="0">
                          <a:effectLst/>
                          <a:latin typeface="Meiryo UI" panose="020B0604030504040204" pitchFamily="50" charset="-128"/>
                          <a:ea typeface="Meiryo UI" panose="020B0604030504040204" pitchFamily="50" charset="-128"/>
                        </a:rPr>
                        <a:t>/</a:t>
                      </a:r>
                      <a:r>
                        <a:rPr lang="ja-JP" altLang="en-US" sz="700" b="0" i="0" u="none" strike="noStrike" dirty="0">
                          <a:effectLst/>
                          <a:latin typeface="Meiryo UI" panose="020B0604030504040204" pitchFamily="50" charset="-128"/>
                          <a:ea typeface="Meiryo UI" panose="020B0604030504040204" pitchFamily="50" charset="-128"/>
                        </a:rPr>
                        <a:t>どちらともいえない</a:t>
                      </a:r>
                      <a:endParaRPr kumimoji="1" lang="ja-JP" altLang="en-US" dirty="0"/>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面談希望なし</a:t>
                      </a:r>
                      <a:r>
                        <a:rPr lang="en-US" altLang="ja-JP" sz="700" b="0" i="0" u="none" strike="noStrike">
                          <a:effectLst/>
                          <a:latin typeface="Meiryo UI" panose="020B0604030504040204" pitchFamily="50" charset="-128"/>
                          <a:ea typeface="Meiryo UI" panose="020B0604030504040204" pitchFamily="50" charset="-128"/>
                        </a:rPr>
                        <a:t>/</a:t>
                      </a:r>
                      <a:r>
                        <a:rPr lang="ja-JP" altLang="en-US" sz="700" b="0" i="0" u="none" strike="noStrike">
                          <a:effectLst/>
                          <a:latin typeface="Meiryo UI" panose="020B0604030504040204" pitchFamily="50" charset="-128"/>
                          <a:ea typeface="Meiryo UI" panose="020B0604030504040204" pitchFamily="50" charset="-128"/>
                        </a:rPr>
                        <a:t>どちらともいえない</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60%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8FD0A1"/>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53%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9BD5AC"/>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74%</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76C68B"/>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89CE9C"/>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71%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7AC88F"/>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48%</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A5D9B4"/>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16%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DFF0E6"/>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52%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9ED6AE"/>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58%</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93D2A4"/>
                    </a:solidFill>
                  </a:tcPr>
                </a:tc>
                <a:extLst>
                  <a:ext uri="{0D108BD9-81ED-4DB2-BD59-A6C34878D82A}">
                    <a16:rowId xmlns:a16="http://schemas.microsoft.com/office/drawing/2014/main" val="376524941"/>
                  </a:ext>
                </a:extLst>
              </a:tr>
              <a:tr h="134953">
                <a:tc vMerge="1">
                  <a:txBody>
                    <a:bodyPr/>
                    <a:lstStyle/>
                    <a:p>
                      <a:endParaRPr kumimoji="1" lang="ja-JP" altLang="en-US"/>
                    </a:p>
                  </a:txBody>
                  <a:tcPr/>
                </a:tc>
                <a:tc gridSpan="2">
                  <a:txBody>
                    <a:bodyPr/>
                    <a:lstStyle/>
                    <a:p>
                      <a:r>
                        <a:rPr lang="ja-JP" altLang="en-US" sz="700" b="0" i="0" u="none" strike="noStrike" dirty="0">
                          <a:effectLst/>
                          <a:latin typeface="Meiryo UI" panose="020B0604030504040204" pitchFamily="50" charset="-128"/>
                          <a:ea typeface="Meiryo UI" panose="020B0604030504040204" pitchFamily="50" charset="-128"/>
                        </a:rPr>
                        <a:t>　∟面談実施あり</a:t>
                      </a:r>
                      <a:endParaRPr kumimoji="1" lang="ja-JP" altLang="en-US" dirty="0"/>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∟面談実施あり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6FAFA"/>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5F9F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1F8F6"/>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8FBFB"/>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8FBFB"/>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7%</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0F7F5"/>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DFF0E6"/>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9FBFD"/>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6FAFA"/>
                    </a:solidFill>
                  </a:tcPr>
                </a:tc>
                <a:extLst>
                  <a:ext uri="{0D108BD9-81ED-4DB2-BD59-A6C34878D82A}">
                    <a16:rowId xmlns:a16="http://schemas.microsoft.com/office/drawing/2014/main" val="3008663830"/>
                  </a:ext>
                </a:extLst>
              </a:tr>
              <a:tr h="134953">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∟求人応募あり</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9FBFC"/>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6FAFA"/>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9FBFD"/>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AFCFD"/>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9FBFD"/>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7FAFB"/>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CFC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BFC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7FAFB"/>
                    </a:solidFill>
                  </a:tcPr>
                </a:tc>
                <a:extLst>
                  <a:ext uri="{0D108BD9-81ED-4DB2-BD59-A6C34878D82A}">
                    <a16:rowId xmlns:a16="http://schemas.microsoft.com/office/drawing/2014/main" val="2656434573"/>
                  </a:ext>
                </a:extLst>
              </a:tr>
              <a:tr h="134953">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∟求人応募なし</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∟求人応募なし</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AFBFD"/>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BFCFE"/>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5F9F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AFCFE"/>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BFCFE"/>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5FAF9"/>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16%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DFF0E6"/>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BFCFE"/>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BFCFE"/>
                    </a:solidFill>
                  </a:tcPr>
                </a:tc>
                <a:extLst>
                  <a:ext uri="{0D108BD9-81ED-4DB2-BD59-A6C34878D82A}">
                    <a16:rowId xmlns:a16="http://schemas.microsoft.com/office/drawing/2014/main" val="3560711218"/>
                  </a:ext>
                </a:extLst>
              </a:tr>
              <a:tr h="134953">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∟面談実施なし</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∟面談実施なし</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96D3A7"/>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49%</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A3D8B2"/>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68%</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81CA95"/>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8ED0A0"/>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69%</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7FCA93"/>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B1DEBF"/>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CFCFF"/>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50%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A1D7B0"/>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54%</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99D4AA"/>
                    </a:solidFill>
                  </a:tcPr>
                </a:tc>
                <a:extLst>
                  <a:ext uri="{0D108BD9-81ED-4DB2-BD59-A6C34878D82A}">
                    <a16:rowId xmlns:a16="http://schemas.microsoft.com/office/drawing/2014/main" val="190859628"/>
                  </a:ext>
                </a:extLst>
              </a:tr>
              <a:tr h="134953">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∟求人応募あり</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8%</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FF7F3"/>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2F8F6"/>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4F9F8"/>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9%</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CF6F1"/>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6F3EC"/>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CFC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CFCFF"/>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9%</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DF6F2"/>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10%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EBF5F0"/>
                    </a:solidFill>
                  </a:tcPr>
                </a:tc>
                <a:extLst>
                  <a:ext uri="{0D108BD9-81ED-4DB2-BD59-A6C34878D82A}">
                    <a16:rowId xmlns:a16="http://schemas.microsoft.com/office/drawing/2014/main" val="1184199924"/>
                  </a:ext>
                </a:extLst>
              </a:tr>
              <a:tr h="134953">
                <a:tc vMerge="1">
                  <a:txBody>
                    <a:bodyPr/>
                    <a:lstStyle/>
                    <a:p>
                      <a:endParaRPr kumimoji="1" lang="ja-JP" altLang="en-US"/>
                    </a:p>
                  </a:txBody>
                  <a:tcPr/>
                </a:tc>
                <a:tc gridSpan="2">
                  <a:txBody>
                    <a:bodyPr/>
                    <a:lstStyle/>
                    <a:p>
                      <a:r>
                        <a:rPr lang="ja-JP" altLang="en-US" sz="700" b="0" i="0" u="none" strike="noStrike" dirty="0">
                          <a:effectLst/>
                          <a:latin typeface="Meiryo UI" panose="020B0604030504040204" pitchFamily="50" charset="-128"/>
                          <a:ea typeface="Meiryo UI" panose="020B0604030504040204" pitchFamily="50" charset="-128"/>
                        </a:rPr>
                        <a:t>　　∟求人応募なし</a:t>
                      </a:r>
                      <a:endParaRPr kumimoji="1" lang="ja-JP" altLang="en-US" dirty="0"/>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solid"/>
                      <a:round/>
                      <a:headEnd type="none" w="med" len="med"/>
                      <a:tailEnd type="none" w="med" len="med"/>
                    </a:lnB>
                    <a:solidFill>
                      <a:srgbClr val="FFFFFF"/>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∟求人応募なし</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48%</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A4D9B3"/>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AEDDBC"/>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63%</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89CE9C"/>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9FD6AE"/>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56%</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95D3A7"/>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41%</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B1DEB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CFC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42%</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B0DEBE"/>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45%</a:t>
                      </a:r>
                    </a:p>
                  </a:txBody>
                  <a:tcPr marL="9525" marR="9525" marT="9525" marB="0" anchor="ctr">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ABDBB9"/>
                    </a:solidFill>
                  </a:tcPr>
                </a:tc>
                <a:extLst>
                  <a:ext uri="{0D108BD9-81ED-4DB2-BD59-A6C34878D82A}">
                    <a16:rowId xmlns:a16="http://schemas.microsoft.com/office/drawing/2014/main" val="490306341"/>
                  </a:ext>
                </a:extLst>
              </a:tr>
            </a:tbl>
          </a:graphicData>
        </a:graphic>
      </p:graphicFrame>
      <p:graphicFrame>
        <p:nvGraphicFramePr>
          <p:cNvPr id="8" name="表 7">
            <a:extLst>
              <a:ext uri="{FF2B5EF4-FFF2-40B4-BE49-F238E27FC236}">
                <a16:creationId xmlns:a16="http://schemas.microsoft.com/office/drawing/2014/main" id="{5CF6B64E-8566-6746-F7E7-42AF997610A0}"/>
              </a:ext>
            </a:extLst>
          </p:cNvPr>
          <p:cNvGraphicFramePr>
            <a:graphicFrameLocks noGrp="1"/>
          </p:cNvGraphicFramePr>
          <p:nvPr>
            <p:extLst>
              <p:ext uri="{D42A27DB-BD31-4B8C-83A1-F6EECF244321}">
                <p14:modId xmlns:p14="http://schemas.microsoft.com/office/powerpoint/2010/main" val="951608961"/>
              </p:ext>
            </p:extLst>
          </p:nvPr>
        </p:nvGraphicFramePr>
        <p:xfrm>
          <a:off x="467033" y="3641583"/>
          <a:ext cx="4311444" cy="2429153"/>
        </p:xfrm>
        <a:graphic>
          <a:graphicData uri="http://schemas.openxmlformats.org/drawingml/2006/table">
            <a:tbl>
              <a:tblPr/>
              <a:tblGrid>
                <a:gridCol w="1004216">
                  <a:extLst>
                    <a:ext uri="{9D8B030D-6E8A-4147-A177-3AD203B41FA5}">
                      <a16:colId xmlns:a16="http://schemas.microsoft.com/office/drawing/2014/main" val="3727427904"/>
                    </a:ext>
                  </a:extLst>
                </a:gridCol>
                <a:gridCol w="421342">
                  <a:extLst>
                    <a:ext uri="{9D8B030D-6E8A-4147-A177-3AD203B41FA5}">
                      <a16:colId xmlns:a16="http://schemas.microsoft.com/office/drawing/2014/main" val="2662498491"/>
                    </a:ext>
                  </a:extLst>
                </a:gridCol>
                <a:gridCol w="1425558">
                  <a:extLst>
                    <a:ext uri="{9D8B030D-6E8A-4147-A177-3AD203B41FA5}">
                      <a16:colId xmlns:a16="http://schemas.microsoft.com/office/drawing/2014/main" val="2130988970"/>
                    </a:ext>
                  </a:extLst>
                </a:gridCol>
                <a:gridCol w="365082">
                  <a:extLst>
                    <a:ext uri="{9D8B030D-6E8A-4147-A177-3AD203B41FA5}">
                      <a16:colId xmlns:a16="http://schemas.microsoft.com/office/drawing/2014/main" val="2131871124"/>
                    </a:ext>
                  </a:extLst>
                </a:gridCol>
                <a:gridCol w="365082">
                  <a:extLst>
                    <a:ext uri="{9D8B030D-6E8A-4147-A177-3AD203B41FA5}">
                      <a16:colId xmlns:a16="http://schemas.microsoft.com/office/drawing/2014/main" val="3302769466"/>
                    </a:ext>
                  </a:extLst>
                </a:gridCol>
                <a:gridCol w="365082">
                  <a:extLst>
                    <a:ext uri="{9D8B030D-6E8A-4147-A177-3AD203B41FA5}">
                      <a16:colId xmlns:a16="http://schemas.microsoft.com/office/drawing/2014/main" val="3451523682"/>
                    </a:ext>
                  </a:extLst>
                </a:gridCol>
                <a:gridCol w="365082">
                  <a:extLst>
                    <a:ext uri="{9D8B030D-6E8A-4147-A177-3AD203B41FA5}">
                      <a16:colId xmlns:a16="http://schemas.microsoft.com/office/drawing/2014/main" val="3161010351"/>
                    </a:ext>
                  </a:extLst>
                </a:gridCol>
              </a:tblGrid>
              <a:tr h="395992">
                <a:tc gridSpan="2">
                  <a:txBody>
                    <a:bodyPr/>
                    <a:lstStyle/>
                    <a:p>
                      <a:pPr algn="l" fontAlgn="ctr"/>
                      <a:endParaRPr lang="ja-JP" altLang="en-US" sz="7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hMerge="1">
                  <a:txBody>
                    <a:bodyPr/>
                    <a:lstStyle/>
                    <a:p>
                      <a:pPr algn="l" fontAlgn="ctr"/>
                      <a:endParaRPr lang="ja-JP" altLang="en-US" sz="7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700" b="0" i="0" u="none" strike="noStrike">
                        <a:effectLst/>
                        <a:latin typeface="Meiryo UI" panose="020B0604030504040204" pitchFamily="50" charset="-128"/>
                        <a:ea typeface="Meiryo UI" panose="020B0604030504040204" pitchFamily="50" charset="-128"/>
                      </a:endParaRPr>
                    </a:p>
                  </a:txBody>
                  <a:tcPr marL="9525" marR="9525" marT="9525" marB="0" anchor="ctr">
                    <a:lnL>
                      <a:noFill/>
                    </a:lnL>
                    <a:lnR w="6350" cap="flat" cmpd="sng" algn="ctr">
                      <a:solidFill>
                        <a:srgbClr val="BFBFBF"/>
                      </a:solidFill>
                      <a:prstDash val="solid"/>
                      <a:round/>
                      <a:headEnd type="none" w="med" len="med"/>
                      <a:tailEnd type="none" w="med" len="med"/>
                    </a:lnR>
                    <a:lnT>
                      <a:noFill/>
                    </a:lnT>
                    <a:lnB>
                      <a:noFill/>
                    </a:lnB>
                  </a:tcPr>
                </a:tc>
                <a:tc>
                  <a:txBody>
                    <a:bodyPr/>
                    <a:lstStyle/>
                    <a:p>
                      <a:pPr algn="l" fontAlgn="t"/>
                      <a:r>
                        <a:rPr lang="ja-JP" altLang="en-US" sz="700" b="0" i="0" u="none" strike="noStrike" dirty="0">
                          <a:effectLst/>
                          <a:latin typeface="Meiryo UI" panose="020B0604030504040204" pitchFamily="50" charset="-128"/>
                          <a:ea typeface="Meiryo UI" panose="020B0604030504040204" pitchFamily="50" charset="-128"/>
                        </a:rPr>
                        <a:t>全体</a:t>
                      </a:r>
                    </a:p>
                  </a:txBody>
                  <a:tcPr marL="9525" marR="9525" marT="9525"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bg1">
                        <a:lumMod val="95000"/>
                      </a:schemeClr>
                    </a:solidFill>
                  </a:tcPr>
                </a:tc>
                <a:tc>
                  <a:txBody>
                    <a:bodyPr/>
                    <a:lstStyle/>
                    <a:p>
                      <a:pPr algn="l" fontAlgn="t"/>
                      <a:r>
                        <a:rPr lang="en-US" altLang="ja-JP" sz="700" b="0" i="0" u="none" strike="noStrike">
                          <a:effectLst/>
                          <a:latin typeface="Meiryo UI" panose="020B0604030504040204" pitchFamily="50" charset="-128"/>
                          <a:ea typeface="Meiryo UI" panose="020B0604030504040204" pitchFamily="50" charset="-128"/>
                        </a:rPr>
                        <a:t>20</a:t>
                      </a:r>
                      <a:r>
                        <a:rPr lang="ja-JP" altLang="en-US" sz="700" b="0" i="0" u="none" strike="noStrike">
                          <a:effectLst/>
                          <a:latin typeface="Meiryo UI" panose="020B0604030504040204" pitchFamily="50" charset="-128"/>
                          <a:ea typeface="Meiryo UI" panose="020B0604030504040204" pitchFamily="50" charset="-128"/>
                        </a:rPr>
                        <a:t>代</a:t>
                      </a:r>
                    </a:p>
                  </a:txBody>
                  <a:tcPr marL="9525" marR="9525" marT="9525"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t"/>
                      <a:r>
                        <a:rPr lang="en-US" altLang="ja-JP" sz="700" b="0" i="0" u="none" strike="noStrike">
                          <a:effectLst/>
                          <a:latin typeface="Meiryo UI" panose="020B0604030504040204" pitchFamily="50" charset="-128"/>
                          <a:ea typeface="Meiryo UI" panose="020B0604030504040204" pitchFamily="50" charset="-128"/>
                        </a:rPr>
                        <a:t>30</a:t>
                      </a:r>
                      <a:r>
                        <a:rPr lang="ja-JP" altLang="en-US" sz="700" b="0" i="0" u="none" strike="noStrike">
                          <a:effectLst/>
                          <a:latin typeface="Meiryo UI" panose="020B0604030504040204" pitchFamily="50" charset="-128"/>
                          <a:ea typeface="Meiryo UI" panose="020B0604030504040204" pitchFamily="50" charset="-128"/>
                        </a:rPr>
                        <a:t>代</a:t>
                      </a:r>
                    </a:p>
                  </a:txBody>
                  <a:tcPr marL="9525" marR="9525" marT="9525"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t"/>
                      <a:r>
                        <a:rPr lang="en-US" altLang="ja-JP" sz="700" b="0" i="0" u="none" strike="noStrike" dirty="0">
                          <a:effectLst/>
                          <a:latin typeface="Meiryo UI" panose="020B0604030504040204" pitchFamily="50" charset="-128"/>
                          <a:ea typeface="Meiryo UI" panose="020B0604030504040204" pitchFamily="50" charset="-128"/>
                        </a:rPr>
                        <a:t>40</a:t>
                      </a:r>
                      <a:r>
                        <a:rPr lang="ja-JP" altLang="en-US" sz="700" b="0" i="0" u="none" strike="noStrike" dirty="0">
                          <a:effectLst/>
                          <a:latin typeface="Meiryo UI" panose="020B0604030504040204" pitchFamily="50" charset="-128"/>
                          <a:ea typeface="Meiryo UI" panose="020B0604030504040204" pitchFamily="50" charset="-128"/>
                        </a:rPr>
                        <a:t>代</a:t>
                      </a:r>
                    </a:p>
                  </a:txBody>
                  <a:tcPr marL="9525" marR="9525" marT="9525"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860604601"/>
                  </a:ext>
                </a:extLst>
              </a:tr>
              <a:tr h="157903">
                <a:tc gridSpan="3">
                  <a:txBody>
                    <a:bodyPr/>
                    <a:lstStyle/>
                    <a:p>
                      <a:pPr algn="l" fontAlgn="t"/>
                      <a:r>
                        <a:rPr lang="ja-JP" altLang="en-US" sz="700" b="0" i="0" u="none" strike="noStrike" dirty="0">
                          <a:effectLst/>
                          <a:latin typeface="Meiryo UI" panose="020B0604030504040204" pitchFamily="50" charset="-128"/>
                          <a:ea typeface="Meiryo UI" panose="020B0604030504040204" pitchFamily="50" charset="-128"/>
                        </a:rPr>
                        <a:t>全体</a:t>
                      </a:r>
                    </a:p>
                  </a:txBody>
                  <a:tcPr marL="9525" marR="9525" marT="9525" marB="0">
                    <a:lnL>
                      <a:noFill/>
                    </a:lnL>
                    <a:lnR w="6350" cap="flat" cmpd="sng" algn="ctr">
                      <a:solidFill>
                        <a:srgbClr val="BFBFBF"/>
                      </a:solidFill>
                      <a:prstDash val="solid"/>
                      <a:round/>
                      <a:headEnd type="none" w="med" len="med"/>
                      <a:tailEnd type="none" w="med" len="med"/>
                    </a:lnR>
                    <a:lnT>
                      <a:noFill/>
                    </a:lnT>
                    <a:lnB w="6350" cap="flat" cmpd="sng" algn="ctr">
                      <a:solidFill>
                        <a:srgbClr val="A9A9A9"/>
                      </a:solidFill>
                      <a:prstDash val="solid"/>
                      <a:round/>
                      <a:headEnd type="none" w="med" len="med"/>
                      <a:tailEnd type="none" w="med" len="med"/>
                    </a:lnB>
                    <a:solidFill>
                      <a:srgbClr val="FFFFFF"/>
                    </a:solidFill>
                  </a:tcPr>
                </a:tc>
                <a:tc hMerge="1">
                  <a:txBody>
                    <a:bodyPr/>
                    <a:lstStyle/>
                    <a:p>
                      <a:endParaRPr kumimoji="1" lang="ja-JP" altLang="en-US"/>
                    </a:p>
                  </a:txBody>
                  <a:tcPr/>
                </a:tc>
                <a:tc hMerge="1">
                  <a:txBody>
                    <a:bodyPr/>
                    <a:lstStyle/>
                    <a:p>
                      <a:endParaRPr kumimoji="1" lang="ja-JP" altLang="en-US"/>
                    </a:p>
                  </a:txBody>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(312)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chemeClr val="bg1">
                        <a:lumMod val="95000"/>
                      </a:schemeClr>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68</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43</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53</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4089372855"/>
                  </a:ext>
                </a:extLst>
              </a:tr>
              <a:tr h="133947">
                <a:tc rowSpan="14">
                  <a:txBody>
                    <a:bodyPr/>
                    <a:lstStyle/>
                    <a:p>
                      <a:pPr algn="l" fontAlgn="t"/>
                      <a:r>
                        <a:rPr lang="ja-JP" altLang="en-US" sz="700" b="0" i="0" u="none" strike="noStrike" dirty="0">
                          <a:effectLst/>
                          <a:latin typeface="Meiryo UI" panose="020B0604030504040204" pitchFamily="50" charset="-128"/>
                          <a:ea typeface="Meiryo UI" panose="020B0604030504040204" pitchFamily="50" charset="-128"/>
                        </a:rPr>
                        <a:t>未活動ステータス別</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FFFFF"/>
                    </a:solidFill>
                  </a:tcPr>
                </a:tc>
                <a:tc gridSpan="2">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面談希望あり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hMerge="1">
                  <a:txBody>
                    <a:bodyPr/>
                    <a:lstStyle/>
                    <a:p>
                      <a:pPr algn="l" fontAlgn="t"/>
                      <a:r>
                        <a:rPr lang="ja-JP" altLang="en-US" sz="700" b="0" i="0" u="none" strike="noStrike" dirty="0">
                          <a:effectLst/>
                          <a:latin typeface="Meiryo UI" panose="020B0604030504040204" pitchFamily="50" charset="-128"/>
                          <a:ea typeface="Meiryo UI" panose="020B0604030504040204" pitchFamily="50" charset="-128"/>
                        </a:rPr>
                        <a:t>面談希望あり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40%</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38%</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6DAB5"/>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34%</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EDDBC"/>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49%</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ACE9D"/>
                    </a:solidFill>
                  </a:tcPr>
                </a:tc>
                <a:extLst>
                  <a:ext uri="{0D108BD9-81ED-4DB2-BD59-A6C34878D82A}">
                    <a16:rowId xmlns:a16="http://schemas.microsoft.com/office/drawing/2014/main" val="3530264750"/>
                  </a:ext>
                </a:extLst>
              </a:tr>
              <a:tr h="133947">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∟面談実施あり</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∟面談実施あり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13%</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19%</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3ECDB"/>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14%</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E6"/>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9%</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9F5EF"/>
                    </a:solidFill>
                  </a:tcPr>
                </a:tc>
                <a:extLst>
                  <a:ext uri="{0D108BD9-81ED-4DB2-BD59-A6C34878D82A}">
                    <a16:rowId xmlns:a16="http://schemas.microsoft.com/office/drawing/2014/main" val="3777056870"/>
                  </a:ext>
                </a:extLst>
              </a:tr>
              <a:tr h="133947">
                <a:tc vMerge="1">
                  <a:txBody>
                    <a:bodyPr/>
                    <a:lstStyle/>
                    <a:p>
                      <a:endParaRPr kumimoji="1" lang="ja-JP" altLang="en-US"/>
                    </a:p>
                  </a:txBody>
                  <a:tcPr/>
                </a:tc>
                <a:tc gridSpan="2">
                  <a:txBody>
                    <a:bodyPr/>
                    <a:lstStyle/>
                    <a:p>
                      <a:r>
                        <a:rPr lang="ja-JP" altLang="en-US" sz="700" b="0" i="0" u="none" strike="noStrike" dirty="0">
                          <a:effectLst/>
                          <a:latin typeface="Meiryo UI" panose="020B0604030504040204" pitchFamily="50" charset="-128"/>
                          <a:ea typeface="Meiryo UI" panose="020B0604030504040204" pitchFamily="50" charset="-128"/>
                        </a:rPr>
                        <a:t>　　∟求人応募あり</a:t>
                      </a:r>
                      <a:endParaRPr kumimoji="1" lang="ja-JP" altLang="en-US" dirty="0"/>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8%</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2F2E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7%</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F7F4"/>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8F7"/>
                    </a:solidFill>
                  </a:tcPr>
                </a:tc>
                <a:extLst>
                  <a:ext uri="{0D108BD9-81ED-4DB2-BD59-A6C34878D82A}">
                    <a16:rowId xmlns:a16="http://schemas.microsoft.com/office/drawing/2014/main" val="1929095255"/>
                  </a:ext>
                </a:extLst>
              </a:tr>
              <a:tr h="133947">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∟求人応募なし</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∟求人応募なし</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5"/>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7%</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F7F4"/>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6FAFA"/>
                    </a:solidFill>
                  </a:tcPr>
                </a:tc>
                <a:extLst>
                  <a:ext uri="{0D108BD9-81ED-4DB2-BD59-A6C34878D82A}">
                    <a16:rowId xmlns:a16="http://schemas.microsoft.com/office/drawing/2014/main" val="3878414466"/>
                  </a:ext>
                </a:extLst>
              </a:tr>
              <a:tr h="133947">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∟面談実施なし</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∟面談実施なし</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27%</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19%</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3ECDB"/>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FEAD8"/>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40%</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1D7B0"/>
                    </a:solidFill>
                  </a:tcPr>
                </a:tc>
                <a:extLst>
                  <a:ext uri="{0D108BD9-81ED-4DB2-BD59-A6C34878D82A}">
                    <a16:rowId xmlns:a16="http://schemas.microsoft.com/office/drawing/2014/main" val="2357858287"/>
                  </a:ext>
                </a:extLst>
              </a:tr>
              <a:tr h="133947">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∟求人応募あり</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FBFC"/>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5F9F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9%</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9F5EF"/>
                    </a:solidFill>
                  </a:tcPr>
                </a:tc>
                <a:extLst>
                  <a:ext uri="{0D108BD9-81ED-4DB2-BD59-A6C34878D82A}">
                    <a16:rowId xmlns:a16="http://schemas.microsoft.com/office/drawing/2014/main" val="1277475200"/>
                  </a:ext>
                </a:extLst>
              </a:tr>
              <a:tr h="133947">
                <a:tc vMerge="1">
                  <a:txBody>
                    <a:bodyPr/>
                    <a:lstStyle/>
                    <a:p>
                      <a:endParaRPr kumimoji="1" lang="ja-JP" altLang="en-US"/>
                    </a:p>
                  </a:txBody>
                  <a:tcPr/>
                </a:tc>
                <a:tc gridSpan="2">
                  <a:txBody>
                    <a:bodyPr/>
                    <a:lstStyle/>
                    <a:p>
                      <a:r>
                        <a:rPr lang="ja-JP" altLang="en-US" sz="700" b="0" i="0" u="none" strike="noStrike" dirty="0">
                          <a:effectLst/>
                          <a:latin typeface="Meiryo UI" panose="020B0604030504040204" pitchFamily="50" charset="-128"/>
                          <a:ea typeface="Meiryo UI" panose="020B0604030504040204" pitchFamily="50" charset="-128"/>
                        </a:rPr>
                        <a:t>　　∟求人応募なし</a:t>
                      </a:r>
                      <a:endParaRPr kumimoji="1" lang="ja-JP" altLang="en-US" dirty="0"/>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FFFFFF"/>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∟求人応募なし</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21%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DAEEE2"/>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16%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D9EEE1"/>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31%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B7E0C3"/>
                    </a:solidFill>
                  </a:tcPr>
                </a:tc>
                <a:extLst>
                  <a:ext uri="{0D108BD9-81ED-4DB2-BD59-A6C34878D82A}">
                    <a16:rowId xmlns:a16="http://schemas.microsoft.com/office/drawing/2014/main" val="2799563520"/>
                  </a:ext>
                </a:extLst>
              </a:tr>
              <a:tr h="133947">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面談希望なし</a:t>
                      </a:r>
                      <a:r>
                        <a:rPr lang="en-US" altLang="ja-JP" sz="700" b="0" i="0" u="none" strike="noStrike">
                          <a:effectLst/>
                          <a:latin typeface="Meiryo UI" panose="020B0604030504040204" pitchFamily="50" charset="-128"/>
                          <a:ea typeface="Meiryo UI" panose="020B0604030504040204" pitchFamily="50" charset="-128"/>
                        </a:rPr>
                        <a:t>/</a:t>
                      </a:r>
                      <a:r>
                        <a:rPr lang="ja-JP" altLang="en-US" sz="700" b="0" i="0" u="none" strike="noStrike">
                          <a:effectLst/>
                          <a:latin typeface="Meiryo UI" panose="020B0604030504040204" pitchFamily="50" charset="-128"/>
                          <a:ea typeface="Meiryo UI" panose="020B0604030504040204" pitchFamily="50" charset="-128"/>
                        </a:rPr>
                        <a:t>どちらともいえない</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面談希望なし</a:t>
                      </a:r>
                      <a:r>
                        <a:rPr lang="en-US" altLang="ja-JP" sz="700" b="0" i="0" u="none" strike="noStrike">
                          <a:effectLst/>
                          <a:latin typeface="Meiryo UI" panose="020B0604030504040204" pitchFamily="50" charset="-128"/>
                          <a:ea typeface="Meiryo UI" panose="020B0604030504040204" pitchFamily="50" charset="-128"/>
                        </a:rPr>
                        <a:t>/</a:t>
                      </a:r>
                      <a:r>
                        <a:rPr lang="ja-JP" altLang="en-US" sz="700" b="0" i="0" u="none" strike="noStrike">
                          <a:effectLst/>
                          <a:latin typeface="Meiryo UI" panose="020B0604030504040204" pitchFamily="50" charset="-128"/>
                          <a:ea typeface="Meiryo UI" panose="020B0604030504040204" pitchFamily="50" charset="-128"/>
                        </a:rPr>
                        <a:t>どちらともいえない</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60%</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62%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6CC283"/>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63BE7B"/>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8CD9B"/>
                    </a:solidFill>
                  </a:tcPr>
                </a:tc>
                <a:extLst>
                  <a:ext uri="{0D108BD9-81ED-4DB2-BD59-A6C34878D82A}">
                    <a16:rowId xmlns:a16="http://schemas.microsoft.com/office/drawing/2014/main" val="1925895941"/>
                  </a:ext>
                </a:extLst>
              </a:tr>
              <a:tr h="133947">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∟面談実施あり</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∟面談実施あり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9F8"/>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AFB"/>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AFB"/>
                    </a:solidFill>
                  </a:tcPr>
                </a:tc>
                <a:extLst>
                  <a:ext uri="{0D108BD9-81ED-4DB2-BD59-A6C34878D82A}">
                    <a16:rowId xmlns:a16="http://schemas.microsoft.com/office/drawing/2014/main" val="2405524652"/>
                  </a:ext>
                </a:extLst>
              </a:tr>
              <a:tr h="133947">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∟求人応募あり</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FBFD"/>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FBFD"/>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FCFF"/>
                    </a:solidFill>
                  </a:tcPr>
                </a:tc>
                <a:extLst>
                  <a:ext uri="{0D108BD9-81ED-4DB2-BD59-A6C34878D82A}">
                    <a16:rowId xmlns:a16="http://schemas.microsoft.com/office/drawing/2014/main" val="2443408042"/>
                  </a:ext>
                </a:extLst>
              </a:tr>
              <a:tr h="133947">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∟求人応募なし</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∟求人応募なし</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9FBFD"/>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C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FCFE"/>
                    </a:solidFill>
                  </a:tcPr>
                </a:tc>
                <a:extLst>
                  <a:ext uri="{0D108BD9-81ED-4DB2-BD59-A6C34878D82A}">
                    <a16:rowId xmlns:a16="http://schemas.microsoft.com/office/drawing/2014/main" val="2334029737"/>
                  </a:ext>
                </a:extLst>
              </a:tr>
              <a:tr h="133947">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∟面談実施なし</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∟面談実施なし</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58%</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77C68C"/>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6CC283"/>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47%</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FD0A1"/>
                    </a:solidFill>
                  </a:tcPr>
                </a:tc>
                <a:extLst>
                  <a:ext uri="{0D108BD9-81ED-4DB2-BD59-A6C34878D82A}">
                    <a16:rowId xmlns:a16="http://schemas.microsoft.com/office/drawing/2014/main" val="1723839579"/>
                  </a:ext>
                </a:extLst>
              </a:tr>
              <a:tr h="133947">
                <a:tc vMerge="1">
                  <a:txBody>
                    <a:bodyPr/>
                    <a:lstStyle/>
                    <a:p>
                      <a:endParaRPr kumimoji="1" lang="ja-JP" altLang="en-US"/>
                    </a:p>
                  </a:txBody>
                  <a:tcPr/>
                </a:tc>
                <a:tc gridSpan="2">
                  <a:txBody>
                    <a:bodyPr/>
                    <a:lstStyle/>
                    <a:p>
                      <a:r>
                        <a:rPr lang="ja-JP" altLang="en-US" sz="700" b="0" i="0" u="none" strike="noStrike">
                          <a:effectLst/>
                          <a:latin typeface="Meiryo UI" panose="020B0604030504040204" pitchFamily="50" charset="-128"/>
                          <a:ea typeface="Meiryo UI" panose="020B0604030504040204" pitchFamily="50" charset="-128"/>
                        </a:rPr>
                        <a:t>　　∟求人応募あり</a:t>
                      </a:r>
                      <a:endParaRPr kumimoji="1" lang="ja-JP" altLang="en-US"/>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8%</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FCFD"/>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10%</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8F4EE"/>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9%</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BF5F0"/>
                    </a:solidFill>
                  </a:tcPr>
                </a:tc>
                <a:extLst>
                  <a:ext uri="{0D108BD9-81ED-4DB2-BD59-A6C34878D82A}">
                    <a16:rowId xmlns:a16="http://schemas.microsoft.com/office/drawing/2014/main" val="2405123364"/>
                  </a:ext>
                </a:extLst>
              </a:tr>
              <a:tr h="133947">
                <a:tc vMerge="1">
                  <a:txBody>
                    <a:bodyPr/>
                    <a:lstStyle/>
                    <a:p>
                      <a:endParaRPr kumimoji="1" lang="ja-JP" altLang="en-US"/>
                    </a:p>
                  </a:txBody>
                  <a:tcPr/>
                </a:tc>
                <a:tc gridSpan="2">
                  <a:txBody>
                    <a:bodyPr/>
                    <a:lstStyle/>
                    <a:p>
                      <a:r>
                        <a:rPr lang="ja-JP" altLang="en-US" sz="700" b="0" i="0" u="none" strike="noStrike" dirty="0">
                          <a:effectLst/>
                          <a:latin typeface="Meiryo UI" panose="020B0604030504040204" pitchFamily="50" charset="-128"/>
                          <a:ea typeface="Meiryo UI" panose="020B0604030504040204" pitchFamily="50" charset="-128"/>
                        </a:rPr>
                        <a:t>　　∟求人応募なし</a:t>
                      </a:r>
                      <a:endParaRPr kumimoji="1" lang="ja-JP" altLang="en-US" dirty="0"/>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solid"/>
                      <a:round/>
                      <a:headEnd type="none" w="med" len="med"/>
                      <a:tailEnd type="none" w="med" len="med"/>
                    </a:lnB>
                    <a:solidFill>
                      <a:srgbClr val="FFFFFF"/>
                    </a:solidFill>
                  </a:tcPr>
                </a:tc>
                <a:tc hMerge="1">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∟求人応募なし</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48%</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55%</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7CC891"/>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53%</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2CB96"/>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39%</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4D8B3"/>
                    </a:solidFill>
                  </a:tcPr>
                </a:tc>
                <a:extLst>
                  <a:ext uri="{0D108BD9-81ED-4DB2-BD59-A6C34878D82A}">
                    <a16:rowId xmlns:a16="http://schemas.microsoft.com/office/drawing/2014/main" val="1262898907"/>
                  </a:ext>
                </a:extLst>
              </a:tr>
            </a:tbl>
          </a:graphicData>
        </a:graphic>
      </p:graphicFrame>
      <p:graphicFrame>
        <p:nvGraphicFramePr>
          <p:cNvPr id="9" name="表 8">
            <a:extLst>
              <a:ext uri="{FF2B5EF4-FFF2-40B4-BE49-F238E27FC236}">
                <a16:creationId xmlns:a16="http://schemas.microsoft.com/office/drawing/2014/main" id="{4780AD8E-4709-65A1-9C8F-32B3CD917067}"/>
              </a:ext>
            </a:extLst>
          </p:cNvPr>
          <p:cNvGraphicFramePr>
            <a:graphicFrameLocks noGrp="1"/>
          </p:cNvGraphicFramePr>
          <p:nvPr>
            <p:extLst>
              <p:ext uri="{D42A27DB-BD31-4B8C-83A1-F6EECF244321}">
                <p14:modId xmlns:p14="http://schemas.microsoft.com/office/powerpoint/2010/main" val="2753666814"/>
              </p:ext>
            </p:extLst>
          </p:nvPr>
        </p:nvGraphicFramePr>
        <p:xfrm>
          <a:off x="5991400" y="874385"/>
          <a:ext cx="5816600" cy="2571750"/>
        </p:xfrm>
        <a:graphic>
          <a:graphicData uri="http://schemas.openxmlformats.org/drawingml/2006/table">
            <a:tbl>
              <a:tblPr/>
              <a:tblGrid>
                <a:gridCol w="1644694">
                  <a:extLst>
                    <a:ext uri="{9D8B030D-6E8A-4147-A177-3AD203B41FA5}">
                      <a16:colId xmlns:a16="http://schemas.microsoft.com/office/drawing/2014/main" val="3581848264"/>
                    </a:ext>
                  </a:extLst>
                </a:gridCol>
                <a:gridCol w="1644694">
                  <a:extLst>
                    <a:ext uri="{9D8B030D-6E8A-4147-A177-3AD203B41FA5}">
                      <a16:colId xmlns:a16="http://schemas.microsoft.com/office/drawing/2014/main" val="2203830981"/>
                    </a:ext>
                  </a:extLst>
                </a:gridCol>
                <a:gridCol w="421202">
                  <a:extLst>
                    <a:ext uri="{9D8B030D-6E8A-4147-A177-3AD203B41FA5}">
                      <a16:colId xmlns:a16="http://schemas.microsoft.com/office/drawing/2014/main" val="362502727"/>
                    </a:ext>
                  </a:extLst>
                </a:gridCol>
                <a:gridCol w="421202">
                  <a:extLst>
                    <a:ext uri="{9D8B030D-6E8A-4147-A177-3AD203B41FA5}">
                      <a16:colId xmlns:a16="http://schemas.microsoft.com/office/drawing/2014/main" val="3869018833"/>
                    </a:ext>
                  </a:extLst>
                </a:gridCol>
                <a:gridCol w="421202">
                  <a:extLst>
                    <a:ext uri="{9D8B030D-6E8A-4147-A177-3AD203B41FA5}">
                      <a16:colId xmlns:a16="http://schemas.microsoft.com/office/drawing/2014/main" val="1751569020"/>
                    </a:ext>
                  </a:extLst>
                </a:gridCol>
                <a:gridCol w="421202">
                  <a:extLst>
                    <a:ext uri="{9D8B030D-6E8A-4147-A177-3AD203B41FA5}">
                      <a16:colId xmlns:a16="http://schemas.microsoft.com/office/drawing/2014/main" val="2742580410"/>
                    </a:ext>
                  </a:extLst>
                </a:gridCol>
                <a:gridCol w="421202">
                  <a:extLst>
                    <a:ext uri="{9D8B030D-6E8A-4147-A177-3AD203B41FA5}">
                      <a16:colId xmlns:a16="http://schemas.microsoft.com/office/drawing/2014/main" val="1939825649"/>
                    </a:ext>
                  </a:extLst>
                </a:gridCol>
                <a:gridCol w="421202">
                  <a:extLst>
                    <a:ext uri="{9D8B030D-6E8A-4147-A177-3AD203B41FA5}">
                      <a16:colId xmlns:a16="http://schemas.microsoft.com/office/drawing/2014/main" val="3360178159"/>
                    </a:ext>
                  </a:extLst>
                </a:gridCol>
              </a:tblGrid>
              <a:tr h="428625">
                <a:tc>
                  <a:txBody>
                    <a:bodyPr/>
                    <a:lstStyle/>
                    <a:p>
                      <a:pPr algn="l" fontAlgn="ctr"/>
                      <a:endParaRPr lang="ja-JP" altLang="en-US" sz="700" b="0" i="0" u="none" strike="noStrike" dirty="0">
                        <a:effectLst/>
                        <a:latin typeface="Meiryo UI" panose="020B0604030504040204" pitchFamily="50" charset="-128"/>
                        <a:ea typeface="Meiryo UI" panose="020B0604030504040204" pitchFamily="50" charset="-128"/>
                      </a:endParaRPr>
                    </a:p>
                  </a:txBody>
                  <a:tcPr marL="9525" marR="9525" marT="9525" marB="0" anchor="ctr">
                    <a:lnL>
                      <a:noFill/>
                    </a:lnL>
                    <a:lnR>
                      <a:noFill/>
                    </a:lnR>
                    <a:lnT>
                      <a:noFill/>
                    </a:lnT>
                    <a:lnB>
                      <a:noFill/>
                    </a:lnB>
                  </a:tcPr>
                </a:tc>
                <a:tc>
                  <a:txBody>
                    <a:bodyPr/>
                    <a:lstStyle/>
                    <a:p>
                      <a:pPr algn="l" fontAlgn="ctr"/>
                      <a:endParaRPr lang="ja-JP" altLang="en-US" sz="700" b="0" i="0" u="none" strike="noStrike" dirty="0">
                        <a:effectLst/>
                        <a:latin typeface="Meiryo UI" panose="020B0604030504040204" pitchFamily="50" charset="-128"/>
                        <a:ea typeface="Meiryo UI" panose="020B0604030504040204" pitchFamily="50" charset="-128"/>
                      </a:endParaRPr>
                    </a:p>
                  </a:txBody>
                  <a:tcPr marL="9525" marR="9525" marT="9525" marB="0" anchor="ctr">
                    <a:lnL>
                      <a:noFill/>
                    </a:lnL>
                    <a:lnR w="6350" cap="flat" cmpd="sng" algn="ctr">
                      <a:solidFill>
                        <a:srgbClr val="BFBFBF"/>
                      </a:solidFill>
                      <a:prstDash val="solid"/>
                      <a:round/>
                      <a:headEnd type="none" w="med" len="med"/>
                      <a:tailEnd type="none" w="med" len="med"/>
                    </a:lnR>
                    <a:lnT>
                      <a:noFill/>
                    </a:lnT>
                    <a:lnB>
                      <a:noFill/>
                    </a:lnB>
                  </a:tcPr>
                </a:tc>
                <a:tc>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全体</a:t>
                      </a:r>
                    </a:p>
                  </a:txBody>
                  <a:tcPr marL="9525" marR="9525" marT="9525"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l" fontAlgn="t"/>
                      <a:r>
                        <a:rPr lang="en-US" altLang="ja-JP" sz="700" b="0" i="0" u="none" strike="noStrike">
                          <a:effectLst/>
                          <a:latin typeface="Meiryo UI" panose="020B0604030504040204" pitchFamily="50" charset="-128"/>
                          <a:ea typeface="Meiryo UI" panose="020B0604030504040204" pitchFamily="50" charset="-128"/>
                        </a:rPr>
                        <a:t>0</a:t>
                      </a:r>
                      <a:r>
                        <a:rPr lang="ja-JP" altLang="en-US" sz="700" b="0" i="0" u="none" strike="noStrike">
                          <a:effectLst/>
                          <a:latin typeface="Meiryo UI" panose="020B0604030504040204" pitchFamily="50" charset="-128"/>
                          <a:ea typeface="Meiryo UI" panose="020B0604030504040204" pitchFamily="50" charset="-128"/>
                        </a:rPr>
                        <a:t>回（転職経験なし）</a:t>
                      </a:r>
                    </a:p>
                  </a:txBody>
                  <a:tcPr marL="9525" marR="9525" marT="9525"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t"/>
                      <a:r>
                        <a:rPr lang="en-US" altLang="ja-JP" sz="700" b="0" i="0" u="none" strike="noStrike">
                          <a:effectLst/>
                          <a:latin typeface="Meiryo UI" panose="020B0604030504040204" pitchFamily="50" charset="-128"/>
                          <a:ea typeface="Meiryo UI" panose="020B0604030504040204" pitchFamily="50" charset="-128"/>
                        </a:rPr>
                        <a:t>1</a:t>
                      </a:r>
                      <a:r>
                        <a:rPr lang="ja-JP" altLang="en-US" sz="700" b="0" i="0" u="none" strike="noStrike">
                          <a:effectLst/>
                          <a:latin typeface="Meiryo UI" panose="020B0604030504040204" pitchFamily="50" charset="-128"/>
                          <a:ea typeface="Meiryo UI" panose="020B0604030504040204" pitchFamily="50" charset="-128"/>
                        </a:rPr>
                        <a:t>回以上（転職経験あり）</a:t>
                      </a:r>
                    </a:p>
                  </a:txBody>
                  <a:tcPr marL="9525" marR="9525" marT="9525"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a:t>
                      </a:r>
                      <a:r>
                        <a:rPr lang="en-US" altLang="ja-JP" sz="700" b="0" i="0" u="none" strike="noStrike">
                          <a:effectLst/>
                          <a:latin typeface="Meiryo UI" panose="020B0604030504040204" pitchFamily="50" charset="-128"/>
                          <a:ea typeface="Meiryo UI" panose="020B0604030504040204" pitchFamily="50" charset="-128"/>
                        </a:rPr>
                        <a:t>1</a:t>
                      </a:r>
                      <a:r>
                        <a:rPr lang="ja-JP" altLang="en-US" sz="700" b="0" i="0" u="none" strike="noStrike">
                          <a:effectLst/>
                          <a:latin typeface="Meiryo UI" panose="020B0604030504040204" pitchFamily="50" charset="-128"/>
                          <a:ea typeface="Meiryo UI" panose="020B0604030504040204" pitchFamily="50" charset="-128"/>
                        </a:rPr>
                        <a:t>回</a:t>
                      </a:r>
                    </a:p>
                  </a:txBody>
                  <a:tcPr marL="9525" marR="9525" marT="9525"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a:t>
                      </a:r>
                      <a:r>
                        <a:rPr lang="en-US" altLang="ja-JP" sz="700" b="0" i="0" u="none" strike="noStrike">
                          <a:effectLst/>
                          <a:latin typeface="Meiryo UI" panose="020B0604030504040204" pitchFamily="50" charset="-128"/>
                          <a:ea typeface="Meiryo UI" panose="020B0604030504040204" pitchFamily="50" charset="-128"/>
                        </a:rPr>
                        <a:t>2</a:t>
                      </a:r>
                      <a:r>
                        <a:rPr lang="ja-JP" altLang="en-US" sz="700" b="0" i="0" u="none" strike="noStrike">
                          <a:effectLst/>
                          <a:latin typeface="Meiryo UI" panose="020B0604030504040204" pitchFamily="50" charset="-128"/>
                          <a:ea typeface="Meiryo UI" panose="020B0604030504040204" pitchFamily="50" charset="-128"/>
                        </a:rPr>
                        <a:t>～</a:t>
                      </a:r>
                      <a:r>
                        <a:rPr lang="en-US" altLang="ja-JP" sz="700" b="0" i="0" u="none" strike="noStrike">
                          <a:effectLst/>
                          <a:latin typeface="Meiryo UI" panose="020B0604030504040204" pitchFamily="50" charset="-128"/>
                          <a:ea typeface="Meiryo UI" panose="020B0604030504040204" pitchFamily="50" charset="-128"/>
                        </a:rPr>
                        <a:t>4</a:t>
                      </a:r>
                      <a:r>
                        <a:rPr lang="ja-JP" altLang="en-US" sz="700" b="0" i="0" u="none" strike="noStrike">
                          <a:effectLst/>
                          <a:latin typeface="Meiryo UI" panose="020B0604030504040204" pitchFamily="50" charset="-128"/>
                          <a:ea typeface="Meiryo UI" panose="020B0604030504040204" pitchFamily="50" charset="-128"/>
                        </a:rPr>
                        <a:t>回</a:t>
                      </a:r>
                    </a:p>
                  </a:txBody>
                  <a:tcPr marL="9525" marR="9525" marT="9525"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t"/>
                      <a:r>
                        <a:rPr lang="ja-JP" altLang="en-US" sz="700" b="0" i="0" u="none" strike="noStrike" dirty="0">
                          <a:effectLst/>
                          <a:latin typeface="Meiryo UI" panose="020B0604030504040204" pitchFamily="50" charset="-128"/>
                          <a:ea typeface="Meiryo UI" panose="020B0604030504040204" pitchFamily="50" charset="-128"/>
                        </a:rPr>
                        <a:t>　∟</a:t>
                      </a:r>
                      <a:r>
                        <a:rPr lang="en-US" altLang="ja-JP" sz="700" b="0" i="0" u="none" strike="noStrike" dirty="0">
                          <a:effectLst/>
                          <a:latin typeface="Meiryo UI" panose="020B0604030504040204" pitchFamily="50" charset="-128"/>
                          <a:ea typeface="Meiryo UI" panose="020B0604030504040204" pitchFamily="50" charset="-128"/>
                        </a:rPr>
                        <a:t>5</a:t>
                      </a:r>
                      <a:r>
                        <a:rPr lang="ja-JP" altLang="en-US" sz="700" b="0" i="0" u="none" strike="noStrike" dirty="0">
                          <a:effectLst/>
                          <a:latin typeface="Meiryo UI" panose="020B0604030504040204" pitchFamily="50" charset="-128"/>
                          <a:ea typeface="Meiryo UI" panose="020B0604030504040204" pitchFamily="50" charset="-128"/>
                        </a:rPr>
                        <a:t>回以上</a:t>
                      </a:r>
                    </a:p>
                  </a:txBody>
                  <a:tcPr marL="9525" marR="9525" marT="9525"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683633356"/>
                  </a:ext>
                </a:extLst>
              </a:tr>
              <a:tr h="142875">
                <a:tc gridSpan="2">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全体</a:t>
                      </a:r>
                    </a:p>
                  </a:txBody>
                  <a:tcPr marL="9525" marR="9525" marT="9525" marB="0">
                    <a:lnL>
                      <a:noFill/>
                    </a:lnL>
                    <a:lnR w="6350" cap="flat" cmpd="sng" algn="ctr">
                      <a:solidFill>
                        <a:srgbClr val="BFBFBF"/>
                      </a:solidFill>
                      <a:prstDash val="solid"/>
                      <a:round/>
                      <a:headEnd type="none" w="med" len="med"/>
                      <a:tailEnd type="none" w="med" len="med"/>
                    </a:lnR>
                    <a:lnT>
                      <a:noFill/>
                    </a:lnT>
                    <a:lnB w="6350" cap="flat" cmpd="sng" algn="ctr">
                      <a:solidFill>
                        <a:srgbClr val="A9A9A9"/>
                      </a:solidFill>
                      <a:prstDash val="solid"/>
                      <a:round/>
                      <a:headEnd type="none" w="med" len="med"/>
                      <a:tailEnd type="none" w="med" len="med"/>
                    </a:lnB>
                    <a:solidFill>
                      <a:srgbClr val="FFFFFF"/>
                    </a:solidFill>
                  </a:tcPr>
                </a:tc>
                <a:tc hMerge="1">
                  <a:txBody>
                    <a:bodyPr/>
                    <a:lstStyle/>
                    <a:p>
                      <a:endParaRPr kumimoji="1" lang="ja-JP" altLang="en-US"/>
                    </a:p>
                  </a:txBody>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(312)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112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200</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65</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90</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45</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2270305976"/>
                  </a:ext>
                </a:extLst>
              </a:tr>
              <a:tr h="142875">
                <a:tc rowSpan="14">
                  <a:txBody>
                    <a:bodyPr/>
                    <a:lstStyle/>
                    <a:p>
                      <a:pPr algn="l" fontAlgn="t"/>
                      <a:r>
                        <a:rPr lang="ja-JP" altLang="en-US" sz="700" b="0" i="0" u="none" strike="noStrike" dirty="0">
                          <a:effectLst/>
                          <a:latin typeface="Meiryo UI" panose="020B0604030504040204" pitchFamily="50" charset="-128"/>
                          <a:ea typeface="Meiryo UI" panose="020B0604030504040204" pitchFamily="50" charset="-128"/>
                        </a:rPr>
                        <a:t>未活動ステータス別</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A9A9A9"/>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solid"/>
                      <a:round/>
                      <a:headEnd type="none" w="med" len="med"/>
                      <a:tailEnd type="none" w="med" len="med"/>
                    </a:lnB>
                    <a:solidFill>
                      <a:srgbClr val="FFFFFF"/>
                    </a:solidFill>
                  </a:tcPr>
                </a:tc>
                <a:tc>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面談希望あり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solid"/>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40%</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33%</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1DEB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44%</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97D3A8"/>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55%</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CA94"/>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9DBB8"/>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94D2A5"/>
                    </a:solidFill>
                  </a:tcPr>
                </a:tc>
                <a:extLst>
                  <a:ext uri="{0D108BD9-81ED-4DB2-BD59-A6C34878D82A}">
                    <a16:rowId xmlns:a16="http://schemas.microsoft.com/office/drawing/2014/main" val="1291628310"/>
                  </a:ext>
                </a:extLst>
              </a:tr>
              <a:tr h="142875">
                <a:tc vMerge="1">
                  <a:txBody>
                    <a:bodyPr/>
                    <a:lstStyle/>
                    <a:p>
                      <a:endParaRPr kumimoji="1" lang="ja-JP" altLang="en-US"/>
                    </a:p>
                  </a:txBody>
                  <a:tcPr/>
                </a:tc>
                <a:tc>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∟面談実施あり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13%</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3F2EA"/>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14%</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CEFE3"/>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0F1E7"/>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17%</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DDE"/>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13%</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0F1E7"/>
                    </a:solidFill>
                  </a:tcPr>
                </a:tc>
                <a:extLst>
                  <a:ext uri="{0D108BD9-81ED-4DB2-BD59-A6C34878D82A}">
                    <a16:rowId xmlns:a16="http://schemas.microsoft.com/office/drawing/2014/main" val="2502484167"/>
                  </a:ext>
                </a:extLst>
              </a:tr>
              <a:tr h="142875">
                <a:tc vMerge="1">
                  <a:txBody>
                    <a:bodyPr/>
                    <a:lstStyle/>
                    <a:p>
                      <a:endParaRPr kumimoji="1" lang="ja-JP" altLang="en-US"/>
                    </a:p>
                  </a:txBody>
                  <a:tcPr/>
                </a:tc>
                <a:tc>
                  <a:txBody>
                    <a:bodyPr/>
                    <a:lstStyle/>
                    <a:p>
                      <a:pPr algn="l" fontAlgn="t"/>
                      <a:r>
                        <a:rPr lang="ja-JP" altLang="en-US" sz="700" b="0" i="0" u="none" strike="noStrike" dirty="0">
                          <a:effectLst/>
                          <a:latin typeface="Meiryo UI" panose="020B0604030504040204" pitchFamily="50" charset="-128"/>
                          <a:ea typeface="Meiryo UI" panose="020B0604030504040204" pitchFamily="50" charset="-128"/>
                        </a:rPr>
                        <a:t>　　∟求人応募あり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8%</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7%</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6F1"/>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8%</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BF5F0"/>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7%</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6F1"/>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10%</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6F4EC"/>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8F6"/>
                    </a:solidFill>
                  </a:tcPr>
                </a:tc>
                <a:extLst>
                  <a:ext uri="{0D108BD9-81ED-4DB2-BD59-A6C34878D82A}">
                    <a16:rowId xmlns:a16="http://schemas.microsoft.com/office/drawing/2014/main" val="1497998844"/>
                  </a:ext>
                </a:extLst>
              </a:tr>
              <a:tr h="142875">
                <a:tc vMerge="1">
                  <a:txBody>
                    <a:bodyPr/>
                    <a:lstStyle/>
                    <a:p>
                      <a:endParaRPr kumimoji="1" lang="ja-JP" altLang="en-US"/>
                    </a:p>
                  </a:txBody>
                  <a:tcPr/>
                </a:tc>
                <a:tc>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∟求人応募なし</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9F8"/>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7%</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F6F2"/>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1F8F6"/>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7%</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6F1"/>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8%</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5F0"/>
                    </a:solidFill>
                  </a:tcPr>
                </a:tc>
                <a:extLst>
                  <a:ext uri="{0D108BD9-81ED-4DB2-BD59-A6C34878D82A}">
                    <a16:rowId xmlns:a16="http://schemas.microsoft.com/office/drawing/2014/main" val="2080207794"/>
                  </a:ext>
                </a:extLst>
              </a:tr>
              <a:tr h="142875">
                <a:tc vMerge="1">
                  <a:txBody>
                    <a:bodyPr/>
                    <a:lstStyle/>
                    <a:p>
                      <a:endParaRPr kumimoji="1" lang="ja-JP" altLang="en-US"/>
                    </a:p>
                  </a:txBody>
                  <a:tcPr/>
                </a:tc>
                <a:tc>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∟面談実施なし</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27%</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BE8D5"/>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30%</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8E1C4"/>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9CD5AC"/>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20%</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0EA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33%</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1DEBE"/>
                    </a:solidFill>
                  </a:tcPr>
                </a:tc>
                <a:extLst>
                  <a:ext uri="{0D108BD9-81ED-4DB2-BD59-A6C34878D82A}">
                    <a16:rowId xmlns:a16="http://schemas.microsoft.com/office/drawing/2014/main" val="3732701956"/>
                  </a:ext>
                </a:extLst>
              </a:tr>
              <a:tr h="142875">
                <a:tc vMerge="1">
                  <a:txBody>
                    <a:bodyPr/>
                    <a:lstStyle/>
                    <a:p>
                      <a:endParaRPr kumimoji="1" lang="ja-JP" altLang="en-US"/>
                    </a:p>
                  </a:txBody>
                  <a:tcPr/>
                </a:tc>
                <a:tc>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7%</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CF6F1"/>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1F8F6"/>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8%</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BF5F0"/>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5"/>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0%</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FCFF"/>
                    </a:solidFill>
                  </a:tcPr>
                </a:tc>
                <a:extLst>
                  <a:ext uri="{0D108BD9-81ED-4DB2-BD59-A6C34878D82A}">
                    <a16:rowId xmlns:a16="http://schemas.microsoft.com/office/drawing/2014/main" val="3889954951"/>
                  </a:ext>
                </a:extLst>
              </a:tr>
              <a:tr h="142875">
                <a:tc vMerge="1">
                  <a:txBody>
                    <a:bodyPr/>
                    <a:lstStyle/>
                    <a:p>
                      <a:endParaRPr kumimoji="1" lang="ja-JP" altLang="en-US"/>
                    </a:p>
                  </a:txBody>
                  <a:tcPr/>
                </a:tc>
                <a:tc>
                  <a:txBody>
                    <a:bodyPr/>
                    <a:lstStyle/>
                    <a:p>
                      <a:pPr algn="l" fontAlgn="t"/>
                      <a:r>
                        <a:rPr lang="ja-JP" altLang="en-US" sz="700" b="0" i="0" u="none" strike="noStrike" dirty="0">
                          <a:effectLst/>
                          <a:latin typeface="Meiryo UI" panose="020B0604030504040204" pitchFamily="50" charset="-128"/>
                          <a:ea typeface="Meiryo UI" panose="020B0604030504040204" pitchFamily="50" charset="-128"/>
                        </a:rPr>
                        <a:t>　　∟求人応募なし</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FFFFFF"/>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21%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14%</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DCEFE3"/>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25%</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C3E5CE"/>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35%</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AEDDBC"/>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14%</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DDF0E4"/>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33%</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B1DEBE"/>
                    </a:solidFill>
                  </a:tcPr>
                </a:tc>
                <a:extLst>
                  <a:ext uri="{0D108BD9-81ED-4DB2-BD59-A6C34878D82A}">
                    <a16:rowId xmlns:a16="http://schemas.microsoft.com/office/drawing/2014/main" val="718123030"/>
                  </a:ext>
                </a:extLst>
              </a:tr>
              <a:tr h="142875">
                <a:tc vMerge="1">
                  <a:txBody>
                    <a:bodyPr/>
                    <a:lstStyle/>
                    <a:p>
                      <a:endParaRPr kumimoji="1" lang="ja-JP" altLang="en-US"/>
                    </a:p>
                  </a:txBody>
                  <a:tcPr/>
                </a:tc>
                <a:tc>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面談希望なし</a:t>
                      </a:r>
                      <a:r>
                        <a:rPr lang="en-US" altLang="ja-JP" sz="700" b="0" i="0" u="none" strike="noStrike">
                          <a:effectLst/>
                          <a:latin typeface="Meiryo UI" panose="020B0604030504040204" pitchFamily="50" charset="-128"/>
                          <a:ea typeface="Meiryo UI" panose="020B0604030504040204" pitchFamily="50" charset="-128"/>
                        </a:rPr>
                        <a:t>/</a:t>
                      </a:r>
                      <a:r>
                        <a:rPr lang="ja-JP" altLang="en-US" sz="700" b="0" i="0" u="none" strike="noStrike">
                          <a:effectLst/>
                          <a:latin typeface="Meiryo UI" panose="020B0604030504040204" pitchFamily="50" charset="-128"/>
                          <a:ea typeface="Meiryo UI" panose="020B0604030504040204" pitchFamily="50" charset="-128"/>
                        </a:rPr>
                        <a:t>どちらともいえない</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60%</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67%</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63BE7B"/>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56%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7EC992"/>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45%</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95D2A6"/>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64%</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6CC282"/>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54%</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1CA95"/>
                    </a:solidFill>
                  </a:tcPr>
                </a:tc>
                <a:extLst>
                  <a:ext uri="{0D108BD9-81ED-4DB2-BD59-A6C34878D82A}">
                    <a16:rowId xmlns:a16="http://schemas.microsoft.com/office/drawing/2014/main" val="3799570811"/>
                  </a:ext>
                </a:extLst>
              </a:tr>
              <a:tr h="142875">
                <a:tc vMerge="1">
                  <a:txBody>
                    <a:bodyPr/>
                    <a:lstStyle/>
                    <a:p>
                      <a:endParaRPr kumimoji="1" lang="ja-JP" altLang="en-US"/>
                    </a:p>
                  </a:txBody>
                  <a:tcPr/>
                </a:tc>
                <a:tc>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∟面談実施あり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9F8"/>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9F8"/>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6FAFA"/>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8F5"/>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9FBFC"/>
                    </a:solidFill>
                  </a:tcPr>
                </a:tc>
                <a:extLst>
                  <a:ext uri="{0D108BD9-81ED-4DB2-BD59-A6C34878D82A}">
                    <a16:rowId xmlns:a16="http://schemas.microsoft.com/office/drawing/2014/main" val="4148090134"/>
                  </a:ext>
                </a:extLst>
              </a:tr>
              <a:tr h="142875">
                <a:tc vMerge="1">
                  <a:txBody>
                    <a:bodyPr/>
                    <a:lstStyle/>
                    <a:p>
                      <a:endParaRPr kumimoji="1" lang="ja-JP" altLang="en-US"/>
                    </a:p>
                  </a:txBody>
                  <a:tcPr/>
                </a:tc>
                <a:tc>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FBFC"/>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FAFB"/>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FCFE"/>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F9F8"/>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FBFD"/>
                    </a:solidFill>
                  </a:tcPr>
                </a:tc>
                <a:extLst>
                  <a:ext uri="{0D108BD9-81ED-4DB2-BD59-A6C34878D82A}">
                    <a16:rowId xmlns:a16="http://schemas.microsoft.com/office/drawing/2014/main" val="879491735"/>
                  </a:ext>
                </a:extLst>
              </a:tr>
              <a:tr h="142875">
                <a:tc vMerge="1">
                  <a:txBody>
                    <a:bodyPr/>
                    <a:lstStyle/>
                    <a:p>
                      <a:endParaRPr kumimoji="1" lang="ja-JP" altLang="en-US"/>
                    </a:p>
                  </a:txBody>
                  <a:tcPr/>
                </a:tc>
                <a:tc>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∟求人応募なし</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FBFC"/>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9FBFD"/>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AFB"/>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9FBFD"/>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BFCFE"/>
                    </a:solidFill>
                  </a:tcPr>
                </a:tc>
                <a:extLst>
                  <a:ext uri="{0D108BD9-81ED-4DB2-BD59-A6C34878D82A}">
                    <a16:rowId xmlns:a16="http://schemas.microsoft.com/office/drawing/2014/main" val="4001496836"/>
                  </a:ext>
                </a:extLst>
              </a:tr>
              <a:tr h="142875">
                <a:tc vMerge="1">
                  <a:txBody>
                    <a:bodyPr/>
                    <a:lstStyle/>
                    <a:p>
                      <a:endParaRPr kumimoji="1" lang="ja-JP" altLang="en-US"/>
                    </a:p>
                  </a:txBody>
                  <a:tcPr/>
                </a:tc>
                <a:tc>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∟面談実施なし</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63%</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6CC283"/>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6CD9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43%</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9BD5AB"/>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58%</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78C78D"/>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52%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5CC98"/>
                    </a:solidFill>
                  </a:tcPr>
                </a:tc>
                <a:extLst>
                  <a:ext uri="{0D108BD9-81ED-4DB2-BD59-A6C34878D82A}">
                    <a16:rowId xmlns:a16="http://schemas.microsoft.com/office/drawing/2014/main" val="57506934"/>
                  </a:ext>
                </a:extLst>
              </a:tr>
              <a:tr h="142875">
                <a:tc vMerge="1">
                  <a:txBody>
                    <a:bodyPr/>
                    <a:lstStyle/>
                    <a:p>
                      <a:endParaRPr kumimoji="1" lang="ja-JP" altLang="en-US"/>
                    </a:p>
                  </a:txBody>
                  <a:tcPr/>
                </a:tc>
                <a:tc>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∟求人応募あり</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dot"/>
                      <a:round/>
                      <a:headEnd type="none" w="med" len="med"/>
                      <a:tailEnd type="none" w="med" len="med"/>
                    </a:lnB>
                    <a:solidFill>
                      <a:srgbClr val="D9D9D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8%</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AFBFD"/>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3F2E9"/>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8%</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5F0"/>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17%</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6EDDE"/>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3F9F7"/>
                    </a:solidFill>
                  </a:tcPr>
                </a:tc>
                <a:extLst>
                  <a:ext uri="{0D108BD9-81ED-4DB2-BD59-A6C34878D82A}">
                    <a16:rowId xmlns:a16="http://schemas.microsoft.com/office/drawing/2014/main" val="1421909570"/>
                  </a:ext>
                </a:extLst>
              </a:tr>
              <a:tr h="142875">
                <a:tc vMerge="1">
                  <a:txBody>
                    <a:bodyPr/>
                    <a:lstStyle/>
                    <a:p>
                      <a:endParaRPr kumimoji="1" lang="ja-JP" altLang="en-US"/>
                    </a:p>
                  </a:txBody>
                  <a:tcPr/>
                </a:tc>
                <a:tc>
                  <a:txBody>
                    <a:bodyPr/>
                    <a:lstStyle/>
                    <a:p>
                      <a:pPr algn="l" fontAlgn="t"/>
                      <a:r>
                        <a:rPr lang="ja-JP" altLang="en-US" sz="700" b="0" i="0" u="none" strike="noStrike">
                          <a:effectLst/>
                          <a:latin typeface="Meiryo UI" panose="020B0604030504040204" pitchFamily="50" charset="-128"/>
                          <a:ea typeface="Meiryo UI" panose="020B0604030504040204" pitchFamily="50" charset="-128"/>
                        </a:rPr>
                        <a:t>　　∟求人応募なし</a:t>
                      </a:r>
                    </a:p>
                  </a:txBody>
                  <a:tcPr marL="9525" marR="9525" marT="9525" marB="0">
                    <a:lnL w="6350" cap="flat" cmpd="sng" algn="ctr">
                      <a:solidFill>
                        <a:srgbClr val="A9A9A9"/>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9A9A9"/>
                      </a:solidFill>
                      <a:prstDash val="dot"/>
                      <a:round/>
                      <a:headEnd type="none" w="med" len="med"/>
                      <a:tailEnd type="none" w="med" len="med"/>
                    </a:lnT>
                    <a:lnB w="6350" cap="flat" cmpd="sng" algn="ctr">
                      <a:solidFill>
                        <a:srgbClr val="A9A9A9"/>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48%</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62%</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6FC385"/>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0D7AF"/>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35%</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DDCBB"/>
                    </a:solidFill>
                  </a:tcPr>
                </a:tc>
                <a:tc>
                  <a:txBody>
                    <a:bodyPr/>
                    <a:lstStyle/>
                    <a:p>
                      <a:pPr algn="r" fontAlgn="ctr"/>
                      <a:r>
                        <a:rPr lang="en-US" altLang="ja-JP" sz="700" b="0" i="0" u="none" strike="noStrike">
                          <a:effectLst/>
                          <a:latin typeface="Meiryo UI" panose="020B0604030504040204" pitchFamily="50" charset="-128"/>
                          <a:ea typeface="Meiryo UI" panose="020B0604030504040204" pitchFamily="50" charset="-128"/>
                        </a:rPr>
                        <a:t>41%</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9FD6AE"/>
                    </a:solidFill>
                  </a:tcPr>
                </a:tc>
                <a:tc>
                  <a:txBody>
                    <a:bodyPr/>
                    <a:lstStyle/>
                    <a:p>
                      <a:pPr algn="r" fontAlgn="ctr"/>
                      <a:r>
                        <a:rPr lang="en-US" altLang="ja-JP" sz="700" b="0" i="0" u="none" strike="noStrike" dirty="0">
                          <a:effectLst/>
                          <a:latin typeface="Meiryo UI" panose="020B0604030504040204" pitchFamily="50" charset="-128"/>
                          <a:ea typeface="Meiryo UI" panose="020B0604030504040204" pitchFamily="50" charset="-128"/>
                        </a:rPr>
                        <a:t>48%</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FD0A1"/>
                    </a:solidFill>
                  </a:tcPr>
                </a:tc>
                <a:extLst>
                  <a:ext uri="{0D108BD9-81ED-4DB2-BD59-A6C34878D82A}">
                    <a16:rowId xmlns:a16="http://schemas.microsoft.com/office/drawing/2014/main" val="752828513"/>
                  </a:ext>
                </a:extLst>
              </a:tr>
            </a:tbl>
          </a:graphicData>
        </a:graphic>
      </p:graphicFrame>
      <p:sp>
        <p:nvSpPr>
          <p:cNvPr id="11" name="テキスト ボックス 10">
            <a:extLst>
              <a:ext uri="{FF2B5EF4-FFF2-40B4-BE49-F238E27FC236}">
                <a16:creationId xmlns:a16="http://schemas.microsoft.com/office/drawing/2014/main" id="{3BFD7FC5-9DF6-478A-D29D-4ED5D26677B9}"/>
              </a:ext>
            </a:extLst>
          </p:cNvPr>
          <p:cNvSpPr txBox="1"/>
          <p:nvPr/>
        </p:nvSpPr>
        <p:spPr>
          <a:xfrm>
            <a:off x="8899700" y="186360"/>
            <a:ext cx="3013586" cy="415498"/>
          </a:xfrm>
          <a:prstGeom prst="rect">
            <a:avLst/>
          </a:prstGeom>
          <a:noFill/>
        </p:spPr>
        <p:txBody>
          <a:bodyPr wrap="square" rtlCol="0">
            <a:spAutoFit/>
          </a:bodyPr>
          <a:lstStyle/>
          <a:p>
            <a:pPr algn="r"/>
            <a:r>
              <a:rPr kumimoji="1" lang="en-US" altLang="ja-JP" sz="1050" dirty="0">
                <a:solidFill>
                  <a:srgbClr val="FF0000"/>
                </a:solidFill>
              </a:rPr>
              <a:t>※</a:t>
            </a:r>
            <a:r>
              <a:rPr kumimoji="1" lang="ja-JP" altLang="en-US" sz="1050" dirty="0">
                <a:solidFill>
                  <a:srgbClr val="FF0000"/>
                </a:solidFill>
              </a:rPr>
              <a:t>縦方向の合計で</a:t>
            </a:r>
            <a:r>
              <a:rPr kumimoji="1" lang="en-US" altLang="ja-JP" sz="1050" dirty="0">
                <a:solidFill>
                  <a:srgbClr val="FF0000"/>
                </a:solidFill>
              </a:rPr>
              <a:t>100</a:t>
            </a:r>
            <a:r>
              <a:rPr kumimoji="1" lang="ja-JP" altLang="en-US" sz="1050" dirty="0">
                <a:solidFill>
                  <a:srgbClr val="FF0000"/>
                </a:solidFill>
              </a:rPr>
              <a:t>％</a:t>
            </a:r>
            <a:endParaRPr kumimoji="1" lang="en-US" altLang="ja-JP" sz="1050" dirty="0">
              <a:solidFill>
                <a:srgbClr val="FF0000"/>
              </a:solidFill>
            </a:endParaRPr>
          </a:p>
          <a:p>
            <a:pPr algn="r"/>
            <a:r>
              <a:rPr kumimoji="1" lang="ja-JP" altLang="en-US" sz="1050" dirty="0">
                <a:solidFill>
                  <a:srgbClr val="FF0000"/>
                </a:solidFill>
              </a:rPr>
              <a:t>灰色箇所は</a:t>
            </a:r>
            <a:r>
              <a:rPr kumimoji="1" lang="en-US" altLang="ja-JP" sz="1050" dirty="0">
                <a:solidFill>
                  <a:srgbClr val="FF0000"/>
                </a:solidFill>
              </a:rPr>
              <a:t>N</a:t>
            </a:r>
            <a:r>
              <a:rPr kumimoji="1" lang="ja-JP" altLang="en-US" sz="1050" dirty="0">
                <a:solidFill>
                  <a:srgbClr val="FF0000"/>
                </a:solidFill>
              </a:rPr>
              <a:t>数不足のため参考値</a:t>
            </a:r>
          </a:p>
        </p:txBody>
      </p:sp>
      <p:sp>
        <p:nvSpPr>
          <p:cNvPr id="12" name="テキスト ボックス 11">
            <a:extLst>
              <a:ext uri="{FF2B5EF4-FFF2-40B4-BE49-F238E27FC236}">
                <a16:creationId xmlns:a16="http://schemas.microsoft.com/office/drawing/2014/main" id="{05516945-BB9C-3856-03A6-7B46365E0BC5}"/>
              </a:ext>
            </a:extLst>
          </p:cNvPr>
          <p:cNvSpPr txBox="1"/>
          <p:nvPr/>
        </p:nvSpPr>
        <p:spPr>
          <a:xfrm>
            <a:off x="467033" y="901979"/>
            <a:ext cx="3013586" cy="253916"/>
          </a:xfrm>
          <a:prstGeom prst="rect">
            <a:avLst/>
          </a:prstGeom>
          <a:noFill/>
        </p:spPr>
        <p:txBody>
          <a:bodyPr wrap="square" rtlCol="0">
            <a:spAutoFit/>
          </a:bodyPr>
          <a:lstStyle/>
          <a:p>
            <a:r>
              <a:rPr kumimoji="1" lang="ja-JP" altLang="en-US" sz="1050" b="1" u="sng" dirty="0"/>
              <a:t>▼年収帯</a:t>
            </a:r>
          </a:p>
        </p:txBody>
      </p:sp>
      <p:sp>
        <p:nvSpPr>
          <p:cNvPr id="13" name="テキスト ボックス 12">
            <a:extLst>
              <a:ext uri="{FF2B5EF4-FFF2-40B4-BE49-F238E27FC236}">
                <a16:creationId xmlns:a16="http://schemas.microsoft.com/office/drawing/2014/main" id="{620A72F4-52A1-762F-73EC-875F161E248B}"/>
              </a:ext>
            </a:extLst>
          </p:cNvPr>
          <p:cNvSpPr txBox="1"/>
          <p:nvPr/>
        </p:nvSpPr>
        <p:spPr>
          <a:xfrm>
            <a:off x="5991400" y="901979"/>
            <a:ext cx="3013586" cy="253916"/>
          </a:xfrm>
          <a:prstGeom prst="rect">
            <a:avLst/>
          </a:prstGeom>
          <a:noFill/>
        </p:spPr>
        <p:txBody>
          <a:bodyPr wrap="square" rtlCol="0">
            <a:spAutoFit/>
          </a:bodyPr>
          <a:lstStyle/>
          <a:p>
            <a:r>
              <a:rPr kumimoji="1" lang="ja-JP" altLang="en-US" sz="1050" b="1" u="sng" dirty="0"/>
              <a:t>▼転職回数</a:t>
            </a:r>
          </a:p>
        </p:txBody>
      </p:sp>
      <p:sp>
        <p:nvSpPr>
          <p:cNvPr id="14" name="テキスト ボックス 13">
            <a:extLst>
              <a:ext uri="{FF2B5EF4-FFF2-40B4-BE49-F238E27FC236}">
                <a16:creationId xmlns:a16="http://schemas.microsoft.com/office/drawing/2014/main" id="{891E47CB-9E77-7012-AB6A-5CCAED64EC48}"/>
              </a:ext>
            </a:extLst>
          </p:cNvPr>
          <p:cNvSpPr txBox="1"/>
          <p:nvPr/>
        </p:nvSpPr>
        <p:spPr>
          <a:xfrm>
            <a:off x="467033" y="3641582"/>
            <a:ext cx="3013586" cy="253916"/>
          </a:xfrm>
          <a:prstGeom prst="rect">
            <a:avLst/>
          </a:prstGeom>
          <a:noFill/>
        </p:spPr>
        <p:txBody>
          <a:bodyPr wrap="square" rtlCol="0">
            <a:spAutoFit/>
          </a:bodyPr>
          <a:lstStyle/>
          <a:p>
            <a:r>
              <a:rPr kumimoji="1" lang="ja-JP" altLang="en-US" sz="1050" b="1" u="sng" dirty="0"/>
              <a:t>▼年代</a:t>
            </a:r>
          </a:p>
        </p:txBody>
      </p:sp>
      <p:sp>
        <p:nvSpPr>
          <p:cNvPr id="15" name="テキスト ボックス 14">
            <a:extLst>
              <a:ext uri="{FF2B5EF4-FFF2-40B4-BE49-F238E27FC236}">
                <a16:creationId xmlns:a16="http://schemas.microsoft.com/office/drawing/2014/main" id="{0F0F12FA-BE6F-5106-00A8-CB99AD6EC11C}"/>
              </a:ext>
            </a:extLst>
          </p:cNvPr>
          <p:cNvSpPr txBox="1"/>
          <p:nvPr/>
        </p:nvSpPr>
        <p:spPr>
          <a:xfrm>
            <a:off x="5102942" y="3680377"/>
            <a:ext cx="3013586" cy="253916"/>
          </a:xfrm>
          <a:prstGeom prst="rect">
            <a:avLst/>
          </a:prstGeom>
          <a:noFill/>
        </p:spPr>
        <p:txBody>
          <a:bodyPr wrap="square" rtlCol="0">
            <a:spAutoFit/>
          </a:bodyPr>
          <a:lstStyle/>
          <a:p>
            <a:r>
              <a:rPr kumimoji="1" lang="ja-JP" altLang="en-US" sz="1050" b="1" u="sng" dirty="0"/>
              <a:t>▼職種</a:t>
            </a:r>
          </a:p>
        </p:txBody>
      </p:sp>
    </p:spTree>
    <p:extLst>
      <p:ext uri="{BB962C8B-B14F-4D97-AF65-F5344CB8AC3E}">
        <p14:creationId xmlns:p14="http://schemas.microsoft.com/office/powerpoint/2010/main" val="29840435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プレースホルダー 5">
            <a:extLst>
              <a:ext uri="{FF2B5EF4-FFF2-40B4-BE49-F238E27FC236}">
                <a16:creationId xmlns:a16="http://schemas.microsoft.com/office/drawing/2014/main" id="{069E3C99-1C4C-765B-38EF-69B43825DEE5}"/>
              </a:ext>
            </a:extLst>
          </p:cNvPr>
          <p:cNvSpPr>
            <a:spLocks noGrp="1"/>
          </p:cNvSpPr>
          <p:nvPr>
            <p:ph type="body" sz="quarter" idx="13"/>
          </p:nvPr>
        </p:nvSpPr>
        <p:spPr>
          <a:xfrm>
            <a:off x="360363" y="3015471"/>
            <a:ext cx="11448000" cy="284693"/>
          </a:xfrm>
        </p:spPr>
        <p:txBody>
          <a:bodyPr/>
          <a:lstStyle/>
          <a:p>
            <a:r>
              <a:rPr lang="en-US" altLang="ja-JP" sz="2000" dirty="0"/>
              <a:t>Appendix</a:t>
            </a:r>
            <a:r>
              <a:rPr lang="ja-JP" altLang="en-US" sz="2000" dirty="0"/>
              <a:t>）各設問詳細</a:t>
            </a:r>
          </a:p>
        </p:txBody>
      </p:sp>
      <p:sp>
        <p:nvSpPr>
          <p:cNvPr id="4" name="フッター プレースホルダー 3">
            <a:extLst>
              <a:ext uri="{FF2B5EF4-FFF2-40B4-BE49-F238E27FC236}">
                <a16:creationId xmlns:a16="http://schemas.microsoft.com/office/drawing/2014/main" id="{0E6924FA-A53E-73A7-AB54-B50E2123E6AF}"/>
              </a:ext>
            </a:extLst>
          </p:cNvPr>
          <p:cNvSpPr>
            <a:spLocks noGrp="1"/>
          </p:cNvSpPr>
          <p:nvPr>
            <p:ph type="ftr" sz="quarter" idx="3"/>
          </p:nvPr>
        </p:nvSpPr>
        <p:spPr/>
        <p:txBody>
          <a:bodyPr/>
          <a:lstStyle/>
          <a:p>
            <a:r>
              <a:rPr lang="en" altLang="ja-JP"/>
              <a:t>(C) Recruit Co., Ltd. All rights reserved. </a:t>
            </a:r>
            <a:endParaRPr lang="ja-JP" altLang="en-US"/>
          </a:p>
        </p:txBody>
      </p:sp>
      <p:sp>
        <p:nvSpPr>
          <p:cNvPr id="5" name="スライド番号プレースホルダー 4">
            <a:extLst>
              <a:ext uri="{FF2B5EF4-FFF2-40B4-BE49-F238E27FC236}">
                <a16:creationId xmlns:a16="http://schemas.microsoft.com/office/drawing/2014/main" id="{BB5829B6-B90B-3950-8E5E-95BCBC4A5DAE}"/>
              </a:ext>
            </a:extLst>
          </p:cNvPr>
          <p:cNvSpPr>
            <a:spLocks noGrp="1"/>
          </p:cNvSpPr>
          <p:nvPr>
            <p:ph type="sldNum" sz="quarter" idx="4"/>
          </p:nvPr>
        </p:nvSpPr>
        <p:spPr/>
        <p:txBody>
          <a:bodyPr/>
          <a:lstStyle/>
          <a:p>
            <a:fld id="{EDD55F78-D87A-074E-B5DA-6C9B598DD91F}" type="slidenum">
              <a:rPr lang="ja-JP" altLang="en-US" smtClean="0"/>
              <a:pPr/>
              <a:t>24</a:t>
            </a:fld>
            <a:endParaRPr lang="ja-JP" altLang="en-US"/>
          </a:p>
        </p:txBody>
      </p:sp>
    </p:spTree>
    <p:extLst>
      <p:ext uri="{BB962C8B-B14F-4D97-AF65-F5344CB8AC3E}">
        <p14:creationId xmlns:p14="http://schemas.microsoft.com/office/powerpoint/2010/main" val="3658834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RAG</a:t>
            </a:r>
            <a:r>
              <a:rPr kumimoji="1" lang="ja-JP" altLang="en-US" dirty="0"/>
              <a:t>登録時の雇用形態</a:t>
            </a:r>
            <a:r>
              <a:rPr kumimoji="1" lang="en-US" altLang="ja-JP" dirty="0"/>
              <a:t>/</a:t>
            </a:r>
            <a:r>
              <a:rPr kumimoji="1" lang="ja-JP" altLang="en-US" dirty="0"/>
              <a:t>職種</a:t>
            </a:r>
          </a:p>
        </p:txBody>
      </p:sp>
      <p:sp>
        <p:nvSpPr>
          <p:cNvPr id="7" name="テキスト ボックス 6"/>
          <p:cNvSpPr txBox="1"/>
          <p:nvPr/>
        </p:nvSpPr>
        <p:spPr>
          <a:xfrm>
            <a:off x="2351584" y="544107"/>
            <a:ext cx="8332852" cy="738664"/>
          </a:xfrm>
          <a:prstGeom prst="rect">
            <a:avLst/>
          </a:prstGeom>
          <a:noFill/>
        </p:spPr>
        <p:txBody>
          <a:bodyPr wrap="square" rtlCol="0">
            <a:spAutoFit/>
          </a:bodyPr>
          <a:lstStyle/>
          <a:p>
            <a:pPr>
              <a:spcBef>
                <a:spcPts val="600"/>
              </a:spcBef>
            </a:pP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雇用形態について、</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「管理職以外正社員」について</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面談希望あり</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では</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46%</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に対し、</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面談希望なし</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では</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71%</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面談希望あり</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では「公務員」「管理職」「派遣・契約社員・嘱託」がやや多い。職種は</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面談希望あり</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なし</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とも</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「企画・管理系」「営業」「事務」「専門系」がボリュームゾーンだが、</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面談希望なし</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の方が「営業」がやや多い</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3" name="ホームベース 32"/>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コネクタ 33"/>
          <p:cNvCxnSpPr/>
          <p:nvPr/>
        </p:nvCxnSpPr>
        <p:spPr>
          <a:xfrm>
            <a:off x="2316605" y="126876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525E7F-7E3A-401F-9DD8-D9E508A743F2}"/>
              </a:ext>
            </a:extLst>
          </p:cNvPr>
          <p:cNvCxnSpPr>
            <a:cxnSpLocks/>
          </p:cNvCxnSpPr>
          <p:nvPr/>
        </p:nvCxnSpPr>
        <p:spPr>
          <a:xfrm flipV="1">
            <a:off x="1489279" y="1693434"/>
            <a:ext cx="9336511" cy="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8FF9AB37-D78C-49AD-8B0E-275FF11AAA94}"/>
              </a:ext>
            </a:extLst>
          </p:cNvPr>
          <p:cNvSpPr>
            <a:spLocks noChangeArrowheads="1"/>
          </p:cNvSpPr>
          <p:nvPr/>
        </p:nvSpPr>
        <p:spPr bwMode="auto">
          <a:xfrm>
            <a:off x="1497114" y="1780266"/>
            <a:ext cx="9360000" cy="318924"/>
          </a:xfrm>
          <a:prstGeom prst="rect">
            <a:avLst/>
          </a:prstGeom>
          <a:solidFill>
            <a:srgbClr val="F2F2F2"/>
          </a:solidFill>
          <a:ln w="9525" algn="ctr">
            <a:noFill/>
            <a:miter lim="800000"/>
            <a:headEnd/>
            <a:tailEnd/>
          </a:ln>
          <a:effectLst/>
        </p:spPr>
        <p:txBody>
          <a:bodyPr vert="horz" wrap="square" lIns="91440" tIns="36000" rIns="720000" bIns="36000" numCol="1" anchor="ctr" anchorCtr="0" compatLnSpc="1">
            <a:prstTxWarp prst="textNoShape">
              <a:avLst/>
            </a:prstTxWarp>
            <a:spAutoFit/>
          </a:bodyPr>
          <a:lstStyle/>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Q23S1</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あなたのお仕事の雇用形態として、以下それぞれ当てはまるものをお選びください。</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直近のリクルートエージェント登録時の雇用形態</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p>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Q24S1  </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あなたのお仕事の職種として、以下それぞれ当てはまるものをお選びください。</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直近のリクルートエージェント登録時の職種</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p>
        </p:txBody>
      </p:sp>
      <p:sp>
        <p:nvSpPr>
          <p:cNvPr id="14" name="テキスト ボックス 13">
            <a:extLst>
              <a:ext uri="{FF2B5EF4-FFF2-40B4-BE49-F238E27FC236}">
                <a16:creationId xmlns:a16="http://schemas.microsoft.com/office/drawing/2014/main" id="{F913BBE7-A10C-4A57-A95D-152E082DD1E1}"/>
              </a:ext>
            </a:extLst>
          </p:cNvPr>
          <p:cNvSpPr txBox="1"/>
          <p:nvPr/>
        </p:nvSpPr>
        <p:spPr>
          <a:xfrm>
            <a:off x="10209562" y="1830634"/>
            <a:ext cx="648000" cy="223143"/>
          </a:xfrm>
          <a:prstGeom prst="rect">
            <a:avLst/>
          </a:prstGeom>
          <a:noFill/>
        </p:spPr>
        <p:txBody>
          <a:bodyPr wrap="none" lIns="36000" tIns="36000" rIns="36000" bIns="36000" rtlCol="0" anchor="ctr" anchorCtr="1">
            <a:noAutofit/>
          </a:bodyPr>
          <a:lstStyle/>
          <a:p>
            <a:r>
              <a:rPr lang="en-US" altLang="ja-JP"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SA</a:t>
            </a:r>
            <a:endParaRPr lang="ja-JP" altLang="en-US"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 name="正方形/長方形 2">
            <a:extLst>
              <a:ext uri="{FF2B5EF4-FFF2-40B4-BE49-F238E27FC236}">
                <a16:creationId xmlns:a16="http://schemas.microsoft.com/office/drawing/2014/main" id="{369E3F43-5F92-4335-94C1-EF81F42D0885}"/>
              </a:ext>
            </a:extLst>
          </p:cNvPr>
          <p:cNvSpPr/>
          <p:nvPr/>
        </p:nvSpPr>
        <p:spPr>
          <a:xfrm>
            <a:off x="3498665" y="2206648"/>
            <a:ext cx="3474494" cy="2854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雇用形態</a:t>
            </a:r>
          </a:p>
        </p:txBody>
      </p:sp>
      <p:sp>
        <p:nvSpPr>
          <p:cNvPr id="11" name="正方形/長方形 10">
            <a:extLst>
              <a:ext uri="{FF2B5EF4-FFF2-40B4-BE49-F238E27FC236}">
                <a16:creationId xmlns:a16="http://schemas.microsoft.com/office/drawing/2014/main" id="{1874C4F0-006C-4952-9B7A-3F10488DBEEE}"/>
              </a:ext>
            </a:extLst>
          </p:cNvPr>
          <p:cNvSpPr/>
          <p:nvPr/>
        </p:nvSpPr>
        <p:spPr>
          <a:xfrm>
            <a:off x="7351296" y="2206648"/>
            <a:ext cx="3474494" cy="2854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職種</a:t>
            </a:r>
          </a:p>
        </p:txBody>
      </p:sp>
      <p:pic>
        <p:nvPicPr>
          <p:cNvPr id="8" name="図 7">
            <a:extLst>
              <a:ext uri="{FF2B5EF4-FFF2-40B4-BE49-F238E27FC236}">
                <a16:creationId xmlns:a16="http://schemas.microsoft.com/office/drawing/2014/main" id="{C9546B54-DA8E-4920-A22E-B0CC9FC83302}"/>
              </a:ext>
            </a:extLst>
          </p:cNvPr>
          <p:cNvPicPr/>
          <p:nvPr/>
        </p:nvPicPr>
        <p:blipFill>
          <a:blip r:embed="rId2"/>
          <a:srcRect/>
          <a:stretch>
            <a:fillRect/>
          </a:stretch>
        </p:blipFill>
        <p:spPr>
          <a:xfrm>
            <a:off x="1199577" y="2516951"/>
            <a:ext cx="5962650" cy="3800475"/>
          </a:xfrm>
          <a:prstGeom prst="rect">
            <a:avLst/>
          </a:prstGeom>
        </p:spPr>
      </p:pic>
      <p:pic>
        <p:nvPicPr>
          <p:cNvPr id="6" name="図 5">
            <a:extLst>
              <a:ext uri="{FF2B5EF4-FFF2-40B4-BE49-F238E27FC236}">
                <a16:creationId xmlns:a16="http://schemas.microsoft.com/office/drawing/2014/main" id="{636499EA-6148-4E51-9687-F74FC050AA4E}"/>
              </a:ext>
            </a:extLst>
          </p:cNvPr>
          <p:cNvPicPr/>
          <p:nvPr/>
        </p:nvPicPr>
        <p:blipFill>
          <a:blip r:embed="rId3"/>
          <a:stretch>
            <a:fillRect/>
          </a:stretch>
        </p:blipFill>
        <p:spPr>
          <a:xfrm>
            <a:off x="7217689" y="2654913"/>
            <a:ext cx="3905250" cy="3505200"/>
          </a:xfrm>
          <a:prstGeom prst="rect">
            <a:avLst/>
          </a:prstGeom>
        </p:spPr>
      </p:pic>
      <p:sp>
        <p:nvSpPr>
          <p:cNvPr id="15" name="正方形/長方形 14">
            <a:extLst>
              <a:ext uri="{FF2B5EF4-FFF2-40B4-BE49-F238E27FC236}">
                <a16:creationId xmlns:a16="http://schemas.microsoft.com/office/drawing/2014/main" id="{EE604A8B-B6A9-45B5-A816-C4C14BACDC10}"/>
              </a:ext>
            </a:extLst>
          </p:cNvPr>
          <p:cNvSpPr/>
          <p:nvPr/>
        </p:nvSpPr>
        <p:spPr>
          <a:xfrm>
            <a:off x="4677993" y="3748125"/>
            <a:ext cx="1449518" cy="156983"/>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正方形/長方形 15">
            <a:extLst>
              <a:ext uri="{FF2B5EF4-FFF2-40B4-BE49-F238E27FC236}">
                <a16:creationId xmlns:a16="http://schemas.microsoft.com/office/drawing/2014/main" id="{34697D9E-3686-4E9A-85AE-10A76C99832F}"/>
              </a:ext>
            </a:extLst>
          </p:cNvPr>
          <p:cNvSpPr/>
          <p:nvPr/>
        </p:nvSpPr>
        <p:spPr>
          <a:xfrm>
            <a:off x="4030579" y="4875792"/>
            <a:ext cx="2248186" cy="15698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8" name="正方形/長方形 17">
            <a:extLst>
              <a:ext uri="{FF2B5EF4-FFF2-40B4-BE49-F238E27FC236}">
                <a16:creationId xmlns:a16="http://schemas.microsoft.com/office/drawing/2014/main" id="{38CF5D4D-DF94-4001-9D10-D7FB9B6E1D05}"/>
              </a:ext>
            </a:extLst>
          </p:cNvPr>
          <p:cNvSpPr/>
          <p:nvPr/>
        </p:nvSpPr>
        <p:spPr>
          <a:xfrm>
            <a:off x="8334447" y="4875792"/>
            <a:ext cx="591266" cy="15698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 name="正方形/長方形 3">
            <a:extLst>
              <a:ext uri="{FF2B5EF4-FFF2-40B4-BE49-F238E27FC236}">
                <a16:creationId xmlns:a16="http://schemas.microsoft.com/office/drawing/2014/main" id="{2D40AC54-15D2-8892-D645-5B803C844955}"/>
              </a:ext>
            </a:extLst>
          </p:cNvPr>
          <p:cNvSpPr/>
          <p:nvPr/>
        </p:nvSpPr>
        <p:spPr>
          <a:xfrm>
            <a:off x="12758286" y="2053776"/>
            <a:ext cx="2569946" cy="155569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rPr>
              <a:t>営業が面談しないインサイトって何だろう</a:t>
            </a:r>
          </a:p>
        </p:txBody>
      </p:sp>
    </p:spTree>
    <p:extLst>
      <p:ext uri="{BB962C8B-B14F-4D97-AF65-F5344CB8AC3E}">
        <p14:creationId xmlns:p14="http://schemas.microsoft.com/office/powerpoint/2010/main" val="4627888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RAG</a:t>
            </a:r>
            <a:r>
              <a:rPr kumimoji="1" lang="ja-JP" altLang="en-US" dirty="0"/>
              <a:t>登録時の転職希望度合い</a:t>
            </a:r>
            <a:r>
              <a:rPr kumimoji="1" lang="en-US" altLang="ja-JP" dirty="0"/>
              <a:t>/</a:t>
            </a:r>
            <a:r>
              <a:rPr kumimoji="1" lang="ja-JP" altLang="en-US" dirty="0"/>
              <a:t>転職希望時期</a:t>
            </a:r>
          </a:p>
        </p:txBody>
      </p:sp>
      <p:sp>
        <p:nvSpPr>
          <p:cNvPr id="33" name="ホームベース 32"/>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コネクタ 33"/>
          <p:cNvCxnSpPr/>
          <p:nvPr/>
        </p:nvCxnSpPr>
        <p:spPr>
          <a:xfrm>
            <a:off x="2316605" y="126876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525E7F-7E3A-401F-9DD8-D9E508A743F2}"/>
              </a:ext>
            </a:extLst>
          </p:cNvPr>
          <p:cNvCxnSpPr>
            <a:cxnSpLocks/>
          </p:cNvCxnSpPr>
          <p:nvPr/>
        </p:nvCxnSpPr>
        <p:spPr>
          <a:xfrm flipV="1">
            <a:off x="1489279" y="1693434"/>
            <a:ext cx="9336511" cy="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8FF9AB37-D78C-49AD-8B0E-275FF11AAA94}"/>
              </a:ext>
            </a:extLst>
          </p:cNvPr>
          <p:cNvSpPr>
            <a:spLocks noChangeArrowheads="1"/>
          </p:cNvSpPr>
          <p:nvPr/>
        </p:nvSpPr>
        <p:spPr bwMode="auto">
          <a:xfrm>
            <a:off x="1497114" y="1780266"/>
            <a:ext cx="9360000" cy="318924"/>
          </a:xfrm>
          <a:prstGeom prst="rect">
            <a:avLst/>
          </a:prstGeom>
          <a:solidFill>
            <a:srgbClr val="F2F2F2"/>
          </a:solidFill>
          <a:ln w="9525" algn="ctr">
            <a:noFill/>
            <a:miter lim="800000"/>
            <a:headEnd/>
            <a:tailEnd/>
          </a:ln>
          <a:effectLst/>
        </p:spPr>
        <p:txBody>
          <a:bodyPr vert="horz" wrap="square" lIns="91440" tIns="36000" rIns="720000" bIns="36000" numCol="1" anchor="ctr" anchorCtr="0" compatLnSpc="1">
            <a:prstTxWarp prst="textNoShape">
              <a:avLst/>
            </a:prstTxWarp>
            <a:spAutoFit/>
          </a:bodyPr>
          <a:lstStyle/>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Q26S1</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あなたの転職希望度合いとして、それぞれ最も近いものをお選びください。</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直近のリクルートエージェント登録時の転職希望度合い</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endPar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Q27S1</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あなたの転職希望時期として、それぞれ最も近いものをお選びください。</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直近のリクルートエージェント登録時の転職希望時期</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p>
        </p:txBody>
      </p:sp>
      <p:sp>
        <p:nvSpPr>
          <p:cNvPr id="14" name="テキスト ボックス 13">
            <a:extLst>
              <a:ext uri="{FF2B5EF4-FFF2-40B4-BE49-F238E27FC236}">
                <a16:creationId xmlns:a16="http://schemas.microsoft.com/office/drawing/2014/main" id="{F913BBE7-A10C-4A57-A95D-152E082DD1E1}"/>
              </a:ext>
            </a:extLst>
          </p:cNvPr>
          <p:cNvSpPr txBox="1"/>
          <p:nvPr/>
        </p:nvSpPr>
        <p:spPr>
          <a:xfrm>
            <a:off x="10209562" y="1830634"/>
            <a:ext cx="648000" cy="223143"/>
          </a:xfrm>
          <a:prstGeom prst="rect">
            <a:avLst/>
          </a:prstGeom>
          <a:noFill/>
        </p:spPr>
        <p:txBody>
          <a:bodyPr wrap="none" lIns="36000" tIns="36000" rIns="36000" bIns="36000" rtlCol="0" anchor="ctr" anchorCtr="1">
            <a:noAutofit/>
          </a:bodyPr>
          <a:lstStyle/>
          <a:p>
            <a:r>
              <a:rPr lang="en-US" altLang="ja-JP"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SA</a:t>
            </a:r>
            <a:endParaRPr lang="ja-JP" altLang="en-US"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 name="正方形/長方形 2">
            <a:extLst>
              <a:ext uri="{FF2B5EF4-FFF2-40B4-BE49-F238E27FC236}">
                <a16:creationId xmlns:a16="http://schemas.microsoft.com/office/drawing/2014/main" id="{369E3F43-5F92-4335-94C1-EF81F42D0885}"/>
              </a:ext>
            </a:extLst>
          </p:cNvPr>
          <p:cNvSpPr/>
          <p:nvPr/>
        </p:nvSpPr>
        <p:spPr>
          <a:xfrm>
            <a:off x="3498665" y="2206648"/>
            <a:ext cx="3474494" cy="2854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転職希望度合い</a:t>
            </a:r>
          </a:p>
        </p:txBody>
      </p:sp>
      <p:sp>
        <p:nvSpPr>
          <p:cNvPr id="11" name="正方形/長方形 10">
            <a:extLst>
              <a:ext uri="{FF2B5EF4-FFF2-40B4-BE49-F238E27FC236}">
                <a16:creationId xmlns:a16="http://schemas.microsoft.com/office/drawing/2014/main" id="{1874C4F0-006C-4952-9B7A-3F10488DBEEE}"/>
              </a:ext>
            </a:extLst>
          </p:cNvPr>
          <p:cNvSpPr/>
          <p:nvPr/>
        </p:nvSpPr>
        <p:spPr>
          <a:xfrm>
            <a:off x="7270016" y="2206648"/>
            <a:ext cx="3474494" cy="2854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転職希望時期</a:t>
            </a:r>
          </a:p>
        </p:txBody>
      </p:sp>
      <p:pic>
        <p:nvPicPr>
          <p:cNvPr id="7" name="図 6">
            <a:extLst>
              <a:ext uri="{FF2B5EF4-FFF2-40B4-BE49-F238E27FC236}">
                <a16:creationId xmlns:a16="http://schemas.microsoft.com/office/drawing/2014/main" id="{CAC83329-C89C-45F1-9180-01BCFFE67E03}"/>
              </a:ext>
            </a:extLst>
          </p:cNvPr>
          <p:cNvPicPr/>
          <p:nvPr/>
        </p:nvPicPr>
        <p:blipFill>
          <a:blip r:embed="rId2"/>
          <a:srcRect/>
          <a:stretch>
            <a:fillRect/>
          </a:stretch>
        </p:blipFill>
        <p:spPr>
          <a:xfrm>
            <a:off x="1199582" y="2718977"/>
            <a:ext cx="5769448" cy="3420737"/>
          </a:xfrm>
          <a:prstGeom prst="rect">
            <a:avLst/>
          </a:prstGeom>
        </p:spPr>
      </p:pic>
      <p:pic>
        <p:nvPicPr>
          <p:cNvPr id="6" name="図 5">
            <a:extLst>
              <a:ext uri="{FF2B5EF4-FFF2-40B4-BE49-F238E27FC236}">
                <a16:creationId xmlns:a16="http://schemas.microsoft.com/office/drawing/2014/main" id="{3729B02E-18DB-4E1C-8F8E-F63B55239329}"/>
              </a:ext>
            </a:extLst>
          </p:cNvPr>
          <p:cNvPicPr/>
          <p:nvPr/>
        </p:nvPicPr>
        <p:blipFill>
          <a:blip r:embed="rId3"/>
          <a:srcRect/>
          <a:stretch>
            <a:fillRect/>
          </a:stretch>
        </p:blipFill>
        <p:spPr>
          <a:xfrm>
            <a:off x="7107871" y="2633912"/>
            <a:ext cx="3977640" cy="3506256"/>
          </a:xfrm>
          <a:prstGeom prst="rect">
            <a:avLst/>
          </a:prstGeom>
        </p:spPr>
      </p:pic>
      <p:sp>
        <p:nvSpPr>
          <p:cNvPr id="15" name="テキスト ボックス 14">
            <a:extLst>
              <a:ext uri="{FF2B5EF4-FFF2-40B4-BE49-F238E27FC236}">
                <a16:creationId xmlns:a16="http://schemas.microsoft.com/office/drawing/2014/main" id="{6809065C-2B5A-42E6-B82B-85EE13330FAD}"/>
              </a:ext>
            </a:extLst>
          </p:cNvPr>
          <p:cNvSpPr txBox="1"/>
          <p:nvPr/>
        </p:nvSpPr>
        <p:spPr>
          <a:xfrm>
            <a:off x="2351584" y="544107"/>
            <a:ext cx="8332852" cy="738664"/>
          </a:xfrm>
          <a:prstGeom prst="rect">
            <a:avLst/>
          </a:prstGeom>
          <a:noFill/>
        </p:spPr>
        <p:txBody>
          <a:bodyPr wrap="square" rtlCol="0">
            <a:spAutoFit/>
          </a:bodyPr>
          <a:lstStyle/>
          <a:p>
            <a:pPr>
              <a:spcBef>
                <a:spcPts val="600"/>
              </a:spcBef>
            </a:pP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転職希望自体は、いずれもほとんど</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100%</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だが、「必ず転職をしたい」について</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面談希望あり</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では</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52%</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に対し、</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面談希望なし</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では</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29%</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に留まる。希望時期のボリュームゾーンは</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面談希望あり</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は「</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2</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3</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ヶ月以内」で</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32%</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面談希望なし</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は「</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4</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6</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ヶ月」で</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25%</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「明確な時期はなかった」はいずれも</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25%</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前後で大きな差分はない</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正方形/長方形 15">
            <a:extLst>
              <a:ext uri="{FF2B5EF4-FFF2-40B4-BE49-F238E27FC236}">
                <a16:creationId xmlns:a16="http://schemas.microsoft.com/office/drawing/2014/main" id="{CBF8BF92-9FEC-43CE-9867-AFC4AB8EA9D9}"/>
              </a:ext>
            </a:extLst>
          </p:cNvPr>
          <p:cNvSpPr/>
          <p:nvPr/>
        </p:nvSpPr>
        <p:spPr>
          <a:xfrm>
            <a:off x="3556192" y="3816779"/>
            <a:ext cx="1478165" cy="15698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7" name="正方形/長方形 16">
            <a:extLst>
              <a:ext uri="{FF2B5EF4-FFF2-40B4-BE49-F238E27FC236}">
                <a16:creationId xmlns:a16="http://schemas.microsoft.com/office/drawing/2014/main" id="{AFC9AE5A-9756-4DEC-92A1-9EF4EF36B29E}"/>
              </a:ext>
            </a:extLst>
          </p:cNvPr>
          <p:cNvSpPr/>
          <p:nvPr/>
        </p:nvSpPr>
        <p:spPr>
          <a:xfrm>
            <a:off x="7792783" y="3817828"/>
            <a:ext cx="926674" cy="1559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8" name="正方形/長方形 17">
            <a:extLst>
              <a:ext uri="{FF2B5EF4-FFF2-40B4-BE49-F238E27FC236}">
                <a16:creationId xmlns:a16="http://schemas.microsoft.com/office/drawing/2014/main" id="{A4A6AC51-D3DE-4C6D-93D2-0FBF3A4CBFEB}"/>
              </a:ext>
            </a:extLst>
          </p:cNvPr>
          <p:cNvSpPr/>
          <p:nvPr/>
        </p:nvSpPr>
        <p:spPr>
          <a:xfrm>
            <a:off x="3556192" y="4834916"/>
            <a:ext cx="811272" cy="156983"/>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2" name="直線矢印コネクタ 11">
            <a:extLst>
              <a:ext uri="{FF2B5EF4-FFF2-40B4-BE49-F238E27FC236}">
                <a16:creationId xmlns:a16="http://schemas.microsoft.com/office/drawing/2014/main" id="{23E2F33F-319F-4C43-AA31-407E0711408F}"/>
              </a:ext>
            </a:extLst>
          </p:cNvPr>
          <p:cNvCxnSpPr>
            <a:cxnSpLocks/>
          </p:cNvCxnSpPr>
          <p:nvPr/>
        </p:nvCxnSpPr>
        <p:spPr>
          <a:xfrm flipH="1">
            <a:off x="4415591" y="4021937"/>
            <a:ext cx="598141" cy="778603"/>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a:extLst>
              <a:ext uri="{FF2B5EF4-FFF2-40B4-BE49-F238E27FC236}">
                <a16:creationId xmlns:a16="http://schemas.microsoft.com/office/drawing/2014/main" id="{48946FBA-3818-430A-A1C0-2E43FF46E2CF}"/>
              </a:ext>
            </a:extLst>
          </p:cNvPr>
          <p:cNvSpPr/>
          <p:nvPr/>
        </p:nvSpPr>
        <p:spPr>
          <a:xfrm>
            <a:off x="8363424" y="4849618"/>
            <a:ext cx="741045" cy="14228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318529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転職活動のきっかけ</a:t>
            </a:r>
            <a:endParaRPr kumimoji="1" lang="ja-JP" altLang="en-US" dirty="0"/>
          </a:p>
        </p:txBody>
      </p:sp>
      <p:sp>
        <p:nvSpPr>
          <p:cNvPr id="7" name="テキスト ボックス 6"/>
          <p:cNvSpPr txBox="1"/>
          <p:nvPr/>
        </p:nvSpPr>
        <p:spPr>
          <a:xfrm>
            <a:off x="2351584" y="544107"/>
            <a:ext cx="8332852" cy="738664"/>
          </a:xfrm>
          <a:prstGeom prst="rect">
            <a:avLst/>
          </a:prstGeom>
          <a:noFill/>
        </p:spPr>
        <p:txBody>
          <a:bodyPr wrap="square" rtlCol="0">
            <a:spAutoFit/>
          </a:bodyPr>
          <a:lstStyle/>
          <a:p>
            <a:pPr>
              <a:spcBef>
                <a:spcPts val="600"/>
              </a:spcBef>
            </a:pP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「職場環境・人間関係への不満」「給与への不満」</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が全体で上位に並び、</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面談希望あり</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なし</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でスコア差はない</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面談希望あり（特に面談実施・求人応募もあり）</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では「仕事内容への不満」も高い</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が、</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面談希望なし</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は低め。</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また</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面談希望あり・面談実施あり</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では「会社の将来性への不満」</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が</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40%</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を超えて最も高くなっている。</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3" name="ホームベース 32"/>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コネクタ 33"/>
          <p:cNvCxnSpPr/>
          <p:nvPr/>
        </p:nvCxnSpPr>
        <p:spPr>
          <a:xfrm>
            <a:off x="2316605" y="126876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525E7F-7E3A-401F-9DD8-D9E508A743F2}"/>
              </a:ext>
            </a:extLst>
          </p:cNvPr>
          <p:cNvCxnSpPr>
            <a:cxnSpLocks/>
          </p:cNvCxnSpPr>
          <p:nvPr/>
        </p:nvCxnSpPr>
        <p:spPr>
          <a:xfrm flipV="1">
            <a:off x="1489279" y="1693434"/>
            <a:ext cx="9336511" cy="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8FF9AB37-D78C-49AD-8B0E-275FF11AAA94}"/>
              </a:ext>
            </a:extLst>
          </p:cNvPr>
          <p:cNvSpPr>
            <a:spLocks noChangeArrowheads="1"/>
          </p:cNvSpPr>
          <p:nvPr/>
        </p:nvSpPr>
        <p:spPr bwMode="auto">
          <a:xfrm>
            <a:off x="1497114" y="1841821"/>
            <a:ext cx="9360000" cy="195814"/>
          </a:xfrm>
          <a:prstGeom prst="rect">
            <a:avLst/>
          </a:prstGeom>
          <a:solidFill>
            <a:srgbClr val="F2F2F2"/>
          </a:solidFill>
          <a:ln w="9525" algn="ctr">
            <a:noFill/>
            <a:miter lim="800000"/>
            <a:headEnd/>
            <a:tailEnd/>
          </a:ln>
          <a:effectLst/>
        </p:spPr>
        <p:txBody>
          <a:bodyPr vert="horz" wrap="square" lIns="91440" tIns="36000" rIns="720000" bIns="36000" numCol="1" anchor="ctr" anchorCtr="0" compatLnSpc="1">
            <a:prstTxWarp prst="textNoShape">
              <a:avLst/>
            </a:prstTxWarp>
            <a:spAutoFit/>
          </a:bodyPr>
          <a:lstStyle/>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Q3</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直近の転職活動をしたきっかけとして、以下当てはまるものをそれぞれお選びください。　　</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転職活動をしたきっかけ（すべて）</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転職活動をした最も大きなきっかけ（ひとつ）</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p>
        </p:txBody>
      </p:sp>
      <p:sp>
        <p:nvSpPr>
          <p:cNvPr id="14" name="テキスト ボックス 13">
            <a:extLst>
              <a:ext uri="{FF2B5EF4-FFF2-40B4-BE49-F238E27FC236}">
                <a16:creationId xmlns:a16="http://schemas.microsoft.com/office/drawing/2014/main" id="{F913BBE7-A10C-4A57-A95D-152E082DD1E1}"/>
              </a:ext>
            </a:extLst>
          </p:cNvPr>
          <p:cNvSpPr txBox="1"/>
          <p:nvPr/>
        </p:nvSpPr>
        <p:spPr>
          <a:xfrm>
            <a:off x="10209562" y="1830634"/>
            <a:ext cx="648000" cy="223143"/>
          </a:xfrm>
          <a:prstGeom prst="rect">
            <a:avLst/>
          </a:prstGeom>
          <a:noFill/>
        </p:spPr>
        <p:txBody>
          <a:bodyPr wrap="none" lIns="36000" tIns="36000" rIns="36000" bIns="36000" rtlCol="0" anchor="ctr" anchorCtr="1">
            <a:noAutofit/>
          </a:bodyPr>
          <a:lstStyle/>
          <a:p>
            <a:r>
              <a:rPr lang="en-US" altLang="ja-JP"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MA/SA</a:t>
            </a:r>
            <a:endParaRPr lang="ja-JP" altLang="en-US"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5" name="図 4">
            <a:extLst>
              <a:ext uri="{FF2B5EF4-FFF2-40B4-BE49-F238E27FC236}">
                <a16:creationId xmlns:a16="http://schemas.microsoft.com/office/drawing/2014/main" id="{DFABD8DB-E771-421B-B213-0D1ADB70036E}"/>
              </a:ext>
            </a:extLst>
          </p:cNvPr>
          <p:cNvPicPr/>
          <p:nvPr/>
        </p:nvPicPr>
        <p:blipFill>
          <a:blip r:embed="rId2"/>
          <a:srcRect/>
          <a:stretch>
            <a:fillRect/>
          </a:stretch>
        </p:blipFill>
        <p:spPr>
          <a:xfrm>
            <a:off x="1818846" y="2118107"/>
            <a:ext cx="8554309" cy="4514279"/>
          </a:xfrm>
          <a:prstGeom prst="rect">
            <a:avLst/>
          </a:prstGeom>
        </p:spPr>
      </p:pic>
      <p:sp>
        <p:nvSpPr>
          <p:cNvPr id="4" name="正方形/長方形 3">
            <a:extLst>
              <a:ext uri="{FF2B5EF4-FFF2-40B4-BE49-F238E27FC236}">
                <a16:creationId xmlns:a16="http://schemas.microsoft.com/office/drawing/2014/main" id="{5C60FE44-A985-47C1-BE53-B4958684B363}"/>
              </a:ext>
            </a:extLst>
          </p:cNvPr>
          <p:cNvSpPr/>
          <p:nvPr/>
        </p:nvSpPr>
        <p:spPr>
          <a:xfrm>
            <a:off x="3686821" y="2206935"/>
            <a:ext cx="825022" cy="251631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 name="正方形/長方形 11">
            <a:extLst>
              <a:ext uri="{FF2B5EF4-FFF2-40B4-BE49-F238E27FC236}">
                <a16:creationId xmlns:a16="http://schemas.microsoft.com/office/drawing/2014/main" id="{A0D4A3C6-7457-4175-85C0-81BEFE4430A8}"/>
              </a:ext>
            </a:extLst>
          </p:cNvPr>
          <p:cNvSpPr/>
          <p:nvPr/>
        </p:nvSpPr>
        <p:spPr>
          <a:xfrm>
            <a:off x="4511843" y="4833259"/>
            <a:ext cx="412510" cy="11687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正方形/長方形 14">
            <a:extLst>
              <a:ext uri="{FF2B5EF4-FFF2-40B4-BE49-F238E27FC236}">
                <a16:creationId xmlns:a16="http://schemas.microsoft.com/office/drawing/2014/main" id="{DC51E729-16E2-44FB-AD8F-E75B08B873E2}"/>
              </a:ext>
            </a:extLst>
          </p:cNvPr>
          <p:cNvSpPr/>
          <p:nvPr/>
        </p:nvSpPr>
        <p:spPr>
          <a:xfrm>
            <a:off x="4932375" y="4724401"/>
            <a:ext cx="397614" cy="3494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正方形/長方形 15">
            <a:extLst>
              <a:ext uri="{FF2B5EF4-FFF2-40B4-BE49-F238E27FC236}">
                <a16:creationId xmlns:a16="http://schemas.microsoft.com/office/drawing/2014/main" id="{71503FFF-A0D9-417D-9422-F41DB9B303E4}"/>
              </a:ext>
            </a:extLst>
          </p:cNvPr>
          <p:cNvSpPr/>
          <p:nvPr/>
        </p:nvSpPr>
        <p:spPr>
          <a:xfrm>
            <a:off x="4932375" y="5554866"/>
            <a:ext cx="397614" cy="117165"/>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2612370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転職先の職場に求めていたこと</a:t>
            </a:r>
            <a:endParaRPr kumimoji="1" lang="ja-JP" altLang="en-US" dirty="0"/>
          </a:p>
        </p:txBody>
      </p:sp>
      <p:sp>
        <p:nvSpPr>
          <p:cNvPr id="33" name="ホームベース 32"/>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コネクタ 33"/>
          <p:cNvCxnSpPr/>
          <p:nvPr/>
        </p:nvCxnSpPr>
        <p:spPr>
          <a:xfrm>
            <a:off x="2316605" y="126876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525E7F-7E3A-401F-9DD8-D9E508A743F2}"/>
              </a:ext>
            </a:extLst>
          </p:cNvPr>
          <p:cNvCxnSpPr>
            <a:cxnSpLocks/>
          </p:cNvCxnSpPr>
          <p:nvPr/>
        </p:nvCxnSpPr>
        <p:spPr>
          <a:xfrm flipV="1">
            <a:off x="1489279" y="1693434"/>
            <a:ext cx="9336511" cy="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8FF9AB37-D78C-49AD-8B0E-275FF11AAA94}"/>
              </a:ext>
            </a:extLst>
          </p:cNvPr>
          <p:cNvSpPr>
            <a:spLocks noChangeArrowheads="1"/>
          </p:cNvSpPr>
          <p:nvPr/>
        </p:nvSpPr>
        <p:spPr bwMode="auto">
          <a:xfrm>
            <a:off x="1497114" y="1841821"/>
            <a:ext cx="9360000" cy="195814"/>
          </a:xfrm>
          <a:prstGeom prst="rect">
            <a:avLst/>
          </a:prstGeom>
          <a:solidFill>
            <a:srgbClr val="F2F2F2"/>
          </a:solidFill>
          <a:ln w="9525" algn="ctr">
            <a:noFill/>
            <a:miter lim="800000"/>
            <a:headEnd/>
            <a:tailEnd/>
          </a:ln>
          <a:effectLst/>
        </p:spPr>
        <p:txBody>
          <a:bodyPr vert="horz" wrap="square" lIns="91440" tIns="36000" rIns="720000" bIns="36000" numCol="1" anchor="ctr" anchorCtr="0" compatLnSpc="1">
            <a:prstTxWarp prst="textNoShape">
              <a:avLst/>
            </a:prstTxWarp>
            <a:spAutoFit/>
          </a:bodyPr>
          <a:lstStyle/>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Q4</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直近の転職活動時に、転職先の職場に求めていたことを</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3</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つまでお選びください。</a:t>
            </a:r>
            <a:endPar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テキスト ボックス 13">
            <a:extLst>
              <a:ext uri="{FF2B5EF4-FFF2-40B4-BE49-F238E27FC236}">
                <a16:creationId xmlns:a16="http://schemas.microsoft.com/office/drawing/2014/main" id="{F913BBE7-A10C-4A57-A95D-152E082DD1E1}"/>
              </a:ext>
            </a:extLst>
          </p:cNvPr>
          <p:cNvSpPr txBox="1"/>
          <p:nvPr/>
        </p:nvSpPr>
        <p:spPr>
          <a:xfrm>
            <a:off x="10209562" y="1830634"/>
            <a:ext cx="648000" cy="223143"/>
          </a:xfrm>
          <a:prstGeom prst="rect">
            <a:avLst/>
          </a:prstGeom>
          <a:noFill/>
        </p:spPr>
        <p:txBody>
          <a:bodyPr wrap="none" lIns="36000" tIns="36000" rIns="36000" bIns="36000" rtlCol="0" anchor="ctr" anchorCtr="1">
            <a:noAutofit/>
          </a:bodyPr>
          <a:lstStyle/>
          <a:p>
            <a:r>
              <a:rPr lang="en-US" altLang="ja-JP"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MA</a:t>
            </a:r>
            <a:endParaRPr lang="ja-JP" altLang="en-US"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4" name="図 3">
            <a:extLst>
              <a:ext uri="{FF2B5EF4-FFF2-40B4-BE49-F238E27FC236}">
                <a16:creationId xmlns:a16="http://schemas.microsoft.com/office/drawing/2014/main" id="{D658DB70-7373-4609-B6E1-C89203425521}"/>
              </a:ext>
            </a:extLst>
          </p:cNvPr>
          <p:cNvPicPr/>
          <p:nvPr/>
        </p:nvPicPr>
        <p:blipFill>
          <a:blip r:embed="rId2"/>
          <a:srcRect/>
          <a:stretch>
            <a:fillRect/>
          </a:stretch>
        </p:blipFill>
        <p:spPr>
          <a:xfrm>
            <a:off x="1367056" y="2186022"/>
            <a:ext cx="9457888" cy="4011930"/>
          </a:xfrm>
          <a:prstGeom prst="rect">
            <a:avLst/>
          </a:prstGeom>
        </p:spPr>
      </p:pic>
      <p:sp>
        <p:nvSpPr>
          <p:cNvPr id="10" name="テキスト ボックス 9">
            <a:extLst>
              <a:ext uri="{FF2B5EF4-FFF2-40B4-BE49-F238E27FC236}">
                <a16:creationId xmlns:a16="http://schemas.microsoft.com/office/drawing/2014/main" id="{CF1FD1A7-D2CE-4D96-A566-7A4FBD1F9024}"/>
              </a:ext>
            </a:extLst>
          </p:cNvPr>
          <p:cNvSpPr txBox="1"/>
          <p:nvPr/>
        </p:nvSpPr>
        <p:spPr>
          <a:xfrm>
            <a:off x="2351584" y="544107"/>
            <a:ext cx="8332852" cy="738664"/>
          </a:xfrm>
          <a:prstGeom prst="rect">
            <a:avLst/>
          </a:prstGeom>
          <a:noFill/>
        </p:spPr>
        <p:txBody>
          <a:bodyPr wrap="square" rtlCol="0">
            <a:spAutoFit/>
          </a:bodyPr>
          <a:lstStyle/>
          <a:p>
            <a:pPr>
              <a:spcBef>
                <a:spcPts val="600"/>
              </a:spcBef>
            </a:pP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「給与水準」</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が全体で</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46%</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と突出。「勤務地」「プライベートの時間」が続き、</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面談希望あり</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なし</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で</a:t>
            </a:r>
            <a:b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大きなスコア差はない</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面談希望あり（面談実施有無問わず）</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面談希望なし・面談希望実施あり</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では</a:t>
            </a:r>
            <a:b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「やりたいことを仕事にできる」</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も比較的高いが、</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面談希望なし・面談実施なし</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は低めで</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10%</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程度に留まる</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正方形/長方形 10">
            <a:extLst>
              <a:ext uri="{FF2B5EF4-FFF2-40B4-BE49-F238E27FC236}">
                <a16:creationId xmlns:a16="http://schemas.microsoft.com/office/drawing/2014/main" id="{FEC08964-A3C3-4F62-8390-97B7229E4C8C}"/>
              </a:ext>
            </a:extLst>
          </p:cNvPr>
          <p:cNvSpPr/>
          <p:nvPr/>
        </p:nvSpPr>
        <p:spPr>
          <a:xfrm>
            <a:off x="3219308" y="2392565"/>
            <a:ext cx="969400" cy="211068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正方形/長方形 14">
            <a:extLst>
              <a:ext uri="{FF2B5EF4-FFF2-40B4-BE49-F238E27FC236}">
                <a16:creationId xmlns:a16="http://schemas.microsoft.com/office/drawing/2014/main" id="{E9133802-306A-4057-85F3-8C19CC71626C}"/>
              </a:ext>
            </a:extLst>
          </p:cNvPr>
          <p:cNvSpPr/>
          <p:nvPr/>
        </p:nvSpPr>
        <p:spPr>
          <a:xfrm>
            <a:off x="4526740" y="4511270"/>
            <a:ext cx="328863" cy="7757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正方形/長方形 15">
            <a:extLst>
              <a:ext uri="{FF2B5EF4-FFF2-40B4-BE49-F238E27FC236}">
                <a16:creationId xmlns:a16="http://schemas.microsoft.com/office/drawing/2014/main" id="{2068BD92-E8EF-4614-A6D3-D99DD98FF8CB}"/>
              </a:ext>
            </a:extLst>
          </p:cNvPr>
          <p:cNvSpPr/>
          <p:nvPr/>
        </p:nvSpPr>
        <p:spPr>
          <a:xfrm>
            <a:off x="4526740" y="5391734"/>
            <a:ext cx="328863" cy="12904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7" name="正方形/長方形 16">
            <a:extLst>
              <a:ext uri="{FF2B5EF4-FFF2-40B4-BE49-F238E27FC236}">
                <a16:creationId xmlns:a16="http://schemas.microsoft.com/office/drawing/2014/main" id="{FE1EC025-416A-4DFB-BD36-6E0B4D535ECF}"/>
              </a:ext>
            </a:extLst>
          </p:cNvPr>
          <p:cNvSpPr/>
          <p:nvPr/>
        </p:nvSpPr>
        <p:spPr>
          <a:xfrm>
            <a:off x="4526740" y="5730321"/>
            <a:ext cx="328863" cy="129043"/>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2863743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転職サービスの認知</a:t>
            </a:r>
            <a:endParaRPr kumimoji="1" lang="ja-JP" altLang="en-US" dirty="0"/>
          </a:p>
        </p:txBody>
      </p:sp>
      <p:sp>
        <p:nvSpPr>
          <p:cNvPr id="7" name="テキスト ボックス 6"/>
          <p:cNvSpPr txBox="1"/>
          <p:nvPr/>
        </p:nvSpPr>
        <p:spPr>
          <a:xfrm>
            <a:off x="2351584" y="544107"/>
            <a:ext cx="8332852" cy="738664"/>
          </a:xfrm>
          <a:prstGeom prst="rect">
            <a:avLst/>
          </a:prstGeom>
          <a:noFill/>
        </p:spPr>
        <p:txBody>
          <a:bodyPr wrap="square" rtlCol="0">
            <a:spAutoFit/>
          </a:bodyPr>
          <a:lstStyle/>
          <a:p>
            <a:pPr>
              <a:spcBef>
                <a:spcPts val="600"/>
              </a:spcBef>
            </a:pP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全体、</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面談希望あり</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なし</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同様に、「マイナビ転職」「</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Indeed</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RNN</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doda</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」「エン転職」といった</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転職サイトの認知率は</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7-8</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割と高く、「</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BIZREACH</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」も同程度</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。エージェントサービスでは</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「マイナビエージェント」の認知率が</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7</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割台で比較的高いもののその他のサービスは低い</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RDS</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」も全体で</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56%</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の認知率に留まる</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3" name="ホームベース 32"/>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コネクタ 33"/>
          <p:cNvCxnSpPr/>
          <p:nvPr/>
        </p:nvCxnSpPr>
        <p:spPr>
          <a:xfrm>
            <a:off x="2316605" y="126876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525E7F-7E3A-401F-9DD8-D9E508A743F2}"/>
              </a:ext>
            </a:extLst>
          </p:cNvPr>
          <p:cNvCxnSpPr>
            <a:cxnSpLocks/>
          </p:cNvCxnSpPr>
          <p:nvPr/>
        </p:nvCxnSpPr>
        <p:spPr>
          <a:xfrm flipV="1">
            <a:off x="1489279" y="1693434"/>
            <a:ext cx="9336511" cy="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8FF9AB37-D78C-49AD-8B0E-275FF11AAA94}"/>
              </a:ext>
            </a:extLst>
          </p:cNvPr>
          <p:cNvSpPr>
            <a:spLocks noChangeArrowheads="1"/>
          </p:cNvSpPr>
          <p:nvPr/>
        </p:nvSpPr>
        <p:spPr bwMode="auto">
          <a:xfrm>
            <a:off x="1497114" y="1841821"/>
            <a:ext cx="9360000" cy="195814"/>
          </a:xfrm>
          <a:prstGeom prst="rect">
            <a:avLst/>
          </a:prstGeom>
          <a:solidFill>
            <a:srgbClr val="F2F2F2"/>
          </a:solidFill>
          <a:ln w="9525" algn="ctr">
            <a:noFill/>
            <a:miter lim="800000"/>
            <a:headEnd/>
            <a:tailEnd/>
          </a:ln>
          <a:effectLst/>
        </p:spPr>
        <p:txBody>
          <a:bodyPr vert="horz" wrap="square" lIns="91440" tIns="36000" rIns="720000" bIns="36000" numCol="1" anchor="ctr" anchorCtr="0" compatLnSpc="1">
            <a:prstTxWarp prst="textNoShape">
              <a:avLst/>
            </a:prstTxWarp>
            <a:spAutoFit/>
          </a:bodyPr>
          <a:lstStyle/>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Q5</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以下の転職サービスについて、知っているものをすべてお選びください。</a:t>
            </a:r>
            <a:endPar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テキスト ボックス 13">
            <a:extLst>
              <a:ext uri="{FF2B5EF4-FFF2-40B4-BE49-F238E27FC236}">
                <a16:creationId xmlns:a16="http://schemas.microsoft.com/office/drawing/2014/main" id="{F913BBE7-A10C-4A57-A95D-152E082DD1E1}"/>
              </a:ext>
            </a:extLst>
          </p:cNvPr>
          <p:cNvSpPr txBox="1"/>
          <p:nvPr/>
        </p:nvSpPr>
        <p:spPr>
          <a:xfrm>
            <a:off x="10209562" y="1830634"/>
            <a:ext cx="648000" cy="223143"/>
          </a:xfrm>
          <a:prstGeom prst="rect">
            <a:avLst/>
          </a:prstGeom>
          <a:noFill/>
        </p:spPr>
        <p:txBody>
          <a:bodyPr wrap="none" lIns="36000" tIns="36000" rIns="36000" bIns="36000" rtlCol="0" anchor="ctr" anchorCtr="1">
            <a:noAutofit/>
          </a:bodyPr>
          <a:lstStyle/>
          <a:p>
            <a:r>
              <a:rPr lang="en-US" altLang="ja-JP"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MA</a:t>
            </a:r>
            <a:endParaRPr lang="ja-JP" altLang="en-US"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4" name="図 3">
            <a:extLst>
              <a:ext uri="{FF2B5EF4-FFF2-40B4-BE49-F238E27FC236}">
                <a16:creationId xmlns:a16="http://schemas.microsoft.com/office/drawing/2014/main" id="{803153F7-79F7-4407-9356-F2A30D9EE007}"/>
              </a:ext>
            </a:extLst>
          </p:cNvPr>
          <p:cNvPicPr/>
          <p:nvPr/>
        </p:nvPicPr>
        <p:blipFill>
          <a:blip r:embed="rId2"/>
          <a:srcRect/>
          <a:stretch>
            <a:fillRect/>
          </a:stretch>
        </p:blipFill>
        <p:spPr>
          <a:xfrm>
            <a:off x="1344105" y="2179824"/>
            <a:ext cx="9486900" cy="4129260"/>
          </a:xfrm>
          <a:prstGeom prst="rect">
            <a:avLst/>
          </a:prstGeom>
        </p:spPr>
      </p:pic>
      <p:sp>
        <p:nvSpPr>
          <p:cNvPr id="10" name="正方形/長方形 9">
            <a:extLst>
              <a:ext uri="{FF2B5EF4-FFF2-40B4-BE49-F238E27FC236}">
                <a16:creationId xmlns:a16="http://schemas.microsoft.com/office/drawing/2014/main" id="{75F61E60-0000-4BBD-9702-9F65F2CE19ED}"/>
              </a:ext>
            </a:extLst>
          </p:cNvPr>
          <p:cNvSpPr/>
          <p:nvPr/>
        </p:nvSpPr>
        <p:spPr>
          <a:xfrm>
            <a:off x="5438032" y="2337565"/>
            <a:ext cx="1349498" cy="235131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 name="正方形/長方形 11">
            <a:extLst>
              <a:ext uri="{FF2B5EF4-FFF2-40B4-BE49-F238E27FC236}">
                <a16:creationId xmlns:a16="http://schemas.microsoft.com/office/drawing/2014/main" id="{227707BE-0047-42D1-BFFD-69E4C18F13DF}"/>
              </a:ext>
            </a:extLst>
          </p:cNvPr>
          <p:cNvSpPr/>
          <p:nvPr/>
        </p:nvSpPr>
        <p:spPr>
          <a:xfrm>
            <a:off x="8621244" y="2337565"/>
            <a:ext cx="263218" cy="235131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正方形/長方形 10">
            <a:extLst>
              <a:ext uri="{FF2B5EF4-FFF2-40B4-BE49-F238E27FC236}">
                <a16:creationId xmlns:a16="http://schemas.microsoft.com/office/drawing/2014/main" id="{9353AAB4-BD3D-47BE-A4FB-ED014709991B}"/>
              </a:ext>
            </a:extLst>
          </p:cNvPr>
          <p:cNvSpPr/>
          <p:nvPr/>
        </p:nvSpPr>
        <p:spPr>
          <a:xfrm>
            <a:off x="8898212" y="2571321"/>
            <a:ext cx="263218" cy="2117558"/>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正方形/長方形 14">
            <a:extLst>
              <a:ext uri="{FF2B5EF4-FFF2-40B4-BE49-F238E27FC236}">
                <a16:creationId xmlns:a16="http://schemas.microsoft.com/office/drawing/2014/main" id="{9F289D1F-DD4F-4DD6-B66A-52950696BB33}"/>
              </a:ext>
            </a:extLst>
          </p:cNvPr>
          <p:cNvSpPr/>
          <p:nvPr/>
        </p:nvSpPr>
        <p:spPr>
          <a:xfrm>
            <a:off x="3592538" y="2571321"/>
            <a:ext cx="1831744" cy="2117558"/>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6181495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転職サービスの理解（求人が掲載されており、自ら検索し求人に応募）</a:t>
            </a:r>
            <a:endParaRPr kumimoji="1" lang="ja-JP" altLang="en-US" dirty="0"/>
          </a:p>
        </p:txBody>
      </p:sp>
      <p:sp>
        <p:nvSpPr>
          <p:cNvPr id="7" name="テキスト ボックス 6"/>
          <p:cNvSpPr txBox="1"/>
          <p:nvPr/>
        </p:nvSpPr>
        <p:spPr>
          <a:xfrm>
            <a:off x="2351584" y="544107"/>
            <a:ext cx="8332852" cy="738664"/>
          </a:xfrm>
          <a:prstGeom prst="rect">
            <a:avLst/>
          </a:prstGeom>
          <a:noFill/>
        </p:spPr>
        <p:txBody>
          <a:bodyPr wrap="square" rtlCol="0">
            <a:spAutoFit/>
          </a:bodyPr>
          <a:lstStyle/>
          <a:p>
            <a:pPr>
              <a:spcBef>
                <a:spcPts val="600"/>
              </a:spcBef>
            </a:pP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全体では</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53%</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が、「</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RAG</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」について転職サイト的機能を持っていると認識</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しており、</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RNN</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」と同水準</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面談希望なし・面談実施なし</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は</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46%</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の認識に留まるものの、他サービス含めても全体的にスコアは低い</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面談希望なし・面談実施あり</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は転職サイトを「自ら検索し求人応募するサービス」と比較的認識していない様子。</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3" name="ホームベース 32"/>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コネクタ 33"/>
          <p:cNvCxnSpPr/>
          <p:nvPr/>
        </p:nvCxnSpPr>
        <p:spPr>
          <a:xfrm>
            <a:off x="2316605" y="126876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525E7F-7E3A-401F-9DD8-D9E508A743F2}"/>
              </a:ext>
            </a:extLst>
          </p:cNvPr>
          <p:cNvCxnSpPr>
            <a:cxnSpLocks/>
          </p:cNvCxnSpPr>
          <p:nvPr/>
        </p:nvCxnSpPr>
        <p:spPr>
          <a:xfrm flipV="1">
            <a:off x="1489279" y="1693434"/>
            <a:ext cx="9336511" cy="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8FF9AB37-D78C-49AD-8B0E-275FF11AAA94}"/>
              </a:ext>
            </a:extLst>
          </p:cNvPr>
          <p:cNvSpPr>
            <a:spLocks noChangeArrowheads="1"/>
          </p:cNvSpPr>
          <p:nvPr/>
        </p:nvSpPr>
        <p:spPr bwMode="auto">
          <a:xfrm>
            <a:off x="1497114" y="1841821"/>
            <a:ext cx="9360000" cy="195814"/>
          </a:xfrm>
          <a:prstGeom prst="rect">
            <a:avLst/>
          </a:prstGeom>
          <a:solidFill>
            <a:srgbClr val="F2F2F2"/>
          </a:solidFill>
          <a:ln w="9525" algn="ctr">
            <a:noFill/>
            <a:miter lim="800000"/>
            <a:headEnd/>
            <a:tailEnd/>
          </a:ln>
          <a:effectLst/>
        </p:spPr>
        <p:txBody>
          <a:bodyPr vert="horz" wrap="square" lIns="91440" tIns="36000" rIns="720000" bIns="36000" numCol="1" anchor="ctr" anchorCtr="0" compatLnSpc="1">
            <a:prstTxWarp prst="textNoShape">
              <a:avLst/>
            </a:prstTxWarp>
            <a:spAutoFit/>
          </a:bodyPr>
          <a:lstStyle/>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Q6S1</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以下の求人情報の紹介方法を実施しているサービスとして、認識しているものをそれぞれすべてお選びください。　</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求人が掲載されており、自ら検索し求人に応募をする</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p>
        </p:txBody>
      </p:sp>
      <p:sp>
        <p:nvSpPr>
          <p:cNvPr id="14" name="テキスト ボックス 13">
            <a:extLst>
              <a:ext uri="{FF2B5EF4-FFF2-40B4-BE49-F238E27FC236}">
                <a16:creationId xmlns:a16="http://schemas.microsoft.com/office/drawing/2014/main" id="{F913BBE7-A10C-4A57-A95D-152E082DD1E1}"/>
              </a:ext>
            </a:extLst>
          </p:cNvPr>
          <p:cNvSpPr txBox="1"/>
          <p:nvPr/>
        </p:nvSpPr>
        <p:spPr>
          <a:xfrm>
            <a:off x="10209562" y="1830634"/>
            <a:ext cx="648000" cy="223143"/>
          </a:xfrm>
          <a:prstGeom prst="rect">
            <a:avLst/>
          </a:prstGeom>
          <a:noFill/>
        </p:spPr>
        <p:txBody>
          <a:bodyPr wrap="none" lIns="36000" tIns="36000" rIns="36000" bIns="36000" rtlCol="0" anchor="ctr" anchorCtr="1">
            <a:noAutofit/>
          </a:bodyPr>
          <a:lstStyle/>
          <a:p>
            <a:r>
              <a:rPr lang="en-US" altLang="ja-JP"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MA</a:t>
            </a:r>
            <a:endParaRPr lang="ja-JP" altLang="en-US"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4" name="図 3">
            <a:extLst>
              <a:ext uri="{FF2B5EF4-FFF2-40B4-BE49-F238E27FC236}">
                <a16:creationId xmlns:a16="http://schemas.microsoft.com/office/drawing/2014/main" id="{D1DD90D0-D26D-43FA-8DB0-20E3D4E12842}"/>
              </a:ext>
            </a:extLst>
          </p:cNvPr>
          <p:cNvPicPr/>
          <p:nvPr/>
        </p:nvPicPr>
        <p:blipFill>
          <a:blip r:embed="rId2"/>
          <a:srcRect/>
          <a:stretch>
            <a:fillRect/>
          </a:stretch>
        </p:blipFill>
        <p:spPr>
          <a:xfrm>
            <a:off x="1344105" y="2179824"/>
            <a:ext cx="9486900" cy="4129260"/>
          </a:xfrm>
          <a:prstGeom prst="rect">
            <a:avLst/>
          </a:prstGeom>
        </p:spPr>
      </p:pic>
      <p:sp>
        <p:nvSpPr>
          <p:cNvPr id="10" name="正方形/長方形 9">
            <a:extLst>
              <a:ext uri="{FF2B5EF4-FFF2-40B4-BE49-F238E27FC236}">
                <a16:creationId xmlns:a16="http://schemas.microsoft.com/office/drawing/2014/main" id="{D4C7E22B-15C0-4CCB-8FD2-986A5F22748A}"/>
              </a:ext>
            </a:extLst>
          </p:cNvPr>
          <p:cNvSpPr/>
          <p:nvPr/>
        </p:nvSpPr>
        <p:spPr>
          <a:xfrm>
            <a:off x="3072966" y="2564445"/>
            <a:ext cx="270095" cy="21244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正方形/長方形 10">
            <a:extLst>
              <a:ext uri="{FF2B5EF4-FFF2-40B4-BE49-F238E27FC236}">
                <a16:creationId xmlns:a16="http://schemas.microsoft.com/office/drawing/2014/main" id="{B396153D-5D39-42D8-9BCE-772DC6526175}"/>
              </a:ext>
            </a:extLst>
          </p:cNvPr>
          <p:cNvSpPr/>
          <p:nvPr/>
        </p:nvSpPr>
        <p:spPr>
          <a:xfrm>
            <a:off x="5983133" y="2564445"/>
            <a:ext cx="261257" cy="21244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 name="正方形/長方形 11">
            <a:extLst>
              <a:ext uri="{FF2B5EF4-FFF2-40B4-BE49-F238E27FC236}">
                <a16:creationId xmlns:a16="http://schemas.microsoft.com/office/drawing/2014/main" id="{61C25DA2-F7C9-4A7C-87BC-3062E055374E}"/>
              </a:ext>
            </a:extLst>
          </p:cNvPr>
          <p:cNvSpPr/>
          <p:nvPr/>
        </p:nvSpPr>
        <p:spPr>
          <a:xfrm>
            <a:off x="3072965" y="5871411"/>
            <a:ext cx="7392790" cy="103128"/>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正方形/長方形 15">
            <a:extLst>
              <a:ext uri="{FF2B5EF4-FFF2-40B4-BE49-F238E27FC236}">
                <a16:creationId xmlns:a16="http://schemas.microsoft.com/office/drawing/2014/main" id="{8FA2B329-C0D4-4C70-A298-101A2E4D30BE}"/>
              </a:ext>
            </a:extLst>
          </p:cNvPr>
          <p:cNvSpPr/>
          <p:nvPr/>
        </p:nvSpPr>
        <p:spPr>
          <a:xfrm>
            <a:off x="5446868" y="5548378"/>
            <a:ext cx="1333787" cy="103128"/>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2998393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転職サービスの理解（キャリアアドバイザーが、求人を紹介・応募をサポート）</a:t>
            </a:r>
            <a:endParaRPr kumimoji="1" lang="ja-JP" altLang="en-US" dirty="0"/>
          </a:p>
        </p:txBody>
      </p:sp>
      <p:sp>
        <p:nvSpPr>
          <p:cNvPr id="33" name="ホームベース 32"/>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コネクタ 33"/>
          <p:cNvCxnSpPr/>
          <p:nvPr/>
        </p:nvCxnSpPr>
        <p:spPr>
          <a:xfrm>
            <a:off x="2316605" y="126876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525E7F-7E3A-401F-9DD8-D9E508A743F2}"/>
              </a:ext>
            </a:extLst>
          </p:cNvPr>
          <p:cNvCxnSpPr>
            <a:cxnSpLocks/>
          </p:cNvCxnSpPr>
          <p:nvPr/>
        </p:nvCxnSpPr>
        <p:spPr>
          <a:xfrm flipV="1">
            <a:off x="1489279" y="1693434"/>
            <a:ext cx="9336511" cy="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8FF9AB37-D78C-49AD-8B0E-275FF11AAA94}"/>
              </a:ext>
            </a:extLst>
          </p:cNvPr>
          <p:cNvSpPr>
            <a:spLocks noChangeArrowheads="1"/>
          </p:cNvSpPr>
          <p:nvPr/>
        </p:nvSpPr>
        <p:spPr bwMode="auto">
          <a:xfrm>
            <a:off x="1497114" y="1841821"/>
            <a:ext cx="9360000" cy="195814"/>
          </a:xfrm>
          <a:prstGeom prst="rect">
            <a:avLst/>
          </a:prstGeom>
          <a:solidFill>
            <a:srgbClr val="F2F2F2"/>
          </a:solidFill>
          <a:ln w="9525" algn="ctr">
            <a:noFill/>
            <a:miter lim="800000"/>
            <a:headEnd/>
            <a:tailEnd/>
          </a:ln>
          <a:effectLst/>
        </p:spPr>
        <p:txBody>
          <a:bodyPr vert="horz" wrap="square" lIns="91440" tIns="36000" rIns="720000" bIns="36000" numCol="1" anchor="ctr" anchorCtr="0" compatLnSpc="1">
            <a:prstTxWarp prst="textNoShape">
              <a:avLst/>
            </a:prstTxWarp>
            <a:spAutoFit/>
          </a:bodyPr>
          <a:lstStyle/>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Q6S2</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以下の求人情報の紹介方法を実施しているサービスとして、認識しているものをそれぞれすべてお選びください。　</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キャリアアドバイザーが、求人を紹介・応募をサポートしてくれる</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endPar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テキスト ボックス 13">
            <a:extLst>
              <a:ext uri="{FF2B5EF4-FFF2-40B4-BE49-F238E27FC236}">
                <a16:creationId xmlns:a16="http://schemas.microsoft.com/office/drawing/2014/main" id="{F913BBE7-A10C-4A57-A95D-152E082DD1E1}"/>
              </a:ext>
            </a:extLst>
          </p:cNvPr>
          <p:cNvSpPr txBox="1"/>
          <p:nvPr/>
        </p:nvSpPr>
        <p:spPr>
          <a:xfrm>
            <a:off x="10209562" y="1830634"/>
            <a:ext cx="648000" cy="223143"/>
          </a:xfrm>
          <a:prstGeom prst="rect">
            <a:avLst/>
          </a:prstGeom>
          <a:noFill/>
        </p:spPr>
        <p:txBody>
          <a:bodyPr wrap="none" lIns="36000" tIns="36000" rIns="36000" bIns="36000" rtlCol="0" anchor="ctr" anchorCtr="1">
            <a:noAutofit/>
          </a:bodyPr>
          <a:lstStyle/>
          <a:p>
            <a:r>
              <a:rPr lang="en-US" altLang="ja-JP"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MA</a:t>
            </a:r>
            <a:endParaRPr lang="ja-JP" altLang="en-US"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4" name="図 3">
            <a:extLst>
              <a:ext uri="{FF2B5EF4-FFF2-40B4-BE49-F238E27FC236}">
                <a16:creationId xmlns:a16="http://schemas.microsoft.com/office/drawing/2014/main" id="{7A2E614C-645D-464F-8389-5B5E9AAD8A91}"/>
              </a:ext>
            </a:extLst>
          </p:cNvPr>
          <p:cNvPicPr/>
          <p:nvPr/>
        </p:nvPicPr>
        <p:blipFill>
          <a:blip r:embed="rId2"/>
          <a:stretch>
            <a:fillRect/>
          </a:stretch>
        </p:blipFill>
        <p:spPr>
          <a:xfrm>
            <a:off x="1344105" y="2179824"/>
            <a:ext cx="9486900" cy="4129260"/>
          </a:xfrm>
          <a:prstGeom prst="rect">
            <a:avLst/>
          </a:prstGeom>
        </p:spPr>
      </p:pic>
      <p:sp>
        <p:nvSpPr>
          <p:cNvPr id="10" name="テキスト ボックス 9">
            <a:extLst>
              <a:ext uri="{FF2B5EF4-FFF2-40B4-BE49-F238E27FC236}">
                <a16:creationId xmlns:a16="http://schemas.microsoft.com/office/drawing/2014/main" id="{D83AEE39-1CDA-42FB-AB55-CA810B112709}"/>
              </a:ext>
            </a:extLst>
          </p:cNvPr>
          <p:cNvSpPr txBox="1"/>
          <p:nvPr/>
        </p:nvSpPr>
        <p:spPr>
          <a:xfrm>
            <a:off x="2351584" y="544107"/>
            <a:ext cx="8332852" cy="738664"/>
          </a:xfrm>
          <a:prstGeom prst="rect">
            <a:avLst/>
          </a:prstGeom>
          <a:noFill/>
        </p:spPr>
        <p:txBody>
          <a:bodyPr wrap="square" rtlCol="0">
            <a:spAutoFit/>
          </a:bodyPr>
          <a:lstStyle/>
          <a:p>
            <a:pPr>
              <a:spcBef>
                <a:spcPts val="600"/>
              </a:spcBef>
            </a:pP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全体では</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75%</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が、「</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RAG</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」についてエージェントサービス的機能を持っていると認識</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している。</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他エージェントサービスについては、いずれも</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4</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割以下に留まり、</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RAG</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以外は機能理解が進んでいない様子。</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面談希望なし・面談実施あり</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では</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9</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割弱が認識</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しているが、</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面談希望なし・面談実施なし</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では</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66%</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に留まる</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正方形/長方形 10">
            <a:extLst>
              <a:ext uri="{FF2B5EF4-FFF2-40B4-BE49-F238E27FC236}">
                <a16:creationId xmlns:a16="http://schemas.microsoft.com/office/drawing/2014/main" id="{F0799276-2A53-4031-A178-A0BA3352D78F}"/>
              </a:ext>
            </a:extLst>
          </p:cNvPr>
          <p:cNvSpPr/>
          <p:nvPr/>
        </p:nvSpPr>
        <p:spPr>
          <a:xfrm>
            <a:off x="3072966" y="2445055"/>
            <a:ext cx="270095" cy="22438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 name="正方形/長方形 11">
            <a:extLst>
              <a:ext uri="{FF2B5EF4-FFF2-40B4-BE49-F238E27FC236}">
                <a16:creationId xmlns:a16="http://schemas.microsoft.com/office/drawing/2014/main" id="{6C550CF5-1CED-4906-9393-546EF39189F5}"/>
              </a:ext>
            </a:extLst>
          </p:cNvPr>
          <p:cNvSpPr/>
          <p:nvPr/>
        </p:nvSpPr>
        <p:spPr>
          <a:xfrm>
            <a:off x="3370561" y="2832577"/>
            <a:ext cx="2083182" cy="1856302"/>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正方形/長方形 14">
            <a:extLst>
              <a:ext uri="{FF2B5EF4-FFF2-40B4-BE49-F238E27FC236}">
                <a16:creationId xmlns:a16="http://schemas.microsoft.com/office/drawing/2014/main" id="{4B758F83-EE48-4B00-9961-16E1737A49B3}"/>
              </a:ext>
            </a:extLst>
          </p:cNvPr>
          <p:cNvSpPr/>
          <p:nvPr/>
        </p:nvSpPr>
        <p:spPr>
          <a:xfrm>
            <a:off x="3072966" y="5871412"/>
            <a:ext cx="270095" cy="103127"/>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8" name="正方形/長方形 17">
            <a:extLst>
              <a:ext uri="{FF2B5EF4-FFF2-40B4-BE49-F238E27FC236}">
                <a16:creationId xmlns:a16="http://schemas.microsoft.com/office/drawing/2014/main" id="{91408327-3A4C-465C-A400-EA521FC2D00F}"/>
              </a:ext>
            </a:extLst>
          </p:cNvPr>
          <p:cNvSpPr/>
          <p:nvPr/>
        </p:nvSpPr>
        <p:spPr>
          <a:xfrm>
            <a:off x="3072966" y="5548379"/>
            <a:ext cx="270095" cy="1031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538819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転職サービスの理解（企業から直接オファーが届く）</a:t>
            </a:r>
            <a:endParaRPr kumimoji="1" lang="ja-JP" altLang="en-US" dirty="0"/>
          </a:p>
        </p:txBody>
      </p:sp>
      <p:sp>
        <p:nvSpPr>
          <p:cNvPr id="33" name="ホームベース 32"/>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コネクタ 33"/>
          <p:cNvCxnSpPr/>
          <p:nvPr/>
        </p:nvCxnSpPr>
        <p:spPr>
          <a:xfrm>
            <a:off x="2316605" y="126876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525E7F-7E3A-401F-9DD8-D9E508A743F2}"/>
              </a:ext>
            </a:extLst>
          </p:cNvPr>
          <p:cNvCxnSpPr>
            <a:cxnSpLocks/>
          </p:cNvCxnSpPr>
          <p:nvPr/>
        </p:nvCxnSpPr>
        <p:spPr>
          <a:xfrm flipV="1">
            <a:off x="1489279" y="1693434"/>
            <a:ext cx="9336511" cy="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8FF9AB37-D78C-49AD-8B0E-275FF11AAA94}"/>
              </a:ext>
            </a:extLst>
          </p:cNvPr>
          <p:cNvSpPr>
            <a:spLocks noChangeArrowheads="1"/>
          </p:cNvSpPr>
          <p:nvPr/>
        </p:nvSpPr>
        <p:spPr bwMode="auto">
          <a:xfrm>
            <a:off x="1497114" y="1841821"/>
            <a:ext cx="9360000" cy="195814"/>
          </a:xfrm>
          <a:prstGeom prst="rect">
            <a:avLst/>
          </a:prstGeom>
          <a:solidFill>
            <a:srgbClr val="F2F2F2"/>
          </a:solidFill>
          <a:ln w="9525" algn="ctr">
            <a:noFill/>
            <a:miter lim="800000"/>
            <a:headEnd/>
            <a:tailEnd/>
          </a:ln>
          <a:effectLst/>
        </p:spPr>
        <p:txBody>
          <a:bodyPr vert="horz" wrap="square" lIns="91440" tIns="36000" rIns="720000" bIns="36000" numCol="1" anchor="ctr" anchorCtr="0" compatLnSpc="1">
            <a:prstTxWarp prst="textNoShape">
              <a:avLst/>
            </a:prstTxWarp>
            <a:spAutoFit/>
          </a:bodyPr>
          <a:lstStyle/>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Q6S3</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以下の求人情報の紹介方法を実施しているサービスとして、認識しているものをそれぞれすべてお選びください。　</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企業から直接オファーが届く</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endPar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テキスト ボックス 13">
            <a:extLst>
              <a:ext uri="{FF2B5EF4-FFF2-40B4-BE49-F238E27FC236}">
                <a16:creationId xmlns:a16="http://schemas.microsoft.com/office/drawing/2014/main" id="{F913BBE7-A10C-4A57-A95D-152E082DD1E1}"/>
              </a:ext>
            </a:extLst>
          </p:cNvPr>
          <p:cNvSpPr txBox="1"/>
          <p:nvPr/>
        </p:nvSpPr>
        <p:spPr>
          <a:xfrm>
            <a:off x="10209562" y="1830634"/>
            <a:ext cx="648000" cy="223143"/>
          </a:xfrm>
          <a:prstGeom prst="rect">
            <a:avLst/>
          </a:prstGeom>
          <a:noFill/>
        </p:spPr>
        <p:txBody>
          <a:bodyPr wrap="none" lIns="36000" tIns="36000" rIns="36000" bIns="36000" rtlCol="0" anchor="ctr" anchorCtr="1">
            <a:noAutofit/>
          </a:bodyPr>
          <a:lstStyle/>
          <a:p>
            <a:r>
              <a:rPr lang="en-US" altLang="ja-JP"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MA</a:t>
            </a:r>
            <a:endParaRPr lang="ja-JP" altLang="en-US"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4" name="図 3">
            <a:extLst>
              <a:ext uri="{FF2B5EF4-FFF2-40B4-BE49-F238E27FC236}">
                <a16:creationId xmlns:a16="http://schemas.microsoft.com/office/drawing/2014/main" id="{024BBBB3-29B2-43BF-9256-A55CF2B57AC6}"/>
              </a:ext>
            </a:extLst>
          </p:cNvPr>
          <p:cNvPicPr/>
          <p:nvPr/>
        </p:nvPicPr>
        <p:blipFill>
          <a:blip r:embed="rId2"/>
          <a:stretch>
            <a:fillRect/>
          </a:stretch>
        </p:blipFill>
        <p:spPr>
          <a:xfrm>
            <a:off x="1344105" y="2179824"/>
            <a:ext cx="9486900" cy="4129260"/>
          </a:xfrm>
          <a:prstGeom prst="rect">
            <a:avLst/>
          </a:prstGeom>
        </p:spPr>
      </p:pic>
      <p:sp>
        <p:nvSpPr>
          <p:cNvPr id="11" name="テキスト ボックス 10">
            <a:extLst>
              <a:ext uri="{FF2B5EF4-FFF2-40B4-BE49-F238E27FC236}">
                <a16:creationId xmlns:a16="http://schemas.microsoft.com/office/drawing/2014/main" id="{B7EAC378-C821-4F3D-A9F9-7782D7AD1B7E}"/>
              </a:ext>
            </a:extLst>
          </p:cNvPr>
          <p:cNvSpPr txBox="1"/>
          <p:nvPr/>
        </p:nvSpPr>
        <p:spPr>
          <a:xfrm>
            <a:off x="2351584" y="544107"/>
            <a:ext cx="8332852" cy="738664"/>
          </a:xfrm>
          <a:prstGeom prst="rect">
            <a:avLst/>
          </a:prstGeom>
          <a:noFill/>
        </p:spPr>
        <p:txBody>
          <a:bodyPr wrap="square" rtlCol="0">
            <a:spAutoFit/>
          </a:bodyPr>
          <a:lstStyle/>
          <a:p>
            <a:pPr>
              <a:spcBef>
                <a:spcPts val="600"/>
              </a:spcBef>
            </a:pP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全体では</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53%</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が、「</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RAG</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」についてダイレクトリクルーティングサービス的機能を持っていると認識</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しており、</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BIZREACH</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」と同水準</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RDS</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」では</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3</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割に留まり、「</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RAG</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」よりも</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15pt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程度低くなっている</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面談希望なし・面談実施なし</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は全てのサービスでスコアは低めで、</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転職サービスの機能理解が進んでいない</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様子。</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2" name="正方形/長方形 11">
            <a:extLst>
              <a:ext uri="{FF2B5EF4-FFF2-40B4-BE49-F238E27FC236}">
                <a16:creationId xmlns:a16="http://schemas.microsoft.com/office/drawing/2014/main" id="{49AD36CF-7CBA-481D-82D4-D75BFC0BD2D1}"/>
              </a:ext>
            </a:extLst>
          </p:cNvPr>
          <p:cNvSpPr/>
          <p:nvPr/>
        </p:nvSpPr>
        <p:spPr>
          <a:xfrm>
            <a:off x="3072966" y="2736325"/>
            <a:ext cx="270095" cy="195255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正方形/長方形 14">
            <a:extLst>
              <a:ext uri="{FF2B5EF4-FFF2-40B4-BE49-F238E27FC236}">
                <a16:creationId xmlns:a16="http://schemas.microsoft.com/office/drawing/2014/main" id="{53D0DC0C-D7CF-4EF8-B460-D15C55AB0BD1}"/>
              </a:ext>
            </a:extLst>
          </p:cNvPr>
          <p:cNvSpPr/>
          <p:nvPr/>
        </p:nvSpPr>
        <p:spPr>
          <a:xfrm>
            <a:off x="8883316" y="2869727"/>
            <a:ext cx="270095" cy="1819152"/>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正方形/長方形 15">
            <a:extLst>
              <a:ext uri="{FF2B5EF4-FFF2-40B4-BE49-F238E27FC236}">
                <a16:creationId xmlns:a16="http://schemas.microsoft.com/office/drawing/2014/main" id="{A9806C7B-B02D-4D91-BF86-90DCC3DAA6C4}"/>
              </a:ext>
            </a:extLst>
          </p:cNvPr>
          <p:cNvSpPr/>
          <p:nvPr/>
        </p:nvSpPr>
        <p:spPr>
          <a:xfrm>
            <a:off x="3072965" y="5871411"/>
            <a:ext cx="7392790" cy="103128"/>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41632950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登録した転職サービス</a:t>
            </a:r>
            <a:endParaRPr kumimoji="1" lang="ja-JP" altLang="en-US" dirty="0"/>
          </a:p>
        </p:txBody>
      </p:sp>
      <p:sp>
        <p:nvSpPr>
          <p:cNvPr id="33" name="ホームベース 32"/>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コネクタ 33"/>
          <p:cNvCxnSpPr/>
          <p:nvPr/>
        </p:nvCxnSpPr>
        <p:spPr>
          <a:xfrm>
            <a:off x="2316605" y="126876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525E7F-7E3A-401F-9DD8-D9E508A743F2}"/>
              </a:ext>
            </a:extLst>
          </p:cNvPr>
          <p:cNvCxnSpPr>
            <a:cxnSpLocks/>
          </p:cNvCxnSpPr>
          <p:nvPr/>
        </p:nvCxnSpPr>
        <p:spPr>
          <a:xfrm flipV="1">
            <a:off x="1489279" y="1693434"/>
            <a:ext cx="9336511" cy="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8FF9AB37-D78C-49AD-8B0E-275FF11AAA94}"/>
              </a:ext>
            </a:extLst>
          </p:cNvPr>
          <p:cNvSpPr>
            <a:spLocks noChangeArrowheads="1"/>
          </p:cNvSpPr>
          <p:nvPr/>
        </p:nvSpPr>
        <p:spPr bwMode="auto">
          <a:xfrm>
            <a:off x="1497114" y="1841821"/>
            <a:ext cx="9360000" cy="195814"/>
          </a:xfrm>
          <a:prstGeom prst="rect">
            <a:avLst/>
          </a:prstGeom>
          <a:solidFill>
            <a:srgbClr val="F2F2F2"/>
          </a:solidFill>
          <a:ln w="9525" algn="ctr">
            <a:noFill/>
            <a:miter lim="800000"/>
            <a:headEnd/>
            <a:tailEnd/>
          </a:ln>
          <a:effectLst/>
        </p:spPr>
        <p:txBody>
          <a:bodyPr vert="horz" wrap="square" lIns="91440" tIns="36000" rIns="720000" bIns="36000" numCol="1" anchor="ctr" anchorCtr="0" compatLnSpc="1">
            <a:prstTxWarp prst="textNoShape">
              <a:avLst/>
            </a:prstTxWarp>
            <a:spAutoFit/>
          </a:bodyPr>
          <a:lstStyle/>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Q7S1</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以下の転職サービスについて、</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2023</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年</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1</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月以降の転職活動時の利用状況で当てはまるものをそれぞれお選びください。　</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新規・再登録したもの（すべて）</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p>
        </p:txBody>
      </p:sp>
      <p:sp>
        <p:nvSpPr>
          <p:cNvPr id="14" name="テキスト ボックス 13">
            <a:extLst>
              <a:ext uri="{FF2B5EF4-FFF2-40B4-BE49-F238E27FC236}">
                <a16:creationId xmlns:a16="http://schemas.microsoft.com/office/drawing/2014/main" id="{F913BBE7-A10C-4A57-A95D-152E082DD1E1}"/>
              </a:ext>
            </a:extLst>
          </p:cNvPr>
          <p:cNvSpPr txBox="1"/>
          <p:nvPr/>
        </p:nvSpPr>
        <p:spPr>
          <a:xfrm>
            <a:off x="10209562" y="1830634"/>
            <a:ext cx="648000" cy="223143"/>
          </a:xfrm>
          <a:prstGeom prst="rect">
            <a:avLst/>
          </a:prstGeom>
          <a:noFill/>
        </p:spPr>
        <p:txBody>
          <a:bodyPr wrap="none" lIns="36000" tIns="36000" rIns="36000" bIns="36000" rtlCol="0" anchor="ctr" anchorCtr="1">
            <a:noAutofit/>
          </a:bodyPr>
          <a:lstStyle/>
          <a:p>
            <a:r>
              <a:rPr lang="en-US" altLang="ja-JP"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MA</a:t>
            </a:r>
            <a:endParaRPr lang="ja-JP" altLang="en-US"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4" name="図 3">
            <a:extLst>
              <a:ext uri="{FF2B5EF4-FFF2-40B4-BE49-F238E27FC236}">
                <a16:creationId xmlns:a16="http://schemas.microsoft.com/office/drawing/2014/main" id="{8F75E9AB-BE8E-4173-A19E-61FA4FDA6CA5}"/>
              </a:ext>
            </a:extLst>
          </p:cNvPr>
          <p:cNvPicPr/>
          <p:nvPr/>
        </p:nvPicPr>
        <p:blipFill>
          <a:blip r:embed="rId2"/>
          <a:srcRect/>
          <a:stretch>
            <a:fillRect/>
          </a:stretch>
        </p:blipFill>
        <p:spPr>
          <a:xfrm>
            <a:off x="1344105" y="2179824"/>
            <a:ext cx="9486900" cy="4129260"/>
          </a:xfrm>
          <a:prstGeom prst="rect">
            <a:avLst/>
          </a:prstGeom>
        </p:spPr>
      </p:pic>
      <p:sp>
        <p:nvSpPr>
          <p:cNvPr id="10" name="テキスト ボックス 9">
            <a:extLst>
              <a:ext uri="{FF2B5EF4-FFF2-40B4-BE49-F238E27FC236}">
                <a16:creationId xmlns:a16="http://schemas.microsoft.com/office/drawing/2014/main" id="{F78891A2-B5C9-4CE7-AA0C-1292C9A66EC7}"/>
              </a:ext>
            </a:extLst>
          </p:cNvPr>
          <p:cNvSpPr txBox="1"/>
          <p:nvPr/>
        </p:nvSpPr>
        <p:spPr>
          <a:xfrm>
            <a:off x="2351584" y="544107"/>
            <a:ext cx="8332852" cy="738664"/>
          </a:xfrm>
          <a:prstGeom prst="rect">
            <a:avLst/>
          </a:prstGeom>
          <a:noFill/>
        </p:spPr>
        <p:txBody>
          <a:bodyPr wrap="square" rtlCol="0">
            <a:spAutoFit/>
          </a:bodyPr>
          <a:lstStyle/>
          <a:p>
            <a:pPr>
              <a:spcBef>
                <a:spcPts val="600"/>
              </a:spcBef>
            </a:pP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全体では「</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RNN</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」が</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34%</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で最も高く、「</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BIZREACH</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doda</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」「マイナビ転職」「</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Indeed</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」が</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2</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割台で続く。</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RDS</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」は</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1</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割強に留まる。</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RNN</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」は</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面談希望あり</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は</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41%</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に対し、</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面談希望なし</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では</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29%</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一方で、</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BIZREACH</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doda</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」「マイナビ転職」「</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Indeed</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RDS</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」は</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面談希望あり</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なし</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で大きな差分はない</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2" name="正方形/長方形 11">
            <a:extLst>
              <a:ext uri="{FF2B5EF4-FFF2-40B4-BE49-F238E27FC236}">
                <a16:creationId xmlns:a16="http://schemas.microsoft.com/office/drawing/2014/main" id="{64E740F0-49C2-4446-A0D2-16E525D88239}"/>
              </a:ext>
            </a:extLst>
          </p:cNvPr>
          <p:cNvSpPr/>
          <p:nvPr/>
        </p:nvSpPr>
        <p:spPr>
          <a:xfrm>
            <a:off x="5974297" y="2736325"/>
            <a:ext cx="270095" cy="195255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正方形/長方形 14">
            <a:extLst>
              <a:ext uri="{FF2B5EF4-FFF2-40B4-BE49-F238E27FC236}">
                <a16:creationId xmlns:a16="http://schemas.microsoft.com/office/drawing/2014/main" id="{1D5285FE-0349-4BB9-9E36-1E6F128540A7}"/>
              </a:ext>
            </a:extLst>
          </p:cNvPr>
          <p:cNvSpPr/>
          <p:nvPr/>
        </p:nvSpPr>
        <p:spPr>
          <a:xfrm>
            <a:off x="8889377" y="3107585"/>
            <a:ext cx="270095" cy="1581294"/>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正方形/長方形 15">
            <a:extLst>
              <a:ext uri="{FF2B5EF4-FFF2-40B4-BE49-F238E27FC236}">
                <a16:creationId xmlns:a16="http://schemas.microsoft.com/office/drawing/2014/main" id="{47F2FF47-C8F0-40F1-8BCD-06027C8CA398}"/>
              </a:ext>
            </a:extLst>
          </p:cNvPr>
          <p:cNvSpPr/>
          <p:nvPr/>
        </p:nvSpPr>
        <p:spPr>
          <a:xfrm>
            <a:off x="5974298" y="5431400"/>
            <a:ext cx="270095" cy="103127"/>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9054506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転職サービス登録時の期待</a:t>
            </a:r>
            <a:endParaRPr kumimoji="1" lang="ja-JP" altLang="en-US" dirty="0"/>
          </a:p>
        </p:txBody>
      </p:sp>
      <p:sp>
        <p:nvSpPr>
          <p:cNvPr id="7" name="テキスト ボックス 6"/>
          <p:cNvSpPr txBox="1"/>
          <p:nvPr/>
        </p:nvSpPr>
        <p:spPr>
          <a:xfrm>
            <a:off x="2351584" y="544107"/>
            <a:ext cx="8332852" cy="738664"/>
          </a:xfrm>
          <a:prstGeom prst="rect">
            <a:avLst/>
          </a:prstGeom>
          <a:noFill/>
        </p:spPr>
        <p:txBody>
          <a:bodyPr wrap="square" rtlCol="0">
            <a:spAutoFit/>
          </a:bodyPr>
          <a:lstStyle/>
          <a:p>
            <a:pPr>
              <a:spcBef>
                <a:spcPts val="600"/>
              </a:spcBef>
            </a:pP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RAG</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への期待は「求人に対する情報量」「応募・エントリーのしやすさ」が上位</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で、</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RNN</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はじめ転職サイトと似た</a:t>
            </a:r>
            <a:b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期待</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を持たれている。他エージェントサービスと比較し、</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「書類サポート」「相談のしやすさ」は期待されている一方</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で、</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「非公開求人」「キャリアプランアドバイス」「担当者の真剣さ」は</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doda</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エージェントサービスの方が期待</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されている。</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3" name="ホームベース 32"/>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コネクタ 33"/>
          <p:cNvCxnSpPr/>
          <p:nvPr/>
        </p:nvCxnSpPr>
        <p:spPr>
          <a:xfrm>
            <a:off x="2316605" y="126876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525E7F-7E3A-401F-9DD8-D9E508A743F2}"/>
              </a:ext>
            </a:extLst>
          </p:cNvPr>
          <p:cNvCxnSpPr>
            <a:cxnSpLocks/>
          </p:cNvCxnSpPr>
          <p:nvPr/>
        </p:nvCxnSpPr>
        <p:spPr>
          <a:xfrm flipV="1">
            <a:off x="1489279" y="1693434"/>
            <a:ext cx="9336511" cy="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8FF9AB37-D78C-49AD-8B0E-275FF11AAA94}"/>
              </a:ext>
            </a:extLst>
          </p:cNvPr>
          <p:cNvSpPr>
            <a:spLocks noChangeArrowheads="1"/>
          </p:cNvSpPr>
          <p:nvPr/>
        </p:nvSpPr>
        <p:spPr bwMode="auto">
          <a:xfrm>
            <a:off x="1497114" y="1841821"/>
            <a:ext cx="9360000" cy="195814"/>
          </a:xfrm>
          <a:prstGeom prst="rect">
            <a:avLst/>
          </a:prstGeom>
          <a:solidFill>
            <a:srgbClr val="F2F2F2"/>
          </a:solidFill>
          <a:ln w="9525" algn="ctr">
            <a:noFill/>
            <a:miter lim="800000"/>
            <a:headEnd/>
            <a:tailEnd/>
          </a:ln>
          <a:effectLst/>
        </p:spPr>
        <p:txBody>
          <a:bodyPr vert="horz" wrap="square" lIns="91440" tIns="36000" rIns="720000" bIns="36000" numCol="1" anchor="ctr" anchorCtr="0" compatLnSpc="1">
            <a:prstTxWarp prst="textNoShape">
              <a:avLst/>
            </a:prstTxWarp>
            <a:spAutoFit/>
          </a:bodyPr>
          <a:lstStyle/>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Q8</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2023</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年</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1</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月以降に登録した以下の転職サービスについて、登録時に期待していたことをすべてお選びください。</a:t>
            </a:r>
          </a:p>
        </p:txBody>
      </p:sp>
      <p:sp>
        <p:nvSpPr>
          <p:cNvPr id="14" name="テキスト ボックス 13">
            <a:extLst>
              <a:ext uri="{FF2B5EF4-FFF2-40B4-BE49-F238E27FC236}">
                <a16:creationId xmlns:a16="http://schemas.microsoft.com/office/drawing/2014/main" id="{F913BBE7-A10C-4A57-A95D-152E082DD1E1}"/>
              </a:ext>
            </a:extLst>
          </p:cNvPr>
          <p:cNvSpPr txBox="1"/>
          <p:nvPr/>
        </p:nvSpPr>
        <p:spPr>
          <a:xfrm>
            <a:off x="10209562" y="1830634"/>
            <a:ext cx="648000" cy="223143"/>
          </a:xfrm>
          <a:prstGeom prst="rect">
            <a:avLst/>
          </a:prstGeom>
          <a:noFill/>
        </p:spPr>
        <p:txBody>
          <a:bodyPr wrap="none" lIns="36000" tIns="36000" rIns="36000" bIns="36000" rtlCol="0" anchor="ctr" anchorCtr="1">
            <a:noAutofit/>
          </a:bodyPr>
          <a:lstStyle/>
          <a:p>
            <a:r>
              <a:rPr lang="en-US" altLang="ja-JP"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MA</a:t>
            </a:r>
            <a:endParaRPr lang="ja-JP" altLang="en-US"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4" name="図 3">
            <a:extLst>
              <a:ext uri="{FF2B5EF4-FFF2-40B4-BE49-F238E27FC236}">
                <a16:creationId xmlns:a16="http://schemas.microsoft.com/office/drawing/2014/main" id="{633617DB-47FA-458B-8470-3EE88EB3AA84}"/>
              </a:ext>
            </a:extLst>
          </p:cNvPr>
          <p:cNvPicPr/>
          <p:nvPr/>
        </p:nvPicPr>
        <p:blipFill>
          <a:blip r:embed="rId2"/>
          <a:srcRect/>
          <a:stretch>
            <a:fillRect/>
          </a:stretch>
        </p:blipFill>
        <p:spPr>
          <a:xfrm>
            <a:off x="1497115" y="2332789"/>
            <a:ext cx="9043659" cy="3813626"/>
          </a:xfrm>
          <a:prstGeom prst="rect">
            <a:avLst/>
          </a:prstGeom>
        </p:spPr>
      </p:pic>
      <p:sp>
        <p:nvSpPr>
          <p:cNvPr id="11" name="正方形/長方形 10">
            <a:extLst>
              <a:ext uri="{FF2B5EF4-FFF2-40B4-BE49-F238E27FC236}">
                <a16:creationId xmlns:a16="http://schemas.microsoft.com/office/drawing/2014/main" id="{D619F48B-BCA5-4D11-9BA6-6D42F49EBB71}"/>
              </a:ext>
            </a:extLst>
          </p:cNvPr>
          <p:cNvSpPr/>
          <p:nvPr/>
        </p:nvSpPr>
        <p:spPr>
          <a:xfrm>
            <a:off x="6558687" y="2454443"/>
            <a:ext cx="318220" cy="18012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正方形/長方形 14">
            <a:extLst>
              <a:ext uri="{FF2B5EF4-FFF2-40B4-BE49-F238E27FC236}">
                <a16:creationId xmlns:a16="http://schemas.microsoft.com/office/drawing/2014/main" id="{72E54632-B83C-43E6-8F17-AA910217088A}"/>
              </a:ext>
            </a:extLst>
          </p:cNvPr>
          <p:cNvSpPr/>
          <p:nvPr/>
        </p:nvSpPr>
        <p:spPr>
          <a:xfrm>
            <a:off x="5919292" y="2454443"/>
            <a:ext cx="318220" cy="180129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7" name="正方形/長方形 16">
            <a:extLst>
              <a:ext uri="{FF2B5EF4-FFF2-40B4-BE49-F238E27FC236}">
                <a16:creationId xmlns:a16="http://schemas.microsoft.com/office/drawing/2014/main" id="{D0E9B3F7-70FD-41C8-8CB5-51E170A4EDCF}"/>
              </a:ext>
            </a:extLst>
          </p:cNvPr>
          <p:cNvSpPr/>
          <p:nvPr/>
        </p:nvSpPr>
        <p:spPr>
          <a:xfrm>
            <a:off x="4301580" y="2454443"/>
            <a:ext cx="318220" cy="1801299"/>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8" name="正方形/長方形 17">
            <a:extLst>
              <a:ext uri="{FF2B5EF4-FFF2-40B4-BE49-F238E27FC236}">
                <a16:creationId xmlns:a16="http://schemas.microsoft.com/office/drawing/2014/main" id="{9F46430F-24B7-47D9-81B3-3AAE6C93062A}"/>
              </a:ext>
            </a:extLst>
          </p:cNvPr>
          <p:cNvSpPr/>
          <p:nvPr/>
        </p:nvSpPr>
        <p:spPr>
          <a:xfrm>
            <a:off x="7849177" y="2454443"/>
            <a:ext cx="318220" cy="1801299"/>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9" name="正方形/長方形 18">
            <a:extLst>
              <a:ext uri="{FF2B5EF4-FFF2-40B4-BE49-F238E27FC236}">
                <a16:creationId xmlns:a16="http://schemas.microsoft.com/office/drawing/2014/main" id="{180B8E9F-D3D3-4EBC-9D10-5EE17975967D}"/>
              </a:ext>
            </a:extLst>
          </p:cNvPr>
          <p:cNvSpPr/>
          <p:nvPr/>
        </p:nvSpPr>
        <p:spPr>
          <a:xfrm>
            <a:off x="8821447" y="2454443"/>
            <a:ext cx="318220" cy="1801299"/>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5337171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転職サービス登録時の期待（</a:t>
            </a:r>
            <a:r>
              <a:rPr lang="en-US" altLang="ja-JP" dirty="0"/>
              <a:t>RAG</a:t>
            </a:r>
            <a:r>
              <a:rPr lang="ja-JP" altLang="en-US" dirty="0"/>
              <a:t>）</a:t>
            </a:r>
            <a:endParaRPr kumimoji="1" lang="ja-JP" altLang="en-US" dirty="0"/>
          </a:p>
        </p:txBody>
      </p:sp>
      <p:sp>
        <p:nvSpPr>
          <p:cNvPr id="33" name="ホームベース 32"/>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コネクタ 33"/>
          <p:cNvCxnSpPr/>
          <p:nvPr/>
        </p:nvCxnSpPr>
        <p:spPr>
          <a:xfrm>
            <a:off x="2316605" y="126876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525E7F-7E3A-401F-9DD8-D9E508A743F2}"/>
              </a:ext>
            </a:extLst>
          </p:cNvPr>
          <p:cNvCxnSpPr>
            <a:cxnSpLocks/>
          </p:cNvCxnSpPr>
          <p:nvPr/>
        </p:nvCxnSpPr>
        <p:spPr>
          <a:xfrm flipV="1">
            <a:off x="1489279" y="1693434"/>
            <a:ext cx="9336511" cy="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8FF9AB37-D78C-49AD-8B0E-275FF11AAA94}"/>
              </a:ext>
            </a:extLst>
          </p:cNvPr>
          <p:cNvSpPr>
            <a:spLocks noChangeArrowheads="1"/>
          </p:cNvSpPr>
          <p:nvPr/>
        </p:nvSpPr>
        <p:spPr bwMode="auto">
          <a:xfrm>
            <a:off x="1497114" y="1841821"/>
            <a:ext cx="9360000" cy="195814"/>
          </a:xfrm>
          <a:prstGeom prst="rect">
            <a:avLst/>
          </a:prstGeom>
          <a:solidFill>
            <a:srgbClr val="F2F2F2"/>
          </a:solidFill>
          <a:ln w="9525" algn="ctr">
            <a:noFill/>
            <a:miter lim="800000"/>
            <a:headEnd/>
            <a:tailEnd/>
          </a:ln>
          <a:effectLst/>
        </p:spPr>
        <p:txBody>
          <a:bodyPr vert="horz" wrap="square" lIns="91440" tIns="36000" rIns="720000" bIns="36000" numCol="1" anchor="ctr" anchorCtr="0" compatLnSpc="1">
            <a:prstTxWarp prst="textNoShape">
              <a:avLst/>
            </a:prstTxWarp>
            <a:spAutoFit/>
          </a:bodyPr>
          <a:lstStyle/>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Q8</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2023</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年</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1</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月以降に登録した以下の転職サービスについて、登録時に期待していたことをすべてお選びください。　</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リクルートエージェント</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endPar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テキスト ボックス 13">
            <a:extLst>
              <a:ext uri="{FF2B5EF4-FFF2-40B4-BE49-F238E27FC236}">
                <a16:creationId xmlns:a16="http://schemas.microsoft.com/office/drawing/2014/main" id="{F913BBE7-A10C-4A57-A95D-152E082DD1E1}"/>
              </a:ext>
            </a:extLst>
          </p:cNvPr>
          <p:cNvSpPr txBox="1"/>
          <p:nvPr/>
        </p:nvSpPr>
        <p:spPr>
          <a:xfrm>
            <a:off x="10209562" y="1830634"/>
            <a:ext cx="648000" cy="223143"/>
          </a:xfrm>
          <a:prstGeom prst="rect">
            <a:avLst/>
          </a:prstGeom>
          <a:noFill/>
        </p:spPr>
        <p:txBody>
          <a:bodyPr wrap="none" lIns="36000" tIns="36000" rIns="36000" bIns="36000" rtlCol="0" anchor="ctr" anchorCtr="1">
            <a:noAutofit/>
          </a:bodyPr>
          <a:lstStyle/>
          <a:p>
            <a:r>
              <a:rPr lang="en-US" altLang="ja-JP"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MA</a:t>
            </a:r>
            <a:endParaRPr lang="ja-JP" altLang="en-US"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3" name="図 2">
            <a:extLst>
              <a:ext uri="{FF2B5EF4-FFF2-40B4-BE49-F238E27FC236}">
                <a16:creationId xmlns:a16="http://schemas.microsoft.com/office/drawing/2014/main" id="{F5F68170-6BDD-4C7A-AB28-E4DE14D5B941}"/>
              </a:ext>
            </a:extLst>
          </p:cNvPr>
          <p:cNvPicPr/>
          <p:nvPr/>
        </p:nvPicPr>
        <p:blipFill>
          <a:blip r:embed="rId2"/>
          <a:stretch>
            <a:fillRect/>
          </a:stretch>
        </p:blipFill>
        <p:spPr>
          <a:xfrm>
            <a:off x="1290639" y="2322514"/>
            <a:ext cx="9609137" cy="3813175"/>
          </a:xfrm>
          <a:prstGeom prst="rect">
            <a:avLst/>
          </a:prstGeom>
        </p:spPr>
      </p:pic>
      <p:sp>
        <p:nvSpPr>
          <p:cNvPr id="12" name="テキスト ボックス 11">
            <a:extLst>
              <a:ext uri="{FF2B5EF4-FFF2-40B4-BE49-F238E27FC236}">
                <a16:creationId xmlns:a16="http://schemas.microsoft.com/office/drawing/2014/main" id="{94A19BD6-1D77-4455-9EA8-424D635B3C40}"/>
              </a:ext>
            </a:extLst>
          </p:cNvPr>
          <p:cNvSpPr txBox="1"/>
          <p:nvPr/>
        </p:nvSpPr>
        <p:spPr>
          <a:xfrm>
            <a:off x="2351584" y="544107"/>
            <a:ext cx="8332852" cy="738664"/>
          </a:xfrm>
          <a:prstGeom prst="rect">
            <a:avLst/>
          </a:prstGeom>
          <a:noFill/>
        </p:spPr>
        <p:txBody>
          <a:bodyPr wrap="square" rtlCol="0">
            <a:spAutoFit/>
          </a:bodyPr>
          <a:lstStyle/>
          <a:p>
            <a:pPr>
              <a:spcBef>
                <a:spcPts val="600"/>
              </a:spcBef>
            </a:pP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面談希望あり</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なし</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で比較をすると、</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「書類サポート」</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は</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20pt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以上、</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「面接アドバイス」「キャリアプランアドバイス」「</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RAG</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でしか見つからない求人」「相談のしやすさ」「担当者の真剣さ」「スキル・能力棚卸」</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では</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10pt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以上</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面接</a:t>
            </a:r>
            <a:b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希望あり</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が高い</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「応募・エントリーのしやすさ」「自分のペースで就職活動可能」</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は、</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面接希望なし</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の方が高い</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正方形/長方形 14">
            <a:extLst>
              <a:ext uri="{FF2B5EF4-FFF2-40B4-BE49-F238E27FC236}">
                <a16:creationId xmlns:a16="http://schemas.microsoft.com/office/drawing/2014/main" id="{2217D43F-CEA6-46C7-A9BD-568CAAA13F91}"/>
              </a:ext>
            </a:extLst>
          </p:cNvPr>
          <p:cNvSpPr/>
          <p:nvPr/>
        </p:nvSpPr>
        <p:spPr>
          <a:xfrm>
            <a:off x="3918612" y="4537623"/>
            <a:ext cx="386974" cy="11687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正方形/長方形 15">
            <a:extLst>
              <a:ext uri="{FF2B5EF4-FFF2-40B4-BE49-F238E27FC236}">
                <a16:creationId xmlns:a16="http://schemas.microsoft.com/office/drawing/2014/main" id="{675F247E-3858-4143-8876-6A78434BA81B}"/>
              </a:ext>
            </a:extLst>
          </p:cNvPr>
          <p:cNvSpPr/>
          <p:nvPr/>
        </p:nvSpPr>
        <p:spPr>
          <a:xfrm>
            <a:off x="5053017" y="4537623"/>
            <a:ext cx="386974" cy="11687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7" name="正方形/長方形 16">
            <a:extLst>
              <a:ext uri="{FF2B5EF4-FFF2-40B4-BE49-F238E27FC236}">
                <a16:creationId xmlns:a16="http://schemas.microsoft.com/office/drawing/2014/main" id="{A10EC1E4-750F-4314-8816-EB3FAB377F9D}"/>
              </a:ext>
            </a:extLst>
          </p:cNvPr>
          <p:cNvSpPr/>
          <p:nvPr/>
        </p:nvSpPr>
        <p:spPr>
          <a:xfrm>
            <a:off x="5823038" y="4537623"/>
            <a:ext cx="771986" cy="11687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8" name="正方形/長方形 17">
            <a:extLst>
              <a:ext uri="{FF2B5EF4-FFF2-40B4-BE49-F238E27FC236}">
                <a16:creationId xmlns:a16="http://schemas.microsoft.com/office/drawing/2014/main" id="{FA0090DE-18DD-4FC4-B256-289130A029DB}"/>
              </a:ext>
            </a:extLst>
          </p:cNvPr>
          <p:cNvSpPr/>
          <p:nvPr/>
        </p:nvSpPr>
        <p:spPr>
          <a:xfrm>
            <a:off x="6978071" y="4537623"/>
            <a:ext cx="771986" cy="11687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9" name="正方形/長方形 18">
            <a:extLst>
              <a:ext uri="{FF2B5EF4-FFF2-40B4-BE49-F238E27FC236}">
                <a16:creationId xmlns:a16="http://schemas.microsoft.com/office/drawing/2014/main" id="{D0F2C568-B3E3-4C71-A849-4BB8AFD8BA41}"/>
              </a:ext>
            </a:extLst>
          </p:cNvPr>
          <p:cNvSpPr/>
          <p:nvPr/>
        </p:nvSpPr>
        <p:spPr>
          <a:xfrm>
            <a:off x="8497486" y="4537623"/>
            <a:ext cx="386974" cy="11687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0" name="正方形/長方形 19">
            <a:extLst>
              <a:ext uri="{FF2B5EF4-FFF2-40B4-BE49-F238E27FC236}">
                <a16:creationId xmlns:a16="http://schemas.microsoft.com/office/drawing/2014/main" id="{99DFDB4A-F8CA-4F43-B7CC-53245FA64263}"/>
              </a:ext>
            </a:extLst>
          </p:cNvPr>
          <p:cNvSpPr/>
          <p:nvPr/>
        </p:nvSpPr>
        <p:spPr>
          <a:xfrm>
            <a:off x="3918612" y="5325324"/>
            <a:ext cx="386974" cy="116878"/>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1" name="正方形/長方形 20">
            <a:extLst>
              <a:ext uri="{FF2B5EF4-FFF2-40B4-BE49-F238E27FC236}">
                <a16:creationId xmlns:a16="http://schemas.microsoft.com/office/drawing/2014/main" id="{219F0EFF-7952-4DC2-8134-5728EE4DDB04}"/>
              </a:ext>
            </a:extLst>
          </p:cNvPr>
          <p:cNvSpPr/>
          <p:nvPr/>
        </p:nvSpPr>
        <p:spPr>
          <a:xfrm>
            <a:off x="5053017" y="5325324"/>
            <a:ext cx="386974" cy="116878"/>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2" name="正方形/長方形 21">
            <a:extLst>
              <a:ext uri="{FF2B5EF4-FFF2-40B4-BE49-F238E27FC236}">
                <a16:creationId xmlns:a16="http://schemas.microsoft.com/office/drawing/2014/main" id="{980C7CF9-16FF-440A-936D-D8B8B2851BE6}"/>
              </a:ext>
            </a:extLst>
          </p:cNvPr>
          <p:cNvSpPr/>
          <p:nvPr/>
        </p:nvSpPr>
        <p:spPr>
          <a:xfrm>
            <a:off x="5823038" y="5325324"/>
            <a:ext cx="771986" cy="116878"/>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3" name="正方形/長方形 22">
            <a:extLst>
              <a:ext uri="{FF2B5EF4-FFF2-40B4-BE49-F238E27FC236}">
                <a16:creationId xmlns:a16="http://schemas.microsoft.com/office/drawing/2014/main" id="{BFC1D12D-FB38-4FE8-B555-F04F1878BB36}"/>
              </a:ext>
            </a:extLst>
          </p:cNvPr>
          <p:cNvSpPr/>
          <p:nvPr/>
        </p:nvSpPr>
        <p:spPr>
          <a:xfrm>
            <a:off x="6978071" y="5325324"/>
            <a:ext cx="771986" cy="116878"/>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4" name="正方形/長方形 23">
            <a:extLst>
              <a:ext uri="{FF2B5EF4-FFF2-40B4-BE49-F238E27FC236}">
                <a16:creationId xmlns:a16="http://schemas.microsoft.com/office/drawing/2014/main" id="{5E447559-F728-484E-9959-9889DDCB79A8}"/>
              </a:ext>
            </a:extLst>
          </p:cNvPr>
          <p:cNvSpPr/>
          <p:nvPr/>
        </p:nvSpPr>
        <p:spPr>
          <a:xfrm>
            <a:off x="8497486" y="5325324"/>
            <a:ext cx="386974" cy="116878"/>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5" name="正方形/長方形 24">
            <a:extLst>
              <a:ext uri="{FF2B5EF4-FFF2-40B4-BE49-F238E27FC236}">
                <a16:creationId xmlns:a16="http://schemas.microsoft.com/office/drawing/2014/main" id="{213F4354-18B2-43B4-8E1E-452BFD1BD918}"/>
              </a:ext>
            </a:extLst>
          </p:cNvPr>
          <p:cNvSpPr/>
          <p:nvPr/>
        </p:nvSpPr>
        <p:spPr>
          <a:xfrm>
            <a:off x="3526727" y="4537623"/>
            <a:ext cx="386974" cy="116878"/>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6" name="正方形/長方形 25">
            <a:extLst>
              <a:ext uri="{FF2B5EF4-FFF2-40B4-BE49-F238E27FC236}">
                <a16:creationId xmlns:a16="http://schemas.microsoft.com/office/drawing/2014/main" id="{02F4E978-7280-4134-9B76-A9ABE7AA79E2}"/>
              </a:ext>
            </a:extLst>
          </p:cNvPr>
          <p:cNvSpPr/>
          <p:nvPr/>
        </p:nvSpPr>
        <p:spPr>
          <a:xfrm>
            <a:off x="5442829" y="4537623"/>
            <a:ext cx="386974" cy="116878"/>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7" name="正方形/長方形 26">
            <a:extLst>
              <a:ext uri="{FF2B5EF4-FFF2-40B4-BE49-F238E27FC236}">
                <a16:creationId xmlns:a16="http://schemas.microsoft.com/office/drawing/2014/main" id="{0A929E83-0852-4F51-99A6-24D6ECC3FCB6}"/>
              </a:ext>
            </a:extLst>
          </p:cNvPr>
          <p:cNvSpPr/>
          <p:nvPr/>
        </p:nvSpPr>
        <p:spPr>
          <a:xfrm>
            <a:off x="3526727" y="5325324"/>
            <a:ext cx="386974" cy="11687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8" name="正方形/長方形 27">
            <a:extLst>
              <a:ext uri="{FF2B5EF4-FFF2-40B4-BE49-F238E27FC236}">
                <a16:creationId xmlns:a16="http://schemas.microsoft.com/office/drawing/2014/main" id="{E8039CDC-352F-4261-9716-0511BB8781C9}"/>
              </a:ext>
            </a:extLst>
          </p:cNvPr>
          <p:cNvSpPr/>
          <p:nvPr/>
        </p:nvSpPr>
        <p:spPr>
          <a:xfrm>
            <a:off x="5442829" y="5325324"/>
            <a:ext cx="386974" cy="11687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0" name="楕円 29">
            <a:extLst>
              <a:ext uri="{FF2B5EF4-FFF2-40B4-BE49-F238E27FC236}">
                <a16:creationId xmlns:a16="http://schemas.microsoft.com/office/drawing/2014/main" id="{B60C93ED-B799-4CCA-9B57-2516D7BA833F}"/>
              </a:ext>
            </a:extLst>
          </p:cNvPr>
          <p:cNvSpPr/>
          <p:nvPr/>
        </p:nvSpPr>
        <p:spPr>
          <a:xfrm>
            <a:off x="3940220" y="2736903"/>
            <a:ext cx="343759" cy="617892"/>
          </a:xfrm>
          <a:prstGeom prst="ellipse">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5" name="楕円 34">
            <a:extLst>
              <a:ext uri="{FF2B5EF4-FFF2-40B4-BE49-F238E27FC236}">
                <a16:creationId xmlns:a16="http://schemas.microsoft.com/office/drawing/2014/main" id="{F7698454-F2AF-4228-BF6F-8899FC314747}"/>
              </a:ext>
            </a:extLst>
          </p:cNvPr>
          <p:cNvSpPr/>
          <p:nvPr/>
        </p:nvSpPr>
        <p:spPr>
          <a:xfrm>
            <a:off x="5074625" y="2917852"/>
            <a:ext cx="343759" cy="436943"/>
          </a:xfrm>
          <a:prstGeom prst="ellipse">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6" name="楕円 35">
            <a:extLst>
              <a:ext uri="{FF2B5EF4-FFF2-40B4-BE49-F238E27FC236}">
                <a16:creationId xmlns:a16="http://schemas.microsoft.com/office/drawing/2014/main" id="{466927E1-5BBE-45CF-A605-5C9B7E271BCF}"/>
              </a:ext>
            </a:extLst>
          </p:cNvPr>
          <p:cNvSpPr/>
          <p:nvPr/>
        </p:nvSpPr>
        <p:spPr>
          <a:xfrm>
            <a:off x="5783753" y="2938477"/>
            <a:ext cx="818147" cy="436943"/>
          </a:xfrm>
          <a:prstGeom prst="ellipse">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7" name="楕円 36">
            <a:extLst>
              <a:ext uri="{FF2B5EF4-FFF2-40B4-BE49-F238E27FC236}">
                <a16:creationId xmlns:a16="http://schemas.microsoft.com/office/drawing/2014/main" id="{8FAD6C1A-1A3D-408E-B984-24DE52C82149}"/>
              </a:ext>
            </a:extLst>
          </p:cNvPr>
          <p:cNvSpPr/>
          <p:nvPr/>
        </p:nvSpPr>
        <p:spPr>
          <a:xfrm>
            <a:off x="6918158" y="2993477"/>
            <a:ext cx="818147" cy="436943"/>
          </a:xfrm>
          <a:prstGeom prst="ellipse">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8" name="楕円 37">
            <a:extLst>
              <a:ext uri="{FF2B5EF4-FFF2-40B4-BE49-F238E27FC236}">
                <a16:creationId xmlns:a16="http://schemas.microsoft.com/office/drawing/2014/main" id="{C973D7F7-8765-4210-87C5-4E6675429CEC}"/>
              </a:ext>
            </a:extLst>
          </p:cNvPr>
          <p:cNvSpPr/>
          <p:nvPr/>
        </p:nvSpPr>
        <p:spPr>
          <a:xfrm>
            <a:off x="8510255" y="3075983"/>
            <a:ext cx="343759" cy="436943"/>
          </a:xfrm>
          <a:prstGeom prst="ellipse">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9848434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RAG</a:t>
            </a:r>
            <a:r>
              <a:rPr kumimoji="1" lang="ja-JP" altLang="en-US" dirty="0"/>
              <a:t>以外のサービスをメイン利用の理由（サービス不問）</a:t>
            </a:r>
          </a:p>
        </p:txBody>
      </p:sp>
      <p:sp>
        <p:nvSpPr>
          <p:cNvPr id="33" name="ホームベース 32"/>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コネクタ 33"/>
          <p:cNvCxnSpPr/>
          <p:nvPr/>
        </p:nvCxnSpPr>
        <p:spPr>
          <a:xfrm>
            <a:off x="2316605" y="126876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525E7F-7E3A-401F-9DD8-D9E508A743F2}"/>
              </a:ext>
            </a:extLst>
          </p:cNvPr>
          <p:cNvCxnSpPr>
            <a:cxnSpLocks/>
          </p:cNvCxnSpPr>
          <p:nvPr/>
        </p:nvCxnSpPr>
        <p:spPr>
          <a:xfrm flipV="1">
            <a:off x="1489279" y="1693434"/>
            <a:ext cx="9336511" cy="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8FF9AB37-D78C-49AD-8B0E-275FF11AAA94}"/>
              </a:ext>
            </a:extLst>
          </p:cNvPr>
          <p:cNvSpPr>
            <a:spLocks noChangeArrowheads="1"/>
          </p:cNvSpPr>
          <p:nvPr/>
        </p:nvSpPr>
        <p:spPr bwMode="auto">
          <a:xfrm>
            <a:off x="1497114" y="1780266"/>
            <a:ext cx="9360000" cy="318924"/>
          </a:xfrm>
          <a:prstGeom prst="rect">
            <a:avLst/>
          </a:prstGeom>
          <a:solidFill>
            <a:srgbClr val="F2F2F2"/>
          </a:solidFill>
          <a:ln w="9525" algn="ctr">
            <a:noFill/>
            <a:miter lim="800000"/>
            <a:headEnd/>
            <a:tailEnd/>
          </a:ln>
          <a:effectLst/>
        </p:spPr>
        <p:txBody>
          <a:bodyPr vert="horz" wrap="square" lIns="91440" tIns="36000" rIns="720000" bIns="36000" numCol="1" anchor="ctr" anchorCtr="0" compatLnSpc="1">
            <a:prstTxWarp prst="textNoShape">
              <a:avLst/>
            </a:prstTxWarp>
            <a:spAutoFit/>
          </a:bodyPr>
          <a:lstStyle/>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Q9</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2023</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年</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1</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月以降に</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【Q7S2</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の選択内容</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を最も利用した</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する予定だった方にお伺いします。リクルートエージェントではなく、</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【Q7S2</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の選択内容</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を最も利用した</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する予定だった理由を教えてください。</a:t>
            </a:r>
            <a:endPar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a:p>
            <a:pPr marL="92075" indent="-92075" fontAlgn="base">
              <a:spcBef>
                <a:spcPct val="0"/>
              </a:spcBef>
              <a:spcAft>
                <a:spcPct val="0"/>
              </a:spcAft>
            </a:pP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リクルートエージェントではなく、</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【Q7S2</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の選択内容</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を最も利用した</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する予定だった理由（すべて）</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その中で最も大きな理由（ひとつ）</a:t>
            </a:r>
            <a:endPar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テキスト ボックス 13">
            <a:extLst>
              <a:ext uri="{FF2B5EF4-FFF2-40B4-BE49-F238E27FC236}">
                <a16:creationId xmlns:a16="http://schemas.microsoft.com/office/drawing/2014/main" id="{F913BBE7-A10C-4A57-A95D-152E082DD1E1}"/>
              </a:ext>
            </a:extLst>
          </p:cNvPr>
          <p:cNvSpPr txBox="1"/>
          <p:nvPr/>
        </p:nvSpPr>
        <p:spPr>
          <a:xfrm>
            <a:off x="10209562" y="1830634"/>
            <a:ext cx="648000" cy="223143"/>
          </a:xfrm>
          <a:prstGeom prst="rect">
            <a:avLst/>
          </a:prstGeom>
          <a:noFill/>
        </p:spPr>
        <p:txBody>
          <a:bodyPr wrap="none" lIns="36000" tIns="36000" rIns="36000" bIns="36000" rtlCol="0" anchor="ctr" anchorCtr="1">
            <a:noAutofit/>
          </a:bodyPr>
          <a:lstStyle/>
          <a:p>
            <a:r>
              <a:rPr lang="en-US" altLang="ja-JP"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MA/SA</a:t>
            </a:r>
            <a:endParaRPr lang="ja-JP" altLang="en-US"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5" name="図 4">
            <a:extLst>
              <a:ext uri="{FF2B5EF4-FFF2-40B4-BE49-F238E27FC236}">
                <a16:creationId xmlns:a16="http://schemas.microsoft.com/office/drawing/2014/main" id="{9BE404D1-726F-48DA-B8FD-A2E04780A19A}"/>
              </a:ext>
            </a:extLst>
          </p:cNvPr>
          <p:cNvPicPr/>
          <p:nvPr/>
        </p:nvPicPr>
        <p:blipFill>
          <a:blip r:embed="rId2"/>
          <a:srcRect/>
          <a:stretch>
            <a:fillRect/>
          </a:stretch>
        </p:blipFill>
        <p:spPr>
          <a:xfrm>
            <a:off x="1291178" y="2263030"/>
            <a:ext cx="9609644" cy="3990998"/>
          </a:xfrm>
          <a:prstGeom prst="rect">
            <a:avLst/>
          </a:prstGeom>
        </p:spPr>
      </p:pic>
      <p:sp>
        <p:nvSpPr>
          <p:cNvPr id="4" name="テキスト ボックス 3">
            <a:extLst>
              <a:ext uri="{FF2B5EF4-FFF2-40B4-BE49-F238E27FC236}">
                <a16:creationId xmlns:a16="http://schemas.microsoft.com/office/drawing/2014/main" id="{EB3B445B-B980-4E18-A1C2-AF14572636F5}"/>
              </a:ext>
            </a:extLst>
          </p:cNvPr>
          <p:cNvSpPr txBox="1"/>
          <p:nvPr/>
        </p:nvSpPr>
        <p:spPr>
          <a:xfrm>
            <a:off x="1487488" y="2073388"/>
            <a:ext cx="2105246" cy="215444"/>
          </a:xfrm>
          <a:prstGeom prst="rect">
            <a:avLst/>
          </a:prstGeom>
          <a:noFill/>
        </p:spPr>
        <p:txBody>
          <a:bodyPr wrap="square" rtlCol="0">
            <a:spAutoFit/>
          </a:bodyPr>
          <a:lstStyle/>
          <a:p>
            <a:r>
              <a:rPr lang="en-US" altLang="ja-JP" sz="800" dirty="0">
                <a:solidFill>
                  <a:schemeClr val="tx2"/>
                </a:solidFill>
                <a:latin typeface="Meiryo UI" panose="020B0604030504040204" pitchFamily="50" charset="-128"/>
                <a:ea typeface="Meiryo UI" panose="020B0604030504040204" pitchFamily="50" charset="-128"/>
              </a:rPr>
              <a:t>※RAG</a:t>
            </a:r>
            <a:r>
              <a:rPr lang="ja-JP" altLang="en-US" sz="800" dirty="0">
                <a:solidFill>
                  <a:schemeClr val="tx2"/>
                </a:solidFill>
                <a:latin typeface="Meiryo UI" panose="020B0604030504040204" pitchFamily="50" charset="-128"/>
                <a:ea typeface="Meiryo UI" panose="020B0604030504040204" pitchFamily="50" charset="-128"/>
              </a:rPr>
              <a:t>以外のサービスをメイン利用者ベース</a:t>
            </a:r>
          </a:p>
        </p:txBody>
      </p:sp>
      <p:sp>
        <p:nvSpPr>
          <p:cNvPr id="11" name="テキスト ボックス 10">
            <a:extLst>
              <a:ext uri="{FF2B5EF4-FFF2-40B4-BE49-F238E27FC236}">
                <a16:creationId xmlns:a16="http://schemas.microsoft.com/office/drawing/2014/main" id="{4D7D96C6-1C91-4A0B-A947-D4DA0F9FE15C}"/>
              </a:ext>
            </a:extLst>
          </p:cNvPr>
          <p:cNvSpPr txBox="1"/>
          <p:nvPr/>
        </p:nvSpPr>
        <p:spPr>
          <a:xfrm>
            <a:off x="2351584" y="544107"/>
            <a:ext cx="8332852" cy="738664"/>
          </a:xfrm>
          <a:prstGeom prst="rect">
            <a:avLst/>
          </a:prstGeom>
          <a:noFill/>
        </p:spPr>
        <p:txBody>
          <a:bodyPr wrap="square" rtlCol="0">
            <a:spAutoFit/>
          </a:bodyPr>
          <a:lstStyle/>
          <a:p>
            <a:pPr>
              <a:spcBef>
                <a:spcPts val="600"/>
              </a:spcBef>
            </a:pP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全体では</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「応募・エントリーしやすさ」が</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TOP</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の理由。</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「自分のペースで就職活動可能」「最初に登録したサービス」</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が続く。</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面談希望あり（特に面談実施・求人応募もあり）</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では「求人に対する情報量の多さ」</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のスコアが高く、</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面談希望なし</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では、先述した全体での上位</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3</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理由が多くを占める</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様子。</a:t>
            </a:r>
            <a:r>
              <a:rPr lang="en-US" altLang="ja-JP" sz="9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900" b="1" dirty="0">
                <a:latin typeface="Meiryo UI" panose="020B0604030504040204" pitchFamily="50" charset="-128"/>
                <a:ea typeface="Meiryo UI" panose="020B0604030504040204" pitchFamily="50" charset="-128"/>
                <a:cs typeface="Meiryo UI" panose="020B0604030504040204" pitchFamily="50" charset="-128"/>
              </a:rPr>
              <a:t>転職サービス別ではサンプル数わずかのため不問とし合算</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2" name="正方形/長方形 11">
            <a:extLst>
              <a:ext uri="{FF2B5EF4-FFF2-40B4-BE49-F238E27FC236}">
                <a16:creationId xmlns:a16="http://schemas.microsoft.com/office/drawing/2014/main" id="{470944F5-A428-42E8-9F8F-F1EF6492AAA5}"/>
              </a:ext>
            </a:extLst>
          </p:cNvPr>
          <p:cNvSpPr/>
          <p:nvPr/>
        </p:nvSpPr>
        <p:spPr>
          <a:xfrm>
            <a:off x="3031712" y="2445055"/>
            <a:ext cx="820112" cy="21338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正方形/長方形 14">
            <a:extLst>
              <a:ext uri="{FF2B5EF4-FFF2-40B4-BE49-F238E27FC236}">
                <a16:creationId xmlns:a16="http://schemas.microsoft.com/office/drawing/2014/main" id="{760BFF24-F0E8-4571-A680-A59DA9267567}"/>
              </a:ext>
            </a:extLst>
          </p:cNvPr>
          <p:cNvSpPr/>
          <p:nvPr/>
        </p:nvSpPr>
        <p:spPr>
          <a:xfrm>
            <a:off x="3851825" y="4578879"/>
            <a:ext cx="295633" cy="30250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正方形/長方形 15">
            <a:extLst>
              <a:ext uri="{FF2B5EF4-FFF2-40B4-BE49-F238E27FC236}">
                <a16:creationId xmlns:a16="http://schemas.microsoft.com/office/drawing/2014/main" id="{4E7ECC7B-9F2A-40AA-88B6-2E2F802402F3}"/>
              </a:ext>
            </a:extLst>
          </p:cNvPr>
          <p:cNvSpPr/>
          <p:nvPr/>
        </p:nvSpPr>
        <p:spPr>
          <a:xfrm>
            <a:off x="3031712" y="5307646"/>
            <a:ext cx="820112" cy="10928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8826636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面談で期待していたこと（面談希望あり）</a:t>
            </a:r>
          </a:p>
        </p:txBody>
      </p:sp>
      <p:sp>
        <p:nvSpPr>
          <p:cNvPr id="7" name="テキスト ボックス 6"/>
          <p:cNvSpPr txBox="1"/>
          <p:nvPr/>
        </p:nvSpPr>
        <p:spPr>
          <a:xfrm>
            <a:off x="2351584" y="544107"/>
            <a:ext cx="8332852" cy="738664"/>
          </a:xfrm>
          <a:prstGeom prst="rect">
            <a:avLst/>
          </a:prstGeom>
          <a:noFill/>
        </p:spPr>
        <p:txBody>
          <a:bodyPr wrap="square" rtlCol="0">
            <a:spAutoFit/>
          </a:bodyPr>
          <a:lstStyle/>
          <a:p>
            <a:pPr>
              <a:spcBef>
                <a:spcPts val="600"/>
              </a:spcBef>
            </a:pP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「希望にあった求人の紹介」</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が</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6</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割弱で</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TOP</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。特に</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20</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代では</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64%</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と高くなっている。</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面談希望あり・面談実施</a:t>
            </a:r>
            <a:b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あり・求人応募あり</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では、</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「書類の添削・アドバイス」「面接対策」など実践的な期待</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が特に高い。一方で、</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面接希望あり・面談実施あり・求人応募なし</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では「親身に相談にのってくれる」「柔軟な対応」「市場価値確認」が高め。</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3" name="ホームベース 32"/>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コネクタ 33"/>
          <p:cNvCxnSpPr/>
          <p:nvPr/>
        </p:nvCxnSpPr>
        <p:spPr>
          <a:xfrm>
            <a:off x="2316605" y="126876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525E7F-7E3A-401F-9DD8-D9E508A743F2}"/>
              </a:ext>
            </a:extLst>
          </p:cNvPr>
          <p:cNvCxnSpPr>
            <a:cxnSpLocks/>
          </p:cNvCxnSpPr>
          <p:nvPr/>
        </p:nvCxnSpPr>
        <p:spPr>
          <a:xfrm flipV="1">
            <a:off x="1489279" y="1693434"/>
            <a:ext cx="9336511" cy="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8FF9AB37-D78C-49AD-8B0E-275FF11AAA94}"/>
              </a:ext>
            </a:extLst>
          </p:cNvPr>
          <p:cNvSpPr>
            <a:spLocks noChangeArrowheads="1"/>
          </p:cNvSpPr>
          <p:nvPr/>
        </p:nvSpPr>
        <p:spPr bwMode="auto">
          <a:xfrm>
            <a:off x="1497114" y="1841821"/>
            <a:ext cx="9360000" cy="195814"/>
          </a:xfrm>
          <a:prstGeom prst="rect">
            <a:avLst/>
          </a:prstGeom>
          <a:solidFill>
            <a:srgbClr val="F2F2F2"/>
          </a:solidFill>
          <a:ln w="9525" algn="ctr">
            <a:noFill/>
            <a:miter lim="800000"/>
            <a:headEnd/>
            <a:tailEnd/>
          </a:ln>
          <a:effectLst/>
        </p:spPr>
        <p:txBody>
          <a:bodyPr vert="horz" wrap="square" lIns="91440" tIns="36000" rIns="720000" bIns="36000" numCol="1" anchor="ctr" anchorCtr="0" compatLnSpc="1">
            <a:prstTxWarp prst="textNoShape">
              <a:avLst/>
            </a:prstTxWarp>
            <a:spAutoFit/>
          </a:bodyPr>
          <a:lstStyle/>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Q12</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2023</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年</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1</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月以降に「リクルートエージェント」に登録した際、「面談希望があった」方にお伺いします。キャリアアドバイザーとの面談で期待していたこととして、当てはまるものをすべてお選びください。</a:t>
            </a:r>
            <a:endPar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テキスト ボックス 13">
            <a:extLst>
              <a:ext uri="{FF2B5EF4-FFF2-40B4-BE49-F238E27FC236}">
                <a16:creationId xmlns:a16="http://schemas.microsoft.com/office/drawing/2014/main" id="{F913BBE7-A10C-4A57-A95D-152E082DD1E1}"/>
              </a:ext>
            </a:extLst>
          </p:cNvPr>
          <p:cNvSpPr txBox="1"/>
          <p:nvPr/>
        </p:nvSpPr>
        <p:spPr>
          <a:xfrm>
            <a:off x="10209562" y="1830634"/>
            <a:ext cx="648000" cy="223143"/>
          </a:xfrm>
          <a:prstGeom prst="rect">
            <a:avLst/>
          </a:prstGeom>
          <a:noFill/>
        </p:spPr>
        <p:txBody>
          <a:bodyPr wrap="none" lIns="36000" tIns="36000" rIns="36000" bIns="36000" rtlCol="0" anchor="ctr" anchorCtr="1">
            <a:noAutofit/>
          </a:bodyPr>
          <a:lstStyle/>
          <a:p>
            <a:r>
              <a:rPr lang="en-US" altLang="ja-JP"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MA</a:t>
            </a:r>
            <a:endParaRPr lang="ja-JP" altLang="en-US"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4" name="図 3">
            <a:extLst>
              <a:ext uri="{FF2B5EF4-FFF2-40B4-BE49-F238E27FC236}">
                <a16:creationId xmlns:a16="http://schemas.microsoft.com/office/drawing/2014/main" id="{804E3CE1-1025-4B37-B00E-F83D594009D0}"/>
              </a:ext>
            </a:extLst>
          </p:cNvPr>
          <p:cNvPicPr/>
          <p:nvPr/>
        </p:nvPicPr>
        <p:blipFill>
          <a:blip r:embed="rId2"/>
          <a:srcRect/>
          <a:stretch>
            <a:fillRect/>
          </a:stretch>
        </p:blipFill>
        <p:spPr>
          <a:xfrm>
            <a:off x="1338632" y="2277590"/>
            <a:ext cx="9472477" cy="3699891"/>
          </a:xfrm>
          <a:prstGeom prst="rect">
            <a:avLst/>
          </a:prstGeom>
        </p:spPr>
      </p:pic>
      <p:sp>
        <p:nvSpPr>
          <p:cNvPr id="11" name="テキスト ボックス 10">
            <a:extLst>
              <a:ext uri="{FF2B5EF4-FFF2-40B4-BE49-F238E27FC236}">
                <a16:creationId xmlns:a16="http://schemas.microsoft.com/office/drawing/2014/main" id="{4E3A2D82-5F9C-42BF-B8D0-4C1690844547}"/>
              </a:ext>
            </a:extLst>
          </p:cNvPr>
          <p:cNvSpPr txBox="1"/>
          <p:nvPr/>
        </p:nvSpPr>
        <p:spPr>
          <a:xfrm>
            <a:off x="1487488" y="2073388"/>
            <a:ext cx="2105246" cy="215444"/>
          </a:xfrm>
          <a:prstGeom prst="rect">
            <a:avLst/>
          </a:prstGeom>
          <a:noFill/>
        </p:spPr>
        <p:txBody>
          <a:bodyPr wrap="square" rtlCol="0">
            <a:spAutoFit/>
          </a:bodyPr>
          <a:lstStyle/>
          <a:p>
            <a:r>
              <a:rPr lang="en-US" altLang="ja-JP" sz="800" dirty="0">
                <a:solidFill>
                  <a:schemeClr val="tx2"/>
                </a:solidFill>
                <a:latin typeface="Meiryo UI" panose="020B0604030504040204" pitchFamily="50" charset="-128"/>
                <a:ea typeface="Meiryo UI" panose="020B0604030504040204" pitchFamily="50" charset="-128"/>
              </a:rPr>
              <a:t>※</a:t>
            </a:r>
            <a:r>
              <a:rPr lang="ja-JP" altLang="en-US" sz="800" dirty="0">
                <a:solidFill>
                  <a:schemeClr val="tx2"/>
                </a:solidFill>
                <a:latin typeface="Meiryo UI" panose="020B0604030504040204" pitchFamily="50" charset="-128"/>
                <a:ea typeface="Meiryo UI" panose="020B0604030504040204" pitchFamily="50" charset="-128"/>
              </a:rPr>
              <a:t>面談希望者ベース</a:t>
            </a:r>
          </a:p>
        </p:txBody>
      </p:sp>
      <p:sp>
        <p:nvSpPr>
          <p:cNvPr id="12" name="正方形/長方形 11">
            <a:extLst>
              <a:ext uri="{FF2B5EF4-FFF2-40B4-BE49-F238E27FC236}">
                <a16:creationId xmlns:a16="http://schemas.microsoft.com/office/drawing/2014/main" id="{AB31E486-88D0-41E0-989E-E11CDCB1692B}"/>
              </a:ext>
            </a:extLst>
          </p:cNvPr>
          <p:cNvSpPr/>
          <p:nvPr/>
        </p:nvSpPr>
        <p:spPr>
          <a:xfrm>
            <a:off x="3726106" y="2580379"/>
            <a:ext cx="359474" cy="227350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正方形/長方形 14">
            <a:extLst>
              <a:ext uri="{FF2B5EF4-FFF2-40B4-BE49-F238E27FC236}">
                <a16:creationId xmlns:a16="http://schemas.microsoft.com/office/drawing/2014/main" id="{13334986-5C83-44DA-A41F-2CE39D571CB8}"/>
              </a:ext>
            </a:extLst>
          </p:cNvPr>
          <p:cNvSpPr/>
          <p:nvPr/>
        </p:nvSpPr>
        <p:spPr>
          <a:xfrm>
            <a:off x="3726106" y="5520776"/>
            <a:ext cx="359474" cy="959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正方形/長方形 15">
            <a:extLst>
              <a:ext uri="{FF2B5EF4-FFF2-40B4-BE49-F238E27FC236}">
                <a16:creationId xmlns:a16="http://schemas.microsoft.com/office/drawing/2014/main" id="{FEE88BC4-C223-4607-BB8F-2D984BA9DD06}"/>
              </a:ext>
            </a:extLst>
          </p:cNvPr>
          <p:cNvSpPr/>
          <p:nvPr/>
        </p:nvSpPr>
        <p:spPr>
          <a:xfrm>
            <a:off x="4428521" y="4965032"/>
            <a:ext cx="359474" cy="959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7" name="正方形/長方形 16">
            <a:extLst>
              <a:ext uri="{FF2B5EF4-FFF2-40B4-BE49-F238E27FC236}">
                <a16:creationId xmlns:a16="http://schemas.microsoft.com/office/drawing/2014/main" id="{1F013487-61E0-4274-9DB5-B3E3B0743B9B}"/>
              </a:ext>
            </a:extLst>
          </p:cNvPr>
          <p:cNvSpPr/>
          <p:nvPr/>
        </p:nvSpPr>
        <p:spPr>
          <a:xfrm>
            <a:off x="5466674" y="4965032"/>
            <a:ext cx="359474" cy="959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8" name="正方形/長方形 17">
            <a:extLst>
              <a:ext uri="{FF2B5EF4-FFF2-40B4-BE49-F238E27FC236}">
                <a16:creationId xmlns:a16="http://schemas.microsoft.com/office/drawing/2014/main" id="{67F12032-AEBB-4C8C-9525-685A216F931B}"/>
              </a:ext>
            </a:extLst>
          </p:cNvPr>
          <p:cNvSpPr/>
          <p:nvPr/>
        </p:nvSpPr>
        <p:spPr>
          <a:xfrm>
            <a:off x="4071015" y="5074746"/>
            <a:ext cx="359474" cy="959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9" name="正方形/長方形 18">
            <a:extLst>
              <a:ext uri="{FF2B5EF4-FFF2-40B4-BE49-F238E27FC236}">
                <a16:creationId xmlns:a16="http://schemas.microsoft.com/office/drawing/2014/main" id="{DF1EBE09-DBBF-4AAE-92E9-2B2DA8BC4D97}"/>
              </a:ext>
            </a:extLst>
          </p:cNvPr>
          <p:cNvSpPr/>
          <p:nvPr/>
        </p:nvSpPr>
        <p:spPr>
          <a:xfrm>
            <a:off x="6518010" y="5074746"/>
            <a:ext cx="359474" cy="959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0" name="正方形/長方形 19">
            <a:extLst>
              <a:ext uri="{FF2B5EF4-FFF2-40B4-BE49-F238E27FC236}">
                <a16:creationId xmlns:a16="http://schemas.microsoft.com/office/drawing/2014/main" id="{3814E1E1-1E87-48BA-9C2B-BBCAEA5D848E}"/>
              </a:ext>
            </a:extLst>
          </p:cNvPr>
          <p:cNvSpPr/>
          <p:nvPr/>
        </p:nvSpPr>
        <p:spPr>
          <a:xfrm>
            <a:off x="4787995" y="5074746"/>
            <a:ext cx="359474" cy="959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6404698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面談希望</a:t>
            </a:r>
            <a:r>
              <a:rPr lang="ja-JP" altLang="en-US" dirty="0"/>
              <a:t>があったにもかかわらず面談非実施の理由</a:t>
            </a:r>
            <a:endParaRPr kumimoji="1" lang="ja-JP" altLang="en-US" dirty="0"/>
          </a:p>
        </p:txBody>
      </p:sp>
      <p:sp>
        <p:nvSpPr>
          <p:cNvPr id="7" name="テキスト ボックス 6"/>
          <p:cNvSpPr txBox="1"/>
          <p:nvPr/>
        </p:nvSpPr>
        <p:spPr>
          <a:xfrm>
            <a:off x="2351584" y="544107"/>
            <a:ext cx="8332852" cy="738664"/>
          </a:xfrm>
          <a:prstGeom prst="rect">
            <a:avLst/>
          </a:prstGeom>
          <a:noFill/>
        </p:spPr>
        <p:txBody>
          <a:bodyPr wrap="square" rtlCol="0">
            <a:spAutoFit/>
          </a:bodyPr>
          <a:lstStyle/>
          <a:p>
            <a:pPr>
              <a:spcBef>
                <a:spcPts val="600"/>
              </a:spcBef>
            </a:pP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「時間が確保できなかった</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スケジュールがあわなかった」が</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43%</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で</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TOP</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の理由。</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「転職時期が先</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転職未定で面談をしてよいか迷った、不要だと思った」</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が続く。</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一方で、他サービス関連の理由や面談前に転職活動終了、口コミ影響はほとんどない様子。</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3" name="ホームベース 32"/>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コネクタ 33"/>
          <p:cNvCxnSpPr/>
          <p:nvPr/>
        </p:nvCxnSpPr>
        <p:spPr>
          <a:xfrm>
            <a:off x="2316605" y="126876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525E7F-7E3A-401F-9DD8-D9E508A743F2}"/>
              </a:ext>
            </a:extLst>
          </p:cNvPr>
          <p:cNvCxnSpPr>
            <a:cxnSpLocks/>
          </p:cNvCxnSpPr>
          <p:nvPr/>
        </p:nvCxnSpPr>
        <p:spPr>
          <a:xfrm flipV="1">
            <a:off x="1489279" y="1693434"/>
            <a:ext cx="9336511" cy="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8FF9AB37-D78C-49AD-8B0E-275FF11AAA94}"/>
              </a:ext>
            </a:extLst>
          </p:cNvPr>
          <p:cNvSpPr>
            <a:spLocks noChangeArrowheads="1"/>
          </p:cNvSpPr>
          <p:nvPr/>
        </p:nvSpPr>
        <p:spPr bwMode="auto">
          <a:xfrm>
            <a:off x="1497114" y="1780266"/>
            <a:ext cx="9360000" cy="318924"/>
          </a:xfrm>
          <a:prstGeom prst="rect">
            <a:avLst/>
          </a:prstGeom>
          <a:solidFill>
            <a:srgbClr val="F2F2F2"/>
          </a:solidFill>
          <a:ln w="9525" algn="ctr">
            <a:noFill/>
            <a:miter lim="800000"/>
            <a:headEnd/>
            <a:tailEnd/>
          </a:ln>
          <a:effectLst/>
        </p:spPr>
        <p:txBody>
          <a:bodyPr vert="horz" wrap="square" lIns="91440" tIns="36000" rIns="720000" bIns="36000" numCol="1" anchor="ctr" anchorCtr="0" compatLnSpc="1">
            <a:prstTxWarp prst="textNoShape">
              <a:avLst/>
            </a:prstTxWarp>
            <a:spAutoFit/>
          </a:bodyPr>
          <a:lstStyle/>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Q13</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2023</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年</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1</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月以降に「リクルートエージェント」に登録した際、「面談希望があった」ものの「面談を実施しなかった」方にお伺いします。</a:t>
            </a:r>
            <a:b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b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キャリアアドバイザーとの面談を希望していたものの実施していない理由として、当てはまるものをすべてお選びください。</a:t>
            </a:r>
            <a:endPar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テキスト ボックス 13">
            <a:extLst>
              <a:ext uri="{FF2B5EF4-FFF2-40B4-BE49-F238E27FC236}">
                <a16:creationId xmlns:a16="http://schemas.microsoft.com/office/drawing/2014/main" id="{F913BBE7-A10C-4A57-A95D-152E082DD1E1}"/>
              </a:ext>
            </a:extLst>
          </p:cNvPr>
          <p:cNvSpPr txBox="1"/>
          <p:nvPr/>
        </p:nvSpPr>
        <p:spPr>
          <a:xfrm>
            <a:off x="10209562" y="1830634"/>
            <a:ext cx="648000" cy="223143"/>
          </a:xfrm>
          <a:prstGeom prst="rect">
            <a:avLst/>
          </a:prstGeom>
          <a:noFill/>
        </p:spPr>
        <p:txBody>
          <a:bodyPr wrap="none" lIns="36000" tIns="36000" rIns="36000" bIns="36000" rtlCol="0" anchor="ctr" anchorCtr="1">
            <a:noAutofit/>
          </a:bodyPr>
          <a:lstStyle/>
          <a:p>
            <a:r>
              <a:rPr lang="en-US" altLang="ja-JP"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MA</a:t>
            </a:r>
            <a:endParaRPr lang="ja-JP" altLang="en-US"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4" name="図 3">
            <a:extLst>
              <a:ext uri="{FF2B5EF4-FFF2-40B4-BE49-F238E27FC236}">
                <a16:creationId xmlns:a16="http://schemas.microsoft.com/office/drawing/2014/main" id="{BCE644EF-4784-4612-8D87-7AB758DA6F4B}"/>
              </a:ext>
            </a:extLst>
          </p:cNvPr>
          <p:cNvPicPr/>
          <p:nvPr/>
        </p:nvPicPr>
        <p:blipFill>
          <a:blip r:embed="rId2"/>
          <a:srcRect/>
          <a:stretch>
            <a:fillRect/>
          </a:stretch>
        </p:blipFill>
        <p:spPr>
          <a:xfrm>
            <a:off x="1511794" y="2318323"/>
            <a:ext cx="9021768" cy="4325084"/>
          </a:xfrm>
          <a:prstGeom prst="rect">
            <a:avLst/>
          </a:prstGeom>
        </p:spPr>
      </p:pic>
      <p:sp>
        <p:nvSpPr>
          <p:cNvPr id="11" name="テキスト ボックス 10">
            <a:extLst>
              <a:ext uri="{FF2B5EF4-FFF2-40B4-BE49-F238E27FC236}">
                <a16:creationId xmlns:a16="http://schemas.microsoft.com/office/drawing/2014/main" id="{704BDB3B-CD7E-4CA1-958E-21D92B1212B5}"/>
              </a:ext>
            </a:extLst>
          </p:cNvPr>
          <p:cNvSpPr txBox="1"/>
          <p:nvPr/>
        </p:nvSpPr>
        <p:spPr>
          <a:xfrm>
            <a:off x="1487488" y="2073388"/>
            <a:ext cx="2271121" cy="215444"/>
          </a:xfrm>
          <a:prstGeom prst="rect">
            <a:avLst/>
          </a:prstGeom>
          <a:noFill/>
        </p:spPr>
        <p:txBody>
          <a:bodyPr wrap="square" rtlCol="0">
            <a:spAutoFit/>
          </a:bodyPr>
          <a:lstStyle/>
          <a:p>
            <a:r>
              <a:rPr lang="en-US" altLang="ja-JP" sz="800" dirty="0">
                <a:solidFill>
                  <a:schemeClr val="tx2"/>
                </a:solidFill>
                <a:latin typeface="Meiryo UI" panose="020B0604030504040204" pitchFamily="50" charset="-128"/>
                <a:ea typeface="Meiryo UI" panose="020B0604030504040204" pitchFamily="50" charset="-128"/>
              </a:rPr>
              <a:t>※</a:t>
            </a:r>
            <a:r>
              <a:rPr lang="ja-JP" altLang="en-US" sz="800" dirty="0">
                <a:solidFill>
                  <a:schemeClr val="tx2"/>
                </a:solidFill>
                <a:latin typeface="Meiryo UI" panose="020B0604030504040204" pitchFamily="50" charset="-128"/>
                <a:ea typeface="Meiryo UI" panose="020B0604030504040204" pitchFamily="50" charset="-128"/>
              </a:rPr>
              <a:t>面談希望にもかかわらず面談非実施者ベース</a:t>
            </a:r>
          </a:p>
        </p:txBody>
      </p:sp>
      <p:sp>
        <p:nvSpPr>
          <p:cNvPr id="12" name="正方形/長方形 11">
            <a:extLst>
              <a:ext uri="{FF2B5EF4-FFF2-40B4-BE49-F238E27FC236}">
                <a16:creationId xmlns:a16="http://schemas.microsoft.com/office/drawing/2014/main" id="{193C12F9-4AE9-483E-B6D6-B49EB46B5778}"/>
              </a:ext>
            </a:extLst>
          </p:cNvPr>
          <p:cNvSpPr/>
          <p:nvPr/>
        </p:nvSpPr>
        <p:spPr>
          <a:xfrm>
            <a:off x="4454876" y="2445054"/>
            <a:ext cx="1294501" cy="326135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正方形/長方形 14">
            <a:extLst>
              <a:ext uri="{FF2B5EF4-FFF2-40B4-BE49-F238E27FC236}">
                <a16:creationId xmlns:a16="http://schemas.microsoft.com/office/drawing/2014/main" id="{59E6E269-151F-40E5-BF21-B645397615A5}"/>
              </a:ext>
            </a:extLst>
          </p:cNvPr>
          <p:cNvSpPr/>
          <p:nvPr/>
        </p:nvSpPr>
        <p:spPr>
          <a:xfrm>
            <a:off x="7867434" y="3245089"/>
            <a:ext cx="1690797" cy="2461317"/>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4145652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面談希望あり</a:t>
            </a:r>
            <a:r>
              <a:rPr lang="ja-JP" altLang="en-US" dirty="0"/>
              <a:t>・面談実施にもかかわらず求人応募なしの理由</a:t>
            </a:r>
            <a:endParaRPr kumimoji="1" lang="ja-JP" altLang="en-US" dirty="0"/>
          </a:p>
        </p:txBody>
      </p:sp>
      <p:sp>
        <p:nvSpPr>
          <p:cNvPr id="33" name="ホームベース 32"/>
          <p:cNvSpPr/>
          <p:nvPr/>
        </p:nvSpPr>
        <p:spPr>
          <a:xfrm>
            <a:off x="1507564" y="57376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コネクタ 33"/>
          <p:cNvCxnSpPr/>
          <p:nvPr/>
        </p:nvCxnSpPr>
        <p:spPr>
          <a:xfrm>
            <a:off x="2316605" y="126876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525E7F-7E3A-401F-9DD8-D9E508A743F2}"/>
              </a:ext>
            </a:extLst>
          </p:cNvPr>
          <p:cNvCxnSpPr>
            <a:cxnSpLocks/>
          </p:cNvCxnSpPr>
          <p:nvPr/>
        </p:nvCxnSpPr>
        <p:spPr>
          <a:xfrm flipV="1">
            <a:off x="1489279" y="1693434"/>
            <a:ext cx="9336511" cy="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8FF9AB37-D78C-49AD-8B0E-275FF11AAA94}"/>
              </a:ext>
            </a:extLst>
          </p:cNvPr>
          <p:cNvSpPr>
            <a:spLocks noChangeArrowheads="1"/>
          </p:cNvSpPr>
          <p:nvPr/>
        </p:nvSpPr>
        <p:spPr bwMode="auto">
          <a:xfrm>
            <a:off x="1497114" y="1780266"/>
            <a:ext cx="9360000" cy="318924"/>
          </a:xfrm>
          <a:prstGeom prst="rect">
            <a:avLst/>
          </a:prstGeom>
          <a:solidFill>
            <a:srgbClr val="F2F2F2"/>
          </a:solidFill>
          <a:ln w="9525" algn="ctr">
            <a:noFill/>
            <a:miter lim="800000"/>
            <a:headEnd/>
            <a:tailEnd/>
          </a:ln>
          <a:effectLst/>
        </p:spPr>
        <p:txBody>
          <a:bodyPr vert="horz" wrap="square" lIns="91440" tIns="36000" rIns="720000" bIns="36000" numCol="1" anchor="ctr" anchorCtr="0" compatLnSpc="1">
            <a:prstTxWarp prst="textNoShape">
              <a:avLst/>
            </a:prstTxWarp>
            <a:spAutoFit/>
          </a:bodyPr>
          <a:lstStyle/>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Q14</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2023</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年</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1</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月以降に「リクルートエージェント」に登録した際、「面談希望があった」上で「面談を実施した」にも関わらず「求人への応募をしなかった」方にお伺いします。</a:t>
            </a:r>
            <a:b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b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キャリアアドバイザーとの面談を実施したものの求人に応募していない理由として、当てはまるものをすべてお選びください。</a:t>
            </a:r>
            <a:endPar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テキスト ボックス 13">
            <a:extLst>
              <a:ext uri="{FF2B5EF4-FFF2-40B4-BE49-F238E27FC236}">
                <a16:creationId xmlns:a16="http://schemas.microsoft.com/office/drawing/2014/main" id="{F913BBE7-A10C-4A57-A95D-152E082DD1E1}"/>
              </a:ext>
            </a:extLst>
          </p:cNvPr>
          <p:cNvSpPr txBox="1"/>
          <p:nvPr/>
        </p:nvSpPr>
        <p:spPr>
          <a:xfrm>
            <a:off x="10209562" y="1830634"/>
            <a:ext cx="648000" cy="223143"/>
          </a:xfrm>
          <a:prstGeom prst="rect">
            <a:avLst/>
          </a:prstGeom>
          <a:noFill/>
        </p:spPr>
        <p:txBody>
          <a:bodyPr wrap="none" lIns="36000" tIns="36000" rIns="36000" bIns="36000" rtlCol="0" anchor="ctr" anchorCtr="1">
            <a:noAutofit/>
          </a:bodyPr>
          <a:lstStyle/>
          <a:p>
            <a:r>
              <a:rPr lang="en-US" altLang="ja-JP"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MA</a:t>
            </a:r>
            <a:endParaRPr lang="ja-JP" altLang="en-US"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4" name="図 3">
            <a:extLst>
              <a:ext uri="{FF2B5EF4-FFF2-40B4-BE49-F238E27FC236}">
                <a16:creationId xmlns:a16="http://schemas.microsoft.com/office/drawing/2014/main" id="{4B7EADC2-A62D-4938-837C-3F5FB2D0AE9D}"/>
              </a:ext>
            </a:extLst>
          </p:cNvPr>
          <p:cNvPicPr/>
          <p:nvPr/>
        </p:nvPicPr>
        <p:blipFill>
          <a:blip r:embed="rId2"/>
          <a:srcRect/>
          <a:stretch>
            <a:fillRect/>
          </a:stretch>
        </p:blipFill>
        <p:spPr>
          <a:xfrm>
            <a:off x="1378763" y="2445055"/>
            <a:ext cx="9447026" cy="3359071"/>
          </a:xfrm>
          <a:prstGeom prst="rect">
            <a:avLst/>
          </a:prstGeom>
        </p:spPr>
      </p:pic>
      <p:sp>
        <p:nvSpPr>
          <p:cNvPr id="11" name="テキスト ボックス 10">
            <a:extLst>
              <a:ext uri="{FF2B5EF4-FFF2-40B4-BE49-F238E27FC236}">
                <a16:creationId xmlns:a16="http://schemas.microsoft.com/office/drawing/2014/main" id="{8A3042AC-DDF3-4DAE-ABF4-52809A80D789}"/>
              </a:ext>
            </a:extLst>
          </p:cNvPr>
          <p:cNvSpPr txBox="1"/>
          <p:nvPr/>
        </p:nvSpPr>
        <p:spPr>
          <a:xfrm>
            <a:off x="1487488" y="2073388"/>
            <a:ext cx="2271121" cy="215444"/>
          </a:xfrm>
          <a:prstGeom prst="rect">
            <a:avLst/>
          </a:prstGeom>
          <a:noFill/>
        </p:spPr>
        <p:txBody>
          <a:bodyPr wrap="square" rtlCol="0">
            <a:spAutoFit/>
          </a:bodyPr>
          <a:lstStyle/>
          <a:p>
            <a:r>
              <a:rPr lang="en-US" altLang="ja-JP" sz="800" dirty="0">
                <a:solidFill>
                  <a:schemeClr val="tx2"/>
                </a:solidFill>
                <a:latin typeface="Meiryo UI" panose="020B0604030504040204" pitchFamily="50" charset="-128"/>
                <a:ea typeface="Meiryo UI" panose="020B0604030504040204" pitchFamily="50" charset="-128"/>
              </a:rPr>
              <a:t>※</a:t>
            </a:r>
            <a:r>
              <a:rPr lang="ja-JP" altLang="en-US" sz="800" dirty="0">
                <a:solidFill>
                  <a:schemeClr val="tx2"/>
                </a:solidFill>
                <a:latin typeface="Meiryo UI" panose="020B0604030504040204" pitchFamily="50" charset="-128"/>
                <a:ea typeface="Meiryo UI" panose="020B0604030504040204" pitchFamily="50" charset="-128"/>
              </a:rPr>
              <a:t>面談希望</a:t>
            </a:r>
            <a:r>
              <a:rPr lang="en-US" altLang="ja-JP" sz="800" dirty="0">
                <a:solidFill>
                  <a:schemeClr val="tx2"/>
                </a:solidFill>
                <a:latin typeface="Meiryo UI" panose="020B0604030504040204" pitchFamily="50" charset="-128"/>
                <a:ea typeface="Meiryo UI" panose="020B0604030504040204" pitchFamily="50" charset="-128"/>
              </a:rPr>
              <a:t>×</a:t>
            </a:r>
            <a:r>
              <a:rPr lang="ja-JP" altLang="en-US" sz="800" dirty="0">
                <a:solidFill>
                  <a:schemeClr val="tx2"/>
                </a:solidFill>
                <a:latin typeface="Meiryo UI" panose="020B0604030504040204" pitchFamily="50" charset="-128"/>
                <a:ea typeface="Meiryo UI" panose="020B0604030504040204" pitchFamily="50" charset="-128"/>
              </a:rPr>
              <a:t>面談実施</a:t>
            </a:r>
            <a:r>
              <a:rPr lang="en-US" altLang="ja-JP" sz="800" dirty="0">
                <a:solidFill>
                  <a:schemeClr val="tx2"/>
                </a:solidFill>
                <a:latin typeface="Meiryo UI" panose="020B0604030504040204" pitchFamily="50" charset="-128"/>
                <a:ea typeface="Meiryo UI" panose="020B0604030504040204" pitchFamily="50" charset="-128"/>
              </a:rPr>
              <a:t>×</a:t>
            </a:r>
            <a:r>
              <a:rPr lang="ja-JP" altLang="en-US" sz="800" dirty="0">
                <a:solidFill>
                  <a:schemeClr val="tx2"/>
                </a:solidFill>
                <a:latin typeface="Meiryo UI" panose="020B0604030504040204" pitchFamily="50" charset="-128"/>
                <a:ea typeface="Meiryo UI" panose="020B0604030504040204" pitchFamily="50" charset="-128"/>
              </a:rPr>
              <a:t>求人応募なし者ベース</a:t>
            </a:r>
          </a:p>
        </p:txBody>
      </p:sp>
      <p:sp>
        <p:nvSpPr>
          <p:cNvPr id="12" name="正方形/長方形 11">
            <a:extLst>
              <a:ext uri="{FF2B5EF4-FFF2-40B4-BE49-F238E27FC236}">
                <a16:creationId xmlns:a16="http://schemas.microsoft.com/office/drawing/2014/main" id="{CA55B640-45B0-4643-BAA0-59C9F882A91E}"/>
              </a:ext>
            </a:extLst>
          </p:cNvPr>
          <p:cNvSpPr/>
          <p:nvPr/>
        </p:nvSpPr>
        <p:spPr>
          <a:xfrm>
            <a:off x="4069866" y="2692561"/>
            <a:ext cx="297598" cy="266321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正方形/長方形 14">
            <a:extLst>
              <a:ext uri="{FF2B5EF4-FFF2-40B4-BE49-F238E27FC236}">
                <a16:creationId xmlns:a16="http://schemas.microsoft.com/office/drawing/2014/main" id="{B94F0496-E0AC-4D23-98E5-9457DB6E24C6}"/>
              </a:ext>
            </a:extLst>
          </p:cNvPr>
          <p:cNvSpPr/>
          <p:nvPr/>
        </p:nvSpPr>
        <p:spPr>
          <a:xfrm>
            <a:off x="8128192" y="3348217"/>
            <a:ext cx="2028179" cy="2007554"/>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テキスト ボックス 15">
            <a:extLst>
              <a:ext uri="{FF2B5EF4-FFF2-40B4-BE49-F238E27FC236}">
                <a16:creationId xmlns:a16="http://schemas.microsoft.com/office/drawing/2014/main" id="{31DCC545-30BA-45DD-B8A7-5DC69266D616}"/>
              </a:ext>
            </a:extLst>
          </p:cNvPr>
          <p:cNvSpPr txBox="1"/>
          <p:nvPr/>
        </p:nvSpPr>
        <p:spPr>
          <a:xfrm>
            <a:off x="2351584" y="544107"/>
            <a:ext cx="8332852" cy="738664"/>
          </a:xfrm>
          <a:prstGeom prst="rect">
            <a:avLst/>
          </a:prstGeom>
          <a:noFill/>
        </p:spPr>
        <p:txBody>
          <a:bodyPr wrap="square" rtlCol="0">
            <a:spAutoFit/>
          </a:bodyPr>
          <a:lstStyle/>
          <a:p>
            <a:pPr>
              <a:spcBef>
                <a:spcPts val="600"/>
              </a:spcBef>
            </a:pP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「転職活動を始めるか気持ちが固まっていなかった」が</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32%</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で</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TOP</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の理由。</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一方で、紹介された求人における「勤務地・量・福利厚生・年収帯・他導線での応募可否」や、</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CA</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における「マナー・対応スピード」、システムアプリの使いづらさは、理由として大きくない様子。</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592852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面談希望がなかった理由</a:t>
            </a:r>
          </a:p>
        </p:txBody>
      </p:sp>
      <p:sp>
        <p:nvSpPr>
          <p:cNvPr id="33" name="ホームベース 32"/>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コネクタ 33"/>
          <p:cNvCxnSpPr/>
          <p:nvPr/>
        </p:nvCxnSpPr>
        <p:spPr>
          <a:xfrm>
            <a:off x="2316605" y="126876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525E7F-7E3A-401F-9DD8-D9E508A743F2}"/>
              </a:ext>
            </a:extLst>
          </p:cNvPr>
          <p:cNvCxnSpPr>
            <a:cxnSpLocks/>
          </p:cNvCxnSpPr>
          <p:nvPr/>
        </p:nvCxnSpPr>
        <p:spPr>
          <a:xfrm flipV="1">
            <a:off x="1489279" y="1693434"/>
            <a:ext cx="9336511" cy="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8FF9AB37-D78C-49AD-8B0E-275FF11AAA94}"/>
              </a:ext>
            </a:extLst>
          </p:cNvPr>
          <p:cNvSpPr>
            <a:spLocks noChangeArrowheads="1"/>
          </p:cNvSpPr>
          <p:nvPr/>
        </p:nvSpPr>
        <p:spPr bwMode="auto">
          <a:xfrm>
            <a:off x="1497114" y="1841821"/>
            <a:ext cx="9360000" cy="195814"/>
          </a:xfrm>
          <a:prstGeom prst="rect">
            <a:avLst/>
          </a:prstGeom>
          <a:solidFill>
            <a:srgbClr val="F2F2F2"/>
          </a:solidFill>
          <a:ln w="9525" algn="ctr">
            <a:noFill/>
            <a:miter lim="800000"/>
            <a:headEnd/>
            <a:tailEnd/>
          </a:ln>
          <a:effectLst/>
        </p:spPr>
        <p:txBody>
          <a:bodyPr vert="horz" wrap="square" lIns="91440" tIns="36000" rIns="720000" bIns="36000" numCol="1" anchor="ctr" anchorCtr="0" compatLnSpc="1">
            <a:prstTxWarp prst="textNoShape">
              <a:avLst/>
            </a:prstTxWarp>
            <a:spAutoFit/>
          </a:bodyPr>
          <a:lstStyle/>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Q15</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2023</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年</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1</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月以降に「リクルートエージェント」に登録した際、「面談希望がなかった」方にお伺いします。キャリアアドバイザーとの面談を希望していなかった理由として、当てはまるものをすべてお選びください。</a:t>
            </a:r>
            <a:endPar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テキスト ボックス 13">
            <a:extLst>
              <a:ext uri="{FF2B5EF4-FFF2-40B4-BE49-F238E27FC236}">
                <a16:creationId xmlns:a16="http://schemas.microsoft.com/office/drawing/2014/main" id="{F913BBE7-A10C-4A57-A95D-152E082DD1E1}"/>
              </a:ext>
            </a:extLst>
          </p:cNvPr>
          <p:cNvSpPr txBox="1"/>
          <p:nvPr/>
        </p:nvSpPr>
        <p:spPr>
          <a:xfrm>
            <a:off x="10209562" y="1830634"/>
            <a:ext cx="648000" cy="223143"/>
          </a:xfrm>
          <a:prstGeom prst="rect">
            <a:avLst/>
          </a:prstGeom>
          <a:noFill/>
        </p:spPr>
        <p:txBody>
          <a:bodyPr wrap="none" lIns="36000" tIns="36000" rIns="36000" bIns="36000" rtlCol="0" anchor="ctr" anchorCtr="1">
            <a:noAutofit/>
          </a:bodyPr>
          <a:lstStyle/>
          <a:p>
            <a:r>
              <a:rPr lang="en-US" altLang="ja-JP"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MA</a:t>
            </a:r>
            <a:endParaRPr lang="ja-JP" altLang="en-US"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4" name="図 3">
            <a:extLst>
              <a:ext uri="{FF2B5EF4-FFF2-40B4-BE49-F238E27FC236}">
                <a16:creationId xmlns:a16="http://schemas.microsoft.com/office/drawing/2014/main" id="{93651884-8C2A-4ADD-9BD0-33C385368275}"/>
              </a:ext>
            </a:extLst>
          </p:cNvPr>
          <p:cNvPicPr/>
          <p:nvPr/>
        </p:nvPicPr>
        <p:blipFill>
          <a:blip r:embed="rId2"/>
          <a:srcRect/>
          <a:stretch>
            <a:fillRect/>
          </a:stretch>
        </p:blipFill>
        <p:spPr>
          <a:xfrm>
            <a:off x="1286350" y="2181928"/>
            <a:ext cx="9490170" cy="4460261"/>
          </a:xfrm>
          <a:prstGeom prst="rect">
            <a:avLst/>
          </a:prstGeom>
        </p:spPr>
      </p:pic>
      <p:sp>
        <p:nvSpPr>
          <p:cNvPr id="11" name="テキスト ボックス 10">
            <a:extLst>
              <a:ext uri="{FF2B5EF4-FFF2-40B4-BE49-F238E27FC236}">
                <a16:creationId xmlns:a16="http://schemas.microsoft.com/office/drawing/2014/main" id="{A32B1D0B-A551-4C5D-B551-9936C55B2682}"/>
              </a:ext>
            </a:extLst>
          </p:cNvPr>
          <p:cNvSpPr txBox="1"/>
          <p:nvPr/>
        </p:nvSpPr>
        <p:spPr>
          <a:xfrm>
            <a:off x="1487488" y="2073388"/>
            <a:ext cx="2271121" cy="215444"/>
          </a:xfrm>
          <a:prstGeom prst="rect">
            <a:avLst/>
          </a:prstGeom>
          <a:noFill/>
        </p:spPr>
        <p:txBody>
          <a:bodyPr wrap="square" rtlCol="0">
            <a:spAutoFit/>
          </a:bodyPr>
          <a:lstStyle/>
          <a:p>
            <a:r>
              <a:rPr lang="en-US" altLang="ja-JP" sz="800" dirty="0">
                <a:solidFill>
                  <a:schemeClr val="tx2"/>
                </a:solidFill>
                <a:latin typeface="Meiryo UI" panose="020B0604030504040204" pitchFamily="50" charset="-128"/>
                <a:ea typeface="Meiryo UI" panose="020B0604030504040204" pitchFamily="50" charset="-128"/>
              </a:rPr>
              <a:t>※</a:t>
            </a:r>
            <a:r>
              <a:rPr lang="ja-JP" altLang="en-US" sz="800" dirty="0">
                <a:solidFill>
                  <a:schemeClr val="tx2"/>
                </a:solidFill>
                <a:latin typeface="Meiryo UI" panose="020B0604030504040204" pitchFamily="50" charset="-128"/>
                <a:ea typeface="Meiryo UI" panose="020B0604030504040204" pitchFamily="50" charset="-128"/>
              </a:rPr>
              <a:t>面談非希望者ベース</a:t>
            </a:r>
          </a:p>
        </p:txBody>
      </p:sp>
      <p:sp>
        <p:nvSpPr>
          <p:cNvPr id="12" name="正方形/長方形 11">
            <a:extLst>
              <a:ext uri="{FF2B5EF4-FFF2-40B4-BE49-F238E27FC236}">
                <a16:creationId xmlns:a16="http://schemas.microsoft.com/office/drawing/2014/main" id="{9A4F0ED6-F0A3-47D0-B03D-3E4515BE9F11}"/>
              </a:ext>
            </a:extLst>
          </p:cNvPr>
          <p:cNvSpPr/>
          <p:nvPr/>
        </p:nvSpPr>
        <p:spPr>
          <a:xfrm>
            <a:off x="4408714" y="2365065"/>
            <a:ext cx="1340662" cy="29425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正方形/長方形 14">
            <a:extLst>
              <a:ext uri="{FF2B5EF4-FFF2-40B4-BE49-F238E27FC236}">
                <a16:creationId xmlns:a16="http://schemas.microsoft.com/office/drawing/2014/main" id="{13507474-D67F-4A71-87A9-8F5CD42E8732}"/>
              </a:ext>
            </a:extLst>
          </p:cNvPr>
          <p:cNvSpPr/>
          <p:nvPr/>
        </p:nvSpPr>
        <p:spPr>
          <a:xfrm>
            <a:off x="7531078" y="2365065"/>
            <a:ext cx="2219657" cy="294258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テキスト ボックス 15">
            <a:extLst>
              <a:ext uri="{FF2B5EF4-FFF2-40B4-BE49-F238E27FC236}">
                <a16:creationId xmlns:a16="http://schemas.microsoft.com/office/drawing/2014/main" id="{7C2121E2-2C40-4F5F-8099-E5847E10FD6A}"/>
              </a:ext>
            </a:extLst>
          </p:cNvPr>
          <p:cNvSpPr txBox="1"/>
          <p:nvPr/>
        </p:nvSpPr>
        <p:spPr>
          <a:xfrm>
            <a:off x="2351584" y="544107"/>
            <a:ext cx="8332852" cy="738664"/>
          </a:xfrm>
          <a:prstGeom prst="rect">
            <a:avLst/>
          </a:prstGeom>
          <a:noFill/>
        </p:spPr>
        <p:txBody>
          <a:bodyPr wrap="square" rtlCol="0">
            <a:spAutoFit/>
          </a:bodyPr>
          <a:lstStyle/>
          <a:p>
            <a:pPr>
              <a:spcBef>
                <a:spcPts val="600"/>
              </a:spcBef>
            </a:pP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「自分のペースで転職活動を進めたかった」が</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56%</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で</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TOP</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の理由。</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「転職時期が先</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未定だった」「情報収集目的だった」</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が</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4</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割を超え続く。</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一方で、過去の</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CA</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との面談や他サービス、口コミの影響はほとんどない様子。</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4324174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面談希望</a:t>
            </a:r>
            <a:r>
              <a:rPr lang="ja-JP" altLang="en-US" dirty="0"/>
              <a:t>がなく、求人応募もしなかった理由</a:t>
            </a:r>
            <a:endParaRPr kumimoji="1" lang="ja-JP" altLang="en-US" dirty="0"/>
          </a:p>
        </p:txBody>
      </p:sp>
      <p:sp>
        <p:nvSpPr>
          <p:cNvPr id="33" name="ホームベース 32"/>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コネクタ 33"/>
          <p:cNvCxnSpPr/>
          <p:nvPr/>
        </p:nvCxnSpPr>
        <p:spPr>
          <a:xfrm>
            <a:off x="2316605" y="126876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525E7F-7E3A-401F-9DD8-D9E508A743F2}"/>
              </a:ext>
            </a:extLst>
          </p:cNvPr>
          <p:cNvCxnSpPr>
            <a:cxnSpLocks/>
          </p:cNvCxnSpPr>
          <p:nvPr/>
        </p:nvCxnSpPr>
        <p:spPr>
          <a:xfrm flipV="1">
            <a:off x="1489279" y="1693434"/>
            <a:ext cx="9336511" cy="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8FF9AB37-D78C-49AD-8B0E-275FF11AAA94}"/>
              </a:ext>
            </a:extLst>
          </p:cNvPr>
          <p:cNvSpPr>
            <a:spLocks noChangeArrowheads="1"/>
          </p:cNvSpPr>
          <p:nvPr/>
        </p:nvSpPr>
        <p:spPr bwMode="auto">
          <a:xfrm>
            <a:off x="1497114" y="1780266"/>
            <a:ext cx="9360000" cy="318924"/>
          </a:xfrm>
          <a:prstGeom prst="rect">
            <a:avLst/>
          </a:prstGeom>
          <a:solidFill>
            <a:srgbClr val="F2F2F2"/>
          </a:solidFill>
          <a:ln w="9525" algn="ctr">
            <a:noFill/>
            <a:miter lim="800000"/>
            <a:headEnd/>
            <a:tailEnd/>
          </a:ln>
          <a:effectLst/>
        </p:spPr>
        <p:txBody>
          <a:bodyPr vert="horz" wrap="square" lIns="91440" tIns="36000" rIns="720000" bIns="36000" numCol="1" anchor="ctr" anchorCtr="0" compatLnSpc="1">
            <a:prstTxWarp prst="textNoShape">
              <a:avLst/>
            </a:prstTxWarp>
            <a:spAutoFit/>
          </a:bodyPr>
          <a:lstStyle/>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Q16</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2023</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年</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1</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月以降に「リクルートエージェント」に登録した際、「面談希望がなかった」上で「求人への応募をしなかった」方にお伺いします。</a:t>
            </a:r>
            <a:b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b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キャリアアドバイザーとの面談希望はなく、求人にも応募していない理由として、当てはまるものをすべてお選びください。</a:t>
            </a:r>
            <a:endPar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テキスト ボックス 13">
            <a:extLst>
              <a:ext uri="{FF2B5EF4-FFF2-40B4-BE49-F238E27FC236}">
                <a16:creationId xmlns:a16="http://schemas.microsoft.com/office/drawing/2014/main" id="{F913BBE7-A10C-4A57-A95D-152E082DD1E1}"/>
              </a:ext>
            </a:extLst>
          </p:cNvPr>
          <p:cNvSpPr txBox="1"/>
          <p:nvPr/>
        </p:nvSpPr>
        <p:spPr>
          <a:xfrm>
            <a:off x="10209562" y="1830634"/>
            <a:ext cx="648000" cy="223143"/>
          </a:xfrm>
          <a:prstGeom prst="rect">
            <a:avLst/>
          </a:prstGeom>
          <a:noFill/>
        </p:spPr>
        <p:txBody>
          <a:bodyPr wrap="none" lIns="36000" tIns="36000" rIns="36000" bIns="36000" rtlCol="0" anchor="ctr" anchorCtr="1">
            <a:noAutofit/>
          </a:bodyPr>
          <a:lstStyle/>
          <a:p>
            <a:r>
              <a:rPr lang="en-US" altLang="ja-JP"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MA</a:t>
            </a:r>
            <a:endParaRPr lang="ja-JP" altLang="en-US"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4" name="図 3">
            <a:extLst>
              <a:ext uri="{FF2B5EF4-FFF2-40B4-BE49-F238E27FC236}">
                <a16:creationId xmlns:a16="http://schemas.microsoft.com/office/drawing/2014/main" id="{FB11D9FA-A730-4FDC-928F-215793F84132}"/>
              </a:ext>
            </a:extLst>
          </p:cNvPr>
          <p:cNvPicPr/>
          <p:nvPr/>
        </p:nvPicPr>
        <p:blipFill>
          <a:blip r:embed="rId2"/>
          <a:srcRect/>
          <a:stretch>
            <a:fillRect/>
          </a:stretch>
        </p:blipFill>
        <p:spPr>
          <a:xfrm>
            <a:off x="1366661" y="2149557"/>
            <a:ext cx="9337852" cy="4023360"/>
          </a:xfrm>
          <a:prstGeom prst="rect">
            <a:avLst/>
          </a:prstGeom>
        </p:spPr>
      </p:pic>
      <p:sp>
        <p:nvSpPr>
          <p:cNvPr id="11" name="テキスト ボックス 10">
            <a:extLst>
              <a:ext uri="{FF2B5EF4-FFF2-40B4-BE49-F238E27FC236}">
                <a16:creationId xmlns:a16="http://schemas.microsoft.com/office/drawing/2014/main" id="{981EE8EE-31DD-45C2-8C42-9E45D4A02AAF}"/>
              </a:ext>
            </a:extLst>
          </p:cNvPr>
          <p:cNvSpPr txBox="1"/>
          <p:nvPr/>
        </p:nvSpPr>
        <p:spPr>
          <a:xfrm>
            <a:off x="1487488" y="2073388"/>
            <a:ext cx="2271121" cy="215444"/>
          </a:xfrm>
          <a:prstGeom prst="rect">
            <a:avLst/>
          </a:prstGeom>
          <a:noFill/>
        </p:spPr>
        <p:txBody>
          <a:bodyPr wrap="square" rtlCol="0">
            <a:spAutoFit/>
          </a:bodyPr>
          <a:lstStyle/>
          <a:p>
            <a:r>
              <a:rPr lang="en-US" altLang="ja-JP" sz="800" dirty="0">
                <a:solidFill>
                  <a:schemeClr val="tx2"/>
                </a:solidFill>
                <a:latin typeface="Meiryo UI" panose="020B0604030504040204" pitchFamily="50" charset="-128"/>
                <a:ea typeface="Meiryo UI" panose="020B0604030504040204" pitchFamily="50" charset="-128"/>
              </a:rPr>
              <a:t>※</a:t>
            </a:r>
            <a:r>
              <a:rPr lang="ja-JP" altLang="en-US" sz="800" dirty="0">
                <a:solidFill>
                  <a:schemeClr val="tx2"/>
                </a:solidFill>
                <a:latin typeface="Meiryo UI" panose="020B0604030504040204" pitchFamily="50" charset="-128"/>
                <a:ea typeface="Meiryo UI" panose="020B0604030504040204" pitchFamily="50" charset="-128"/>
              </a:rPr>
              <a:t>面談非希望</a:t>
            </a:r>
            <a:r>
              <a:rPr lang="en-US" altLang="ja-JP" sz="800" dirty="0">
                <a:solidFill>
                  <a:schemeClr val="tx2"/>
                </a:solidFill>
                <a:latin typeface="Meiryo UI" panose="020B0604030504040204" pitchFamily="50" charset="-128"/>
                <a:ea typeface="Meiryo UI" panose="020B0604030504040204" pitchFamily="50" charset="-128"/>
              </a:rPr>
              <a:t>×</a:t>
            </a:r>
            <a:r>
              <a:rPr lang="ja-JP" altLang="en-US" sz="800" dirty="0">
                <a:solidFill>
                  <a:schemeClr val="tx2"/>
                </a:solidFill>
                <a:latin typeface="Meiryo UI" panose="020B0604030504040204" pitchFamily="50" charset="-128"/>
                <a:ea typeface="Meiryo UI" panose="020B0604030504040204" pitchFamily="50" charset="-128"/>
              </a:rPr>
              <a:t>求人応募なし者ベース</a:t>
            </a:r>
          </a:p>
        </p:txBody>
      </p:sp>
      <p:sp>
        <p:nvSpPr>
          <p:cNvPr id="12" name="正方形/長方形 11">
            <a:extLst>
              <a:ext uri="{FF2B5EF4-FFF2-40B4-BE49-F238E27FC236}">
                <a16:creationId xmlns:a16="http://schemas.microsoft.com/office/drawing/2014/main" id="{D3CA87C2-5495-402A-A9E2-20DA7F04CC62}"/>
              </a:ext>
            </a:extLst>
          </p:cNvPr>
          <p:cNvSpPr/>
          <p:nvPr/>
        </p:nvSpPr>
        <p:spPr>
          <a:xfrm>
            <a:off x="4229961" y="2440692"/>
            <a:ext cx="859398" cy="296320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正方形/長方形 14">
            <a:extLst>
              <a:ext uri="{FF2B5EF4-FFF2-40B4-BE49-F238E27FC236}">
                <a16:creationId xmlns:a16="http://schemas.microsoft.com/office/drawing/2014/main" id="{865E7DE7-21D7-43A3-970C-315FB29D55D9}"/>
              </a:ext>
            </a:extLst>
          </p:cNvPr>
          <p:cNvSpPr/>
          <p:nvPr/>
        </p:nvSpPr>
        <p:spPr>
          <a:xfrm>
            <a:off x="8082564" y="3176338"/>
            <a:ext cx="1695672" cy="2227561"/>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テキスト ボックス 15">
            <a:extLst>
              <a:ext uri="{FF2B5EF4-FFF2-40B4-BE49-F238E27FC236}">
                <a16:creationId xmlns:a16="http://schemas.microsoft.com/office/drawing/2014/main" id="{78C0EDA0-FCCC-477A-AB11-1A1BC131F791}"/>
              </a:ext>
            </a:extLst>
          </p:cNvPr>
          <p:cNvSpPr txBox="1"/>
          <p:nvPr/>
        </p:nvSpPr>
        <p:spPr>
          <a:xfrm>
            <a:off x="2351584" y="544107"/>
            <a:ext cx="8332852" cy="738664"/>
          </a:xfrm>
          <a:prstGeom prst="rect">
            <a:avLst/>
          </a:prstGeom>
          <a:noFill/>
        </p:spPr>
        <p:txBody>
          <a:bodyPr wrap="square" rtlCol="0">
            <a:spAutoFit/>
          </a:bodyPr>
          <a:lstStyle/>
          <a:p>
            <a:pPr>
              <a:spcBef>
                <a:spcPts val="600"/>
              </a:spcBef>
            </a:pP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「気になる求人はあったが応募に踏み切れなかった」が</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33%</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で</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TOP</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の理由。</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「希望する求人が見つからなかった」が続く。</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一方で、紹介された求人における「業務内容・業界・福利厚生」や、希望求人数の少なさは理由として大きくない。</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2625783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サポートが欲しかったタイミング</a:t>
            </a:r>
            <a:endParaRPr kumimoji="1" lang="ja-JP" altLang="en-US" dirty="0"/>
          </a:p>
        </p:txBody>
      </p:sp>
      <p:sp>
        <p:nvSpPr>
          <p:cNvPr id="7" name="テキスト ボックス 6"/>
          <p:cNvSpPr txBox="1"/>
          <p:nvPr/>
        </p:nvSpPr>
        <p:spPr>
          <a:xfrm>
            <a:off x="2351584" y="544107"/>
            <a:ext cx="8332852" cy="738664"/>
          </a:xfrm>
          <a:prstGeom prst="rect">
            <a:avLst/>
          </a:prstGeom>
          <a:noFill/>
        </p:spPr>
        <p:txBody>
          <a:bodyPr wrap="square" rtlCol="0">
            <a:spAutoFit/>
          </a:bodyPr>
          <a:lstStyle/>
          <a:p>
            <a:pPr>
              <a:spcBef>
                <a:spcPts val="600"/>
              </a:spcBef>
            </a:pP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全体では</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「求人を探す」が</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43%</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で最も高く</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、「転職活動を進めるか迷っている」「応募書類を添削してほしい」が</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30%</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前後で続き、</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 </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特に</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面談希望あり・面談実施なし・求人応募なし</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で転職活動の初期のスコアが高め</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面談希望あり・面談実施あり</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では「応募書類作成」も高い。</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3" name="ホームベース 32"/>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コネクタ 33"/>
          <p:cNvCxnSpPr/>
          <p:nvPr/>
        </p:nvCxnSpPr>
        <p:spPr>
          <a:xfrm>
            <a:off x="2316605" y="126876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525E7F-7E3A-401F-9DD8-D9E508A743F2}"/>
              </a:ext>
            </a:extLst>
          </p:cNvPr>
          <p:cNvCxnSpPr>
            <a:cxnSpLocks/>
          </p:cNvCxnSpPr>
          <p:nvPr/>
        </p:nvCxnSpPr>
        <p:spPr>
          <a:xfrm flipV="1">
            <a:off x="1489279" y="1693434"/>
            <a:ext cx="9336511" cy="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8FF9AB37-D78C-49AD-8B0E-275FF11AAA94}"/>
              </a:ext>
            </a:extLst>
          </p:cNvPr>
          <p:cNvSpPr>
            <a:spLocks noChangeArrowheads="1"/>
          </p:cNvSpPr>
          <p:nvPr/>
        </p:nvSpPr>
        <p:spPr bwMode="auto">
          <a:xfrm>
            <a:off x="1497114" y="1780266"/>
            <a:ext cx="9360000" cy="318924"/>
          </a:xfrm>
          <a:prstGeom prst="rect">
            <a:avLst/>
          </a:prstGeom>
          <a:solidFill>
            <a:srgbClr val="F2F2F2"/>
          </a:solidFill>
          <a:ln w="9525" algn="ctr">
            <a:noFill/>
            <a:miter lim="800000"/>
            <a:headEnd/>
            <a:tailEnd/>
          </a:ln>
          <a:effectLst/>
        </p:spPr>
        <p:txBody>
          <a:bodyPr vert="horz" wrap="square" lIns="91440" tIns="36000" rIns="720000" bIns="36000" numCol="1" anchor="ctr" anchorCtr="0" compatLnSpc="1">
            <a:prstTxWarp prst="textNoShape">
              <a:avLst/>
            </a:prstTxWarp>
            <a:spAutoFit/>
          </a:bodyPr>
          <a:lstStyle/>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Q17</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2023</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年</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1</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月以降の転職活動を進める中で、サポートが欲しいと思ったタイミングがありましたか。あった場合は、そのタイミングとして当てはまるものをすべてお選びください。</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リクルートエージェントのサービスのみに</a:t>
            </a:r>
            <a:b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b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関わらず、転職活動全般を進めるうえでの希望についてお知らせください。</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サポートはキャリアアドバイザーによるものだけでなく、コンテンツの提供やネット上での相談サポートも想定し回答ください。</a:t>
            </a:r>
            <a:endPar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テキスト ボックス 13">
            <a:extLst>
              <a:ext uri="{FF2B5EF4-FFF2-40B4-BE49-F238E27FC236}">
                <a16:creationId xmlns:a16="http://schemas.microsoft.com/office/drawing/2014/main" id="{F913BBE7-A10C-4A57-A95D-152E082DD1E1}"/>
              </a:ext>
            </a:extLst>
          </p:cNvPr>
          <p:cNvSpPr txBox="1"/>
          <p:nvPr/>
        </p:nvSpPr>
        <p:spPr>
          <a:xfrm>
            <a:off x="10209562" y="1830634"/>
            <a:ext cx="648000" cy="223143"/>
          </a:xfrm>
          <a:prstGeom prst="rect">
            <a:avLst/>
          </a:prstGeom>
          <a:noFill/>
        </p:spPr>
        <p:txBody>
          <a:bodyPr wrap="none" lIns="36000" tIns="36000" rIns="36000" bIns="36000" rtlCol="0" anchor="ctr" anchorCtr="1">
            <a:noAutofit/>
          </a:bodyPr>
          <a:lstStyle/>
          <a:p>
            <a:r>
              <a:rPr lang="en-US" altLang="ja-JP"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MA</a:t>
            </a:r>
            <a:endParaRPr lang="ja-JP" altLang="en-US"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4" name="図 3">
            <a:extLst>
              <a:ext uri="{FF2B5EF4-FFF2-40B4-BE49-F238E27FC236}">
                <a16:creationId xmlns:a16="http://schemas.microsoft.com/office/drawing/2014/main" id="{C593F810-FC68-4C3E-8946-98E21B24DEE7}"/>
              </a:ext>
            </a:extLst>
          </p:cNvPr>
          <p:cNvPicPr/>
          <p:nvPr/>
        </p:nvPicPr>
        <p:blipFill>
          <a:blip r:embed="rId2"/>
          <a:stretch>
            <a:fillRect/>
          </a:stretch>
        </p:blipFill>
        <p:spPr>
          <a:xfrm>
            <a:off x="1508696" y="1939729"/>
            <a:ext cx="9267825" cy="4638675"/>
          </a:xfrm>
          <a:prstGeom prst="rect">
            <a:avLst/>
          </a:prstGeom>
        </p:spPr>
      </p:pic>
      <p:sp>
        <p:nvSpPr>
          <p:cNvPr id="10" name="正方形/長方形 9">
            <a:extLst>
              <a:ext uri="{FF2B5EF4-FFF2-40B4-BE49-F238E27FC236}">
                <a16:creationId xmlns:a16="http://schemas.microsoft.com/office/drawing/2014/main" id="{E5DD5762-C354-4173-B56E-9850F1BCFD39}"/>
              </a:ext>
            </a:extLst>
          </p:cNvPr>
          <p:cNvSpPr/>
          <p:nvPr/>
        </p:nvSpPr>
        <p:spPr>
          <a:xfrm>
            <a:off x="4223086" y="2248187"/>
            <a:ext cx="1436912" cy="217256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正方形/長方形 10">
            <a:extLst>
              <a:ext uri="{FF2B5EF4-FFF2-40B4-BE49-F238E27FC236}">
                <a16:creationId xmlns:a16="http://schemas.microsoft.com/office/drawing/2014/main" id="{B87D5554-61B8-43FA-A9C6-F842612FF05B}"/>
              </a:ext>
            </a:extLst>
          </p:cNvPr>
          <p:cNvSpPr/>
          <p:nvPr/>
        </p:nvSpPr>
        <p:spPr>
          <a:xfrm>
            <a:off x="7076287" y="2610695"/>
            <a:ext cx="728769" cy="181005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 name="正方形/長方形 11">
            <a:extLst>
              <a:ext uri="{FF2B5EF4-FFF2-40B4-BE49-F238E27FC236}">
                <a16:creationId xmlns:a16="http://schemas.microsoft.com/office/drawing/2014/main" id="{0BEFB599-1CB5-4529-AD76-22D8A0EB0B69}"/>
              </a:ext>
            </a:extLst>
          </p:cNvPr>
          <p:cNvSpPr/>
          <p:nvPr/>
        </p:nvSpPr>
        <p:spPr>
          <a:xfrm flipV="1">
            <a:off x="6361268" y="4571999"/>
            <a:ext cx="728769" cy="13750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正方形/長方形 14">
            <a:extLst>
              <a:ext uri="{FF2B5EF4-FFF2-40B4-BE49-F238E27FC236}">
                <a16:creationId xmlns:a16="http://schemas.microsoft.com/office/drawing/2014/main" id="{3A32C5B2-03A9-4034-A65C-97267F1224BE}"/>
              </a:ext>
            </a:extLst>
          </p:cNvPr>
          <p:cNvSpPr/>
          <p:nvPr/>
        </p:nvSpPr>
        <p:spPr>
          <a:xfrm flipV="1">
            <a:off x="4223083" y="5280143"/>
            <a:ext cx="1436916" cy="13750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6410030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タイミング別欲しい</a:t>
            </a:r>
            <a:r>
              <a:rPr lang="ja-JP" altLang="en-US" dirty="0"/>
              <a:t>重視するサポート観点</a:t>
            </a:r>
            <a:endParaRPr kumimoji="1" lang="ja-JP" altLang="en-US" dirty="0"/>
          </a:p>
        </p:txBody>
      </p:sp>
      <p:sp>
        <p:nvSpPr>
          <p:cNvPr id="7" name="テキスト ボックス 6"/>
          <p:cNvSpPr txBox="1"/>
          <p:nvPr/>
        </p:nvSpPr>
        <p:spPr>
          <a:xfrm>
            <a:off x="2351584" y="544107"/>
            <a:ext cx="8332852" cy="738664"/>
          </a:xfrm>
          <a:prstGeom prst="rect">
            <a:avLst/>
          </a:prstGeom>
          <a:noFill/>
        </p:spPr>
        <p:txBody>
          <a:bodyPr wrap="square" rtlCol="0">
            <a:spAutoFit/>
          </a:bodyPr>
          <a:lstStyle/>
          <a:p>
            <a:pPr>
              <a:spcBef>
                <a:spcPts val="600"/>
              </a:spcBef>
            </a:pP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最もサポートが欲しいタイミングである</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「求人を探す」では「正確性」「手軽さ」</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が、</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続く</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「転職活動を進めるか迷っている」では「手軽さ」「信頼性・安心感」「共感してもらえる」</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「応募書類を添削してほしい」では「プロフェッショナルさ」「スピード感」「共感してもらえる」</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が重要視されている。</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3" name="ホームベース 32"/>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コネクタ 33"/>
          <p:cNvCxnSpPr/>
          <p:nvPr/>
        </p:nvCxnSpPr>
        <p:spPr>
          <a:xfrm>
            <a:off x="2316605" y="126876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525E7F-7E3A-401F-9DD8-D9E508A743F2}"/>
              </a:ext>
            </a:extLst>
          </p:cNvPr>
          <p:cNvCxnSpPr>
            <a:cxnSpLocks/>
          </p:cNvCxnSpPr>
          <p:nvPr/>
        </p:nvCxnSpPr>
        <p:spPr>
          <a:xfrm flipV="1">
            <a:off x="1489279" y="1693434"/>
            <a:ext cx="9336511" cy="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8FF9AB37-D78C-49AD-8B0E-275FF11AAA94}"/>
              </a:ext>
            </a:extLst>
          </p:cNvPr>
          <p:cNvSpPr>
            <a:spLocks noChangeArrowheads="1"/>
          </p:cNvSpPr>
          <p:nvPr/>
        </p:nvSpPr>
        <p:spPr bwMode="auto">
          <a:xfrm>
            <a:off x="1497114" y="1780266"/>
            <a:ext cx="9360000" cy="318924"/>
          </a:xfrm>
          <a:prstGeom prst="rect">
            <a:avLst/>
          </a:prstGeom>
          <a:solidFill>
            <a:srgbClr val="F2F2F2"/>
          </a:solidFill>
          <a:ln w="9525" algn="ctr">
            <a:noFill/>
            <a:miter lim="800000"/>
            <a:headEnd/>
            <a:tailEnd/>
          </a:ln>
          <a:effectLst/>
        </p:spPr>
        <p:txBody>
          <a:bodyPr vert="horz" wrap="square" lIns="91440" tIns="36000" rIns="720000" bIns="36000" numCol="1" anchor="ctr" anchorCtr="0" compatLnSpc="1">
            <a:prstTxWarp prst="textNoShape">
              <a:avLst/>
            </a:prstTxWarp>
            <a:spAutoFit/>
          </a:bodyPr>
          <a:lstStyle/>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Q21</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リクルートエージェントに以下のサポートをしてもらいたいと思った場合、あなたが重視する観点を以下それぞれのタイミング別でお選びください。（それぞれいくつでも）</a:t>
            </a:r>
            <a:b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b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サポートとは面談はじめすべてを含めたリクルートエージェントのサポートを指します。</a:t>
            </a:r>
            <a:endPar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テキスト ボックス 13">
            <a:extLst>
              <a:ext uri="{FF2B5EF4-FFF2-40B4-BE49-F238E27FC236}">
                <a16:creationId xmlns:a16="http://schemas.microsoft.com/office/drawing/2014/main" id="{F913BBE7-A10C-4A57-A95D-152E082DD1E1}"/>
              </a:ext>
            </a:extLst>
          </p:cNvPr>
          <p:cNvSpPr txBox="1"/>
          <p:nvPr/>
        </p:nvSpPr>
        <p:spPr>
          <a:xfrm>
            <a:off x="10209562" y="1830634"/>
            <a:ext cx="648000" cy="223143"/>
          </a:xfrm>
          <a:prstGeom prst="rect">
            <a:avLst/>
          </a:prstGeom>
          <a:noFill/>
        </p:spPr>
        <p:txBody>
          <a:bodyPr wrap="none" lIns="36000" tIns="36000" rIns="36000" bIns="36000" rtlCol="0" anchor="ctr" anchorCtr="1">
            <a:noAutofit/>
          </a:bodyPr>
          <a:lstStyle/>
          <a:p>
            <a:r>
              <a:rPr lang="en-US" altLang="ja-JP"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MA</a:t>
            </a:r>
            <a:endParaRPr lang="ja-JP" altLang="en-US"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4" name="図 3">
            <a:extLst>
              <a:ext uri="{FF2B5EF4-FFF2-40B4-BE49-F238E27FC236}">
                <a16:creationId xmlns:a16="http://schemas.microsoft.com/office/drawing/2014/main" id="{D9616B18-76EE-4A07-9F31-3D4D93B5F782}"/>
              </a:ext>
            </a:extLst>
          </p:cNvPr>
          <p:cNvPicPr/>
          <p:nvPr/>
        </p:nvPicPr>
        <p:blipFill>
          <a:blip r:embed="rId2"/>
          <a:srcRect/>
          <a:stretch>
            <a:fillRect/>
          </a:stretch>
        </p:blipFill>
        <p:spPr>
          <a:xfrm>
            <a:off x="1294384" y="2053776"/>
            <a:ext cx="9482137" cy="4279900"/>
          </a:xfrm>
          <a:prstGeom prst="rect">
            <a:avLst/>
          </a:prstGeom>
        </p:spPr>
      </p:pic>
      <p:sp>
        <p:nvSpPr>
          <p:cNvPr id="10" name="正方形/長方形 9">
            <a:extLst>
              <a:ext uri="{FF2B5EF4-FFF2-40B4-BE49-F238E27FC236}">
                <a16:creationId xmlns:a16="http://schemas.microsoft.com/office/drawing/2014/main" id="{D8C0F028-4934-4764-BB42-81D462ACF319}"/>
              </a:ext>
            </a:extLst>
          </p:cNvPr>
          <p:cNvSpPr/>
          <p:nvPr/>
        </p:nvSpPr>
        <p:spPr>
          <a:xfrm>
            <a:off x="1598148" y="3230071"/>
            <a:ext cx="9066987" cy="68878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正方形/長方形 10">
            <a:extLst>
              <a:ext uri="{FF2B5EF4-FFF2-40B4-BE49-F238E27FC236}">
                <a16:creationId xmlns:a16="http://schemas.microsoft.com/office/drawing/2014/main" id="{4723E1FA-7AC3-4F0D-9FC2-32C6196A86ED}"/>
              </a:ext>
            </a:extLst>
          </p:cNvPr>
          <p:cNvSpPr/>
          <p:nvPr/>
        </p:nvSpPr>
        <p:spPr>
          <a:xfrm>
            <a:off x="1598148" y="4955743"/>
            <a:ext cx="9066987" cy="33815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9702990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タイミング別</a:t>
            </a:r>
            <a:r>
              <a:rPr lang="ja-JP" altLang="en-US" dirty="0"/>
              <a:t>希望するサポート形態</a:t>
            </a:r>
            <a:endParaRPr kumimoji="1" lang="ja-JP" altLang="en-US" dirty="0"/>
          </a:p>
        </p:txBody>
      </p:sp>
      <p:sp>
        <p:nvSpPr>
          <p:cNvPr id="33" name="ホームベース 32"/>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コネクタ 33"/>
          <p:cNvCxnSpPr/>
          <p:nvPr/>
        </p:nvCxnSpPr>
        <p:spPr>
          <a:xfrm>
            <a:off x="2316605" y="126876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525E7F-7E3A-401F-9DD8-D9E508A743F2}"/>
              </a:ext>
            </a:extLst>
          </p:cNvPr>
          <p:cNvCxnSpPr>
            <a:cxnSpLocks/>
          </p:cNvCxnSpPr>
          <p:nvPr/>
        </p:nvCxnSpPr>
        <p:spPr>
          <a:xfrm flipV="1">
            <a:off x="1489279" y="1693434"/>
            <a:ext cx="9336511" cy="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8FF9AB37-D78C-49AD-8B0E-275FF11AAA94}"/>
              </a:ext>
            </a:extLst>
          </p:cNvPr>
          <p:cNvSpPr>
            <a:spLocks noChangeArrowheads="1"/>
          </p:cNvSpPr>
          <p:nvPr/>
        </p:nvSpPr>
        <p:spPr bwMode="auto">
          <a:xfrm>
            <a:off x="1497114" y="1780266"/>
            <a:ext cx="9360000" cy="318924"/>
          </a:xfrm>
          <a:prstGeom prst="rect">
            <a:avLst/>
          </a:prstGeom>
          <a:solidFill>
            <a:srgbClr val="F2F2F2"/>
          </a:solidFill>
          <a:ln w="9525" algn="ctr">
            <a:noFill/>
            <a:miter lim="800000"/>
            <a:headEnd/>
            <a:tailEnd/>
          </a:ln>
          <a:effectLst/>
        </p:spPr>
        <p:txBody>
          <a:bodyPr vert="horz" wrap="square" lIns="91440" tIns="36000" rIns="720000" bIns="36000" numCol="1" anchor="ctr" anchorCtr="0" compatLnSpc="1">
            <a:prstTxWarp prst="textNoShape">
              <a:avLst/>
            </a:prstTxWarp>
            <a:spAutoFit/>
          </a:bodyPr>
          <a:lstStyle/>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Q22</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リクルートエージェントのサポートをしてもらいたいと思った場合、希望するサポートの形態として、あなたが求めるものを以下それぞれのタイミング別でお選びください。</a:t>
            </a:r>
            <a:b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b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サポートとは面談はじめすべてを含めたリクルートエージェントのサポートを指します。</a:t>
            </a:r>
            <a:endPar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テキスト ボックス 13">
            <a:extLst>
              <a:ext uri="{FF2B5EF4-FFF2-40B4-BE49-F238E27FC236}">
                <a16:creationId xmlns:a16="http://schemas.microsoft.com/office/drawing/2014/main" id="{F913BBE7-A10C-4A57-A95D-152E082DD1E1}"/>
              </a:ext>
            </a:extLst>
          </p:cNvPr>
          <p:cNvSpPr txBox="1"/>
          <p:nvPr/>
        </p:nvSpPr>
        <p:spPr>
          <a:xfrm>
            <a:off x="10209562" y="1830634"/>
            <a:ext cx="648000" cy="223143"/>
          </a:xfrm>
          <a:prstGeom prst="rect">
            <a:avLst/>
          </a:prstGeom>
          <a:noFill/>
        </p:spPr>
        <p:txBody>
          <a:bodyPr wrap="none" lIns="36000" tIns="36000" rIns="36000" bIns="36000" rtlCol="0" anchor="ctr" anchorCtr="1">
            <a:noAutofit/>
          </a:bodyPr>
          <a:lstStyle/>
          <a:p>
            <a:r>
              <a:rPr lang="en-US" altLang="ja-JP"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MA</a:t>
            </a:r>
            <a:endParaRPr lang="ja-JP" altLang="en-US"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4" name="図 3">
            <a:extLst>
              <a:ext uri="{FF2B5EF4-FFF2-40B4-BE49-F238E27FC236}">
                <a16:creationId xmlns:a16="http://schemas.microsoft.com/office/drawing/2014/main" id="{35C2C4BC-5AF3-44A3-A20A-424D497F4828}"/>
              </a:ext>
            </a:extLst>
          </p:cNvPr>
          <p:cNvPicPr/>
          <p:nvPr/>
        </p:nvPicPr>
        <p:blipFill>
          <a:blip r:embed="rId2"/>
          <a:srcRect/>
          <a:stretch>
            <a:fillRect/>
          </a:stretch>
        </p:blipFill>
        <p:spPr>
          <a:xfrm>
            <a:off x="1377950" y="2099190"/>
            <a:ext cx="9220200" cy="4006850"/>
          </a:xfrm>
          <a:prstGeom prst="rect">
            <a:avLst/>
          </a:prstGeom>
        </p:spPr>
      </p:pic>
      <p:sp>
        <p:nvSpPr>
          <p:cNvPr id="10" name="テキスト ボックス 9">
            <a:extLst>
              <a:ext uri="{FF2B5EF4-FFF2-40B4-BE49-F238E27FC236}">
                <a16:creationId xmlns:a16="http://schemas.microsoft.com/office/drawing/2014/main" id="{8F88A075-EFC1-432C-9F40-A520BB85BE2C}"/>
              </a:ext>
            </a:extLst>
          </p:cNvPr>
          <p:cNvSpPr txBox="1"/>
          <p:nvPr/>
        </p:nvSpPr>
        <p:spPr>
          <a:xfrm>
            <a:off x="2351584" y="544107"/>
            <a:ext cx="8332852" cy="738664"/>
          </a:xfrm>
          <a:prstGeom prst="rect">
            <a:avLst/>
          </a:prstGeom>
          <a:noFill/>
        </p:spPr>
        <p:txBody>
          <a:bodyPr wrap="square" rtlCol="0">
            <a:spAutoFit/>
          </a:bodyPr>
          <a:lstStyle/>
          <a:p>
            <a:pPr>
              <a:spcBef>
                <a:spcPts val="600"/>
              </a:spcBef>
            </a:pP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サポートが欲しいタイミングである</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「求人を探す」「転職活動を進めるか迷っている」 「応募書類を添削してほしい」</a:t>
            </a:r>
            <a:b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いずれもアドバイザーによる「メール」「</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LINE</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」「オンライン相談」「チャット」</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が、形態として上位。</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PDT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の操作がわからない」時のみシステムによる「チャット」が</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TOP</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で、それ以外はアドバイザーでの形態が希望。</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正方形/長方形 10">
            <a:extLst>
              <a:ext uri="{FF2B5EF4-FFF2-40B4-BE49-F238E27FC236}">
                <a16:creationId xmlns:a16="http://schemas.microsoft.com/office/drawing/2014/main" id="{92B849B9-31F8-4438-9F59-3D656380052F}"/>
              </a:ext>
            </a:extLst>
          </p:cNvPr>
          <p:cNvSpPr/>
          <p:nvPr/>
        </p:nvSpPr>
        <p:spPr>
          <a:xfrm>
            <a:off x="1651765" y="3258839"/>
            <a:ext cx="8827741" cy="6256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正方形/長方形 15">
            <a:extLst>
              <a:ext uri="{FF2B5EF4-FFF2-40B4-BE49-F238E27FC236}">
                <a16:creationId xmlns:a16="http://schemas.microsoft.com/office/drawing/2014/main" id="{257F45F0-FA54-45B7-B9D5-88B9B29C19CD}"/>
              </a:ext>
            </a:extLst>
          </p:cNvPr>
          <p:cNvSpPr/>
          <p:nvPr/>
        </p:nvSpPr>
        <p:spPr>
          <a:xfrm>
            <a:off x="1651765" y="4834015"/>
            <a:ext cx="8827741" cy="32237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5615239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面談実施を促すサポート</a:t>
            </a:r>
            <a:endParaRPr kumimoji="1" lang="ja-JP" altLang="en-US" dirty="0"/>
          </a:p>
        </p:txBody>
      </p:sp>
      <p:sp>
        <p:nvSpPr>
          <p:cNvPr id="7" name="テキスト ボックス 6"/>
          <p:cNvSpPr txBox="1"/>
          <p:nvPr/>
        </p:nvSpPr>
        <p:spPr>
          <a:xfrm>
            <a:off x="2351584" y="544107"/>
            <a:ext cx="8332852" cy="738664"/>
          </a:xfrm>
          <a:prstGeom prst="rect">
            <a:avLst/>
          </a:prstGeom>
          <a:noFill/>
        </p:spPr>
        <p:txBody>
          <a:bodyPr wrap="square" rtlCol="0">
            <a:spAutoFit/>
          </a:bodyPr>
          <a:lstStyle/>
          <a:p>
            <a:pPr>
              <a:spcBef>
                <a:spcPts val="600"/>
              </a:spcBef>
            </a:pP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面談希望あり・面談実施なし</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では、面談に参加することで</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「自分の強み・特性が分かる」</a:t>
            </a:r>
            <a:b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CA</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から求人提案をしてもらえる」</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が</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6</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割半ば程度で特に高くなっている。</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面談希望なし・面談実施なし</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では</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「面談でしか共有されない求人情報」</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が</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67%</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と特に高いサポート。</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3" name="ホームベース 32"/>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コネクタ 33"/>
          <p:cNvCxnSpPr/>
          <p:nvPr/>
        </p:nvCxnSpPr>
        <p:spPr>
          <a:xfrm>
            <a:off x="2316605" y="126876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525E7F-7E3A-401F-9DD8-D9E508A743F2}"/>
              </a:ext>
            </a:extLst>
          </p:cNvPr>
          <p:cNvCxnSpPr>
            <a:cxnSpLocks/>
          </p:cNvCxnSpPr>
          <p:nvPr/>
        </p:nvCxnSpPr>
        <p:spPr>
          <a:xfrm flipV="1">
            <a:off x="1489279" y="1693434"/>
            <a:ext cx="9336511" cy="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8FF9AB37-D78C-49AD-8B0E-275FF11AAA94}"/>
              </a:ext>
            </a:extLst>
          </p:cNvPr>
          <p:cNvSpPr>
            <a:spLocks noChangeArrowheads="1"/>
          </p:cNvSpPr>
          <p:nvPr/>
        </p:nvSpPr>
        <p:spPr bwMode="auto">
          <a:xfrm>
            <a:off x="1497114" y="1780266"/>
            <a:ext cx="9360000" cy="318924"/>
          </a:xfrm>
          <a:prstGeom prst="rect">
            <a:avLst/>
          </a:prstGeom>
          <a:solidFill>
            <a:srgbClr val="F2F2F2"/>
          </a:solidFill>
          <a:ln w="9525" algn="ctr">
            <a:noFill/>
            <a:miter lim="800000"/>
            <a:headEnd/>
            <a:tailEnd/>
          </a:ln>
          <a:effectLst/>
        </p:spPr>
        <p:txBody>
          <a:bodyPr vert="horz" wrap="square" lIns="91440" tIns="36000" rIns="720000" bIns="36000" numCol="1" anchor="ctr" anchorCtr="0" compatLnSpc="1">
            <a:prstTxWarp prst="textNoShape">
              <a:avLst/>
            </a:prstTxWarp>
            <a:spAutoFit/>
          </a:bodyPr>
          <a:lstStyle/>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Q19</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リクルートエージェントに以下のようなサポートがあった場合、あなたは面談をしてみたいと思いますか。それぞれ当てはまるものをすべてお選びください。　</a:t>
            </a:r>
            <a:b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b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ぜひ面談をしてみたいと思うようになるサポート</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やや面談をしてみたいと思うようになるサポート</a:t>
            </a:r>
            <a:endPar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テキスト ボックス 13">
            <a:extLst>
              <a:ext uri="{FF2B5EF4-FFF2-40B4-BE49-F238E27FC236}">
                <a16:creationId xmlns:a16="http://schemas.microsoft.com/office/drawing/2014/main" id="{F913BBE7-A10C-4A57-A95D-152E082DD1E1}"/>
              </a:ext>
            </a:extLst>
          </p:cNvPr>
          <p:cNvSpPr txBox="1"/>
          <p:nvPr/>
        </p:nvSpPr>
        <p:spPr>
          <a:xfrm>
            <a:off x="10209562" y="1830634"/>
            <a:ext cx="648000" cy="223143"/>
          </a:xfrm>
          <a:prstGeom prst="rect">
            <a:avLst/>
          </a:prstGeom>
          <a:noFill/>
        </p:spPr>
        <p:txBody>
          <a:bodyPr wrap="none" lIns="36000" tIns="36000" rIns="36000" bIns="36000" rtlCol="0" anchor="ctr" anchorCtr="1">
            <a:noAutofit/>
          </a:bodyPr>
          <a:lstStyle/>
          <a:p>
            <a:r>
              <a:rPr lang="en-US" altLang="ja-JP"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MA</a:t>
            </a:r>
            <a:endParaRPr lang="ja-JP" altLang="en-US"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4" name="図 3">
            <a:extLst>
              <a:ext uri="{FF2B5EF4-FFF2-40B4-BE49-F238E27FC236}">
                <a16:creationId xmlns:a16="http://schemas.microsoft.com/office/drawing/2014/main" id="{47204BF6-2E4F-44C2-900D-23C59B029898}"/>
              </a:ext>
            </a:extLst>
          </p:cNvPr>
          <p:cNvPicPr/>
          <p:nvPr/>
        </p:nvPicPr>
        <p:blipFill>
          <a:blip r:embed="rId2"/>
          <a:srcRect/>
          <a:stretch>
            <a:fillRect/>
          </a:stretch>
        </p:blipFill>
        <p:spPr>
          <a:xfrm>
            <a:off x="1773275" y="2099190"/>
            <a:ext cx="8209026" cy="4513700"/>
          </a:xfrm>
          <a:prstGeom prst="rect">
            <a:avLst/>
          </a:prstGeom>
        </p:spPr>
      </p:pic>
      <p:sp>
        <p:nvSpPr>
          <p:cNvPr id="10" name="正方形/長方形 9">
            <a:extLst>
              <a:ext uri="{FF2B5EF4-FFF2-40B4-BE49-F238E27FC236}">
                <a16:creationId xmlns:a16="http://schemas.microsoft.com/office/drawing/2014/main" id="{B24FFB6C-0DB5-4D2C-9919-4E3270A1D7AD}"/>
              </a:ext>
            </a:extLst>
          </p:cNvPr>
          <p:cNvSpPr/>
          <p:nvPr/>
        </p:nvSpPr>
        <p:spPr>
          <a:xfrm>
            <a:off x="5859379" y="5197642"/>
            <a:ext cx="446888" cy="12375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正方形/長方形 10">
            <a:extLst>
              <a:ext uri="{FF2B5EF4-FFF2-40B4-BE49-F238E27FC236}">
                <a16:creationId xmlns:a16="http://schemas.microsoft.com/office/drawing/2014/main" id="{172927DC-C942-4E90-87AB-051841AC16B8}"/>
              </a:ext>
            </a:extLst>
          </p:cNvPr>
          <p:cNvSpPr/>
          <p:nvPr/>
        </p:nvSpPr>
        <p:spPr>
          <a:xfrm>
            <a:off x="4963941" y="5197642"/>
            <a:ext cx="446888" cy="12375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 name="正方形/長方形 11">
            <a:extLst>
              <a:ext uri="{FF2B5EF4-FFF2-40B4-BE49-F238E27FC236}">
                <a16:creationId xmlns:a16="http://schemas.microsoft.com/office/drawing/2014/main" id="{3F7C9B69-27E5-42A3-80A2-729E8BED856C}"/>
              </a:ext>
            </a:extLst>
          </p:cNvPr>
          <p:cNvSpPr/>
          <p:nvPr/>
        </p:nvSpPr>
        <p:spPr>
          <a:xfrm>
            <a:off x="4517053" y="6010060"/>
            <a:ext cx="446888" cy="12375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8021170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面談実施を促すサポート（自由回答）</a:t>
            </a:r>
          </a:p>
        </p:txBody>
      </p:sp>
      <p:sp>
        <p:nvSpPr>
          <p:cNvPr id="7" name="テキスト ボックス 6"/>
          <p:cNvSpPr txBox="1"/>
          <p:nvPr/>
        </p:nvSpPr>
        <p:spPr>
          <a:xfrm>
            <a:off x="2351584" y="544107"/>
            <a:ext cx="8332852" cy="738664"/>
          </a:xfrm>
          <a:prstGeom prst="rect">
            <a:avLst/>
          </a:prstGeom>
          <a:noFill/>
        </p:spPr>
        <p:txBody>
          <a:bodyPr wrap="square" rtlCol="0">
            <a:spAutoFit/>
          </a:bodyPr>
          <a:lstStyle/>
          <a:p>
            <a:pPr>
              <a:spcBef>
                <a:spcPts val="600"/>
              </a:spcBef>
            </a:pP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不安感を払拭するための</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「身近さ」「回数固定のサポート」「寄り添ってくれる」</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ことや、</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面談への</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導線を「わかりやすく手軽にする」「企業応募と紐づける」「チャット（</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LINE</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）フォローと連携させる」</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こと、</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また</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面談内容を「具体的でゴールの道筋が見えるもの」</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にすることといった意見が挙がった。</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3" name="ホームベース 32"/>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コネクタ 33"/>
          <p:cNvCxnSpPr/>
          <p:nvPr/>
        </p:nvCxnSpPr>
        <p:spPr>
          <a:xfrm>
            <a:off x="2316605" y="126876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525E7F-7E3A-401F-9DD8-D9E508A743F2}"/>
              </a:ext>
            </a:extLst>
          </p:cNvPr>
          <p:cNvCxnSpPr>
            <a:cxnSpLocks/>
          </p:cNvCxnSpPr>
          <p:nvPr/>
        </p:nvCxnSpPr>
        <p:spPr>
          <a:xfrm flipV="1">
            <a:off x="1489279" y="1693434"/>
            <a:ext cx="9336511" cy="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8FF9AB37-D78C-49AD-8B0E-275FF11AAA94}"/>
              </a:ext>
            </a:extLst>
          </p:cNvPr>
          <p:cNvSpPr>
            <a:spLocks noChangeArrowheads="1"/>
          </p:cNvSpPr>
          <p:nvPr/>
        </p:nvSpPr>
        <p:spPr bwMode="auto">
          <a:xfrm>
            <a:off x="1497114" y="1780265"/>
            <a:ext cx="9360000" cy="318924"/>
          </a:xfrm>
          <a:prstGeom prst="rect">
            <a:avLst/>
          </a:prstGeom>
          <a:solidFill>
            <a:srgbClr val="F2F2F2"/>
          </a:solidFill>
          <a:ln w="9525" algn="ctr">
            <a:noFill/>
            <a:miter lim="800000"/>
            <a:headEnd/>
            <a:tailEnd/>
          </a:ln>
          <a:effectLst/>
        </p:spPr>
        <p:txBody>
          <a:bodyPr vert="horz" wrap="square" lIns="91440" tIns="36000" rIns="720000" bIns="36000" numCol="1" anchor="ctr" anchorCtr="0" compatLnSpc="1">
            <a:prstTxWarp prst="textNoShape">
              <a:avLst/>
            </a:prstTxWarp>
            <a:spAutoFit/>
          </a:bodyPr>
          <a:lstStyle/>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Q18</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リクルートエージェントにどのようなサポートがあれば、転職活動に役立った（面談をしたくなった</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求人応募をしたくなったなど）と思いますか。それぞれ当時のことを思い出しながら、具体的に記載ください。</a:t>
            </a:r>
            <a:b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b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▼面談をしてみようと思うサポート（具体的に） </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サポートはキャリアアドバイザーによるものだけでなく、コンテンツの提供やネット上での相談サポートも想定し回答ください。</a:t>
            </a:r>
            <a:endPar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テキスト ボックス 13">
            <a:extLst>
              <a:ext uri="{FF2B5EF4-FFF2-40B4-BE49-F238E27FC236}">
                <a16:creationId xmlns:a16="http://schemas.microsoft.com/office/drawing/2014/main" id="{F913BBE7-A10C-4A57-A95D-152E082DD1E1}"/>
              </a:ext>
            </a:extLst>
          </p:cNvPr>
          <p:cNvSpPr txBox="1"/>
          <p:nvPr/>
        </p:nvSpPr>
        <p:spPr>
          <a:xfrm>
            <a:off x="10209562" y="1830634"/>
            <a:ext cx="648000" cy="223143"/>
          </a:xfrm>
          <a:prstGeom prst="rect">
            <a:avLst/>
          </a:prstGeom>
          <a:noFill/>
        </p:spPr>
        <p:txBody>
          <a:bodyPr wrap="none" lIns="36000" tIns="36000" rIns="36000" bIns="36000" rtlCol="0" anchor="ctr" anchorCtr="1">
            <a:noAutofit/>
          </a:bodyPr>
          <a:lstStyle/>
          <a:p>
            <a:r>
              <a:rPr lang="en-US" altLang="ja-JP"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FA</a:t>
            </a:r>
            <a:endParaRPr lang="ja-JP" altLang="en-US"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4" name="図 3" descr="グラフ が含まれている画像&#10;&#10;自動的に生成された説明">
            <a:extLst>
              <a:ext uri="{FF2B5EF4-FFF2-40B4-BE49-F238E27FC236}">
                <a16:creationId xmlns:a16="http://schemas.microsoft.com/office/drawing/2014/main" id="{7A3B4A7E-6644-4C33-808B-4DD23AA0CB5F}"/>
              </a:ext>
            </a:extLst>
          </p:cNvPr>
          <p:cNvPicPr>
            <a:picLocks noChangeAspect="1"/>
          </p:cNvPicPr>
          <p:nvPr/>
        </p:nvPicPr>
        <p:blipFill rotWithShape="1">
          <a:blip r:embed="rId2">
            <a:extLst>
              <a:ext uri="{28A0092B-C50C-407E-A947-70E740481C1C}">
                <a14:useLocalDpi xmlns:a14="http://schemas.microsoft.com/office/drawing/2010/main" val="0"/>
              </a:ext>
            </a:extLst>
          </a:blip>
          <a:srcRect l="11165" t="8967" r="16396" b="20915"/>
          <a:stretch/>
        </p:blipFill>
        <p:spPr>
          <a:xfrm>
            <a:off x="1497115" y="2303683"/>
            <a:ext cx="4502641" cy="4140000"/>
          </a:xfrm>
          <a:prstGeom prst="rect">
            <a:avLst/>
          </a:prstGeom>
        </p:spPr>
      </p:pic>
      <p:sp>
        <p:nvSpPr>
          <p:cNvPr id="15" name="正方形/長方形 14">
            <a:extLst>
              <a:ext uri="{FF2B5EF4-FFF2-40B4-BE49-F238E27FC236}">
                <a16:creationId xmlns:a16="http://schemas.microsoft.com/office/drawing/2014/main" id="{B7D021CD-17DC-4271-B70A-F858D9B0EF65}"/>
              </a:ext>
            </a:extLst>
          </p:cNvPr>
          <p:cNvSpPr/>
          <p:nvPr/>
        </p:nvSpPr>
        <p:spPr>
          <a:xfrm>
            <a:off x="6409075" y="2186021"/>
            <a:ext cx="4448037" cy="43632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ja-JP" altLang="en-US" sz="1100" b="1" dirty="0">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43FB9A44-3EA0-40D8-A007-C624FB43A3FD}"/>
              </a:ext>
            </a:extLst>
          </p:cNvPr>
          <p:cNvSpPr/>
          <p:nvPr/>
        </p:nvSpPr>
        <p:spPr>
          <a:xfrm>
            <a:off x="6669626" y="2403589"/>
            <a:ext cx="4187488" cy="41456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Clr>
                <a:srgbClr val="0052A4"/>
              </a:buClr>
              <a:buFont typeface="Wingdings" panose="05000000000000000000" pitchFamily="2" charset="2"/>
              <a:buChar char="Ø"/>
            </a:pPr>
            <a:r>
              <a:rPr lang="ja-JP" altLang="en-US" sz="1000" b="1" dirty="0">
                <a:solidFill>
                  <a:srgbClr val="0052A4"/>
                </a:solidFill>
                <a:latin typeface="Meiryo UI" panose="020B0604030504040204" pitchFamily="50" charset="-128"/>
                <a:ea typeface="Meiryo UI" panose="020B0604030504040204" pitchFamily="50" charset="-128"/>
              </a:rPr>
              <a:t>エージェントがどんな人か分からない</a:t>
            </a:r>
            <a:r>
              <a:rPr lang="ja-JP" altLang="en-US" sz="1000" dirty="0">
                <a:solidFill>
                  <a:schemeClr val="tx1"/>
                </a:solidFill>
                <a:latin typeface="Meiryo UI" panose="020B0604030504040204" pitchFamily="50" charset="-128"/>
                <a:ea typeface="Meiryo UI" panose="020B0604030504040204" pitchFamily="50" charset="-128"/>
              </a:rPr>
              <a:t>し、どんなサービスかよく分からないので、</a:t>
            </a:r>
            <a:r>
              <a:rPr lang="ja-JP" altLang="en-US" sz="1000" b="1" dirty="0">
                <a:solidFill>
                  <a:srgbClr val="0052A4"/>
                </a:solidFill>
                <a:latin typeface="Meiryo UI" panose="020B0604030504040204" pitchFamily="50" charset="-128"/>
                <a:ea typeface="Meiryo UI" panose="020B0604030504040204" pitchFamily="50" charset="-128"/>
              </a:rPr>
              <a:t>もっと身近な人からエージェントを紹介されるサービス</a:t>
            </a:r>
            <a:r>
              <a:rPr lang="ja-JP" altLang="en-US" sz="1000" dirty="0">
                <a:solidFill>
                  <a:schemeClr val="tx1"/>
                </a:solidFill>
                <a:latin typeface="Meiryo UI" panose="020B0604030504040204" pitchFamily="50" charset="-128"/>
                <a:ea typeface="Meiryo UI" panose="020B0604030504040204" pitchFamily="50" charset="-128"/>
              </a:rPr>
              <a:t>があるといい。</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例えば自分が好きなインスタグラマーさんが推していると面談してみようかな</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と思う。（面談希望なし・面談実施なし・求人応募なし</a:t>
            </a:r>
            <a:r>
              <a:rPr lang="en-US" altLang="ja-JP" sz="1000" dirty="0">
                <a:solidFill>
                  <a:schemeClr val="tx1"/>
                </a:solidFill>
                <a:latin typeface="Meiryo UI" panose="020B0604030504040204" pitchFamily="50" charset="-128"/>
                <a:ea typeface="Meiryo UI" panose="020B0604030504040204" pitchFamily="50" charset="-128"/>
              </a:rPr>
              <a:t>/33</a:t>
            </a:r>
            <a:r>
              <a:rPr lang="ja-JP" altLang="en-US" sz="1000" dirty="0">
                <a:solidFill>
                  <a:schemeClr val="tx1"/>
                </a:solidFill>
                <a:latin typeface="Meiryo UI" panose="020B0604030504040204" pitchFamily="50" charset="-128"/>
                <a:ea typeface="Meiryo UI" panose="020B0604030504040204" pitchFamily="50" charset="-128"/>
              </a:rPr>
              <a:t>歳）</a:t>
            </a:r>
            <a:endParaRPr lang="en-US" altLang="ja-JP" sz="1000" dirty="0">
              <a:solidFill>
                <a:schemeClr val="tx1"/>
              </a:solidFill>
              <a:latin typeface="Meiryo UI" panose="020B0604030504040204" pitchFamily="50" charset="-128"/>
              <a:ea typeface="Meiryo UI" panose="020B0604030504040204" pitchFamily="50" charset="-128"/>
            </a:endParaRPr>
          </a:p>
          <a:p>
            <a:pPr marL="171450" indent="-171450">
              <a:buClr>
                <a:srgbClr val="0052A4"/>
              </a:buClr>
              <a:buFont typeface="Wingdings" panose="05000000000000000000" pitchFamily="2" charset="2"/>
              <a:buChar char="Ø"/>
            </a:pPr>
            <a:r>
              <a:rPr lang="en-US" altLang="ja-JP" sz="1000" b="1" dirty="0">
                <a:solidFill>
                  <a:srgbClr val="0052A4"/>
                </a:solidFill>
                <a:latin typeface="Meiryo UI" panose="020B0604030504040204" pitchFamily="50" charset="-128"/>
                <a:ea typeface="Meiryo UI" panose="020B0604030504040204" pitchFamily="50" charset="-128"/>
              </a:rPr>
              <a:t>2-3</a:t>
            </a:r>
            <a:r>
              <a:rPr lang="ja-JP" altLang="en-US" sz="1000" b="1" dirty="0">
                <a:solidFill>
                  <a:srgbClr val="0052A4"/>
                </a:solidFill>
                <a:latin typeface="Meiryo UI" panose="020B0604030504040204" pitchFamily="50" charset="-128"/>
                <a:ea typeface="Meiryo UI" panose="020B0604030504040204" pitchFamily="50" charset="-128"/>
              </a:rPr>
              <a:t>回の固定サポート</a:t>
            </a:r>
            <a:r>
              <a:rPr lang="ja-JP" altLang="en-US" sz="1000" dirty="0">
                <a:solidFill>
                  <a:schemeClr val="tx1"/>
                </a:solidFill>
                <a:latin typeface="Meiryo UI" panose="020B0604030504040204" pitchFamily="50" charset="-128"/>
                <a:ea typeface="Meiryo UI" panose="020B0604030504040204" pitchFamily="50" charset="-128"/>
              </a:rPr>
              <a:t>。初回の電話で終了後、具体的にいつ連絡したら</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良いか、先に書類を作成した方が良いか</a:t>
            </a:r>
            <a:r>
              <a:rPr lang="en-US" altLang="ja-JP" sz="1000" dirty="0">
                <a:solidFill>
                  <a:schemeClr val="tx1"/>
                </a:solidFill>
                <a:latin typeface="Meiryo UI" panose="020B0604030504040204" pitchFamily="50" charset="-128"/>
                <a:ea typeface="Meiryo UI" panose="020B0604030504040204" pitchFamily="50" charset="-128"/>
              </a:rPr>
              <a:t>?</a:t>
            </a:r>
            <a:r>
              <a:rPr lang="ja-JP" altLang="en-US" sz="1000" dirty="0">
                <a:solidFill>
                  <a:schemeClr val="tx1"/>
                </a:solidFill>
                <a:latin typeface="Meiryo UI" panose="020B0604030504040204" pitchFamily="50" charset="-128"/>
                <a:ea typeface="Meiryo UI" panose="020B0604030504040204" pitchFamily="50" charset="-128"/>
              </a:rPr>
              <a:t>応募先を決めた方が良いのか</a:t>
            </a:r>
            <a:r>
              <a:rPr lang="en-US" altLang="ja-JP" sz="1000" dirty="0">
                <a:solidFill>
                  <a:schemeClr val="tx1"/>
                </a:solidFill>
                <a:latin typeface="Meiryo UI" panose="020B0604030504040204" pitchFamily="50" charset="-128"/>
                <a:ea typeface="Meiryo UI" panose="020B0604030504040204" pitchFamily="50" charset="-128"/>
              </a:rPr>
              <a:t>?</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自分の適正を知る方が先か</a:t>
            </a:r>
            <a:r>
              <a:rPr lang="en-US" altLang="ja-JP" sz="1000" dirty="0">
                <a:solidFill>
                  <a:schemeClr val="tx1"/>
                </a:solidFill>
                <a:latin typeface="Meiryo UI" panose="020B0604030504040204" pitchFamily="50" charset="-128"/>
                <a:ea typeface="Meiryo UI" panose="020B0604030504040204" pitchFamily="50" charset="-128"/>
              </a:rPr>
              <a:t>?</a:t>
            </a:r>
            <a:r>
              <a:rPr lang="ja-JP" altLang="en-US" sz="1000" dirty="0">
                <a:solidFill>
                  <a:schemeClr val="tx1"/>
                </a:solidFill>
                <a:latin typeface="Meiryo UI" panose="020B0604030504040204" pitchFamily="50" charset="-128"/>
                <a:ea typeface="Meiryo UI" panose="020B0604030504040204" pitchFamily="50" charset="-128"/>
              </a:rPr>
              <a:t>分からなくなってしまったため。</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（面談希望あり・面談実施なし・求人応募なし</a:t>
            </a:r>
            <a:r>
              <a:rPr lang="en-US" altLang="ja-JP" sz="1000" dirty="0">
                <a:solidFill>
                  <a:schemeClr val="tx1"/>
                </a:solidFill>
                <a:latin typeface="Meiryo UI" panose="020B0604030504040204" pitchFamily="50" charset="-128"/>
                <a:ea typeface="Meiryo UI" panose="020B0604030504040204" pitchFamily="50" charset="-128"/>
              </a:rPr>
              <a:t>/39</a:t>
            </a:r>
            <a:r>
              <a:rPr lang="ja-JP" altLang="en-US" sz="1000" dirty="0">
                <a:solidFill>
                  <a:schemeClr val="tx1"/>
                </a:solidFill>
                <a:latin typeface="Meiryo UI" panose="020B0604030504040204" pitchFamily="50" charset="-128"/>
                <a:ea typeface="Meiryo UI" panose="020B0604030504040204" pitchFamily="50" charset="-128"/>
              </a:rPr>
              <a:t>歳）</a:t>
            </a:r>
            <a:endParaRPr lang="en-US" altLang="ja-JP" sz="1000" dirty="0">
              <a:solidFill>
                <a:schemeClr val="tx1"/>
              </a:solidFill>
              <a:latin typeface="Meiryo UI" panose="020B0604030504040204" pitchFamily="50" charset="-128"/>
              <a:ea typeface="Meiryo UI" panose="020B0604030504040204" pitchFamily="50" charset="-128"/>
            </a:endParaRPr>
          </a:p>
          <a:p>
            <a:pPr marL="171450" indent="-171450">
              <a:buClr>
                <a:srgbClr val="0052A4"/>
              </a:buClr>
              <a:buFont typeface="Wingdings" panose="05000000000000000000" pitchFamily="2" charset="2"/>
              <a:buChar char="Ø"/>
            </a:pPr>
            <a:r>
              <a:rPr lang="ja-JP" altLang="en-US" sz="1000" b="1" dirty="0">
                <a:solidFill>
                  <a:srgbClr val="0052A4"/>
                </a:solidFill>
                <a:latin typeface="Meiryo UI" panose="020B0604030504040204" pitchFamily="50" charset="-128"/>
                <a:ea typeface="Meiryo UI" panose="020B0604030504040204" pitchFamily="50" charset="-128"/>
              </a:rPr>
              <a:t>寄り添って伴走してくれるサポート力</a:t>
            </a:r>
            <a:r>
              <a:rPr lang="ja-JP" altLang="en-US" sz="1000" dirty="0">
                <a:solidFill>
                  <a:schemeClr val="tx1"/>
                </a:solidFill>
                <a:latin typeface="Meiryo UI" panose="020B0604030504040204" pitchFamily="50" charset="-128"/>
                <a:ea typeface="Meiryo UI" panose="020B0604030504040204" pitchFamily="50" charset="-128"/>
              </a:rPr>
              <a:t>をベースに、</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b="1" dirty="0">
                <a:solidFill>
                  <a:srgbClr val="0052A4"/>
                </a:solidFill>
                <a:latin typeface="Meiryo UI" panose="020B0604030504040204" pitchFamily="50" charset="-128"/>
                <a:ea typeface="Meiryo UI" panose="020B0604030504040204" pitchFamily="50" charset="-128"/>
              </a:rPr>
              <a:t>自分の可能性を広げてくれるような情報</a:t>
            </a:r>
            <a:r>
              <a:rPr lang="ja-JP" altLang="en-US" sz="1000" dirty="0">
                <a:solidFill>
                  <a:schemeClr val="tx1"/>
                </a:solidFill>
                <a:latin typeface="Meiryo UI" panose="020B0604030504040204" pitchFamily="50" charset="-128"/>
                <a:ea typeface="Meiryo UI" panose="020B0604030504040204" pitchFamily="50" charset="-128"/>
              </a:rPr>
              <a:t>をいただけること。</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都度アドバイスをくれたり、前を向かせてくれるようなコミュニケーションが</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できること。（面談希望あり・面談実施あり・求人応募あり</a:t>
            </a:r>
            <a:r>
              <a:rPr lang="en-US" altLang="ja-JP" sz="1000" dirty="0">
                <a:solidFill>
                  <a:schemeClr val="tx1"/>
                </a:solidFill>
                <a:latin typeface="Meiryo UI" panose="020B0604030504040204" pitchFamily="50" charset="-128"/>
                <a:ea typeface="Meiryo UI" panose="020B0604030504040204" pitchFamily="50" charset="-128"/>
              </a:rPr>
              <a:t>/26</a:t>
            </a:r>
            <a:r>
              <a:rPr lang="ja-JP" altLang="en-US" sz="1000" dirty="0">
                <a:solidFill>
                  <a:schemeClr val="tx1"/>
                </a:solidFill>
                <a:latin typeface="Meiryo UI" panose="020B0604030504040204" pitchFamily="50" charset="-128"/>
                <a:ea typeface="Meiryo UI" panose="020B0604030504040204" pitchFamily="50" charset="-128"/>
              </a:rPr>
              <a:t>歳）</a:t>
            </a:r>
            <a:endParaRPr lang="en-US" altLang="ja-JP" sz="1000" b="1" dirty="0">
              <a:solidFill>
                <a:srgbClr val="0052A4"/>
              </a:solidFill>
              <a:latin typeface="Meiryo UI" panose="020B0604030504040204" pitchFamily="50" charset="-128"/>
              <a:ea typeface="Meiryo UI" panose="020B0604030504040204" pitchFamily="50" charset="-128"/>
            </a:endParaRPr>
          </a:p>
          <a:p>
            <a:pPr marL="171450" indent="-171450">
              <a:buClr>
                <a:srgbClr val="0052A4"/>
              </a:buClr>
              <a:buFont typeface="Wingdings" panose="05000000000000000000" pitchFamily="2" charset="2"/>
              <a:buChar char="Ø"/>
            </a:pPr>
            <a:r>
              <a:rPr lang="ja-JP" altLang="en-US" sz="1000" b="1" dirty="0">
                <a:solidFill>
                  <a:srgbClr val="0052A4"/>
                </a:solidFill>
                <a:latin typeface="Meiryo UI" panose="020B0604030504040204" pitchFamily="50" charset="-128"/>
                <a:ea typeface="Meiryo UI" panose="020B0604030504040204" pitchFamily="50" charset="-128"/>
              </a:rPr>
              <a:t>面談までのプロセスがシンプルでわかりやすい</a:t>
            </a:r>
            <a:r>
              <a:rPr lang="ja-JP" altLang="en-US" sz="1000" dirty="0">
                <a:solidFill>
                  <a:schemeClr val="tx1"/>
                </a:solidFill>
                <a:latin typeface="Meiryo UI" panose="020B0604030504040204" pitchFamily="50" charset="-128"/>
                <a:ea typeface="Meiryo UI" panose="020B0604030504040204" pitchFamily="50" charset="-128"/>
              </a:rPr>
              <a:t>こと。転職活動にはパワーが必要なので、なるべく</a:t>
            </a:r>
            <a:r>
              <a:rPr lang="ja-JP" altLang="en-US" sz="1000" b="1" dirty="0">
                <a:solidFill>
                  <a:srgbClr val="0052A4"/>
                </a:solidFill>
                <a:latin typeface="Meiryo UI" panose="020B0604030504040204" pitchFamily="50" charset="-128"/>
                <a:ea typeface="Meiryo UI" panose="020B0604030504040204" pitchFamily="50" charset="-128"/>
              </a:rPr>
              <a:t>最初の面談の入口をとにかく簡単に、気軽に</a:t>
            </a:r>
            <a:r>
              <a:rPr lang="ja-JP" altLang="en-US" sz="1000" dirty="0">
                <a:solidFill>
                  <a:schemeClr val="tx1"/>
                </a:solidFill>
                <a:latin typeface="Meiryo UI" panose="020B0604030504040204" pitchFamily="50" charset="-128"/>
                <a:ea typeface="Meiryo UI" panose="020B0604030504040204" pitchFamily="50" charset="-128"/>
              </a:rPr>
              <a:t>できれば良い。</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一度面談をすると具体的になり転職活動の意欲にも繋がるかと思う。</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（面談希望あり・面談実施なし・求人応募なし</a:t>
            </a:r>
            <a:r>
              <a:rPr lang="en-US" altLang="ja-JP" sz="1000" dirty="0">
                <a:solidFill>
                  <a:schemeClr val="tx1"/>
                </a:solidFill>
                <a:latin typeface="Meiryo UI" panose="020B0604030504040204" pitchFamily="50" charset="-128"/>
                <a:ea typeface="Meiryo UI" panose="020B0604030504040204" pitchFamily="50" charset="-128"/>
              </a:rPr>
              <a:t>/41</a:t>
            </a:r>
            <a:r>
              <a:rPr lang="ja-JP" altLang="en-US" sz="1000" dirty="0">
                <a:solidFill>
                  <a:schemeClr val="tx1"/>
                </a:solidFill>
                <a:latin typeface="Meiryo UI" panose="020B0604030504040204" pitchFamily="50" charset="-128"/>
                <a:ea typeface="Meiryo UI" panose="020B0604030504040204" pitchFamily="50" charset="-128"/>
              </a:rPr>
              <a:t>歳）</a:t>
            </a:r>
            <a:endParaRPr lang="en-US" altLang="ja-JP" sz="1000" dirty="0">
              <a:solidFill>
                <a:schemeClr val="tx1"/>
              </a:solidFill>
              <a:latin typeface="Meiryo UI" panose="020B0604030504040204" pitchFamily="50" charset="-128"/>
              <a:ea typeface="Meiryo UI" panose="020B0604030504040204" pitchFamily="50" charset="-128"/>
            </a:endParaRPr>
          </a:p>
          <a:p>
            <a:pPr marL="171450" indent="-171450">
              <a:buClr>
                <a:srgbClr val="0052A4"/>
              </a:buClr>
              <a:buFont typeface="Wingdings" panose="05000000000000000000" pitchFamily="2" charset="2"/>
              <a:buChar char="Ø"/>
            </a:pPr>
            <a:r>
              <a:rPr lang="ja-JP" altLang="en-US" sz="1000" dirty="0">
                <a:solidFill>
                  <a:schemeClr val="tx1"/>
                </a:solidFill>
                <a:latin typeface="Meiryo UI" panose="020B0604030504040204" pitchFamily="50" charset="-128"/>
                <a:ea typeface="Meiryo UI" panose="020B0604030504040204" pitchFamily="50" charset="-128"/>
              </a:rPr>
              <a:t>たくさんの転職サイトに登録しているので、</a:t>
            </a:r>
            <a:r>
              <a:rPr lang="ja-JP" altLang="en-US" sz="1000" b="1" dirty="0">
                <a:solidFill>
                  <a:srgbClr val="0052A4"/>
                </a:solidFill>
                <a:latin typeface="Meiryo UI" panose="020B0604030504040204" pitchFamily="50" charset="-128"/>
                <a:ea typeface="Meiryo UI" panose="020B0604030504040204" pitchFamily="50" charset="-128"/>
              </a:rPr>
              <a:t>企業応募のタイミング</a:t>
            </a:r>
            <a:r>
              <a:rPr lang="ja-JP" altLang="en-US" sz="1000" dirty="0">
                <a:solidFill>
                  <a:schemeClr val="tx1"/>
                </a:solidFill>
                <a:latin typeface="Meiryo UI" panose="020B0604030504040204" pitchFamily="50" charset="-128"/>
                <a:ea typeface="Meiryo UI" panose="020B0604030504040204" pitchFamily="50" charset="-128"/>
              </a:rPr>
              <a:t>で、◯◯会社へのご応募ありがとうございます。</a:t>
            </a:r>
            <a:r>
              <a:rPr lang="ja-JP" altLang="en-US" sz="1000" b="1" dirty="0">
                <a:solidFill>
                  <a:srgbClr val="0052A4"/>
                </a:solidFill>
                <a:latin typeface="Meiryo UI" panose="020B0604030504040204" pitchFamily="50" charset="-128"/>
                <a:ea typeface="Meiryo UI" panose="020B0604030504040204" pitchFamily="50" charset="-128"/>
              </a:rPr>
              <a:t>面談してみませんか？というお誘いメール</a:t>
            </a:r>
            <a:r>
              <a:rPr lang="ja-JP" altLang="en-US" sz="1000" dirty="0">
                <a:solidFill>
                  <a:schemeClr val="tx1"/>
                </a:solidFill>
                <a:latin typeface="Meiryo UI" panose="020B0604030504040204" pitchFamily="50" charset="-128"/>
                <a:ea typeface="Meiryo UI" panose="020B0604030504040204" pitchFamily="50" charset="-128"/>
              </a:rPr>
              <a:t>。</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（面談希望あり・面談実施なし・求人応募なし</a:t>
            </a:r>
            <a:r>
              <a:rPr lang="en-US" altLang="ja-JP" sz="1000" dirty="0">
                <a:solidFill>
                  <a:schemeClr val="tx1"/>
                </a:solidFill>
                <a:latin typeface="Meiryo UI" panose="020B0604030504040204" pitchFamily="50" charset="-128"/>
                <a:ea typeface="Meiryo UI" panose="020B0604030504040204" pitchFamily="50" charset="-128"/>
              </a:rPr>
              <a:t>/29</a:t>
            </a:r>
            <a:r>
              <a:rPr lang="ja-JP" altLang="en-US" sz="1000" dirty="0">
                <a:solidFill>
                  <a:schemeClr val="tx1"/>
                </a:solidFill>
                <a:latin typeface="Meiryo UI" panose="020B0604030504040204" pitchFamily="50" charset="-128"/>
                <a:ea typeface="Meiryo UI" panose="020B0604030504040204" pitchFamily="50" charset="-128"/>
              </a:rPr>
              <a:t>歳）</a:t>
            </a:r>
            <a:endParaRPr lang="en-US" altLang="ja-JP" sz="1000" dirty="0">
              <a:solidFill>
                <a:schemeClr val="tx1"/>
              </a:solidFill>
              <a:latin typeface="Meiryo UI" panose="020B0604030504040204" pitchFamily="50" charset="-128"/>
              <a:ea typeface="Meiryo UI" panose="020B0604030504040204" pitchFamily="50" charset="-128"/>
            </a:endParaRPr>
          </a:p>
          <a:p>
            <a:pPr marL="171450" indent="-171450">
              <a:buClr>
                <a:srgbClr val="0052A4"/>
              </a:buClr>
              <a:buFont typeface="Wingdings" panose="05000000000000000000" pitchFamily="2" charset="2"/>
              <a:buChar char="Ø"/>
            </a:pPr>
            <a:r>
              <a:rPr lang="ja-JP" altLang="en-US" sz="1000" b="1" dirty="0">
                <a:solidFill>
                  <a:srgbClr val="0052A4"/>
                </a:solidFill>
                <a:latin typeface="Meiryo UI" panose="020B0604030504040204" pitchFamily="50" charset="-128"/>
                <a:ea typeface="Meiryo UI" panose="020B0604030504040204" pitchFamily="50" charset="-128"/>
              </a:rPr>
              <a:t>ラインを使ったサポート</a:t>
            </a:r>
            <a:r>
              <a:rPr lang="ja-JP" altLang="en-US" sz="1000" dirty="0">
                <a:solidFill>
                  <a:schemeClr val="tx1"/>
                </a:solidFill>
                <a:latin typeface="Meiryo UI" panose="020B0604030504040204" pitchFamily="50" charset="-128"/>
                <a:ea typeface="Meiryo UI" panose="020B0604030504040204" pitchFamily="50" charset="-128"/>
              </a:rPr>
              <a:t>は忙しくても返しやすくありがたいと思う。ただ数多く</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求人情報だけ送るのではなく</a:t>
            </a:r>
            <a:r>
              <a:rPr lang="ja-JP" altLang="en-US" sz="1000" b="1" dirty="0">
                <a:solidFill>
                  <a:srgbClr val="0052A4"/>
                </a:solidFill>
                <a:latin typeface="Meiryo UI" panose="020B0604030504040204" pitchFamily="50" charset="-128"/>
                <a:ea typeface="Meiryo UI" panose="020B0604030504040204" pitchFamily="50" charset="-128"/>
              </a:rPr>
              <a:t>電話やラインで定期的なフォローアップ</a:t>
            </a:r>
            <a:r>
              <a:rPr lang="ja-JP" altLang="en-US" sz="1000" dirty="0">
                <a:solidFill>
                  <a:schemeClr val="tx1"/>
                </a:solidFill>
                <a:latin typeface="Meiryo UI" panose="020B0604030504040204" pitchFamily="50" charset="-128"/>
                <a:ea typeface="Meiryo UI" panose="020B0604030504040204" pitchFamily="50" charset="-128"/>
              </a:rPr>
              <a:t>があれば</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良いなと思った。（面談希望あり・面談希望あり・求人応募なし</a:t>
            </a:r>
            <a:r>
              <a:rPr lang="en-US" altLang="ja-JP" sz="1000" dirty="0">
                <a:solidFill>
                  <a:schemeClr val="tx1"/>
                </a:solidFill>
                <a:latin typeface="Meiryo UI" panose="020B0604030504040204" pitchFamily="50" charset="-128"/>
                <a:ea typeface="Meiryo UI" panose="020B0604030504040204" pitchFamily="50" charset="-128"/>
              </a:rPr>
              <a:t>/39</a:t>
            </a:r>
            <a:r>
              <a:rPr lang="ja-JP" altLang="en-US" sz="1000" dirty="0">
                <a:solidFill>
                  <a:schemeClr val="tx1"/>
                </a:solidFill>
                <a:latin typeface="Meiryo UI" panose="020B0604030504040204" pitchFamily="50" charset="-128"/>
                <a:ea typeface="Meiryo UI" panose="020B0604030504040204" pitchFamily="50" charset="-128"/>
              </a:rPr>
              <a:t>歳）</a:t>
            </a:r>
            <a:endParaRPr lang="en-US" altLang="ja-JP" sz="1000" dirty="0">
              <a:solidFill>
                <a:schemeClr val="tx1"/>
              </a:solidFill>
              <a:latin typeface="Meiryo UI" panose="020B0604030504040204" pitchFamily="50" charset="-128"/>
              <a:ea typeface="Meiryo UI" panose="020B0604030504040204" pitchFamily="50" charset="-128"/>
            </a:endParaRPr>
          </a:p>
          <a:p>
            <a:pPr marL="171450" indent="-171450">
              <a:buClr>
                <a:srgbClr val="0052A4"/>
              </a:buClr>
              <a:buFont typeface="Wingdings" panose="05000000000000000000" pitchFamily="2" charset="2"/>
              <a:buChar char="Ø"/>
            </a:pPr>
            <a:r>
              <a:rPr lang="ja-JP" altLang="en-US" sz="1000" b="1" dirty="0">
                <a:solidFill>
                  <a:srgbClr val="0052A4"/>
                </a:solidFill>
                <a:latin typeface="Meiryo UI" panose="020B0604030504040204" pitchFamily="50" charset="-128"/>
                <a:ea typeface="Meiryo UI" panose="020B0604030504040204" pitchFamily="50" charset="-128"/>
              </a:rPr>
              <a:t>具体的に業界アドバイスや内情を知っている方から</a:t>
            </a:r>
            <a:br>
              <a:rPr lang="en-US" altLang="ja-JP" sz="1000" b="1" dirty="0">
                <a:solidFill>
                  <a:srgbClr val="0052A4"/>
                </a:solidFill>
                <a:latin typeface="Meiryo UI" panose="020B0604030504040204" pitchFamily="50" charset="-128"/>
                <a:ea typeface="Meiryo UI" panose="020B0604030504040204" pitchFamily="50" charset="-128"/>
              </a:rPr>
            </a:br>
            <a:r>
              <a:rPr lang="ja-JP" altLang="en-US" sz="1000" b="1" dirty="0">
                <a:solidFill>
                  <a:srgbClr val="0052A4"/>
                </a:solidFill>
                <a:latin typeface="Meiryo UI" panose="020B0604030504040204" pitchFamily="50" charset="-128"/>
                <a:ea typeface="Meiryo UI" panose="020B0604030504040204" pitchFamily="50" charset="-128"/>
              </a:rPr>
              <a:t>コメントがもらえる機会</a:t>
            </a:r>
            <a:r>
              <a:rPr lang="ja-JP" altLang="en-US" sz="1000" dirty="0">
                <a:solidFill>
                  <a:schemeClr val="tx1"/>
                </a:solidFill>
                <a:latin typeface="Meiryo UI" panose="020B0604030504040204" pitchFamily="50" charset="-128"/>
                <a:ea typeface="Meiryo UI" panose="020B0604030504040204" pitchFamily="50" charset="-128"/>
              </a:rPr>
              <a:t>があるとか、ふわっとしたものではなくて具体的なもの。</a:t>
            </a:r>
            <a:r>
              <a:rPr lang="ja-JP" altLang="en-US" sz="1000" b="1" dirty="0">
                <a:solidFill>
                  <a:srgbClr val="0052A4"/>
                </a:solidFill>
                <a:latin typeface="Meiryo UI" panose="020B0604030504040204" pitchFamily="50" charset="-128"/>
                <a:ea typeface="Meiryo UI" panose="020B0604030504040204" pitchFamily="50" charset="-128"/>
              </a:rPr>
              <a:t>そのゴールにきちんとたどり着けるもの</a:t>
            </a:r>
            <a:r>
              <a:rPr lang="ja-JP" altLang="en-US" sz="1000" dirty="0">
                <a:solidFill>
                  <a:schemeClr val="tx1"/>
                </a:solidFill>
                <a:latin typeface="Meiryo UI" panose="020B0604030504040204" pitchFamily="50" charset="-128"/>
                <a:ea typeface="Meiryo UI" panose="020B0604030504040204" pitchFamily="50" charset="-128"/>
              </a:rPr>
              <a:t>が欲しい。</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（面談希望あり・面談希望あり・求人応募なし</a:t>
            </a:r>
            <a:r>
              <a:rPr lang="en-US" altLang="ja-JP" sz="1000" dirty="0">
                <a:solidFill>
                  <a:schemeClr val="tx1"/>
                </a:solidFill>
                <a:latin typeface="Meiryo UI" panose="020B0604030504040204" pitchFamily="50" charset="-128"/>
                <a:ea typeface="Meiryo UI" panose="020B0604030504040204" pitchFamily="50" charset="-128"/>
              </a:rPr>
              <a:t>/39</a:t>
            </a:r>
            <a:r>
              <a:rPr lang="ja-JP" altLang="en-US" sz="1000" dirty="0">
                <a:solidFill>
                  <a:schemeClr val="tx1"/>
                </a:solidFill>
                <a:latin typeface="Meiryo UI" panose="020B0604030504040204" pitchFamily="50" charset="-128"/>
                <a:ea typeface="Meiryo UI" panose="020B0604030504040204" pitchFamily="50" charset="-128"/>
              </a:rPr>
              <a:t>歳）</a:t>
            </a:r>
            <a:endParaRPr lang="en-US" altLang="ja-JP" sz="10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2542424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FD79AB-88A7-89A5-31B9-D7AE50369EE0}"/>
              </a:ext>
            </a:extLst>
          </p:cNvPr>
          <p:cNvSpPr>
            <a:spLocks noGrp="1"/>
          </p:cNvSpPr>
          <p:nvPr>
            <p:ph type="title"/>
          </p:nvPr>
        </p:nvSpPr>
        <p:spPr/>
        <p:txBody>
          <a:bodyPr/>
          <a:lstStyle/>
          <a:p>
            <a:r>
              <a:rPr lang="ja-JP" altLang="en-US" dirty="0"/>
              <a:t>面談実施を促すサポート（自由回答サマリ）</a:t>
            </a:r>
            <a:endParaRPr kumimoji="1" lang="ja-JP" altLang="en-US" dirty="0"/>
          </a:p>
        </p:txBody>
      </p:sp>
      <p:pic>
        <p:nvPicPr>
          <p:cNvPr id="10" name="図 9">
            <a:extLst>
              <a:ext uri="{FF2B5EF4-FFF2-40B4-BE49-F238E27FC236}">
                <a16:creationId xmlns:a16="http://schemas.microsoft.com/office/drawing/2014/main" id="{30B504CC-E630-88E4-F2FD-051E387558A7}"/>
              </a:ext>
            </a:extLst>
          </p:cNvPr>
          <p:cNvPicPr>
            <a:picLocks noChangeAspect="1"/>
          </p:cNvPicPr>
          <p:nvPr/>
        </p:nvPicPr>
        <p:blipFill>
          <a:blip r:embed="rId2"/>
          <a:stretch>
            <a:fillRect/>
          </a:stretch>
        </p:blipFill>
        <p:spPr>
          <a:xfrm>
            <a:off x="1793536" y="1881152"/>
            <a:ext cx="8604929" cy="4283428"/>
          </a:xfrm>
          <a:prstGeom prst="rect">
            <a:avLst/>
          </a:prstGeom>
        </p:spPr>
      </p:pic>
      <p:sp>
        <p:nvSpPr>
          <p:cNvPr id="3" name="ホームベース 32">
            <a:extLst>
              <a:ext uri="{FF2B5EF4-FFF2-40B4-BE49-F238E27FC236}">
                <a16:creationId xmlns:a16="http://schemas.microsoft.com/office/drawing/2014/main" id="{28E35662-0561-8DD6-40AE-7F54EEB109CA}"/>
              </a:ext>
            </a:extLst>
          </p:cNvPr>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 name="テキスト ボックス 3">
            <a:extLst>
              <a:ext uri="{FF2B5EF4-FFF2-40B4-BE49-F238E27FC236}">
                <a16:creationId xmlns:a16="http://schemas.microsoft.com/office/drawing/2014/main" id="{98B9B2CD-1F46-B645-C803-8C25E34A678B}"/>
              </a:ext>
            </a:extLst>
          </p:cNvPr>
          <p:cNvSpPr txBox="1"/>
          <p:nvPr/>
        </p:nvSpPr>
        <p:spPr>
          <a:xfrm>
            <a:off x="2351584" y="544107"/>
            <a:ext cx="8332852" cy="1107996"/>
          </a:xfrm>
          <a:prstGeom prst="rect">
            <a:avLst/>
          </a:prstGeom>
          <a:noFill/>
        </p:spPr>
        <p:txBody>
          <a:bodyPr wrap="square" rtlCol="0">
            <a:spAutoFit/>
          </a:bodyPr>
          <a:lstStyle/>
          <a:p>
            <a:pPr>
              <a:spcBef>
                <a:spcPts val="600"/>
              </a:spcBef>
            </a:pP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面談希望の有無にかかわらず、キャリアアドバイスのニーズが高い。具体的には、「キャリアの棚卸支援」「強みの言語化」「経験によらない可能性の提示」といった意見がよされている。</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a:p>
            <a:pPr>
              <a:spcBef>
                <a:spcPts val="600"/>
              </a:spcBef>
            </a:pP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また、面談を実施しない</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CS</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は「面談・相談の気軽さ」の比率が高い。</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a:p>
            <a:pPr>
              <a:spcBef>
                <a:spcPts val="600"/>
              </a:spcBef>
            </a:pP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面談をするべきかどうかの判断をしてほしいや、どんな相手が相談相手なのかわかるとよいといった意見も見られた。</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6" name="直線コネクタ 5">
            <a:extLst>
              <a:ext uri="{FF2B5EF4-FFF2-40B4-BE49-F238E27FC236}">
                <a16:creationId xmlns:a16="http://schemas.microsoft.com/office/drawing/2014/main" id="{53A816F3-2C69-8B83-A8E6-4FAA551FB669}"/>
              </a:ext>
            </a:extLst>
          </p:cNvPr>
          <p:cNvCxnSpPr/>
          <p:nvPr/>
        </p:nvCxnSpPr>
        <p:spPr>
          <a:xfrm>
            <a:off x="2316605" y="133734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11388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求人応募を促すサポート</a:t>
            </a:r>
            <a:endParaRPr kumimoji="1" lang="ja-JP" altLang="en-US" dirty="0"/>
          </a:p>
        </p:txBody>
      </p:sp>
      <p:sp>
        <p:nvSpPr>
          <p:cNvPr id="33" name="ホームベース 32"/>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コネクタ 33"/>
          <p:cNvCxnSpPr/>
          <p:nvPr/>
        </p:nvCxnSpPr>
        <p:spPr>
          <a:xfrm>
            <a:off x="2316605" y="126876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525E7F-7E3A-401F-9DD8-D9E508A743F2}"/>
              </a:ext>
            </a:extLst>
          </p:cNvPr>
          <p:cNvCxnSpPr>
            <a:cxnSpLocks/>
          </p:cNvCxnSpPr>
          <p:nvPr/>
        </p:nvCxnSpPr>
        <p:spPr>
          <a:xfrm flipV="1">
            <a:off x="1489279" y="1693434"/>
            <a:ext cx="9336511" cy="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2">
            <a:extLst>
              <a:ext uri="{FF2B5EF4-FFF2-40B4-BE49-F238E27FC236}">
                <a16:creationId xmlns:a16="http://schemas.microsoft.com/office/drawing/2014/main" id="{8FF9AB37-D78C-49AD-8B0E-275FF11AAA94}"/>
              </a:ext>
            </a:extLst>
          </p:cNvPr>
          <p:cNvSpPr>
            <a:spLocks noChangeArrowheads="1"/>
          </p:cNvSpPr>
          <p:nvPr/>
        </p:nvSpPr>
        <p:spPr bwMode="auto">
          <a:xfrm>
            <a:off x="1497114" y="1780266"/>
            <a:ext cx="9360000" cy="318924"/>
          </a:xfrm>
          <a:prstGeom prst="rect">
            <a:avLst/>
          </a:prstGeom>
          <a:solidFill>
            <a:srgbClr val="F2F2F2"/>
          </a:solidFill>
          <a:ln w="9525" algn="ctr">
            <a:noFill/>
            <a:miter lim="800000"/>
            <a:headEnd/>
            <a:tailEnd/>
          </a:ln>
          <a:effectLst/>
        </p:spPr>
        <p:txBody>
          <a:bodyPr vert="horz" wrap="square" lIns="91440" tIns="36000" rIns="720000" bIns="36000" numCol="1" anchor="ctr" anchorCtr="0" compatLnSpc="1">
            <a:prstTxWarp prst="textNoShape">
              <a:avLst/>
            </a:prstTxWarp>
            <a:spAutoFit/>
          </a:bodyPr>
          <a:lstStyle/>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Q20</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リクルートエージェントに以下のようなサポートがあった場合、あなたは求人に応募したいと思いますか。それぞれ当てはまるものをすべてお選びください。</a:t>
            </a:r>
            <a:b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b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求人応募したいと思うサポート</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求人応募を検討してもよいと思うサポート</a:t>
            </a:r>
            <a:endPar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テキスト ボックス 13">
            <a:extLst>
              <a:ext uri="{FF2B5EF4-FFF2-40B4-BE49-F238E27FC236}">
                <a16:creationId xmlns:a16="http://schemas.microsoft.com/office/drawing/2014/main" id="{F913BBE7-A10C-4A57-A95D-152E082DD1E1}"/>
              </a:ext>
            </a:extLst>
          </p:cNvPr>
          <p:cNvSpPr txBox="1"/>
          <p:nvPr/>
        </p:nvSpPr>
        <p:spPr>
          <a:xfrm>
            <a:off x="10209562" y="1830634"/>
            <a:ext cx="648000" cy="223143"/>
          </a:xfrm>
          <a:prstGeom prst="rect">
            <a:avLst/>
          </a:prstGeom>
          <a:noFill/>
        </p:spPr>
        <p:txBody>
          <a:bodyPr wrap="none" lIns="36000" tIns="36000" rIns="36000" bIns="36000" rtlCol="0" anchor="ctr" anchorCtr="1">
            <a:noAutofit/>
          </a:bodyPr>
          <a:lstStyle/>
          <a:p>
            <a:r>
              <a:rPr lang="en-US" altLang="ja-JP"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MA</a:t>
            </a:r>
            <a:endParaRPr lang="ja-JP" altLang="en-US"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4" name="図 3">
            <a:extLst>
              <a:ext uri="{FF2B5EF4-FFF2-40B4-BE49-F238E27FC236}">
                <a16:creationId xmlns:a16="http://schemas.microsoft.com/office/drawing/2014/main" id="{A6C56E47-EEC2-4083-9FB6-43ED84BFDE84}"/>
              </a:ext>
            </a:extLst>
          </p:cNvPr>
          <p:cNvPicPr/>
          <p:nvPr/>
        </p:nvPicPr>
        <p:blipFill>
          <a:blip r:embed="rId2"/>
          <a:srcRect/>
          <a:stretch>
            <a:fillRect/>
          </a:stretch>
        </p:blipFill>
        <p:spPr>
          <a:xfrm>
            <a:off x="1883977" y="2186022"/>
            <a:ext cx="7999095" cy="4396556"/>
          </a:xfrm>
          <a:prstGeom prst="rect">
            <a:avLst/>
          </a:prstGeom>
        </p:spPr>
      </p:pic>
      <p:sp>
        <p:nvSpPr>
          <p:cNvPr id="10" name="正方形/長方形 9">
            <a:extLst>
              <a:ext uri="{FF2B5EF4-FFF2-40B4-BE49-F238E27FC236}">
                <a16:creationId xmlns:a16="http://schemas.microsoft.com/office/drawing/2014/main" id="{D5FC8936-4B19-4087-ADF6-BEBE458CB4BF}"/>
              </a:ext>
            </a:extLst>
          </p:cNvPr>
          <p:cNvSpPr/>
          <p:nvPr/>
        </p:nvSpPr>
        <p:spPr>
          <a:xfrm>
            <a:off x="5763127" y="4977637"/>
            <a:ext cx="1512541" cy="12375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正方形/長方形 10">
            <a:extLst>
              <a:ext uri="{FF2B5EF4-FFF2-40B4-BE49-F238E27FC236}">
                <a16:creationId xmlns:a16="http://schemas.microsoft.com/office/drawing/2014/main" id="{F32A07E3-C3D8-4CC9-9CAB-EE4156B7BA37}"/>
              </a:ext>
            </a:extLst>
          </p:cNvPr>
          <p:cNvSpPr/>
          <p:nvPr/>
        </p:nvSpPr>
        <p:spPr>
          <a:xfrm>
            <a:off x="6772115" y="5355772"/>
            <a:ext cx="503553" cy="12375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 name="正方形/長方形 11">
            <a:extLst>
              <a:ext uri="{FF2B5EF4-FFF2-40B4-BE49-F238E27FC236}">
                <a16:creationId xmlns:a16="http://schemas.microsoft.com/office/drawing/2014/main" id="{63A1E10F-720D-454B-B152-9623804D33AD}"/>
              </a:ext>
            </a:extLst>
          </p:cNvPr>
          <p:cNvSpPr/>
          <p:nvPr/>
        </p:nvSpPr>
        <p:spPr>
          <a:xfrm>
            <a:off x="4758830" y="6190141"/>
            <a:ext cx="1004296" cy="12375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tx1">
                  <a:lumMod val="90000"/>
                  <a:lumOff val="10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テキスト ボックス 14">
            <a:extLst>
              <a:ext uri="{FF2B5EF4-FFF2-40B4-BE49-F238E27FC236}">
                <a16:creationId xmlns:a16="http://schemas.microsoft.com/office/drawing/2014/main" id="{C4F67E74-020A-4E16-BE11-597B21EE9E44}"/>
              </a:ext>
            </a:extLst>
          </p:cNvPr>
          <p:cNvSpPr txBox="1"/>
          <p:nvPr/>
        </p:nvSpPr>
        <p:spPr>
          <a:xfrm>
            <a:off x="2351584" y="544107"/>
            <a:ext cx="8332852" cy="738664"/>
          </a:xfrm>
          <a:prstGeom prst="rect">
            <a:avLst/>
          </a:prstGeom>
          <a:noFill/>
        </p:spPr>
        <p:txBody>
          <a:bodyPr wrap="square" rtlCol="0">
            <a:spAutoFit/>
          </a:bodyPr>
          <a:lstStyle/>
          <a:p>
            <a:pPr>
              <a:spcBef>
                <a:spcPts val="600"/>
              </a:spcBef>
            </a:pP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面談実施有無問わず、</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面談希望あり・求人応募なし</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では、</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CA</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が応募書類の添削・アドバイスをしてくれる」</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が</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6</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割前後で特に高く、</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面談実施ありでは「合格可能性」も知りたい</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様子。</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面談希望なし・面談実施なし・求人応募なし</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では</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システム・</a:t>
            </a:r>
            <a:r>
              <a:rPr lang="en-US" altLang="ja-JP"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CA</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を経由した「非公開求人の定期的な案内」</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が</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5</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割後半と比較的求人応募を促すサポート。</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40777311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求人応募</a:t>
            </a:r>
            <a:r>
              <a:rPr kumimoji="1" lang="ja-JP" altLang="en-US" dirty="0"/>
              <a:t>を促すサポート（自由回答）</a:t>
            </a:r>
          </a:p>
        </p:txBody>
      </p:sp>
      <p:sp>
        <p:nvSpPr>
          <p:cNvPr id="33" name="ホームベース 32"/>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34" name="直線コネクタ 33"/>
          <p:cNvCxnSpPr/>
          <p:nvPr/>
        </p:nvCxnSpPr>
        <p:spPr>
          <a:xfrm>
            <a:off x="2316605" y="126876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B525E7F-7E3A-401F-9DD8-D9E508A743F2}"/>
              </a:ext>
            </a:extLst>
          </p:cNvPr>
          <p:cNvCxnSpPr>
            <a:cxnSpLocks/>
          </p:cNvCxnSpPr>
          <p:nvPr/>
        </p:nvCxnSpPr>
        <p:spPr>
          <a:xfrm flipV="1">
            <a:off x="1489279" y="1693434"/>
            <a:ext cx="9336511" cy="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Rectangle 2">
            <a:extLst>
              <a:ext uri="{FF2B5EF4-FFF2-40B4-BE49-F238E27FC236}">
                <a16:creationId xmlns:a16="http://schemas.microsoft.com/office/drawing/2014/main" id="{87ACF8B5-6DF0-4913-84D3-8218C5136C2F}"/>
              </a:ext>
            </a:extLst>
          </p:cNvPr>
          <p:cNvSpPr>
            <a:spLocks noChangeArrowheads="1"/>
          </p:cNvSpPr>
          <p:nvPr/>
        </p:nvSpPr>
        <p:spPr bwMode="auto">
          <a:xfrm>
            <a:off x="1497114" y="1780265"/>
            <a:ext cx="9360000" cy="318924"/>
          </a:xfrm>
          <a:prstGeom prst="rect">
            <a:avLst/>
          </a:prstGeom>
          <a:solidFill>
            <a:srgbClr val="F2F2F2"/>
          </a:solidFill>
          <a:ln w="9525" algn="ctr">
            <a:noFill/>
            <a:miter lim="800000"/>
            <a:headEnd/>
            <a:tailEnd/>
          </a:ln>
          <a:effectLst/>
        </p:spPr>
        <p:txBody>
          <a:bodyPr vert="horz" wrap="square" lIns="91440" tIns="36000" rIns="720000" bIns="36000" numCol="1" anchor="ctr" anchorCtr="0" compatLnSpc="1">
            <a:prstTxWarp prst="textNoShape">
              <a:avLst/>
            </a:prstTxWarp>
            <a:spAutoFit/>
          </a:bodyPr>
          <a:lstStyle/>
          <a:p>
            <a:pPr marL="92075" indent="-92075" fontAlgn="base">
              <a:spcBef>
                <a:spcPct val="0"/>
              </a:spcBef>
              <a:spcAft>
                <a:spcPct val="0"/>
              </a:spcAft>
            </a:pP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Q18</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リクルートエージェントにどのようなサポートがあれば、転職活動に役立った（面談をしたくなった</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求人応募をしたくなったなど）と思いますか。それぞれ当時のことを思い出しながら、具体的に記載ください。</a:t>
            </a:r>
            <a:b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b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▼求人応募を検討しようと思うサポート（具体的に） </a:t>
            </a:r>
            <a:r>
              <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サポートはキャリアアドバイザーによるものだけでなく、コンテンツの提供やネット上での相談サポートも想定し回答ください。</a:t>
            </a:r>
            <a:endParaRPr lang="en-US" altLang="ja-JP" sz="8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 name="テキスト ボックス 11">
            <a:extLst>
              <a:ext uri="{FF2B5EF4-FFF2-40B4-BE49-F238E27FC236}">
                <a16:creationId xmlns:a16="http://schemas.microsoft.com/office/drawing/2014/main" id="{A9BFB5F3-0ED5-427B-9587-0BCC9AE0DD54}"/>
              </a:ext>
            </a:extLst>
          </p:cNvPr>
          <p:cNvSpPr txBox="1"/>
          <p:nvPr/>
        </p:nvSpPr>
        <p:spPr>
          <a:xfrm>
            <a:off x="10209562" y="1830634"/>
            <a:ext cx="648000" cy="223143"/>
          </a:xfrm>
          <a:prstGeom prst="rect">
            <a:avLst/>
          </a:prstGeom>
          <a:noFill/>
        </p:spPr>
        <p:txBody>
          <a:bodyPr wrap="none" lIns="36000" tIns="36000" rIns="36000" bIns="36000" rtlCol="0" anchor="ctr" anchorCtr="1">
            <a:noAutofit/>
          </a:bodyPr>
          <a:lstStyle/>
          <a:p>
            <a:r>
              <a:rPr lang="en-US" altLang="ja-JP"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FA</a:t>
            </a:r>
            <a:endParaRPr lang="ja-JP" altLang="en-US" sz="8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4" name="図 3" descr="グラフ が含まれている画像&#10;&#10;自動的に生成された説明">
            <a:extLst>
              <a:ext uri="{FF2B5EF4-FFF2-40B4-BE49-F238E27FC236}">
                <a16:creationId xmlns:a16="http://schemas.microsoft.com/office/drawing/2014/main" id="{086585B4-7055-4075-B19D-1AF57F889DC0}"/>
              </a:ext>
            </a:extLst>
          </p:cNvPr>
          <p:cNvPicPr>
            <a:picLocks noChangeAspect="1"/>
          </p:cNvPicPr>
          <p:nvPr/>
        </p:nvPicPr>
        <p:blipFill rotWithShape="1">
          <a:blip r:embed="rId2">
            <a:extLst>
              <a:ext uri="{28A0092B-C50C-407E-A947-70E740481C1C}">
                <a14:useLocalDpi xmlns:a14="http://schemas.microsoft.com/office/drawing/2010/main" val="0"/>
              </a:ext>
            </a:extLst>
          </a:blip>
          <a:srcRect l="11154" t="27893" r="14185"/>
          <a:stretch/>
        </p:blipFill>
        <p:spPr>
          <a:xfrm>
            <a:off x="1497115" y="2304000"/>
            <a:ext cx="4512803" cy="4140000"/>
          </a:xfrm>
          <a:prstGeom prst="rect">
            <a:avLst/>
          </a:prstGeom>
        </p:spPr>
      </p:pic>
      <p:sp>
        <p:nvSpPr>
          <p:cNvPr id="17" name="正方形/長方形 16">
            <a:extLst>
              <a:ext uri="{FF2B5EF4-FFF2-40B4-BE49-F238E27FC236}">
                <a16:creationId xmlns:a16="http://schemas.microsoft.com/office/drawing/2014/main" id="{AE1EE26B-F80A-4DC3-9FDC-F94861A0C6F9}"/>
              </a:ext>
            </a:extLst>
          </p:cNvPr>
          <p:cNvSpPr/>
          <p:nvPr/>
        </p:nvSpPr>
        <p:spPr>
          <a:xfrm>
            <a:off x="6409075" y="2186021"/>
            <a:ext cx="4448037" cy="4363200"/>
          </a:xfrm>
          <a:prstGeom prst="rect">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ja-JP" altLang="en-US" sz="1100" b="1" dirty="0">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C61A6ED2-1FD8-4624-B8AD-F8FFF2687F01}"/>
              </a:ext>
            </a:extLst>
          </p:cNvPr>
          <p:cNvSpPr/>
          <p:nvPr/>
        </p:nvSpPr>
        <p:spPr>
          <a:xfrm>
            <a:off x="6669626" y="2403589"/>
            <a:ext cx="4187488" cy="41456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Clr>
                <a:srgbClr val="0052A4"/>
              </a:buClr>
              <a:buFont typeface="Wingdings" panose="05000000000000000000" pitchFamily="2" charset="2"/>
              <a:buChar char="Ø"/>
            </a:pPr>
            <a:r>
              <a:rPr lang="ja-JP" altLang="en-US" sz="1000" dirty="0">
                <a:solidFill>
                  <a:schemeClr val="tx1"/>
                </a:solidFill>
                <a:latin typeface="Meiryo UI" panose="020B0604030504040204" pitchFamily="50" charset="-128"/>
                <a:ea typeface="Meiryo UI" panose="020B0604030504040204" pitchFamily="50" charset="-128"/>
              </a:rPr>
              <a:t>メルマガには</a:t>
            </a:r>
            <a:r>
              <a:rPr lang="ja-JP" altLang="en-US" sz="1000" b="1" dirty="0">
                <a:solidFill>
                  <a:srgbClr val="0052A4"/>
                </a:solidFill>
                <a:latin typeface="Meiryo UI" panose="020B0604030504040204" pitchFamily="50" charset="-128"/>
                <a:ea typeface="Meiryo UI" panose="020B0604030504040204" pitchFamily="50" charset="-128"/>
              </a:rPr>
              <a:t>本当に自分にマッチした求人</a:t>
            </a:r>
            <a:r>
              <a:rPr lang="ja-JP" altLang="en-US" sz="1000" dirty="0">
                <a:solidFill>
                  <a:schemeClr val="tx1"/>
                </a:solidFill>
                <a:latin typeface="Meiryo UI" panose="020B0604030504040204" pitchFamily="50" charset="-128"/>
                <a:ea typeface="Meiryo UI" panose="020B0604030504040204" pitchFamily="50" charset="-128"/>
              </a:rPr>
              <a:t>だけのせてほしい。</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例えば良さそうと思ってよく応募条件を見ると</a:t>
            </a:r>
            <a:r>
              <a:rPr lang="ja-JP" altLang="en-US" sz="1000" b="1" dirty="0">
                <a:solidFill>
                  <a:srgbClr val="0052A4"/>
                </a:solidFill>
                <a:latin typeface="Meiryo UI" panose="020B0604030504040204" pitchFamily="50" charset="-128"/>
                <a:ea typeface="Meiryo UI" panose="020B0604030504040204" pitchFamily="50" charset="-128"/>
              </a:rPr>
              <a:t>年齢制限で</a:t>
            </a:r>
            <a:r>
              <a:rPr lang="en-US" altLang="ja-JP" sz="1000" b="1" dirty="0">
                <a:solidFill>
                  <a:srgbClr val="0052A4"/>
                </a:solidFill>
                <a:latin typeface="Meiryo UI" panose="020B0604030504040204" pitchFamily="50" charset="-128"/>
                <a:ea typeface="Meiryo UI" panose="020B0604030504040204" pitchFamily="50" charset="-128"/>
              </a:rPr>
              <a:t>NG</a:t>
            </a:r>
            <a:r>
              <a:rPr lang="ja-JP" altLang="en-US" sz="1000" dirty="0">
                <a:solidFill>
                  <a:schemeClr val="tx1"/>
                </a:solidFill>
                <a:latin typeface="Meiryo UI" panose="020B0604030504040204" pitchFamily="50" charset="-128"/>
                <a:ea typeface="Meiryo UI" panose="020B0604030504040204" pitchFamily="50" charset="-128"/>
              </a:rPr>
              <a:t>だったり、</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確認したのに</a:t>
            </a:r>
            <a:r>
              <a:rPr lang="ja-JP" altLang="en-US" sz="1000" b="1" dirty="0">
                <a:solidFill>
                  <a:srgbClr val="0052A4"/>
                </a:solidFill>
                <a:latin typeface="Meiryo UI" panose="020B0604030504040204" pitchFamily="50" charset="-128"/>
                <a:ea typeface="Meiryo UI" panose="020B0604030504040204" pitchFamily="50" charset="-128"/>
              </a:rPr>
              <a:t>同じ求人が何度も届いた</a:t>
            </a:r>
            <a:r>
              <a:rPr lang="ja-JP" altLang="en-US" sz="1000" dirty="0">
                <a:solidFill>
                  <a:schemeClr val="tx1"/>
                </a:solidFill>
                <a:latin typeface="Meiryo UI" panose="020B0604030504040204" pitchFamily="50" charset="-128"/>
                <a:ea typeface="Meiryo UI" panose="020B0604030504040204" pitchFamily="50" charset="-128"/>
              </a:rPr>
              <a:t>。スパムメール扱いになってしまっていた。（面談希望あり・面談実施あり・求人応募なし</a:t>
            </a:r>
            <a:r>
              <a:rPr lang="en-US" altLang="ja-JP" sz="1000" dirty="0">
                <a:solidFill>
                  <a:schemeClr val="tx1"/>
                </a:solidFill>
                <a:latin typeface="Meiryo UI" panose="020B0604030504040204" pitchFamily="50" charset="-128"/>
                <a:ea typeface="Meiryo UI" panose="020B0604030504040204" pitchFamily="50" charset="-128"/>
              </a:rPr>
              <a:t>/39</a:t>
            </a:r>
            <a:r>
              <a:rPr lang="ja-JP" altLang="en-US" sz="1000" dirty="0">
                <a:solidFill>
                  <a:schemeClr val="tx1"/>
                </a:solidFill>
                <a:latin typeface="Meiryo UI" panose="020B0604030504040204" pitchFamily="50" charset="-128"/>
                <a:ea typeface="Meiryo UI" panose="020B0604030504040204" pitchFamily="50" charset="-128"/>
              </a:rPr>
              <a:t>歳）</a:t>
            </a:r>
            <a:endParaRPr lang="en-US" altLang="ja-JP" sz="1000" dirty="0">
              <a:solidFill>
                <a:schemeClr val="tx1"/>
              </a:solidFill>
              <a:latin typeface="Meiryo UI" panose="020B0604030504040204" pitchFamily="50" charset="-128"/>
              <a:ea typeface="Meiryo UI" panose="020B0604030504040204" pitchFamily="50" charset="-128"/>
            </a:endParaRPr>
          </a:p>
          <a:p>
            <a:pPr marL="171450" indent="-171450">
              <a:buClr>
                <a:srgbClr val="0052A4"/>
              </a:buClr>
              <a:buFont typeface="Wingdings" panose="05000000000000000000" pitchFamily="2" charset="2"/>
              <a:buChar char="Ø"/>
            </a:pPr>
            <a:r>
              <a:rPr lang="ja-JP" altLang="en-US" sz="1000" b="1" dirty="0">
                <a:solidFill>
                  <a:srgbClr val="0052A4"/>
                </a:solidFill>
                <a:latin typeface="Meiryo UI" panose="020B0604030504040204" pitchFamily="50" charset="-128"/>
                <a:ea typeface="Meiryo UI" panose="020B0604030504040204" pitchFamily="50" charset="-128"/>
              </a:rPr>
              <a:t>保存した条件やお気に入りに登録した内容と一致する求人紹介</a:t>
            </a:r>
            <a:r>
              <a:rPr lang="ja-JP" altLang="en-US" sz="1000" dirty="0">
                <a:solidFill>
                  <a:schemeClr val="tx1"/>
                </a:solidFill>
                <a:latin typeface="Meiryo UI" panose="020B0604030504040204" pitchFamily="50" charset="-128"/>
                <a:ea typeface="Meiryo UI" panose="020B0604030504040204" pitchFamily="50" charset="-128"/>
              </a:rPr>
              <a:t>のメール。</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開いてみると必須条件に当てはまらないことがよくある。</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（面談希望あり・面談実施なし・求人応募なし</a:t>
            </a:r>
            <a:r>
              <a:rPr lang="en-US" altLang="ja-JP" sz="1000" dirty="0">
                <a:solidFill>
                  <a:schemeClr val="tx1"/>
                </a:solidFill>
                <a:latin typeface="Meiryo UI" panose="020B0604030504040204" pitchFamily="50" charset="-128"/>
                <a:ea typeface="Meiryo UI" panose="020B0604030504040204" pitchFamily="50" charset="-128"/>
              </a:rPr>
              <a:t>/29</a:t>
            </a:r>
            <a:r>
              <a:rPr lang="ja-JP" altLang="en-US" sz="1000" dirty="0">
                <a:solidFill>
                  <a:schemeClr val="tx1"/>
                </a:solidFill>
                <a:latin typeface="Meiryo UI" panose="020B0604030504040204" pitchFamily="50" charset="-128"/>
                <a:ea typeface="Meiryo UI" panose="020B0604030504040204" pitchFamily="50" charset="-128"/>
              </a:rPr>
              <a:t>歳）</a:t>
            </a:r>
            <a:endParaRPr lang="en-US" altLang="ja-JP" sz="1000" dirty="0">
              <a:solidFill>
                <a:schemeClr val="tx1"/>
              </a:solidFill>
              <a:latin typeface="Meiryo UI" panose="020B0604030504040204" pitchFamily="50" charset="-128"/>
              <a:ea typeface="Meiryo UI" panose="020B0604030504040204" pitchFamily="50" charset="-128"/>
            </a:endParaRPr>
          </a:p>
          <a:p>
            <a:pPr marL="171450" indent="-171450">
              <a:buClr>
                <a:srgbClr val="0052A4"/>
              </a:buClr>
              <a:buFont typeface="Wingdings" panose="05000000000000000000" pitchFamily="2" charset="2"/>
              <a:buChar char="Ø"/>
            </a:pPr>
            <a:r>
              <a:rPr lang="ja-JP" altLang="en-US" sz="1000" dirty="0">
                <a:solidFill>
                  <a:schemeClr val="tx1"/>
                </a:solidFill>
                <a:latin typeface="Meiryo UI" panose="020B0604030504040204" pitchFamily="50" charset="-128"/>
                <a:ea typeface="Meiryo UI" panose="020B0604030504040204" pitchFamily="50" charset="-128"/>
              </a:rPr>
              <a:t>自身の希望に見合う、</a:t>
            </a:r>
            <a:r>
              <a:rPr lang="ja-JP" altLang="en-US" sz="1000" b="1" dirty="0">
                <a:solidFill>
                  <a:srgbClr val="0052A4"/>
                </a:solidFill>
                <a:latin typeface="Meiryo UI" panose="020B0604030504040204" pitchFamily="50" charset="-128"/>
                <a:ea typeface="Meiryo UI" panose="020B0604030504040204" pitchFamily="50" charset="-128"/>
              </a:rPr>
              <a:t>ベストな求人が出たときに</a:t>
            </a:r>
            <a:br>
              <a:rPr lang="en-US" altLang="ja-JP" sz="1000" b="1" dirty="0">
                <a:solidFill>
                  <a:srgbClr val="0052A4"/>
                </a:solidFill>
                <a:latin typeface="Meiryo UI" panose="020B0604030504040204" pitchFamily="50" charset="-128"/>
                <a:ea typeface="Meiryo UI" panose="020B0604030504040204" pitchFamily="50" charset="-128"/>
              </a:rPr>
            </a:br>
            <a:r>
              <a:rPr lang="ja-JP" altLang="en-US" sz="1000" b="1" dirty="0">
                <a:solidFill>
                  <a:srgbClr val="0052A4"/>
                </a:solidFill>
                <a:latin typeface="Meiryo UI" panose="020B0604030504040204" pitchFamily="50" charset="-128"/>
                <a:ea typeface="Meiryo UI" panose="020B0604030504040204" pitchFamily="50" charset="-128"/>
              </a:rPr>
              <a:t>個別にメールで案内</a:t>
            </a:r>
            <a:r>
              <a:rPr lang="ja-JP" altLang="en-US" sz="1000" dirty="0">
                <a:solidFill>
                  <a:schemeClr val="tx1"/>
                </a:solidFill>
                <a:latin typeface="Meiryo UI" panose="020B0604030504040204" pitchFamily="50" charset="-128"/>
                <a:ea typeface="Meiryo UI" panose="020B0604030504040204" pitchFamily="50" charset="-128"/>
              </a:rPr>
              <a:t>がもらえる。</a:t>
            </a:r>
            <a:r>
              <a:rPr lang="ja-JP" altLang="en-US" sz="1000" b="1" dirty="0">
                <a:solidFill>
                  <a:srgbClr val="0052A4"/>
                </a:solidFill>
                <a:latin typeface="Meiryo UI" panose="020B0604030504040204" pitchFamily="50" charset="-128"/>
                <a:ea typeface="Meiryo UI" panose="020B0604030504040204" pitchFamily="50" charset="-128"/>
              </a:rPr>
              <a:t>メルマガではない</a:t>
            </a:r>
            <a:r>
              <a:rPr lang="ja-JP" altLang="en-US" sz="1000" dirty="0">
                <a:solidFill>
                  <a:schemeClr val="tx1"/>
                </a:solidFill>
                <a:latin typeface="Meiryo UI" panose="020B0604030504040204" pitchFamily="50" charset="-128"/>
                <a:ea typeface="Meiryo UI" panose="020B0604030504040204" pitchFamily="50" charset="-128"/>
              </a:rPr>
              <a:t>。</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（面談希望あり・面談実施あり・求人応募あり</a:t>
            </a:r>
            <a:r>
              <a:rPr lang="en-US" altLang="ja-JP" sz="1000" dirty="0">
                <a:solidFill>
                  <a:schemeClr val="tx1"/>
                </a:solidFill>
                <a:latin typeface="Meiryo UI" panose="020B0604030504040204" pitchFamily="50" charset="-128"/>
                <a:ea typeface="Meiryo UI" panose="020B0604030504040204" pitchFamily="50" charset="-128"/>
              </a:rPr>
              <a:t>/37</a:t>
            </a:r>
            <a:r>
              <a:rPr lang="ja-JP" altLang="en-US" sz="1000" dirty="0">
                <a:solidFill>
                  <a:schemeClr val="tx1"/>
                </a:solidFill>
                <a:latin typeface="Meiryo UI" panose="020B0604030504040204" pitchFamily="50" charset="-128"/>
                <a:ea typeface="Meiryo UI" panose="020B0604030504040204" pitchFamily="50" charset="-128"/>
              </a:rPr>
              <a:t>歳）</a:t>
            </a:r>
            <a:endParaRPr lang="en-US" altLang="ja-JP" sz="1000" dirty="0">
              <a:solidFill>
                <a:schemeClr val="tx1"/>
              </a:solidFill>
              <a:latin typeface="Meiryo UI" panose="020B0604030504040204" pitchFamily="50" charset="-128"/>
              <a:ea typeface="Meiryo UI" panose="020B0604030504040204" pitchFamily="50" charset="-128"/>
            </a:endParaRPr>
          </a:p>
          <a:p>
            <a:pPr marL="171450" indent="-171450">
              <a:buClr>
                <a:srgbClr val="0052A4"/>
              </a:buClr>
              <a:buFont typeface="Wingdings" panose="05000000000000000000" pitchFamily="2" charset="2"/>
              <a:buChar char="Ø"/>
            </a:pPr>
            <a:r>
              <a:rPr lang="ja-JP" altLang="en-US" sz="1000" dirty="0">
                <a:solidFill>
                  <a:schemeClr val="tx1"/>
                </a:solidFill>
                <a:latin typeface="Meiryo UI" panose="020B0604030504040204" pitchFamily="50" charset="-128"/>
                <a:ea typeface="Meiryo UI" panose="020B0604030504040204" pitchFamily="50" charset="-128"/>
              </a:rPr>
              <a:t>文字だけではわからないので、ここになら</a:t>
            </a:r>
            <a:r>
              <a:rPr lang="ja-JP" altLang="en-US" sz="1000" b="1" dirty="0">
                <a:solidFill>
                  <a:srgbClr val="0052A4"/>
                </a:solidFill>
                <a:latin typeface="Meiryo UI" panose="020B0604030504040204" pitchFamily="50" charset="-128"/>
                <a:ea typeface="Meiryo UI" panose="020B0604030504040204" pitchFamily="50" charset="-128"/>
              </a:rPr>
              <a:t>合うと思うという求人は</a:t>
            </a:r>
            <a:br>
              <a:rPr lang="en-US" altLang="ja-JP" sz="1000" b="1" dirty="0">
                <a:solidFill>
                  <a:srgbClr val="0052A4"/>
                </a:solidFill>
                <a:latin typeface="Meiryo UI" panose="020B0604030504040204" pitchFamily="50" charset="-128"/>
                <a:ea typeface="Meiryo UI" panose="020B0604030504040204" pitchFamily="50" charset="-128"/>
              </a:rPr>
            </a:br>
            <a:r>
              <a:rPr lang="ja-JP" altLang="en-US" sz="1000" b="1" dirty="0">
                <a:solidFill>
                  <a:srgbClr val="0052A4"/>
                </a:solidFill>
                <a:latin typeface="Meiryo UI" panose="020B0604030504040204" pitchFamily="50" charset="-128"/>
                <a:ea typeface="Meiryo UI" panose="020B0604030504040204" pitchFamily="50" charset="-128"/>
              </a:rPr>
              <a:t>電話や作ったメール</a:t>
            </a:r>
            <a:r>
              <a:rPr lang="en-US" altLang="ja-JP" sz="1000" b="1" dirty="0">
                <a:solidFill>
                  <a:srgbClr val="0052A4"/>
                </a:solidFill>
                <a:latin typeface="Meiryo UI" panose="020B0604030504040204" pitchFamily="50" charset="-128"/>
                <a:ea typeface="Meiryo UI" panose="020B0604030504040204" pitchFamily="50" charset="-128"/>
              </a:rPr>
              <a:t>(</a:t>
            </a:r>
            <a:r>
              <a:rPr lang="ja-JP" altLang="en-US" sz="1000" b="1" dirty="0">
                <a:solidFill>
                  <a:srgbClr val="0052A4"/>
                </a:solidFill>
                <a:latin typeface="Meiryo UI" panose="020B0604030504040204" pitchFamily="50" charset="-128"/>
                <a:ea typeface="Meiryo UI" panose="020B0604030504040204" pitchFamily="50" charset="-128"/>
              </a:rPr>
              <a:t>機械的なものではなく</a:t>
            </a:r>
            <a:r>
              <a:rPr lang="en-US" altLang="ja-JP" sz="1000" b="1" dirty="0">
                <a:solidFill>
                  <a:srgbClr val="0052A4"/>
                </a:solidFill>
                <a:latin typeface="Meiryo UI" panose="020B0604030504040204" pitchFamily="50" charset="-128"/>
                <a:ea typeface="Meiryo UI" panose="020B0604030504040204" pitchFamily="50" charset="-128"/>
              </a:rPr>
              <a:t>)</a:t>
            </a:r>
            <a:r>
              <a:rPr lang="ja-JP" altLang="en-US" sz="1000" b="1" dirty="0">
                <a:solidFill>
                  <a:srgbClr val="0052A4"/>
                </a:solidFill>
                <a:latin typeface="Meiryo UI" panose="020B0604030504040204" pitchFamily="50" charset="-128"/>
                <a:ea typeface="Meiryo UI" panose="020B0604030504040204" pitchFamily="50" charset="-128"/>
              </a:rPr>
              <a:t>でアプローチ</a:t>
            </a:r>
            <a:r>
              <a:rPr lang="ja-JP" altLang="en-US" sz="1000" dirty="0">
                <a:solidFill>
                  <a:schemeClr val="tx1"/>
                </a:solidFill>
                <a:latin typeface="Meiryo UI" panose="020B0604030504040204" pitchFamily="50" charset="-128"/>
                <a:ea typeface="Meiryo UI" panose="020B0604030504040204" pitchFamily="50" charset="-128"/>
              </a:rPr>
              <a:t>もらえると嬉しい。</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（面談希望なし</a:t>
            </a:r>
            <a:r>
              <a:rPr lang="en-US" altLang="ja-JP" sz="1000" dirty="0">
                <a:solidFill>
                  <a:schemeClr val="tx1"/>
                </a:solidFill>
                <a:latin typeface="Meiryo UI" panose="020B0604030504040204" pitchFamily="50" charset="-128"/>
                <a:ea typeface="Meiryo UI" panose="020B0604030504040204" pitchFamily="50" charset="-128"/>
              </a:rPr>
              <a:t>/</a:t>
            </a:r>
            <a:r>
              <a:rPr lang="ja-JP" altLang="en-US" sz="1000" dirty="0">
                <a:solidFill>
                  <a:schemeClr val="tx1"/>
                </a:solidFill>
                <a:latin typeface="Meiryo UI" panose="020B0604030504040204" pitchFamily="50" charset="-128"/>
                <a:ea typeface="Meiryo UI" panose="020B0604030504040204" pitchFamily="50" charset="-128"/>
              </a:rPr>
              <a:t>面談実施あり</a:t>
            </a:r>
            <a:r>
              <a:rPr lang="en-US" altLang="ja-JP" sz="1000" dirty="0">
                <a:solidFill>
                  <a:schemeClr val="tx1"/>
                </a:solidFill>
                <a:latin typeface="Meiryo UI" panose="020B0604030504040204" pitchFamily="50" charset="-128"/>
                <a:ea typeface="Meiryo UI" panose="020B0604030504040204" pitchFamily="50" charset="-128"/>
              </a:rPr>
              <a:t>/</a:t>
            </a:r>
            <a:r>
              <a:rPr lang="ja-JP" altLang="en-US" sz="1000" dirty="0">
                <a:solidFill>
                  <a:schemeClr val="tx1"/>
                </a:solidFill>
                <a:latin typeface="Meiryo UI" panose="020B0604030504040204" pitchFamily="50" charset="-128"/>
                <a:ea typeface="Meiryo UI" panose="020B0604030504040204" pitchFamily="50" charset="-128"/>
              </a:rPr>
              <a:t>求人応募あり</a:t>
            </a:r>
            <a:r>
              <a:rPr lang="en-US" altLang="ja-JP" sz="1000" dirty="0">
                <a:solidFill>
                  <a:schemeClr val="tx1"/>
                </a:solidFill>
                <a:latin typeface="Meiryo UI" panose="020B0604030504040204" pitchFamily="50" charset="-128"/>
                <a:ea typeface="Meiryo UI" panose="020B0604030504040204" pitchFamily="50" charset="-128"/>
              </a:rPr>
              <a:t>/38</a:t>
            </a:r>
            <a:r>
              <a:rPr lang="ja-JP" altLang="en-US" sz="1000" dirty="0">
                <a:solidFill>
                  <a:schemeClr val="tx1"/>
                </a:solidFill>
                <a:latin typeface="Meiryo UI" panose="020B0604030504040204" pitchFamily="50" charset="-128"/>
                <a:ea typeface="Meiryo UI" panose="020B0604030504040204" pitchFamily="50" charset="-128"/>
              </a:rPr>
              <a:t>歳）</a:t>
            </a:r>
            <a:endParaRPr lang="en-US" altLang="ja-JP" sz="1000" dirty="0">
              <a:solidFill>
                <a:schemeClr val="tx1"/>
              </a:solidFill>
              <a:latin typeface="Meiryo UI" panose="020B0604030504040204" pitchFamily="50" charset="-128"/>
              <a:ea typeface="Meiryo UI" panose="020B0604030504040204" pitchFamily="50" charset="-128"/>
            </a:endParaRPr>
          </a:p>
          <a:p>
            <a:pPr marL="171450" indent="-171450">
              <a:buClr>
                <a:srgbClr val="0052A4"/>
              </a:buClr>
              <a:buFont typeface="Wingdings" panose="05000000000000000000" pitchFamily="2" charset="2"/>
              <a:buChar char="Ø"/>
            </a:pPr>
            <a:r>
              <a:rPr lang="ja-JP" altLang="en-US" sz="1000" dirty="0">
                <a:solidFill>
                  <a:schemeClr val="tx1"/>
                </a:solidFill>
                <a:latin typeface="Meiryo UI" panose="020B0604030504040204" pitchFamily="50" charset="-128"/>
                <a:ea typeface="Meiryo UI" panose="020B0604030504040204" pitchFamily="50" charset="-128"/>
              </a:rPr>
              <a:t>具体的に</a:t>
            </a:r>
            <a:r>
              <a:rPr lang="ja-JP" altLang="en-US" sz="1000" b="1" dirty="0">
                <a:solidFill>
                  <a:srgbClr val="0052A4"/>
                </a:solidFill>
                <a:latin typeface="Meiryo UI" panose="020B0604030504040204" pitchFamily="50" charset="-128"/>
                <a:ea typeface="Meiryo UI" panose="020B0604030504040204" pitchFamily="50" charset="-128"/>
              </a:rPr>
              <a:t>特におすすめの求人のピックアップと個別メッセージ</a:t>
            </a:r>
            <a:r>
              <a:rPr lang="ja-JP" altLang="en-US" sz="1000" dirty="0">
                <a:solidFill>
                  <a:schemeClr val="tx1"/>
                </a:solidFill>
                <a:latin typeface="Meiryo UI" panose="020B0604030504040204" pitchFamily="50" charset="-128"/>
                <a:ea typeface="Meiryo UI" panose="020B0604030504040204" pitchFamily="50" charset="-128"/>
              </a:rPr>
              <a:t>があると、</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着眼しやすいです。 （面談希望あり・面談実施あり・求人応募なし</a:t>
            </a:r>
            <a:r>
              <a:rPr lang="en-US" altLang="ja-JP" sz="1000" dirty="0">
                <a:solidFill>
                  <a:schemeClr val="tx1"/>
                </a:solidFill>
                <a:latin typeface="Meiryo UI" panose="020B0604030504040204" pitchFamily="50" charset="-128"/>
                <a:ea typeface="Meiryo UI" panose="020B0604030504040204" pitchFamily="50" charset="-128"/>
              </a:rPr>
              <a:t>/32</a:t>
            </a:r>
            <a:r>
              <a:rPr lang="ja-JP" altLang="en-US" sz="1000" dirty="0">
                <a:solidFill>
                  <a:schemeClr val="tx1"/>
                </a:solidFill>
                <a:latin typeface="Meiryo UI" panose="020B0604030504040204" pitchFamily="50" charset="-128"/>
                <a:ea typeface="Meiryo UI" panose="020B0604030504040204" pitchFamily="50" charset="-128"/>
              </a:rPr>
              <a:t>歳）</a:t>
            </a:r>
            <a:endParaRPr lang="en-US" altLang="ja-JP" sz="1000" dirty="0">
              <a:solidFill>
                <a:schemeClr val="tx1"/>
              </a:solidFill>
              <a:latin typeface="Meiryo UI" panose="020B0604030504040204" pitchFamily="50" charset="-128"/>
              <a:ea typeface="Meiryo UI" panose="020B0604030504040204" pitchFamily="50" charset="-128"/>
            </a:endParaRPr>
          </a:p>
          <a:p>
            <a:pPr marL="171450" indent="-171450">
              <a:buClr>
                <a:srgbClr val="0052A4"/>
              </a:buClr>
              <a:buFont typeface="Wingdings" panose="05000000000000000000" pitchFamily="2" charset="2"/>
              <a:buChar char="Ø"/>
            </a:pPr>
            <a:r>
              <a:rPr lang="ja-JP" altLang="en-US" sz="1000" dirty="0">
                <a:solidFill>
                  <a:schemeClr val="tx1"/>
                </a:solidFill>
                <a:latin typeface="Meiryo UI" panose="020B0604030504040204" pitchFamily="50" charset="-128"/>
                <a:ea typeface="Meiryo UI" panose="020B0604030504040204" pitchFamily="50" charset="-128"/>
              </a:rPr>
              <a:t>求人に記載できない時代だとは思うが、</a:t>
            </a:r>
            <a:r>
              <a:rPr lang="ja-JP" altLang="en-US" sz="1000" b="1" dirty="0">
                <a:solidFill>
                  <a:srgbClr val="0052A4"/>
                </a:solidFill>
                <a:latin typeface="Meiryo UI" panose="020B0604030504040204" pitchFamily="50" charset="-128"/>
                <a:ea typeface="Meiryo UI" panose="020B0604030504040204" pitchFamily="50" charset="-128"/>
              </a:rPr>
              <a:t>自分の年齢でも受け入れてくれるか応募前にわかる</a:t>
            </a:r>
            <a:r>
              <a:rPr lang="ja-JP" altLang="en-US" sz="1000" dirty="0">
                <a:solidFill>
                  <a:schemeClr val="tx1"/>
                </a:solidFill>
                <a:latin typeface="Meiryo UI" panose="020B0604030504040204" pitchFamily="50" charset="-128"/>
                <a:ea typeface="Meiryo UI" panose="020B0604030504040204" pitchFamily="50" charset="-128"/>
              </a:rPr>
              <a:t>と嬉しい。また転職失敗が怖いので</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b="1" dirty="0">
                <a:solidFill>
                  <a:srgbClr val="0052A4"/>
                </a:solidFill>
                <a:latin typeface="Meiryo UI" panose="020B0604030504040204" pitchFamily="50" charset="-128"/>
                <a:ea typeface="Meiryo UI" panose="020B0604030504040204" pitchFamily="50" charset="-128"/>
              </a:rPr>
              <a:t>実際に働いている方の声が聞けるようなサービス</a:t>
            </a:r>
            <a:r>
              <a:rPr lang="ja-JP" altLang="en-US" sz="1000" dirty="0">
                <a:solidFill>
                  <a:schemeClr val="tx1"/>
                </a:solidFill>
                <a:latin typeface="Meiryo UI" panose="020B0604030504040204" pitchFamily="50" charset="-128"/>
                <a:ea typeface="Meiryo UI" panose="020B0604030504040204" pitchFamily="50" charset="-128"/>
              </a:rPr>
              <a:t>があるとイメージしやすい。</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（面談希望なし</a:t>
            </a:r>
            <a:r>
              <a:rPr lang="en-US" altLang="ja-JP" sz="1000" dirty="0">
                <a:solidFill>
                  <a:schemeClr val="tx1"/>
                </a:solidFill>
                <a:latin typeface="Meiryo UI" panose="020B0604030504040204" pitchFamily="50" charset="-128"/>
                <a:ea typeface="Meiryo UI" panose="020B0604030504040204" pitchFamily="50" charset="-128"/>
              </a:rPr>
              <a:t>/</a:t>
            </a:r>
            <a:r>
              <a:rPr lang="ja-JP" altLang="en-US" sz="1000" dirty="0">
                <a:solidFill>
                  <a:schemeClr val="tx1"/>
                </a:solidFill>
                <a:latin typeface="Meiryo UI" panose="020B0604030504040204" pitchFamily="50" charset="-128"/>
                <a:ea typeface="Meiryo UI" panose="020B0604030504040204" pitchFamily="50" charset="-128"/>
              </a:rPr>
              <a:t>面談実施なし</a:t>
            </a:r>
            <a:r>
              <a:rPr lang="en-US" altLang="ja-JP" sz="1000" dirty="0">
                <a:solidFill>
                  <a:schemeClr val="tx1"/>
                </a:solidFill>
                <a:latin typeface="Meiryo UI" panose="020B0604030504040204" pitchFamily="50" charset="-128"/>
                <a:ea typeface="Meiryo UI" panose="020B0604030504040204" pitchFamily="50" charset="-128"/>
              </a:rPr>
              <a:t>/</a:t>
            </a:r>
            <a:r>
              <a:rPr lang="ja-JP" altLang="en-US" sz="1000" dirty="0">
                <a:solidFill>
                  <a:schemeClr val="tx1"/>
                </a:solidFill>
                <a:latin typeface="Meiryo UI" panose="020B0604030504040204" pitchFamily="50" charset="-128"/>
                <a:ea typeface="Meiryo UI" panose="020B0604030504040204" pitchFamily="50" charset="-128"/>
              </a:rPr>
              <a:t>求人応募なし</a:t>
            </a:r>
            <a:r>
              <a:rPr lang="en-US" altLang="ja-JP" sz="1000" dirty="0">
                <a:solidFill>
                  <a:schemeClr val="tx1"/>
                </a:solidFill>
                <a:latin typeface="Meiryo UI" panose="020B0604030504040204" pitchFamily="50" charset="-128"/>
                <a:ea typeface="Meiryo UI" panose="020B0604030504040204" pitchFamily="50" charset="-128"/>
              </a:rPr>
              <a:t>/35</a:t>
            </a:r>
            <a:r>
              <a:rPr lang="ja-JP" altLang="en-US" sz="1000" dirty="0">
                <a:solidFill>
                  <a:schemeClr val="tx1"/>
                </a:solidFill>
                <a:latin typeface="Meiryo UI" panose="020B0604030504040204" pitchFamily="50" charset="-128"/>
                <a:ea typeface="Meiryo UI" panose="020B0604030504040204" pitchFamily="50" charset="-128"/>
              </a:rPr>
              <a:t>歳）</a:t>
            </a:r>
            <a:endParaRPr lang="en-US" altLang="ja-JP" sz="1000" dirty="0">
              <a:solidFill>
                <a:schemeClr val="tx1"/>
              </a:solidFill>
              <a:latin typeface="Meiryo UI" panose="020B0604030504040204" pitchFamily="50" charset="-128"/>
              <a:ea typeface="Meiryo UI" panose="020B0604030504040204" pitchFamily="50" charset="-128"/>
            </a:endParaRPr>
          </a:p>
          <a:p>
            <a:pPr marL="171450" indent="-171450">
              <a:buClr>
                <a:srgbClr val="0052A4"/>
              </a:buClr>
              <a:buFont typeface="Wingdings" panose="05000000000000000000" pitchFamily="2" charset="2"/>
              <a:buChar char="Ø"/>
            </a:pPr>
            <a:r>
              <a:rPr lang="ja-JP" altLang="en-US" sz="1000" b="1" dirty="0">
                <a:solidFill>
                  <a:srgbClr val="0052A4"/>
                </a:solidFill>
                <a:latin typeface="Meiryo UI" panose="020B0604030504040204" pitchFamily="50" charset="-128"/>
                <a:ea typeface="Meiryo UI" panose="020B0604030504040204" pitchFamily="50" charset="-128"/>
              </a:rPr>
              <a:t>自分との希望のマッチ率や応募企業への合格率</a:t>
            </a:r>
            <a:r>
              <a:rPr lang="ja-JP" altLang="en-US" sz="1000" dirty="0">
                <a:solidFill>
                  <a:schemeClr val="tx1"/>
                </a:solidFill>
                <a:latin typeface="Meiryo UI" panose="020B0604030504040204" pitchFamily="50" charset="-128"/>
                <a:ea typeface="Meiryo UI" panose="020B0604030504040204" pitchFamily="50" charset="-128"/>
              </a:rPr>
              <a:t>がわかる。</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（面談希望あり・面談実施なし・求人応募なし</a:t>
            </a:r>
            <a:r>
              <a:rPr lang="en-US" altLang="ja-JP" sz="1000" dirty="0">
                <a:solidFill>
                  <a:schemeClr val="tx1"/>
                </a:solidFill>
                <a:latin typeface="Meiryo UI" panose="020B0604030504040204" pitchFamily="50" charset="-128"/>
                <a:ea typeface="Meiryo UI" panose="020B0604030504040204" pitchFamily="50" charset="-128"/>
              </a:rPr>
              <a:t>/27</a:t>
            </a:r>
            <a:r>
              <a:rPr lang="ja-JP" altLang="en-US" sz="1000" dirty="0">
                <a:solidFill>
                  <a:schemeClr val="tx1"/>
                </a:solidFill>
                <a:latin typeface="Meiryo UI" panose="020B0604030504040204" pitchFamily="50" charset="-128"/>
                <a:ea typeface="Meiryo UI" panose="020B0604030504040204" pitchFamily="50" charset="-128"/>
              </a:rPr>
              <a:t>歳）</a:t>
            </a:r>
            <a:endParaRPr lang="en-US" altLang="ja-JP" sz="1000" dirty="0">
              <a:solidFill>
                <a:schemeClr val="tx1"/>
              </a:solidFill>
              <a:latin typeface="Meiryo UI" panose="020B0604030504040204" pitchFamily="50" charset="-128"/>
              <a:ea typeface="Meiryo UI" panose="020B0604030504040204" pitchFamily="50" charset="-128"/>
            </a:endParaRPr>
          </a:p>
          <a:p>
            <a:pPr marL="171450" indent="-171450">
              <a:buClr>
                <a:srgbClr val="0052A4"/>
              </a:buClr>
              <a:buFont typeface="Wingdings" panose="05000000000000000000" pitchFamily="2" charset="2"/>
              <a:buChar char="Ø"/>
            </a:pPr>
            <a:r>
              <a:rPr lang="en-US" altLang="ja-JP" sz="1000" b="1" dirty="0">
                <a:solidFill>
                  <a:srgbClr val="0052A4"/>
                </a:solidFill>
                <a:latin typeface="Meiryo UI" panose="020B0604030504040204" pitchFamily="50" charset="-128"/>
                <a:ea typeface="Meiryo UI" panose="020B0604030504040204" pitchFamily="50" charset="-128"/>
              </a:rPr>
              <a:t>AI</a:t>
            </a:r>
            <a:r>
              <a:rPr lang="ja-JP" altLang="en-US" sz="1000" b="1" dirty="0">
                <a:solidFill>
                  <a:srgbClr val="0052A4"/>
                </a:solidFill>
                <a:latin typeface="Meiryo UI" panose="020B0604030504040204" pitchFamily="50" charset="-128"/>
                <a:ea typeface="Meiryo UI" panose="020B0604030504040204" pitchFamily="50" charset="-128"/>
              </a:rPr>
              <a:t>が自分のキャリアや適合を計算</a:t>
            </a:r>
            <a:r>
              <a:rPr lang="ja-JP" altLang="en-US" sz="1000" dirty="0">
                <a:solidFill>
                  <a:schemeClr val="tx1"/>
                </a:solidFill>
                <a:latin typeface="Meiryo UI" panose="020B0604030504040204" pitchFamily="50" charset="-128"/>
                <a:ea typeface="Meiryo UI" panose="020B0604030504040204" pitchFamily="50" charset="-128"/>
              </a:rPr>
              <a:t>して合格率を教えてくれる。</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（面談希望あり・面談実施あり・求人応募あり</a:t>
            </a:r>
            <a:r>
              <a:rPr lang="en-US" altLang="ja-JP" sz="1000" dirty="0">
                <a:solidFill>
                  <a:schemeClr val="tx1"/>
                </a:solidFill>
                <a:latin typeface="Meiryo UI" panose="020B0604030504040204" pitchFamily="50" charset="-128"/>
                <a:ea typeface="Meiryo UI" panose="020B0604030504040204" pitchFamily="50" charset="-128"/>
              </a:rPr>
              <a:t>/42</a:t>
            </a:r>
            <a:r>
              <a:rPr lang="ja-JP" altLang="en-US" sz="1000" dirty="0">
                <a:solidFill>
                  <a:schemeClr val="tx1"/>
                </a:solidFill>
                <a:latin typeface="Meiryo UI" panose="020B0604030504040204" pitchFamily="50" charset="-128"/>
                <a:ea typeface="Meiryo UI" panose="020B0604030504040204" pitchFamily="50" charset="-128"/>
              </a:rPr>
              <a:t>歳）</a:t>
            </a:r>
            <a:endParaRPr lang="en-US" altLang="ja-JP" sz="1000" dirty="0">
              <a:solidFill>
                <a:schemeClr val="tx1"/>
              </a:solidFill>
              <a:latin typeface="Meiryo UI" panose="020B0604030504040204" pitchFamily="50" charset="-128"/>
              <a:ea typeface="Meiryo UI" panose="020B0604030504040204" pitchFamily="50" charset="-128"/>
            </a:endParaRPr>
          </a:p>
          <a:p>
            <a:pPr marL="171450" indent="-171450">
              <a:buClr>
                <a:srgbClr val="0052A4"/>
              </a:buClr>
              <a:buFont typeface="Wingdings" panose="05000000000000000000" pitchFamily="2" charset="2"/>
              <a:buChar char="Ø"/>
            </a:pPr>
            <a:r>
              <a:rPr lang="ja-JP" altLang="en-US" sz="1000" dirty="0">
                <a:solidFill>
                  <a:schemeClr val="tx1"/>
                </a:solidFill>
                <a:latin typeface="Meiryo UI" panose="020B0604030504040204" pitchFamily="50" charset="-128"/>
                <a:ea typeface="Meiryo UI" panose="020B0604030504040204" pitchFamily="50" charset="-128"/>
              </a:rPr>
              <a:t>求人検索がしにくいと思ったので</a:t>
            </a:r>
            <a:r>
              <a:rPr lang="ja-JP" altLang="en-US" sz="1000" b="1" dirty="0">
                <a:solidFill>
                  <a:srgbClr val="0052A4"/>
                </a:solidFill>
                <a:latin typeface="Meiryo UI" panose="020B0604030504040204" pitchFamily="50" charset="-128"/>
                <a:ea typeface="Meiryo UI" panose="020B0604030504040204" pitchFamily="50" charset="-128"/>
              </a:rPr>
              <a:t>検索機能の利便性向上</a:t>
            </a:r>
            <a:r>
              <a:rPr lang="ja-JP" altLang="en-US" sz="1000" dirty="0">
                <a:solidFill>
                  <a:schemeClr val="tx1"/>
                </a:solidFill>
                <a:latin typeface="Meiryo UI" panose="020B0604030504040204" pitchFamily="50" charset="-128"/>
                <a:ea typeface="Meiryo UI" panose="020B0604030504040204" pitchFamily="50" charset="-128"/>
              </a:rPr>
              <a:t>に期待したいです。</a:t>
            </a:r>
            <a:r>
              <a:rPr lang="ja-JP" altLang="en-US" sz="1000" b="1" dirty="0">
                <a:solidFill>
                  <a:srgbClr val="0052A4"/>
                </a:solidFill>
                <a:latin typeface="Meiryo UI" panose="020B0604030504040204" pitchFamily="50" charset="-128"/>
                <a:ea typeface="Meiryo UI" panose="020B0604030504040204" pitchFamily="50" charset="-128"/>
              </a:rPr>
              <a:t>おすすめ求人ばかり目に付いてクローズドな印象</a:t>
            </a:r>
            <a:r>
              <a:rPr lang="ja-JP" altLang="en-US" sz="1000" dirty="0">
                <a:solidFill>
                  <a:schemeClr val="tx1"/>
                </a:solidFill>
                <a:latin typeface="Meiryo UI" panose="020B0604030504040204" pitchFamily="50" charset="-128"/>
                <a:ea typeface="Meiryo UI" panose="020B0604030504040204" pitchFamily="50" charset="-128"/>
              </a:rPr>
              <a:t>があり、</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業界最大手と言われる割りに求人数の豊富さが実感しにくい。</a:t>
            </a:r>
            <a:br>
              <a:rPr lang="en-US" altLang="ja-JP" sz="1000" dirty="0">
                <a:solidFill>
                  <a:schemeClr val="tx1"/>
                </a:solidFill>
                <a:latin typeface="Meiryo UI" panose="020B0604030504040204" pitchFamily="50" charset="-128"/>
                <a:ea typeface="Meiryo UI" panose="020B0604030504040204" pitchFamily="50" charset="-128"/>
              </a:rPr>
            </a:br>
            <a:r>
              <a:rPr lang="ja-JP" altLang="en-US" sz="1000" dirty="0">
                <a:solidFill>
                  <a:schemeClr val="tx1"/>
                </a:solidFill>
                <a:latin typeface="Meiryo UI" panose="020B0604030504040204" pitchFamily="50" charset="-128"/>
                <a:ea typeface="Meiryo UI" panose="020B0604030504040204" pitchFamily="50" charset="-128"/>
              </a:rPr>
              <a:t>（面談希望なし</a:t>
            </a:r>
            <a:r>
              <a:rPr lang="en-US" altLang="ja-JP" sz="1000" dirty="0">
                <a:solidFill>
                  <a:schemeClr val="tx1"/>
                </a:solidFill>
                <a:latin typeface="Meiryo UI" panose="020B0604030504040204" pitchFamily="50" charset="-128"/>
                <a:ea typeface="Meiryo UI" panose="020B0604030504040204" pitchFamily="50" charset="-128"/>
              </a:rPr>
              <a:t>/</a:t>
            </a:r>
            <a:r>
              <a:rPr lang="ja-JP" altLang="en-US" sz="1000" dirty="0">
                <a:solidFill>
                  <a:schemeClr val="tx1"/>
                </a:solidFill>
                <a:latin typeface="Meiryo UI" panose="020B0604030504040204" pitchFamily="50" charset="-128"/>
                <a:ea typeface="Meiryo UI" panose="020B0604030504040204" pitchFamily="50" charset="-128"/>
              </a:rPr>
              <a:t>面談実施なし</a:t>
            </a:r>
            <a:r>
              <a:rPr lang="en-US" altLang="ja-JP" sz="1000" dirty="0">
                <a:solidFill>
                  <a:schemeClr val="tx1"/>
                </a:solidFill>
                <a:latin typeface="Meiryo UI" panose="020B0604030504040204" pitchFamily="50" charset="-128"/>
                <a:ea typeface="Meiryo UI" panose="020B0604030504040204" pitchFamily="50" charset="-128"/>
              </a:rPr>
              <a:t>/</a:t>
            </a:r>
            <a:r>
              <a:rPr lang="ja-JP" altLang="en-US" sz="1000" dirty="0">
                <a:solidFill>
                  <a:schemeClr val="tx1"/>
                </a:solidFill>
                <a:latin typeface="Meiryo UI" panose="020B0604030504040204" pitchFamily="50" charset="-128"/>
                <a:ea typeface="Meiryo UI" panose="020B0604030504040204" pitchFamily="50" charset="-128"/>
              </a:rPr>
              <a:t>求人応募なし</a:t>
            </a:r>
            <a:r>
              <a:rPr lang="en-US" altLang="ja-JP" sz="1000" dirty="0">
                <a:solidFill>
                  <a:schemeClr val="tx1"/>
                </a:solidFill>
                <a:latin typeface="Meiryo UI" panose="020B0604030504040204" pitchFamily="50" charset="-128"/>
                <a:ea typeface="Meiryo UI" panose="020B0604030504040204" pitchFamily="50" charset="-128"/>
              </a:rPr>
              <a:t>/35</a:t>
            </a:r>
            <a:r>
              <a:rPr lang="ja-JP" altLang="en-US" sz="1000" dirty="0">
                <a:solidFill>
                  <a:schemeClr val="tx1"/>
                </a:solidFill>
                <a:latin typeface="Meiryo UI" panose="020B0604030504040204" pitchFamily="50" charset="-128"/>
                <a:ea typeface="Meiryo UI" panose="020B0604030504040204" pitchFamily="50" charset="-128"/>
              </a:rPr>
              <a:t>歳）</a:t>
            </a:r>
            <a:endParaRPr lang="en-US" altLang="ja-JP" sz="1000" dirty="0">
              <a:solidFill>
                <a:schemeClr val="tx1"/>
              </a:solidFill>
              <a:latin typeface="Meiryo UI" panose="020B0604030504040204" pitchFamily="50" charset="-128"/>
              <a:ea typeface="Meiryo UI" panose="020B0604030504040204" pitchFamily="50" charset="-128"/>
            </a:endParaRPr>
          </a:p>
        </p:txBody>
      </p:sp>
      <p:sp>
        <p:nvSpPr>
          <p:cNvPr id="20" name="テキスト ボックス 19">
            <a:extLst>
              <a:ext uri="{FF2B5EF4-FFF2-40B4-BE49-F238E27FC236}">
                <a16:creationId xmlns:a16="http://schemas.microsoft.com/office/drawing/2014/main" id="{2DFB9FD9-F515-491F-8D39-D557E114E8DF}"/>
              </a:ext>
            </a:extLst>
          </p:cNvPr>
          <p:cNvSpPr txBox="1"/>
          <p:nvPr/>
        </p:nvSpPr>
        <p:spPr>
          <a:xfrm>
            <a:off x="2351584" y="544107"/>
            <a:ext cx="8332852" cy="738664"/>
          </a:xfrm>
          <a:prstGeom prst="rect">
            <a:avLst/>
          </a:prstGeom>
          <a:noFill/>
        </p:spPr>
        <p:txBody>
          <a:bodyPr wrap="square" rtlCol="0">
            <a:spAutoFit/>
          </a:bodyPr>
          <a:lstStyle/>
          <a:p>
            <a:pPr>
              <a:spcBef>
                <a:spcPts val="600"/>
              </a:spcBef>
            </a:pP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メルマガを始めとする</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求人案内に対して「マッチ精度」「テンプレではなく個別感のある内容」</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を求める意見が</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多く挙がった。また、</a:t>
            </a: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応募前に「自分の年齢が受け入れられるか」「現場で働く声」「合格率」が知りたい</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といった声や、</a:t>
            </a:r>
            <a:br>
              <a:rPr lang="en-US" altLang="ja-JP" sz="1400" b="1" dirty="0">
                <a:latin typeface="Meiryo UI" panose="020B0604030504040204" pitchFamily="50" charset="-128"/>
                <a:ea typeface="Meiryo UI" panose="020B0604030504040204" pitchFamily="50" charset="-128"/>
                <a:cs typeface="Meiryo UI" panose="020B0604030504040204" pitchFamily="50" charset="-128"/>
              </a:rPr>
            </a:br>
            <a:r>
              <a:rPr lang="ja-JP" altLang="en-US" sz="1400" b="1" dirty="0">
                <a:solidFill>
                  <a:srgbClr val="0052A4"/>
                </a:solidFill>
                <a:latin typeface="Meiryo UI" panose="020B0604030504040204" pitchFamily="50" charset="-128"/>
                <a:ea typeface="Meiryo UI" panose="020B0604030504040204" pitchFamily="50" charset="-128"/>
                <a:cs typeface="Meiryo UI" panose="020B0604030504040204" pitchFamily="50" charset="-128"/>
              </a:rPr>
              <a:t>「オープンな求人への検索機能」</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を求める声も見られた。</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3333812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FD79AB-88A7-89A5-31B9-D7AE50369EE0}"/>
              </a:ext>
            </a:extLst>
          </p:cNvPr>
          <p:cNvSpPr>
            <a:spLocks noGrp="1"/>
          </p:cNvSpPr>
          <p:nvPr>
            <p:ph type="title"/>
          </p:nvPr>
        </p:nvSpPr>
        <p:spPr/>
        <p:txBody>
          <a:bodyPr/>
          <a:lstStyle/>
          <a:p>
            <a:r>
              <a:rPr lang="ja-JP" altLang="en-US" dirty="0"/>
              <a:t>求人応募</a:t>
            </a:r>
            <a:r>
              <a:rPr kumimoji="1" lang="ja-JP" altLang="en-US" dirty="0"/>
              <a:t>を促すサポート</a:t>
            </a:r>
            <a:r>
              <a:rPr lang="ja-JP" altLang="en-US" dirty="0"/>
              <a:t>（自由回答サマリ）</a:t>
            </a:r>
            <a:endParaRPr kumimoji="1" lang="ja-JP" altLang="en-US" dirty="0"/>
          </a:p>
        </p:txBody>
      </p:sp>
      <p:pic>
        <p:nvPicPr>
          <p:cNvPr id="12" name="図 11">
            <a:extLst>
              <a:ext uri="{FF2B5EF4-FFF2-40B4-BE49-F238E27FC236}">
                <a16:creationId xmlns:a16="http://schemas.microsoft.com/office/drawing/2014/main" id="{E29F57D9-BE37-CB6B-FBA0-1392C9A33554}"/>
              </a:ext>
            </a:extLst>
          </p:cNvPr>
          <p:cNvPicPr>
            <a:picLocks noChangeAspect="1"/>
          </p:cNvPicPr>
          <p:nvPr/>
        </p:nvPicPr>
        <p:blipFill>
          <a:blip r:embed="rId2"/>
          <a:stretch>
            <a:fillRect/>
          </a:stretch>
        </p:blipFill>
        <p:spPr>
          <a:xfrm>
            <a:off x="1729910" y="1665453"/>
            <a:ext cx="8843763" cy="4468647"/>
          </a:xfrm>
          <a:prstGeom prst="rect">
            <a:avLst/>
          </a:prstGeom>
        </p:spPr>
      </p:pic>
      <p:sp>
        <p:nvSpPr>
          <p:cNvPr id="3" name="ホームベース 32">
            <a:extLst>
              <a:ext uri="{FF2B5EF4-FFF2-40B4-BE49-F238E27FC236}">
                <a16:creationId xmlns:a16="http://schemas.microsoft.com/office/drawing/2014/main" id="{98C7B599-6649-3A15-7386-4ED58A292067}"/>
              </a:ext>
            </a:extLst>
          </p:cNvPr>
          <p:cNvSpPr/>
          <p:nvPr/>
        </p:nvSpPr>
        <p:spPr>
          <a:xfrm>
            <a:off x="1488376" y="603973"/>
            <a:ext cx="791200" cy="664789"/>
          </a:xfrm>
          <a:prstGeom prst="homePlate">
            <a:avLst>
              <a:gd name="adj" fmla="val 17308"/>
            </a:avLst>
          </a:prstGeom>
          <a:solidFill>
            <a:srgbClr val="0052A4"/>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TOP</a:t>
            </a:r>
          </a:p>
          <a:p>
            <a:pPr algn="ctr"/>
            <a:r>
              <a:rPr lang="en-US" altLang="ja-JP"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LINE</a:t>
            </a:r>
            <a:endParaRPr lang="ja-JP" altLang="en-US" sz="1400" b="1"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 name="テキスト ボックス 3">
            <a:extLst>
              <a:ext uri="{FF2B5EF4-FFF2-40B4-BE49-F238E27FC236}">
                <a16:creationId xmlns:a16="http://schemas.microsoft.com/office/drawing/2014/main" id="{E2A4E519-C78F-ACE6-9877-9A3598E1AF43}"/>
              </a:ext>
            </a:extLst>
          </p:cNvPr>
          <p:cNvSpPr txBox="1"/>
          <p:nvPr/>
        </p:nvSpPr>
        <p:spPr>
          <a:xfrm>
            <a:off x="2351584" y="559347"/>
            <a:ext cx="8332852" cy="738664"/>
          </a:xfrm>
          <a:prstGeom prst="rect">
            <a:avLst/>
          </a:prstGeom>
          <a:noFill/>
        </p:spPr>
        <p:txBody>
          <a:bodyPr wrap="square" rtlCol="0">
            <a:spAutoFit/>
          </a:bodyPr>
          <a:lstStyle/>
          <a:p>
            <a:pPr>
              <a:spcBef>
                <a:spcPts val="600"/>
              </a:spcBef>
            </a:pP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面談実施有無にかかわらず、「求人の詳細」ニーズが高く、面談を実施しない</a:t>
            </a:r>
            <a:r>
              <a:rPr lang="en-US" altLang="ja-JP" sz="1400" b="1" dirty="0">
                <a:latin typeface="Meiryo UI" panose="020B0604030504040204" pitchFamily="50" charset="-128"/>
                <a:ea typeface="Meiryo UI" panose="020B0604030504040204" pitchFamily="50" charset="-128"/>
                <a:cs typeface="Meiryo UI" panose="020B0604030504040204" pitchFamily="50" charset="-128"/>
              </a:rPr>
              <a:t>CS</a:t>
            </a:r>
            <a:r>
              <a:rPr lang="ja-JP" altLang="en-US" sz="1400" b="1" dirty="0">
                <a:latin typeface="Meiryo UI" panose="020B0604030504040204" pitchFamily="50" charset="-128"/>
                <a:ea typeface="Meiryo UI" panose="020B0604030504040204" pitchFamily="50" charset="-128"/>
                <a:cs typeface="Meiryo UI" panose="020B0604030504040204" pitchFamily="50" charset="-128"/>
              </a:rPr>
              <a:t>により高い。転職において「失敗したくない」とう考えが前提にあるからか、「企業の様子」「仕事内容」について、より詳しく知りたいというニーズが多くみられる。</a:t>
            </a:r>
            <a:endParaRPr lang="en-US" altLang="ja-JP" sz="1400" b="1" dirty="0">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6" name="直線コネクタ 5">
            <a:extLst>
              <a:ext uri="{FF2B5EF4-FFF2-40B4-BE49-F238E27FC236}">
                <a16:creationId xmlns:a16="http://schemas.microsoft.com/office/drawing/2014/main" id="{B0315321-5416-759B-916D-01F4BE942BB2}"/>
              </a:ext>
            </a:extLst>
          </p:cNvPr>
          <p:cNvCxnSpPr/>
          <p:nvPr/>
        </p:nvCxnSpPr>
        <p:spPr>
          <a:xfrm>
            <a:off x="2316605" y="1329720"/>
            <a:ext cx="850918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7967048"/>
      </p:ext>
    </p:extLst>
  </p:cSld>
  <p:clrMapOvr>
    <a:masterClrMapping/>
  </p:clrMapOvr>
</p:sld>
</file>

<file path=ppt/theme/theme1.xml><?xml version="1.0" encoding="utf-8"?>
<a:theme xmlns:a="http://schemas.openxmlformats.org/drawingml/2006/main" name="デザインの設定">
  <a:themeElements>
    <a:clrScheme name="RAG営業用">
      <a:dk1>
        <a:srgbClr val="000000"/>
      </a:dk1>
      <a:lt1>
        <a:srgbClr val="FFFFFF"/>
      </a:lt1>
      <a:dk2>
        <a:srgbClr val="1156BD"/>
      </a:dk2>
      <a:lt2>
        <a:srgbClr val="F7FAFF"/>
      </a:lt2>
      <a:accent1>
        <a:srgbClr val="FF6400"/>
      </a:accent1>
      <a:accent2>
        <a:srgbClr val="E1E8F6"/>
      </a:accent2>
      <a:accent3>
        <a:srgbClr val="EB4D3C"/>
      </a:accent3>
      <a:accent4>
        <a:srgbClr val="FFE2EB"/>
      </a:accent4>
      <a:accent5>
        <a:srgbClr val="51BD69"/>
      </a:accent5>
      <a:accent6>
        <a:srgbClr val="DCF6E1"/>
      </a:accent6>
      <a:hlink>
        <a:srgbClr val="0563C1"/>
      </a:hlink>
      <a:folHlink>
        <a:srgbClr val="B1D0FF"/>
      </a:folHlink>
    </a:clrScheme>
    <a:fontScheme name="ユーザー定義 2">
      <a:majorFont>
        <a:latin typeface="Arial"/>
        <a:ea typeface="メイリオ"/>
        <a:cs typeface=""/>
      </a:majorFont>
      <a:minorFont>
        <a:latin typeface="Arial"/>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kumimoji="1" sz="1050">
            <a:solidFill>
              <a:schemeClr val="tx1"/>
            </a:solidFill>
          </a:defRPr>
        </a:defPPr>
      </a:lstStyle>
      <a:style>
        <a:lnRef idx="2">
          <a:schemeClr val="accent2">
            <a:shade val="50000"/>
          </a:schemeClr>
        </a:lnRef>
        <a:fillRef idx="1">
          <a:schemeClr val="accent2"/>
        </a:fillRef>
        <a:effectRef idx="0">
          <a:schemeClr val="accent2"/>
        </a:effectRef>
        <a:fontRef idx="minor">
          <a:schemeClr val="lt1"/>
        </a:fontRef>
      </a:style>
    </a:spDef>
    <a:txDef>
      <a:spPr>
        <a:noFill/>
      </a:spPr>
      <a:bodyPr wrap="square" rtlCol="0">
        <a:spAutoFit/>
      </a:bodyPr>
      <a:lstStyle>
        <a:defPPr algn="l">
          <a:defRPr kumimoji="1" sz="1050"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7D207FB8ADF359488CF813CB31163432" ma:contentTypeVersion="3" ma:contentTypeDescription="新しいドキュメントを作成します。" ma:contentTypeScope="" ma:versionID="c76c61dd5c4bf3959ace5cae96e0be0a">
  <xsd:schema xmlns:xsd="http://www.w3.org/2001/XMLSchema" xmlns:xs="http://www.w3.org/2001/XMLSchema" xmlns:p="http://schemas.microsoft.com/office/2006/metadata/properties" xmlns:ns2="57ce8107-df7d-436b-a245-27856596e656" targetNamespace="http://schemas.microsoft.com/office/2006/metadata/properties" ma:root="true" ma:fieldsID="2c76fae3e76b6cf930a1f6b91e6b88f9" ns2:_="">
    <xsd:import namespace="57ce8107-df7d-436b-a245-27856596e656"/>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7ce8107-df7d-436b-a245-27856596e6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A3FFFF9-5E31-4A02-A95B-D36DC8B82918}">
  <ds:schemaRefs>
    <ds:schemaRef ds:uri="http://schemas.microsoft.com/sharepoint/v3/contenttype/forms"/>
  </ds:schemaRefs>
</ds:datastoreItem>
</file>

<file path=customXml/itemProps2.xml><?xml version="1.0" encoding="utf-8"?>
<ds:datastoreItem xmlns:ds="http://schemas.openxmlformats.org/officeDocument/2006/customXml" ds:itemID="{8CDA315C-5273-473B-90CD-B7E951C5CA14}">
  <ds:schemaRefs>
    <ds:schemaRef ds:uri="http://purl.org/dc/terms/"/>
    <ds:schemaRef ds:uri="57ce8107-df7d-436b-a245-27856596e656"/>
    <ds:schemaRef ds:uri="http://purl.org/dc/dcmitype/"/>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F670362-1715-4872-85BE-1E08586C29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7ce8107-df7d-436b-a245-27856596e65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4230</TotalTime>
  <Words>15963</Words>
  <Application>Microsoft Office PowerPoint</Application>
  <PresentationFormat>ワイド画面</PresentationFormat>
  <Paragraphs>2045</Paragraphs>
  <Slides>50</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50</vt:i4>
      </vt:variant>
    </vt:vector>
  </HeadingPairs>
  <TitlesOfParts>
    <vt:vector size="58" baseType="lpstr">
      <vt:lpstr>Meiryo UI</vt:lpstr>
      <vt:lpstr>Meiryo</vt:lpstr>
      <vt:lpstr>Meiryo</vt:lpstr>
      <vt:lpstr>游ゴシック</vt:lpstr>
      <vt:lpstr>Arial</vt:lpstr>
      <vt:lpstr>Segoe UI</vt:lpstr>
      <vt:lpstr>Wingdings</vt:lpstr>
      <vt:lpstr>デザインの設定</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RAG登録時の雇用形態/職種</vt:lpstr>
      <vt:lpstr>RAG登録時の転職希望度合い/転職希望時期</vt:lpstr>
      <vt:lpstr>転職活動のきっかけ</vt:lpstr>
      <vt:lpstr>転職先の職場に求めていたこと</vt:lpstr>
      <vt:lpstr>転職サービスの認知</vt:lpstr>
      <vt:lpstr>転職サービスの理解（求人が掲載されており、自ら検索し求人に応募）</vt:lpstr>
      <vt:lpstr>転職サービスの理解（キャリアアドバイザーが、求人を紹介・応募をサポート）</vt:lpstr>
      <vt:lpstr>転職サービスの理解（企業から直接オファーが届く）</vt:lpstr>
      <vt:lpstr>登録した転職サービス</vt:lpstr>
      <vt:lpstr>転職サービス登録時の期待</vt:lpstr>
      <vt:lpstr>転職サービス登録時の期待（RAG）</vt:lpstr>
      <vt:lpstr>RAG以外のサービスをメイン利用の理由（サービス不問）</vt:lpstr>
      <vt:lpstr>面談で期待していたこと（面談希望あり）</vt:lpstr>
      <vt:lpstr>面談希望があったにもかかわらず面談非実施の理由</vt:lpstr>
      <vt:lpstr>面談希望あり・面談実施にもかかわらず求人応募なしの理由</vt:lpstr>
      <vt:lpstr>面談希望がなかった理由</vt:lpstr>
      <vt:lpstr>面談希望がなく、求人応募もしなかった理由</vt:lpstr>
      <vt:lpstr>サポートが欲しかったタイミング</vt:lpstr>
      <vt:lpstr>タイミング別欲しい重視するサポート観点</vt:lpstr>
      <vt:lpstr>タイミング別希望するサポート形態</vt:lpstr>
      <vt:lpstr>面談実施を促すサポート</vt:lpstr>
      <vt:lpstr>面談実施を促すサポート（自由回答）</vt:lpstr>
      <vt:lpstr>面談実施を促すサポート（自由回答サマリ）</vt:lpstr>
      <vt:lpstr>求人応募を促すサポート</vt:lpstr>
      <vt:lpstr>求人応募を促すサポート（自由回答）</vt:lpstr>
      <vt:lpstr>求人応募を促すサポート（自由回答サマリ）</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村井 貴行</dc:creator>
  <cp:lastModifiedBy>眞田 亜古</cp:lastModifiedBy>
  <cp:revision>38</cp:revision>
  <dcterms:created xsi:type="dcterms:W3CDTF">2023-01-31T13:46:09Z</dcterms:created>
  <dcterms:modified xsi:type="dcterms:W3CDTF">2024-04-16T01:09:24Z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0x0101007D207FB8ADF359488CF813CB31163432</vt:lpwstr>
  </property>
</Properties>
</file>