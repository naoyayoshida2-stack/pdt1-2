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  <p:sldMasterId id="2147483678" r:id="rId5"/>
  </p:sldMasterIdLst>
  <p:notesMasterIdLst>
    <p:notesMasterId r:id="rId13"/>
  </p:notesMasterIdLst>
  <p:sldIdLst>
    <p:sldId id="3015" r:id="rId6"/>
    <p:sldId id="256" r:id="rId7"/>
    <p:sldId id="257" r:id="rId8"/>
    <p:sldId id="258" r:id="rId9"/>
    <p:sldId id="3016" r:id="rId10"/>
    <p:sldId id="259" r:id="rId11"/>
    <p:sldId id="301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0E802DF8-B621-48AD-8DAA-B592D380C9BE}">
          <p14:sldIdLst>
            <p14:sldId id="3015"/>
          </p14:sldIdLst>
        </p14:section>
        <p14:section name="補足資料" id="{92AD969E-8329-4441-B848-76A4E2BABD2A}">
          <p14:sldIdLst>
            <p14:sldId id="256"/>
            <p14:sldId id="257"/>
            <p14:sldId id="258"/>
            <p14:sldId id="3016"/>
            <p14:sldId id="259"/>
            <p14:sldId id="30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DB4408-2489-C173-22C8-C5593A8F50D7}" name="山本 沙織" initials="沙山" userId="S::sr_yamamoto@r.recruit.co.jp::822bb9f4-fdfd-442a-86b2-38b5136299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EB"/>
    <a:srgbClr val="ADB1BC"/>
    <a:srgbClr val="D9EEF7"/>
    <a:srgbClr val="3AADDB"/>
    <a:srgbClr val="D5D6D9"/>
    <a:srgbClr val="DCF6E1"/>
    <a:srgbClr val="52BD69"/>
    <a:srgbClr val="EB4D3D"/>
    <a:srgbClr val="F7FAFF"/>
    <a:srgbClr val="115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43E09-7070-8F48-A473-6593B1A49C1A}" type="datetimeFigureOut">
              <a:rPr kumimoji="1" lang="ja-JP" altLang="en-US" smtClean="0"/>
              <a:t>2025/1/29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4E167-2632-1247-BE4E-C349B23F88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3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A4E167-2632-1247-BE4E-C349B23F88B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96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起案書FMT_部長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05ED1E-569A-56F0-3775-0C2BEA4BE471}"/>
              </a:ext>
            </a:extLst>
          </p:cNvPr>
          <p:cNvSpPr/>
          <p:nvPr userDrawn="1"/>
        </p:nvSpPr>
        <p:spPr>
          <a:xfrm>
            <a:off x="62306" y="704127"/>
            <a:ext cx="222828" cy="41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件名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B52FEE-C11B-7C30-F27F-A050014EC50B}"/>
              </a:ext>
            </a:extLst>
          </p:cNvPr>
          <p:cNvSpPr/>
          <p:nvPr userDrawn="1"/>
        </p:nvSpPr>
        <p:spPr>
          <a:xfrm>
            <a:off x="62305" y="1118865"/>
            <a:ext cx="222828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8BE90-363B-4E37-1FEB-16BFB5EE67E7}"/>
              </a:ext>
            </a:extLst>
          </p:cNvPr>
          <p:cNvSpPr/>
          <p:nvPr userDrawn="1"/>
        </p:nvSpPr>
        <p:spPr>
          <a:xfrm>
            <a:off x="62305" y="1555628"/>
            <a:ext cx="223200" cy="5103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起案内容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983FAA-77AE-CFFC-BEB8-35967B71216F}"/>
              </a:ext>
            </a:extLst>
          </p:cNvPr>
          <p:cNvSpPr/>
          <p:nvPr userDrawn="1"/>
        </p:nvSpPr>
        <p:spPr>
          <a:xfrm>
            <a:off x="7624054" y="702155"/>
            <a:ext cx="234000" cy="8534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起案者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B00F2D7-1D6A-13D3-C248-4E9BB39D800F}"/>
              </a:ext>
            </a:extLst>
          </p:cNvPr>
          <p:cNvSpPr/>
          <p:nvPr userDrawn="1"/>
        </p:nvSpPr>
        <p:spPr>
          <a:xfrm>
            <a:off x="7624052" y="3744577"/>
            <a:ext cx="234001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論点（議論ポイント）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BFF385-4595-2911-AFAB-0DA7980B9D60}"/>
              </a:ext>
            </a:extLst>
          </p:cNvPr>
          <p:cNvSpPr/>
          <p:nvPr userDrawn="1"/>
        </p:nvSpPr>
        <p:spPr>
          <a:xfrm>
            <a:off x="7624053" y="5219113"/>
            <a:ext cx="23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今後のスケジュール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CF944C6-5E48-E597-1253-6FCC3FF03A3F}"/>
              </a:ext>
            </a:extLst>
          </p:cNvPr>
          <p:cNvSpPr/>
          <p:nvPr userDrawn="1"/>
        </p:nvSpPr>
        <p:spPr>
          <a:xfrm>
            <a:off x="283489" y="704127"/>
            <a:ext cx="7340563" cy="41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B347E8-415E-AC16-8C7D-F5F5797595E2}"/>
              </a:ext>
            </a:extLst>
          </p:cNvPr>
          <p:cNvSpPr/>
          <p:nvPr userDrawn="1"/>
        </p:nvSpPr>
        <p:spPr>
          <a:xfrm>
            <a:off x="7858053" y="704127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文責</a:t>
            </a:r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EF1E9E-FF3E-905D-C0E5-DD7C3EA5D32F}"/>
              </a:ext>
            </a:extLst>
          </p:cNvPr>
          <p:cNvSpPr/>
          <p:nvPr userDrawn="1"/>
        </p:nvSpPr>
        <p:spPr>
          <a:xfrm>
            <a:off x="7858053" y="917161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発表者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B35B2E-4A65-5076-BD4C-C3BBE8DC516E}"/>
              </a:ext>
            </a:extLst>
          </p:cNvPr>
          <p:cNvSpPr/>
          <p:nvPr userDrawn="1"/>
        </p:nvSpPr>
        <p:spPr>
          <a:xfrm>
            <a:off x="7858053" y="1130195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陪席者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F216FF4-6227-2140-589C-7AA8C53BCEE2}"/>
              </a:ext>
            </a:extLst>
          </p:cNvPr>
          <p:cNvSpPr/>
          <p:nvPr userDrawn="1"/>
        </p:nvSpPr>
        <p:spPr>
          <a:xfrm>
            <a:off x="7858053" y="1343229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起案担当窓口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37D660E-D5AB-46FE-4D45-C90A348A3FEE}"/>
              </a:ext>
            </a:extLst>
          </p:cNvPr>
          <p:cNvSpPr/>
          <p:nvPr userDrawn="1"/>
        </p:nvSpPr>
        <p:spPr>
          <a:xfrm>
            <a:off x="2006285" y="1118125"/>
            <a:ext cx="463771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開示</a:t>
            </a:r>
            <a:endParaRPr kumimoji="1" lang="en-US" altLang="ja-JP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範囲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4F9CBC-9433-7C9C-E374-51B6BA855469}"/>
              </a:ext>
            </a:extLst>
          </p:cNvPr>
          <p:cNvSpPr/>
          <p:nvPr userDrawn="1"/>
        </p:nvSpPr>
        <p:spPr>
          <a:xfrm>
            <a:off x="2470056" y="1118865"/>
            <a:ext cx="5153996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A493309-159E-F30D-A9D3-6075B245F18B}"/>
              </a:ext>
            </a:extLst>
          </p:cNvPr>
          <p:cNvSpPr/>
          <p:nvPr userDrawn="1"/>
        </p:nvSpPr>
        <p:spPr>
          <a:xfrm>
            <a:off x="285505" y="1555629"/>
            <a:ext cx="7338547" cy="51034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7E2EEA4-88E2-88EB-1267-03AEC263458E}"/>
              </a:ext>
            </a:extLst>
          </p:cNvPr>
          <p:cNvSpPr/>
          <p:nvPr userDrawn="1"/>
        </p:nvSpPr>
        <p:spPr>
          <a:xfrm>
            <a:off x="7858053" y="3744577"/>
            <a:ext cx="4271640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33CE0E9-E512-79DE-C156-FA467DBD3E52}"/>
              </a:ext>
            </a:extLst>
          </p:cNvPr>
          <p:cNvSpPr/>
          <p:nvPr userDrawn="1"/>
        </p:nvSpPr>
        <p:spPr>
          <a:xfrm>
            <a:off x="7858053" y="5219125"/>
            <a:ext cx="4271639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85C0C59-5DF9-7B50-1407-59FE5EA29238}"/>
              </a:ext>
            </a:extLst>
          </p:cNvPr>
          <p:cNvSpPr/>
          <p:nvPr userDrawn="1"/>
        </p:nvSpPr>
        <p:spPr>
          <a:xfrm>
            <a:off x="9234996" y="702156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A81267-4D66-6420-AE1C-95866EC39D9E}"/>
              </a:ext>
            </a:extLst>
          </p:cNvPr>
          <p:cNvSpPr/>
          <p:nvPr userDrawn="1"/>
        </p:nvSpPr>
        <p:spPr>
          <a:xfrm>
            <a:off x="9234996" y="915847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F49DF3-60C9-F69A-D318-3C4F7BB5DC1A}"/>
              </a:ext>
            </a:extLst>
          </p:cNvPr>
          <p:cNvSpPr/>
          <p:nvPr userDrawn="1"/>
        </p:nvSpPr>
        <p:spPr>
          <a:xfrm>
            <a:off x="9234996" y="1129538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97E7CA-C774-D2DD-3A9C-5EB9838557E0}"/>
              </a:ext>
            </a:extLst>
          </p:cNvPr>
          <p:cNvSpPr/>
          <p:nvPr userDrawn="1"/>
        </p:nvSpPr>
        <p:spPr>
          <a:xfrm>
            <a:off x="9234996" y="1343229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9DE1C1-8CD9-3622-8A8F-335B7667F507}"/>
              </a:ext>
            </a:extLst>
          </p:cNvPr>
          <p:cNvSpPr/>
          <p:nvPr userDrawn="1"/>
        </p:nvSpPr>
        <p:spPr>
          <a:xfrm>
            <a:off x="283490" y="1118865"/>
            <a:ext cx="1722795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B33EAD7-7786-0EBC-7805-1F6221AC6184}"/>
              </a:ext>
            </a:extLst>
          </p:cNvPr>
          <p:cNvSpPr/>
          <p:nvPr userDrawn="1"/>
        </p:nvSpPr>
        <p:spPr>
          <a:xfrm>
            <a:off x="2480222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51D4C64-C166-DE1B-55D2-E8CCFE9BBDF4}"/>
              </a:ext>
            </a:extLst>
          </p:cNvPr>
          <p:cNvSpPr/>
          <p:nvPr userDrawn="1"/>
        </p:nvSpPr>
        <p:spPr>
          <a:xfrm>
            <a:off x="3205277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GM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以上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8EAFF33-F691-B459-D0B9-D3E66638BEDE}"/>
              </a:ext>
            </a:extLst>
          </p:cNvPr>
          <p:cNvSpPr/>
          <p:nvPr userDrawn="1"/>
        </p:nvSpPr>
        <p:spPr>
          <a:xfrm>
            <a:off x="3930331" y="1224536"/>
            <a:ext cx="932443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メンバー迄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83666F6-7F62-46F4-7685-7F053DC6B1CD}"/>
              </a:ext>
            </a:extLst>
          </p:cNvPr>
          <p:cNvSpPr/>
          <p:nvPr userDrawn="1"/>
        </p:nvSpPr>
        <p:spPr>
          <a:xfrm>
            <a:off x="1714418" y="399311"/>
            <a:ext cx="686213" cy="243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種別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C404D1A-DBA8-A542-2968-0D94C877BA4C}"/>
              </a:ext>
            </a:extLst>
          </p:cNvPr>
          <p:cNvSpPr/>
          <p:nvPr userDrawn="1"/>
        </p:nvSpPr>
        <p:spPr>
          <a:xfrm>
            <a:off x="242489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78292BB-C77C-EEBB-0FFC-1AEB354589BE}"/>
              </a:ext>
            </a:extLst>
          </p:cNvPr>
          <p:cNvSpPr/>
          <p:nvPr userDrawn="1"/>
        </p:nvSpPr>
        <p:spPr>
          <a:xfrm>
            <a:off x="3956621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94931A3-6763-F50F-317A-FA091039DB14}"/>
              </a:ext>
            </a:extLst>
          </p:cNvPr>
          <p:cNvSpPr/>
          <p:nvPr userDrawn="1"/>
        </p:nvSpPr>
        <p:spPr>
          <a:xfrm>
            <a:off x="2935471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審議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700AD76-ABF4-0B6B-342E-1A8326335643}"/>
              </a:ext>
            </a:extLst>
          </p:cNvPr>
          <p:cNvSpPr/>
          <p:nvPr userDrawn="1"/>
        </p:nvSpPr>
        <p:spPr>
          <a:xfrm>
            <a:off x="5043197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資料のみ報告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5E8A16A-A809-F056-702E-212A993B356A}"/>
              </a:ext>
            </a:extLst>
          </p:cNvPr>
          <p:cNvSpPr/>
          <p:nvPr userDrawn="1"/>
        </p:nvSpPr>
        <p:spPr>
          <a:xfrm>
            <a:off x="344604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10A3D09-D418-C4C0-C802-45659A152647}"/>
              </a:ext>
            </a:extLst>
          </p:cNvPr>
          <p:cNvSpPr/>
          <p:nvPr userDrawn="1"/>
        </p:nvSpPr>
        <p:spPr>
          <a:xfrm>
            <a:off x="6435075" y="96529"/>
            <a:ext cx="2304000" cy="26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カスタマーサービス統括部</a:t>
            </a:r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部長会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4F7FD3A-814A-76E7-0B8E-DB4A5FF63D7A}"/>
              </a:ext>
            </a:extLst>
          </p:cNvPr>
          <p:cNvSpPr/>
          <p:nvPr userDrawn="1"/>
        </p:nvSpPr>
        <p:spPr>
          <a:xfrm>
            <a:off x="3905131" y="96529"/>
            <a:ext cx="2448000" cy="26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クライアントサービス統括部部長会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84A1C3B-AB2D-88A6-E5DF-7D79C0436BA2}"/>
              </a:ext>
            </a:extLst>
          </p:cNvPr>
          <p:cNvSpPr/>
          <p:nvPr userDrawn="1"/>
        </p:nvSpPr>
        <p:spPr>
          <a:xfrm>
            <a:off x="10876660" y="96529"/>
            <a:ext cx="1253032" cy="26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直下</a:t>
            </a:r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企画部長会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632A358-7C77-8101-BAD5-7EC29DEACF5B}"/>
              </a:ext>
            </a:extLst>
          </p:cNvPr>
          <p:cNvSpPr/>
          <p:nvPr userDrawn="1"/>
        </p:nvSpPr>
        <p:spPr>
          <a:xfrm>
            <a:off x="183875" y="208722"/>
            <a:ext cx="1323134" cy="4022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起案書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4A96332-81EC-630F-45DA-E43C18C15194}"/>
              </a:ext>
            </a:extLst>
          </p:cNvPr>
          <p:cNvSpPr/>
          <p:nvPr userDrawn="1"/>
        </p:nvSpPr>
        <p:spPr>
          <a:xfrm>
            <a:off x="7624052" y="1560373"/>
            <a:ext cx="234001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起案背景・目的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9F4546B-ED96-C581-5837-655003E985D2}"/>
              </a:ext>
            </a:extLst>
          </p:cNvPr>
          <p:cNvSpPr/>
          <p:nvPr userDrawn="1"/>
        </p:nvSpPr>
        <p:spPr>
          <a:xfrm>
            <a:off x="7858053" y="1560373"/>
            <a:ext cx="4271640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4F8E750-187B-1EC9-4CD3-5A731C3C81BF}"/>
              </a:ext>
            </a:extLst>
          </p:cNvPr>
          <p:cNvSpPr/>
          <p:nvPr userDrawn="1"/>
        </p:nvSpPr>
        <p:spPr>
          <a:xfrm>
            <a:off x="8865354" y="96529"/>
            <a:ext cx="2016000" cy="26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ソリューション統括部</a:t>
            </a:r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部長会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A7C5E47-1DE1-F209-7347-5A99C4F1AB93}"/>
              </a:ext>
            </a:extLst>
          </p:cNvPr>
          <p:cNvSpPr txBox="1"/>
          <p:nvPr userDrawn="1"/>
        </p:nvSpPr>
        <p:spPr>
          <a:xfrm>
            <a:off x="9963557" y="486535"/>
            <a:ext cx="2228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フォントサイズは</a:t>
            </a:r>
            <a:r>
              <a:rPr kumimoji="1" lang="en-US" altLang="ja-JP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【Min10】</a:t>
            </a:r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厳守</a:t>
            </a:r>
          </a:p>
        </p:txBody>
      </p:sp>
      <p:sp>
        <p:nvSpPr>
          <p:cNvPr id="3" name="フッター プレースホルダー 7">
            <a:extLst>
              <a:ext uri="{FF2B5EF4-FFF2-40B4-BE49-F238E27FC236}">
                <a16:creationId xmlns:a16="http://schemas.microsoft.com/office/drawing/2014/main" id="{157BC63A-6030-DFA6-809A-0F7019179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84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7FDB10-6E28-F4E1-75E9-BA1C204FD57C}"/>
              </a:ext>
            </a:extLst>
          </p:cNvPr>
          <p:cNvSpPr txBox="1"/>
          <p:nvPr userDrawn="1"/>
        </p:nvSpPr>
        <p:spPr>
          <a:xfrm>
            <a:off x="8817662" y="299321"/>
            <a:ext cx="27430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00" dirty="0"/>
              <a:t>※</a:t>
            </a:r>
            <a:r>
              <a:rPr kumimoji="1" lang="ja-JP" altLang="en-US" sz="700" dirty="0"/>
              <a:t>ソリュ統への起案時は、対象部署も起案書内に明記ください。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223797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起案書FMT_営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05ED1E-569A-56F0-3775-0C2BEA4BE471}"/>
              </a:ext>
            </a:extLst>
          </p:cNvPr>
          <p:cNvSpPr/>
          <p:nvPr userDrawn="1"/>
        </p:nvSpPr>
        <p:spPr>
          <a:xfrm>
            <a:off x="62306" y="704127"/>
            <a:ext cx="222828" cy="41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件名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B52FEE-C11B-7C30-F27F-A050014EC50B}"/>
              </a:ext>
            </a:extLst>
          </p:cNvPr>
          <p:cNvSpPr/>
          <p:nvPr userDrawn="1"/>
        </p:nvSpPr>
        <p:spPr>
          <a:xfrm>
            <a:off x="62305" y="1118865"/>
            <a:ext cx="222828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8BE90-363B-4E37-1FEB-16BFB5EE67E7}"/>
              </a:ext>
            </a:extLst>
          </p:cNvPr>
          <p:cNvSpPr/>
          <p:nvPr userDrawn="1"/>
        </p:nvSpPr>
        <p:spPr>
          <a:xfrm>
            <a:off x="62305" y="1555628"/>
            <a:ext cx="223200" cy="5103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起案内容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983FAA-77AE-CFFC-BEB8-35967B71216F}"/>
              </a:ext>
            </a:extLst>
          </p:cNvPr>
          <p:cNvSpPr/>
          <p:nvPr userDrawn="1"/>
        </p:nvSpPr>
        <p:spPr>
          <a:xfrm>
            <a:off x="7624054" y="702155"/>
            <a:ext cx="234000" cy="8534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起案者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B00F2D7-1D6A-13D3-C248-4E9BB39D800F}"/>
              </a:ext>
            </a:extLst>
          </p:cNvPr>
          <p:cNvSpPr/>
          <p:nvPr userDrawn="1"/>
        </p:nvSpPr>
        <p:spPr>
          <a:xfrm>
            <a:off x="7624052" y="3744577"/>
            <a:ext cx="234001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論点（議論ポイント）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BFF385-4595-2911-AFAB-0DA7980B9D60}"/>
              </a:ext>
            </a:extLst>
          </p:cNvPr>
          <p:cNvSpPr/>
          <p:nvPr userDrawn="1"/>
        </p:nvSpPr>
        <p:spPr>
          <a:xfrm>
            <a:off x="7624053" y="5219113"/>
            <a:ext cx="23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今後のスケジュール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CF944C6-5E48-E597-1253-6FCC3FF03A3F}"/>
              </a:ext>
            </a:extLst>
          </p:cNvPr>
          <p:cNvSpPr/>
          <p:nvPr userDrawn="1"/>
        </p:nvSpPr>
        <p:spPr>
          <a:xfrm>
            <a:off x="283489" y="704127"/>
            <a:ext cx="7340563" cy="41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B347E8-415E-AC16-8C7D-F5F5797595E2}"/>
              </a:ext>
            </a:extLst>
          </p:cNvPr>
          <p:cNvSpPr/>
          <p:nvPr userDrawn="1"/>
        </p:nvSpPr>
        <p:spPr>
          <a:xfrm>
            <a:off x="7858053" y="704127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文責</a:t>
            </a:r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EF1E9E-FF3E-905D-C0E5-DD7C3EA5D32F}"/>
              </a:ext>
            </a:extLst>
          </p:cNvPr>
          <p:cNvSpPr/>
          <p:nvPr userDrawn="1"/>
        </p:nvSpPr>
        <p:spPr>
          <a:xfrm>
            <a:off x="7858053" y="917161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発表者</a:t>
            </a:r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※GM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以上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B35B2E-4A65-5076-BD4C-C3BBE8DC516E}"/>
              </a:ext>
            </a:extLst>
          </p:cNvPr>
          <p:cNvSpPr/>
          <p:nvPr userDrawn="1"/>
        </p:nvSpPr>
        <p:spPr>
          <a:xfrm>
            <a:off x="7858053" y="1130195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陪席者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F216FF4-6227-2140-589C-7AA8C53BCEE2}"/>
              </a:ext>
            </a:extLst>
          </p:cNvPr>
          <p:cNvSpPr/>
          <p:nvPr userDrawn="1"/>
        </p:nvSpPr>
        <p:spPr>
          <a:xfrm>
            <a:off x="7858053" y="1343229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起案担当窓口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37D660E-D5AB-46FE-4D45-C90A348A3FEE}"/>
              </a:ext>
            </a:extLst>
          </p:cNvPr>
          <p:cNvSpPr/>
          <p:nvPr userDrawn="1"/>
        </p:nvSpPr>
        <p:spPr>
          <a:xfrm>
            <a:off x="2006285" y="1118125"/>
            <a:ext cx="463771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開示</a:t>
            </a:r>
            <a:endParaRPr kumimoji="1" lang="en-US" altLang="ja-JP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範囲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4F9CBC-9433-7C9C-E374-51B6BA855469}"/>
              </a:ext>
            </a:extLst>
          </p:cNvPr>
          <p:cNvSpPr/>
          <p:nvPr userDrawn="1"/>
        </p:nvSpPr>
        <p:spPr>
          <a:xfrm>
            <a:off x="2470056" y="1118865"/>
            <a:ext cx="5153996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A493309-159E-F30D-A9D3-6075B245F18B}"/>
              </a:ext>
            </a:extLst>
          </p:cNvPr>
          <p:cNvSpPr/>
          <p:nvPr userDrawn="1"/>
        </p:nvSpPr>
        <p:spPr>
          <a:xfrm>
            <a:off x="285505" y="1555629"/>
            <a:ext cx="7338547" cy="51034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7E2EEA4-88E2-88EB-1267-03AEC263458E}"/>
              </a:ext>
            </a:extLst>
          </p:cNvPr>
          <p:cNvSpPr/>
          <p:nvPr userDrawn="1"/>
        </p:nvSpPr>
        <p:spPr>
          <a:xfrm>
            <a:off x="7858053" y="3744577"/>
            <a:ext cx="4271640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33CE0E9-E512-79DE-C156-FA467DBD3E52}"/>
              </a:ext>
            </a:extLst>
          </p:cNvPr>
          <p:cNvSpPr/>
          <p:nvPr userDrawn="1"/>
        </p:nvSpPr>
        <p:spPr>
          <a:xfrm>
            <a:off x="7858053" y="5219125"/>
            <a:ext cx="4271639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85C0C59-5DF9-7B50-1407-59FE5EA29238}"/>
              </a:ext>
            </a:extLst>
          </p:cNvPr>
          <p:cNvSpPr/>
          <p:nvPr userDrawn="1"/>
        </p:nvSpPr>
        <p:spPr>
          <a:xfrm>
            <a:off x="9234996" y="702156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A81267-4D66-6420-AE1C-95866EC39D9E}"/>
              </a:ext>
            </a:extLst>
          </p:cNvPr>
          <p:cNvSpPr/>
          <p:nvPr userDrawn="1"/>
        </p:nvSpPr>
        <p:spPr>
          <a:xfrm>
            <a:off x="9234996" y="915847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F49DF3-60C9-F69A-D318-3C4F7BB5DC1A}"/>
              </a:ext>
            </a:extLst>
          </p:cNvPr>
          <p:cNvSpPr/>
          <p:nvPr userDrawn="1"/>
        </p:nvSpPr>
        <p:spPr>
          <a:xfrm>
            <a:off x="9234996" y="1129538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97E7CA-C774-D2DD-3A9C-5EB9838557E0}"/>
              </a:ext>
            </a:extLst>
          </p:cNvPr>
          <p:cNvSpPr/>
          <p:nvPr userDrawn="1"/>
        </p:nvSpPr>
        <p:spPr>
          <a:xfrm>
            <a:off x="9234996" y="1343229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9DE1C1-8CD9-3622-8A8F-335B7667F507}"/>
              </a:ext>
            </a:extLst>
          </p:cNvPr>
          <p:cNvSpPr/>
          <p:nvPr userDrawn="1"/>
        </p:nvSpPr>
        <p:spPr>
          <a:xfrm>
            <a:off x="283490" y="1118865"/>
            <a:ext cx="1722795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5419D19-512A-55EF-9462-558F410D575D}"/>
              </a:ext>
            </a:extLst>
          </p:cNvPr>
          <p:cNvSpPr/>
          <p:nvPr userDrawn="1"/>
        </p:nvSpPr>
        <p:spPr>
          <a:xfrm>
            <a:off x="2480222" y="1224536"/>
            <a:ext cx="670074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FB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不要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B33EAD7-7786-0EBC-7805-1F6221AC6184}"/>
              </a:ext>
            </a:extLst>
          </p:cNvPr>
          <p:cNvSpPr/>
          <p:nvPr userDrawn="1"/>
        </p:nvSpPr>
        <p:spPr>
          <a:xfrm>
            <a:off x="3116293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51D4C64-C166-DE1B-55D2-E8CCFE9BBDF4}"/>
              </a:ext>
            </a:extLst>
          </p:cNvPr>
          <p:cNvSpPr/>
          <p:nvPr userDrawn="1"/>
        </p:nvSpPr>
        <p:spPr>
          <a:xfrm>
            <a:off x="3874290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GM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以上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8EAFF33-F691-B459-D0B9-D3E66638BEDE}"/>
              </a:ext>
            </a:extLst>
          </p:cNvPr>
          <p:cNvSpPr/>
          <p:nvPr userDrawn="1"/>
        </p:nvSpPr>
        <p:spPr>
          <a:xfrm>
            <a:off x="4632287" y="1224536"/>
            <a:ext cx="932443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メンバー迄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83666F6-7F62-46F4-7685-7F053DC6B1CD}"/>
              </a:ext>
            </a:extLst>
          </p:cNvPr>
          <p:cNvSpPr/>
          <p:nvPr userDrawn="1"/>
        </p:nvSpPr>
        <p:spPr>
          <a:xfrm>
            <a:off x="1714418" y="399311"/>
            <a:ext cx="686213" cy="243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種別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632A358-7C77-8101-BAD5-7EC29DEACF5B}"/>
              </a:ext>
            </a:extLst>
          </p:cNvPr>
          <p:cNvSpPr/>
          <p:nvPr userDrawn="1"/>
        </p:nvSpPr>
        <p:spPr>
          <a:xfrm>
            <a:off x="183875" y="208722"/>
            <a:ext cx="1323134" cy="4022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起案書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4A96332-81EC-630F-45DA-E43C18C15194}"/>
              </a:ext>
            </a:extLst>
          </p:cNvPr>
          <p:cNvSpPr/>
          <p:nvPr userDrawn="1"/>
        </p:nvSpPr>
        <p:spPr>
          <a:xfrm>
            <a:off x="7624052" y="1560373"/>
            <a:ext cx="234001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起案背景・目的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9F4546B-ED96-C581-5837-655003E985D2}"/>
              </a:ext>
            </a:extLst>
          </p:cNvPr>
          <p:cNvSpPr/>
          <p:nvPr userDrawn="1"/>
        </p:nvSpPr>
        <p:spPr>
          <a:xfrm>
            <a:off x="7858053" y="1560373"/>
            <a:ext cx="4271640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A7C5E47-1DE1-F209-7347-5A99C4F1AB93}"/>
              </a:ext>
            </a:extLst>
          </p:cNvPr>
          <p:cNvSpPr txBox="1"/>
          <p:nvPr userDrawn="1"/>
        </p:nvSpPr>
        <p:spPr>
          <a:xfrm>
            <a:off x="9963557" y="486535"/>
            <a:ext cx="2228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フォントサイズは</a:t>
            </a:r>
            <a:r>
              <a:rPr kumimoji="1" lang="en-US" altLang="ja-JP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【Min10】</a:t>
            </a:r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厳守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12B928C-13CA-A5CB-4EE4-9425C9F5DA34}"/>
              </a:ext>
            </a:extLst>
          </p:cNvPr>
          <p:cNvSpPr/>
          <p:nvPr userDrawn="1"/>
        </p:nvSpPr>
        <p:spPr>
          <a:xfrm>
            <a:off x="10808531" y="110605"/>
            <a:ext cx="1188000" cy="288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ja-JP" altLang="en-US" sz="11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領域営業戦略会</a:t>
            </a:r>
            <a:endParaRPr kumimoji="1" lang="ja-JP" altLang="en-US" sz="1100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AB5D38F-2B46-5CF9-6B98-0976F159A269}"/>
              </a:ext>
            </a:extLst>
          </p:cNvPr>
          <p:cNvSpPr/>
          <p:nvPr userDrawn="1"/>
        </p:nvSpPr>
        <p:spPr>
          <a:xfrm>
            <a:off x="242489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012D9E-614C-FCB2-FDF4-1523CBFBCDF9}"/>
              </a:ext>
            </a:extLst>
          </p:cNvPr>
          <p:cNvSpPr/>
          <p:nvPr userDrawn="1"/>
        </p:nvSpPr>
        <p:spPr>
          <a:xfrm>
            <a:off x="3956621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1F52A2C-1FFB-434D-8F54-52FE66DD2411}"/>
              </a:ext>
            </a:extLst>
          </p:cNvPr>
          <p:cNvSpPr/>
          <p:nvPr userDrawn="1"/>
        </p:nvSpPr>
        <p:spPr>
          <a:xfrm>
            <a:off x="2935471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審議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0EBF710-D6A8-B008-B765-C4F491C72C6A}"/>
              </a:ext>
            </a:extLst>
          </p:cNvPr>
          <p:cNvSpPr/>
          <p:nvPr userDrawn="1"/>
        </p:nvSpPr>
        <p:spPr>
          <a:xfrm>
            <a:off x="5043197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資料のみ報告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829538A-4C7D-B69D-1CD9-4085E3BAA7CD}"/>
              </a:ext>
            </a:extLst>
          </p:cNvPr>
          <p:cNvSpPr/>
          <p:nvPr userDrawn="1"/>
        </p:nvSpPr>
        <p:spPr>
          <a:xfrm>
            <a:off x="344604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</a:t>
            </a:r>
          </a:p>
        </p:txBody>
      </p:sp>
      <p:sp>
        <p:nvSpPr>
          <p:cNvPr id="32" name="フッター プレースホルダー 7">
            <a:extLst>
              <a:ext uri="{FF2B5EF4-FFF2-40B4-BE49-F238E27FC236}">
                <a16:creationId xmlns:a16="http://schemas.microsoft.com/office/drawing/2014/main" id="{0B304F28-6F11-2D91-098A-2E7FEE63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84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起案書FMT_領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05ED1E-569A-56F0-3775-0C2BEA4BE471}"/>
              </a:ext>
            </a:extLst>
          </p:cNvPr>
          <p:cNvSpPr/>
          <p:nvPr userDrawn="1"/>
        </p:nvSpPr>
        <p:spPr>
          <a:xfrm>
            <a:off x="62306" y="704127"/>
            <a:ext cx="222828" cy="41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件名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B52FEE-C11B-7C30-F27F-A050014EC50B}"/>
              </a:ext>
            </a:extLst>
          </p:cNvPr>
          <p:cNvSpPr/>
          <p:nvPr userDrawn="1"/>
        </p:nvSpPr>
        <p:spPr>
          <a:xfrm>
            <a:off x="62305" y="1118865"/>
            <a:ext cx="222828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8BE90-363B-4E37-1FEB-16BFB5EE67E7}"/>
              </a:ext>
            </a:extLst>
          </p:cNvPr>
          <p:cNvSpPr/>
          <p:nvPr userDrawn="1"/>
        </p:nvSpPr>
        <p:spPr>
          <a:xfrm>
            <a:off x="62305" y="1555628"/>
            <a:ext cx="223200" cy="5103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起案内容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9983FAA-77AE-CFFC-BEB8-35967B71216F}"/>
              </a:ext>
            </a:extLst>
          </p:cNvPr>
          <p:cNvSpPr/>
          <p:nvPr userDrawn="1"/>
        </p:nvSpPr>
        <p:spPr>
          <a:xfrm>
            <a:off x="7624054" y="702155"/>
            <a:ext cx="234000" cy="8534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起案者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B00F2D7-1D6A-13D3-C248-4E9BB39D800F}"/>
              </a:ext>
            </a:extLst>
          </p:cNvPr>
          <p:cNvSpPr/>
          <p:nvPr userDrawn="1"/>
        </p:nvSpPr>
        <p:spPr>
          <a:xfrm>
            <a:off x="7624052" y="3744577"/>
            <a:ext cx="234001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論点（議論ポイント）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9BFF385-4595-2911-AFAB-0DA7980B9D60}"/>
              </a:ext>
            </a:extLst>
          </p:cNvPr>
          <p:cNvSpPr/>
          <p:nvPr userDrawn="1"/>
        </p:nvSpPr>
        <p:spPr>
          <a:xfrm>
            <a:off x="7624053" y="5219113"/>
            <a:ext cx="234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今後のスケジュール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CF944C6-5E48-E597-1253-6FCC3FF03A3F}"/>
              </a:ext>
            </a:extLst>
          </p:cNvPr>
          <p:cNvSpPr/>
          <p:nvPr userDrawn="1"/>
        </p:nvSpPr>
        <p:spPr>
          <a:xfrm>
            <a:off x="283489" y="704127"/>
            <a:ext cx="7340563" cy="41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B347E8-415E-AC16-8C7D-F5F5797595E2}"/>
              </a:ext>
            </a:extLst>
          </p:cNvPr>
          <p:cNvSpPr/>
          <p:nvPr userDrawn="1"/>
        </p:nvSpPr>
        <p:spPr>
          <a:xfrm>
            <a:off x="7858053" y="704127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文責</a:t>
            </a:r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EF1E9E-FF3E-905D-C0E5-DD7C3EA5D32F}"/>
              </a:ext>
            </a:extLst>
          </p:cNvPr>
          <p:cNvSpPr/>
          <p:nvPr userDrawn="1"/>
        </p:nvSpPr>
        <p:spPr>
          <a:xfrm>
            <a:off x="7858053" y="917161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発表者</a:t>
            </a:r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※GM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以上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B35B2E-4A65-5076-BD4C-C3BBE8DC516E}"/>
              </a:ext>
            </a:extLst>
          </p:cNvPr>
          <p:cNvSpPr/>
          <p:nvPr userDrawn="1"/>
        </p:nvSpPr>
        <p:spPr>
          <a:xfrm>
            <a:off x="7858053" y="1130195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陪席者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F216FF4-6227-2140-589C-7AA8C53BCEE2}"/>
              </a:ext>
            </a:extLst>
          </p:cNvPr>
          <p:cNvSpPr/>
          <p:nvPr userDrawn="1"/>
        </p:nvSpPr>
        <p:spPr>
          <a:xfrm>
            <a:off x="7858053" y="1343229"/>
            <a:ext cx="1376945" cy="212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起案担当窓口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37D660E-D5AB-46FE-4D45-C90A348A3FEE}"/>
              </a:ext>
            </a:extLst>
          </p:cNvPr>
          <p:cNvSpPr/>
          <p:nvPr userDrawn="1"/>
        </p:nvSpPr>
        <p:spPr>
          <a:xfrm>
            <a:off x="2006285" y="1118125"/>
            <a:ext cx="463771" cy="4367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開示</a:t>
            </a:r>
            <a:endParaRPr kumimoji="1" lang="en-US" altLang="ja-JP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範囲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64F9CBC-9433-7C9C-E374-51B6BA855469}"/>
              </a:ext>
            </a:extLst>
          </p:cNvPr>
          <p:cNvSpPr/>
          <p:nvPr userDrawn="1"/>
        </p:nvSpPr>
        <p:spPr>
          <a:xfrm>
            <a:off x="2470056" y="1118865"/>
            <a:ext cx="5153996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A493309-159E-F30D-A9D3-6075B245F18B}"/>
              </a:ext>
            </a:extLst>
          </p:cNvPr>
          <p:cNvSpPr/>
          <p:nvPr userDrawn="1"/>
        </p:nvSpPr>
        <p:spPr>
          <a:xfrm>
            <a:off x="285505" y="1555629"/>
            <a:ext cx="7338547" cy="51034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7E2EEA4-88E2-88EB-1267-03AEC263458E}"/>
              </a:ext>
            </a:extLst>
          </p:cNvPr>
          <p:cNvSpPr/>
          <p:nvPr userDrawn="1"/>
        </p:nvSpPr>
        <p:spPr>
          <a:xfrm>
            <a:off x="7858053" y="3744577"/>
            <a:ext cx="4271640" cy="1474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33CE0E9-E512-79DE-C156-FA467DBD3E52}"/>
              </a:ext>
            </a:extLst>
          </p:cNvPr>
          <p:cNvSpPr/>
          <p:nvPr userDrawn="1"/>
        </p:nvSpPr>
        <p:spPr>
          <a:xfrm>
            <a:off x="7858053" y="5219125"/>
            <a:ext cx="4271639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85C0C59-5DF9-7B50-1407-59FE5EA29238}"/>
              </a:ext>
            </a:extLst>
          </p:cNvPr>
          <p:cNvSpPr/>
          <p:nvPr userDrawn="1"/>
        </p:nvSpPr>
        <p:spPr>
          <a:xfrm>
            <a:off x="9234996" y="702156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A81267-4D66-6420-AE1C-95866EC39D9E}"/>
              </a:ext>
            </a:extLst>
          </p:cNvPr>
          <p:cNvSpPr/>
          <p:nvPr userDrawn="1"/>
        </p:nvSpPr>
        <p:spPr>
          <a:xfrm>
            <a:off x="9234996" y="915847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F49DF3-60C9-F69A-D318-3C4F7BB5DC1A}"/>
              </a:ext>
            </a:extLst>
          </p:cNvPr>
          <p:cNvSpPr/>
          <p:nvPr userDrawn="1"/>
        </p:nvSpPr>
        <p:spPr>
          <a:xfrm>
            <a:off x="9234996" y="1129538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97E7CA-C774-D2DD-3A9C-5EB9838557E0}"/>
              </a:ext>
            </a:extLst>
          </p:cNvPr>
          <p:cNvSpPr/>
          <p:nvPr userDrawn="1"/>
        </p:nvSpPr>
        <p:spPr>
          <a:xfrm>
            <a:off x="9234996" y="1343229"/>
            <a:ext cx="2894696" cy="21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9DE1C1-8CD9-3622-8A8F-335B7667F507}"/>
              </a:ext>
            </a:extLst>
          </p:cNvPr>
          <p:cNvSpPr/>
          <p:nvPr userDrawn="1"/>
        </p:nvSpPr>
        <p:spPr>
          <a:xfrm>
            <a:off x="283490" y="1118865"/>
            <a:ext cx="1722795" cy="436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5419D19-512A-55EF-9462-558F410D575D}"/>
              </a:ext>
            </a:extLst>
          </p:cNvPr>
          <p:cNvSpPr/>
          <p:nvPr userDrawn="1"/>
        </p:nvSpPr>
        <p:spPr>
          <a:xfrm>
            <a:off x="2480222" y="1224536"/>
            <a:ext cx="670074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FB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不要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B33EAD7-7786-0EBC-7805-1F6221AC6184}"/>
              </a:ext>
            </a:extLst>
          </p:cNvPr>
          <p:cNvSpPr/>
          <p:nvPr userDrawn="1"/>
        </p:nvSpPr>
        <p:spPr>
          <a:xfrm>
            <a:off x="4261326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部長以上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51D4C64-C166-DE1B-55D2-E8CCFE9BBDF4}"/>
              </a:ext>
            </a:extLst>
          </p:cNvPr>
          <p:cNvSpPr/>
          <p:nvPr userDrawn="1"/>
        </p:nvSpPr>
        <p:spPr>
          <a:xfrm>
            <a:off x="5014841" y="1224536"/>
            <a:ext cx="792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GM</a:t>
            </a:r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以上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8EAFF33-F691-B459-D0B9-D3E66638BEDE}"/>
              </a:ext>
            </a:extLst>
          </p:cNvPr>
          <p:cNvSpPr/>
          <p:nvPr userDrawn="1"/>
        </p:nvSpPr>
        <p:spPr>
          <a:xfrm>
            <a:off x="5768357" y="1224536"/>
            <a:ext cx="932443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メンバー迄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83666F6-7F62-46F4-7685-7F053DC6B1CD}"/>
              </a:ext>
            </a:extLst>
          </p:cNvPr>
          <p:cNvSpPr/>
          <p:nvPr userDrawn="1"/>
        </p:nvSpPr>
        <p:spPr>
          <a:xfrm>
            <a:off x="1714418" y="399311"/>
            <a:ext cx="686213" cy="243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種別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632A358-7C77-8101-BAD5-7EC29DEACF5B}"/>
              </a:ext>
            </a:extLst>
          </p:cNvPr>
          <p:cNvSpPr/>
          <p:nvPr userDrawn="1"/>
        </p:nvSpPr>
        <p:spPr>
          <a:xfrm>
            <a:off x="183875" y="208722"/>
            <a:ext cx="1323134" cy="4022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起案書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4A96332-81EC-630F-45DA-E43C18C15194}"/>
              </a:ext>
            </a:extLst>
          </p:cNvPr>
          <p:cNvSpPr/>
          <p:nvPr userDrawn="1"/>
        </p:nvSpPr>
        <p:spPr>
          <a:xfrm>
            <a:off x="7624052" y="1560373"/>
            <a:ext cx="234001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起案背景・目的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9F4546B-ED96-C581-5837-655003E985D2}"/>
              </a:ext>
            </a:extLst>
          </p:cNvPr>
          <p:cNvSpPr/>
          <p:nvPr userDrawn="1"/>
        </p:nvSpPr>
        <p:spPr>
          <a:xfrm>
            <a:off x="7858053" y="1560373"/>
            <a:ext cx="4271640" cy="2183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A7C5E47-1DE1-F209-7347-5A99C4F1AB93}"/>
              </a:ext>
            </a:extLst>
          </p:cNvPr>
          <p:cNvSpPr txBox="1"/>
          <p:nvPr userDrawn="1"/>
        </p:nvSpPr>
        <p:spPr>
          <a:xfrm>
            <a:off x="9963557" y="486535"/>
            <a:ext cx="2228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フォントサイズは</a:t>
            </a:r>
            <a:r>
              <a:rPr kumimoji="1" lang="en-US" altLang="ja-JP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【Min10】</a:t>
            </a:r>
            <a:r>
              <a:rPr kumimoji="1" lang="ja-JP" altLang="en-US" sz="1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厳守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EEA7373-BC88-A861-C39B-30D3F6AF2B04}"/>
              </a:ext>
            </a:extLst>
          </p:cNvPr>
          <p:cNvSpPr/>
          <p:nvPr userDrawn="1"/>
        </p:nvSpPr>
        <p:spPr>
          <a:xfrm>
            <a:off x="10268531" y="110605"/>
            <a:ext cx="1728000" cy="2887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sz="11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領域戦略会</a:t>
            </a:r>
            <a:r>
              <a:rPr kumimoji="1" lang="en-US" altLang="ja-JP" sz="11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1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戦略・計画</a:t>
            </a:r>
            <a:r>
              <a:rPr kumimoji="1" lang="en-US" altLang="ja-JP" sz="11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100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AB5D38F-2B46-5CF9-6B98-0976F159A269}"/>
              </a:ext>
            </a:extLst>
          </p:cNvPr>
          <p:cNvSpPr/>
          <p:nvPr userDrawn="1"/>
        </p:nvSpPr>
        <p:spPr>
          <a:xfrm>
            <a:off x="242489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012D9E-614C-FCB2-FDF4-1523CBFBCDF9}"/>
              </a:ext>
            </a:extLst>
          </p:cNvPr>
          <p:cNvSpPr/>
          <p:nvPr userDrawn="1"/>
        </p:nvSpPr>
        <p:spPr>
          <a:xfrm>
            <a:off x="3956621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資料のみ決議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1F52A2C-1FFB-434D-8F54-52FE66DD2411}"/>
              </a:ext>
            </a:extLst>
          </p:cNvPr>
          <p:cNvSpPr/>
          <p:nvPr userDrawn="1"/>
        </p:nvSpPr>
        <p:spPr>
          <a:xfrm>
            <a:off x="2935471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審議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0EBF710-D6A8-B008-B765-C4F491C72C6A}"/>
              </a:ext>
            </a:extLst>
          </p:cNvPr>
          <p:cNvSpPr/>
          <p:nvPr userDrawn="1"/>
        </p:nvSpPr>
        <p:spPr>
          <a:xfrm>
            <a:off x="5043197" y="430993"/>
            <a:ext cx="1044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資料のみ報告</a:t>
            </a:r>
            <a:endParaRPr kumimoji="1" lang="ja-JP" altLang="en-US" sz="11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A829538A-4C7D-B69D-1CD9-4085E3BAA7CD}"/>
              </a:ext>
            </a:extLst>
          </p:cNvPr>
          <p:cNvSpPr/>
          <p:nvPr userDrawn="1"/>
        </p:nvSpPr>
        <p:spPr>
          <a:xfrm>
            <a:off x="3446046" y="430993"/>
            <a:ext cx="46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05F8769-1E62-0C4D-6351-F36D3EC57E7C}"/>
              </a:ext>
            </a:extLst>
          </p:cNvPr>
          <p:cNvSpPr/>
          <p:nvPr userDrawn="1"/>
        </p:nvSpPr>
        <p:spPr>
          <a:xfrm>
            <a:off x="3111811" y="1224536"/>
            <a:ext cx="1188000" cy="208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統括部長以上</a:t>
            </a:r>
          </a:p>
        </p:txBody>
      </p:sp>
      <p:sp>
        <p:nvSpPr>
          <p:cNvPr id="32" name="フッター プレースホルダー 7">
            <a:extLst>
              <a:ext uri="{FF2B5EF4-FFF2-40B4-BE49-F238E27FC236}">
                <a16:creationId xmlns:a16="http://schemas.microsoft.com/office/drawing/2014/main" id="{0B304F28-6F11-2D91-098A-2E7FEE63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84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4208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3999"/>
            <a:ext cx="11447462" cy="482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1B79DA71-214B-8E78-513A-679C033B9C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  <p:sp>
        <p:nvSpPr>
          <p:cNvPr id="10" name="フッター プレースホルダー 7">
            <a:extLst>
              <a:ext uri="{FF2B5EF4-FFF2-40B4-BE49-F238E27FC236}">
                <a16:creationId xmlns:a16="http://schemas.microsoft.com/office/drawing/2014/main" id="{1BF5882D-4DDC-8125-937E-6786E4A6C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11" name="スライド番号プレースホルダー 8">
            <a:extLst>
              <a:ext uri="{FF2B5EF4-FFF2-40B4-BE49-F238E27FC236}">
                <a16:creationId xmlns:a16="http://schemas.microsoft.com/office/drawing/2014/main" id="{0696E47F-D7F9-AE7B-0710-10E75C234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9141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3999"/>
            <a:ext cx="5544000" cy="482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26407B70-4857-AC66-381E-615EF0A74F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2399" y="863999"/>
            <a:ext cx="5544000" cy="482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2" name="テキスト プレースホルダー 9">
            <a:extLst>
              <a:ext uri="{FF2B5EF4-FFF2-40B4-BE49-F238E27FC236}">
                <a16:creationId xmlns:a16="http://schemas.microsoft.com/office/drawing/2014/main" id="{A99BB804-9BC2-1997-62C4-E0FD020C76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FD12583F-17BD-122E-069B-61E4F8075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CFF2E6F3-F95B-E765-5B0C-45866F216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318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3999"/>
            <a:ext cx="3600000" cy="4752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AEA2E90D-7DBF-A346-42AD-2A7868E1E8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84000" y="863999"/>
            <a:ext cx="3600000" cy="4752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89FFF393-0F16-2A7B-D94F-78658838AA0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208000" y="863999"/>
            <a:ext cx="3600000" cy="4752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4" name="テキスト プレースホルダー 9">
            <a:extLst>
              <a:ext uri="{FF2B5EF4-FFF2-40B4-BE49-F238E27FC236}">
                <a16:creationId xmlns:a16="http://schemas.microsoft.com/office/drawing/2014/main" id="{8E596397-9540-F4AB-17D9-E08AAB3BE9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  <p:sp>
        <p:nvSpPr>
          <p:cNvPr id="4" name="フッター プレースホルダー 7">
            <a:extLst>
              <a:ext uri="{FF2B5EF4-FFF2-40B4-BE49-F238E27FC236}">
                <a16:creationId xmlns:a16="http://schemas.microsoft.com/office/drawing/2014/main" id="{290620CE-502E-21AC-F387-741FE7732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7D55CCBC-2073-F9C4-3B52-C9B48DC45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30197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3999"/>
            <a:ext cx="11447462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E3998644-1180-AFE7-65A2-5BF7DCB4E90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0000" y="3420000"/>
            <a:ext cx="11447462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42B81BFB-8194-C954-A7F6-907B71A2B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4E753DAF-B9F1-B60A-116C-DD8BD6819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A072AF67-6B51-411D-BE5D-D3FE0BF10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07400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3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4000"/>
            <a:ext cx="11447462" cy="1475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1ABA03F6-6045-70F7-CDC2-6CE6819DF4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0363" y="2558726"/>
            <a:ext cx="11447462" cy="1475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AC31A9C-4ABE-9FA1-3859-F52F3954F00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60363" y="4281161"/>
            <a:ext cx="11447462" cy="1475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8401441-2D33-D885-1746-E00CD7887FF5}"/>
              </a:ext>
            </a:extLst>
          </p:cNvPr>
          <p:cNvSpPr txBox="1"/>
          <p:nvPr userDrawn="1"/>
        </p:nvSpPr>
        <p:spPr>
          <a:xfrm>
            <a:off x="2881745" y="6151418"/>
            <a:ext cx="0" cy="0"/>
          </a:xfrm>
          <a:prstGeom prst="rect">
            <a:avLst/>
          </a:prstGeom>
          <a:noFill/>
        </p:spPr>
        <p:txBody>
          <a:bodyPr wrap="none" lIns="108000" rIns="90000" rtlCol="0">
            <a:normAutofit fontScale="25000" lnSpcReduction="20000"/>
          </a:bodyPr>
          <a:lstStyle/>
          <a:p>
            <a:pPr algn="l"/>
            <a:endParaRPr kumimoji="1" lang="ja-JP" altLang="en-US" b="0" i="0">
              <a:solidFill>
                <a:schemeClr val="bg1"/>
              </a:solidFill>
              <a:ea typeface="Meiryo" panose="020B0604030504040204" pitchFamily="34" charset="-128"/>
            </a:endParaRPr>
          </a:p>
        </p:txBody>
      </p:sp>
      <p:sp>
        <p:nvSpPr>
          <p:cNvPr id="4" name="フッター プレースホルダー 7">
            <a:extLst>
              <a:ext uri="{FF2B5EF4-FFF2-40B4-BE49-F238E27FC236}">
                <a16:creationId xmlns:a16="http://schemas.microsoft.com/office/drawing/2014/main" id="{DDB7B6FC-EF1B-FA30-9341-598243B5E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BFA9BBEB-00A7-CE86-9CBA-893C4B1DE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D3CE861F-6D80-4315-BABD-3584B337C1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52683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2カラム_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863999"/>
            <a:ext cx="5544000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E3998644-1180-AFE7-65A2-5BF7DCB4E90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0000" y="3384000"/>
            <a:ext cx="5544000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5CE943F-8DFF-0A0E-09CA-3014B00BB78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64000" y="863999"/>
            <a:ext cx="5544000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8724A2F7-9CFF-029A-187B-653B8B43E89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4000" y="3384000"/>
            <a:ext cx="5544000" cy="219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フッター プレースホルダー 7">
            <a:extLst>
              <a:ext uri="{FF2B5EF4-FFF2-40B4-BE49-F238E27FC236}">
                <a16:creationId xmlns:a16="http://schemas.microsoft.com/office/drawing/2014/main" id="{8D4EF0B7-5077-BDEA-AECF-39F8ABC16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4FD1865E-3171-7354-567F-2E1FF319C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96E1C8D1-5071-4DBF-88E0-F97DA7D3D8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114418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見出しあり_1カラム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2" y="1692000"/>
            <a:ext cx="11447461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4000"/>
            <a:ext cx="11447462" cy="54784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3200" b="1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見出しを入力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CDA97645-8913-6C6D-283D-BD33B7E34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D44D7DF7-EA7C-A83B-9E29-DB8F0DB9E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BBB5D11A-3124-4235-98BB-2D5AB0564A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2261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見出しあり_2カラ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692000"/>
            <a:ext cx="5544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4000"/>
            <a:ext cx="11447462" cy="54784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3200" b="1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見出しを入力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8B00E7D-7FDE-BFC2-C9D1-B41581E75D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64000" y="1692000"/>
            <a:ext cx="5544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18F571CF-776F-D33C-60DF-9D62AEF50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CDC5C967-D209-1408-5A95-22C3C19EC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87CFB1D-3866-4F1D-8342-4B956E8DA4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03370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コンテンツ_見出しあり_2カラ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692000"/>
            <a:ext cx="3600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4000"/>
            <a:ext cx="11447462" cy="54784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3200" b="1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見出しを入力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8B00E7D-7FDE-BFC2-C9D1-B41581E75D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19825" y="1692000"/>
            <a:ext cx="7488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63611234-EB9D-B56A-5F01-7C8152864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9D144814-90D9-7C84-E600-BD7FD16C9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58B078F-9213-4F19-A73C-38D9EF14C9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114749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コンテンツ_見出しあり_2カラム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692000"/>
            <a:ext cx="7488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4000"/>
            <a:ext cx="11447462" cy="54784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3200" b="1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見出しを入力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68B00E7D-7FDE-BFC2-C9D1-B41581E75D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207825" y="1692000"/>
            <a:ext cx="3600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7C4402CE-25DD-3FC3-E601-3727FE754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07845088-9B7B-57D7-B32C-F8E1902E5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CECBF70E-0046-4715-AFB8-41FA1FB7C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857682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見出しあり_ 3カラム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692000"/>
            <a:ext cx="3600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4000"/>
            <a:ext cx="11447462" cy="54784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3200" b="1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見出しを入力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B9846B45-83F1-7D89-9CE3-C6FD5641CB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84000" y="1692000"/>
            <a:ext cx="3600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F7EEDEDE-E0C5-1F47-F066-39ED01855F8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8000" y="1692000"/>
            <a:ext cx="3600000" cy="39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1A73DCEB-293D-923B-1386-CD85DE44A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5475FC91-1306-A4B8-27CC-185F1F14A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3C22AC4-D8AF-46CB-8ADF-11563B5B2D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52410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説明あり_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2087997"/>
            <a:ext cx="11447462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3999"/>
            <a:ext cx="11448000" cy="10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説明を入力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36B75912-F5F1-3B8A-084B-B238AD1D1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2A578B6F-A124-1509-FD93-A3A371D8D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AA64B4C2-46FA-44C6-A055-09C80C5078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90405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説明あり_2カラ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2087997"/>
            <a:ext cx="5544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3999"/>
            <a:ext cx="11448000" cy="10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説明を入力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94EA3134-36CB-E0F1-E740-48F4D94819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64000" y="2087997"/>
            <a:ext cx="5544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3CADBBA8-7E19-30C9-9E6C-C3949286B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A94A05EF-C40C-BB3E-283F-281D00E18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2C4F9F7-7C4D-4339-AA1E-152F25FAA9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0552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コンテンツ_説明あり_2カラ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2087997"/>
            <a:ext cx="3600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3999"/>
            <a:ext cx="11448000" cy="10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説明を入力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94EA3134-36CB-E0F1-E740-48F4D94819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20000" y="2087997"/>
            <a:ext cx="7488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77FB28A9-C77F-61F1-CAD2-E0EB65403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ACC09DD1-863F-730C-6094-5E67439FC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104CDD14-7588-4518-A83D-71F864A02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98557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コンテンツ_説明あり_2カラム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2087997"/>
            <a:ext cx="7488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3999"/>
            <a:ext cx="11448000" cy="10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説明を入力</a:t>
            </a: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94EA3134-36CB-E0F1-E740-48F4D94819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208000" y="2087997"/>
            <a:ext cx="3600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BFE701F5-0D70-F985-3DA7-024563C22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D1AFD214-F1EF-13F2-449D-D3C167280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B80F811C-19F2-488D-BB63-85C6DBAB6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95059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_説明あり_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8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504D9-B26D-A2DD-8F0B-0BA7314B11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2087997"/>
            <a:ext cx="3600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EFF933-3380-4C11-08AC-849AB4D6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863999"/>
            <a:ext cx="11448000" cy="1008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説明を入力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46F6458-905F-F7AF-C49F-F976CFF99AF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84000" y="2087997"/>
            <a:ext cx="3600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A299D55-0B89-9AD6-93E6-100A3CA991E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8000" y="2087997"/>
            <a:ext cx="3600000" cy="36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0" i="0" baseline="0"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枠内に収める</a:t>
            </a:r>
          </a:p>
        </p:txBody>
      </p:sp>
      <p:sp>
        <p:nvSpPr>
          <p:cNvPr id="5" name="フッター プレースホルダー 7">
            <a:extLst>
              <a:ext uri="{FF2B5EF4-FFF2-40B4-BE49-F238E27FC236}">
                <a16:creationId xmlns:a16="http://schemas.microsoft.com/office/drawing/2014/main" id="{E5E5A0E7-4D53-1DFC-66FD-39EDEFE5B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6" name="スライド番号プレースホルダー 8">
            <a:extLst>
              <a:ext uri="{FF2B5EF4-FFF2-40B4-BE49-F238E27FC236}">
                <a16:creationId xmlns:a16="http://schemas.microsoft.com/office/drawing/2014/main" id="{479428E8-612E-6494-9CAF-2DF3CD5FA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00249A3-354A-4EAC-B204-68D23EFAAB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183090"/>
            <a:ext cx="11448000" cy="28469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2000" b="0" i="0" baseline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346999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4CD87E6-834A-505C-C51C-D8FEDA275DE3}"/>
              </a:ext>
            </a:extLst>
          </p:cNvPr>
          <p:cNvCxnSpPr>
            <a:cxnSpLocks/>
          </p:cNvCxnSpPr>
          <p:nvPr userDrawn="1"/>
        </p:nvCxnSpPr>
        <p:spPr>
          <a:xfrm>
            <a:off x="360000" y="3429000"/>
            <a:ext cx="11448000" cy="0"/>
          </a:xfrm>
          <a:prstGeom prst="line">
            <a:avLst/>
          </a:prstGeom>
          <a:ln w="12700">
            <a:solidFill>
              <a:srgbClr val="D5D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03BCD830-0D5F-1F77-B35C-DA4ABEEEB9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730777"/>
            <a:ext cx="11448000" cy="569387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4000" b="1" i="0" baseline="0">
                <a:solidFill>
                  <a:srgbClr val="1156BD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項目を入力してください</a:t>
            </a:r>
            <a:endParaRPr kumimoji="1" lang="en-US" altLang="ja-JP"/>
          </a:p>
        </p:txBody>
      </p:sp>
      <p:sp>
        <p:nvSpPr>
          <p:cNvPr id="4" name="フッター プレースホルダー 7">
            <a:extLst>
              <a:ext uri="{FF2B5EF4-FFF2-40B4-BE49-F238E27FC236}">
                <a16:creationId xmlns:a16="http://schemas.microsoft.com/office/drawing/2014/main" id="{BA53E4B5-F8DA-F4D6-E00B-4604AB4E9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36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C6664598-05DB-895D-7AC0-3086F0F7D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71432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7682F-65AE-264B-83F2-41A9AF13A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711AC5-CD4E-4643-971E-DD9342674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CBA5D7-B63E-404D-9B80-F6068497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7A7B-BF63-CB45-B3E3-D7C829CFB112}" type="datetime1">
              <a:rPr kumimoji="1" lang="ja-JP" altLang="en-US" smtClean="0"/>
              <a:t>2025/1/29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166899-E5F4-394D-9DD1-4F59A90B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ja-JP"/>
              <a:t>(C) Recruit □□□□□□□□ Co., Ltd.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1ED122-F142-974B-87EB-D0253B2D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CB7BD-B8BD-0947-BB8F-325DA399EB1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EEFDDD0-41F6-AC40-90D4-F626BEC1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19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BD9A4-F499-144C-94EA-B2B57F0E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CEC-A101-0545-8B79-0C981E3AF2AA}" type="datetime1">
              <a:rPr kumimoji="1" lang="ja-JP" altLang="en-US" smtClean="0"/>
              <a:t>2025/1/29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90CE55-EC2F-EC4B-9925-375DE82D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ja-JP"/>
              <a:t>(C) Recruit □□□□□□□□ Co., Ltd. All rights reserved. 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95D7B9-9318-3C46-B87B-47E6CD1F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CB7BD-B8BD-0947-BB8F-325DA399EB1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95F0BAE-0E4B-4C40-8314-4E195B969A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04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8A87DCA-BED0-164D-96AC-5B75C4C54D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9574" y="42137"/>
            <a:ext cx="1124454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200">
                <a:solidFill>
                  <a:schemeClr val="accent1">
                    <a:lumMod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22C953F1-5881-8742-806D-47AE68E812A3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E15A860-0855-604E-97AC-97548C69E407}" type="slidenum">
              <a:rPr kumimoji="0" lang="en-US" altLang="ja-JP" sz="1400" smtClean="0">
                <a:solidFill>
                  <a:srgbClr val="34464D"/>
                </a:solidFill>
                <a:latin typeface="Arial" panose="020B0604020202020204" pitchFamily="34" charset="0"/>
                <a:ea typeface="Osaka" charset="-128"/>
              </a:rPr>
              <a:pPr>
                <a:defRPr/>
              </a:pPr>
              <a:t>‹#›</a:t>
            </a:fld>
            <a:endParaRPr kumimoji="0" lang="en-US" altLang="ja-JP" sz="1400" dirty="0">
              <a:solidFill>
                <a:srgbClr val="34464D"/>
              </a:solidFill>
              <a:latin typeface="Arial" panose="020B0604020202020204" pitchFamily="34" charset="0"/>
              <a:ea typeface="Osaka" charset="-128"/>
            </a:endParaRPr>
          </a:p>
          <a:p>
            <a:endParaRPr lang="ja-JP" altLang="en-US" dirty="0"/>
          </a:p>
        </p:txBody>
      </p:sp>
      <p:sp>
        <p:nvSpPr>
          <p:cNvPr id="16" name="テキスト プレースホルダー 20">
            <a:extLst>
              <a:ext uri="{FF2B5EF4-FFF2-40B4-BE49-F238E27FC236}">
                <a16:creationId xmlns:a16="http://schemas.microsoft.com/office/drawing/2014/main" id="{3B9FE9DE-046D-0249-863C-5A29DE5587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9573" y="898524"/>
            <a:ext cx="11244543" cy="5197475"/>
          </a:xfrm>
        </p:spPr>
        <p:txBody>
          <a:bodyPr/>
          <a:lstStyle>
            <a:lvl1pPr>
              <a:defRPr sz="32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2567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3529AE1-302B-DB55-EDF8-8E10E34EC9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t="98449"/>
          <a:stretch/>
        </p:blipFill>
        <p:spPr>
          <a:xfrm>
            <a:off x="0" y="6751529"/>
            <a:ext cx="12192000" cy="106471"/>
          </a:xfrm>
          <a:prstGeom prst="rect">
            <a:avLst/>
          </a:prstGeom>
        </p:spPr>
      </p:pic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4CB066-E356-6A79-59D4-0007E3D43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07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" altLang="ja-JP"/>
              <a:t>(C) Recruit Co., Ltd. All rights reserved. </a:t>
            </a: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87AC67-8728-37BE-F6CA-CC30541F5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36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Meiryo" panose="020B0604030504040204" pitchFamily="34" charset="-128"/>
              </a:defRPr>
            </a:lvl1pPr>
          </a:lstStyle>
          <a:p>
            <a:fld id="{EDD55F78-D87A-074E-B5DA-6C9B598DD9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0BD6181-3015-0274-2BDF-659DC045C107}"/>
              </a:ext>
            </a:extLst>
          </p:cNvPr>
          <p:cNvPicPr preferRelativeResize="0">
            <a:picLocks/>
          </p:cNvPicPr>
          <p:nvPr userDrawn="1"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65528" y="6042327"/>
            <a:ext cx="1793619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8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54" r:id="rId4"/>
    <p:sldLayoutId id="2147483665" r:id="rId5"/>
    <p:sldLayoutId id="2147483666" r:id="rId6"/>
    <p:sldLayoutId id="2147483661" r:id="rId7"/>
    <p:sldLayoutId id="2147483662" r:id="rId8"/>
    <p:sldLayoutId id="2147483663" r:id="rId9"/>
    <p:sldLayoutId id="2147483664" r:id="rId10"/>
    <p:sldLayoutId id="2147483656" r:id="rId11"/>
    <p:sldLayoutId id="2147483671" r:id="rId12"/>
    <p:sldLayoutId id="2147483672" r:id="rId13"/>
    <p:sldLayoutId id="2147483660" r:id="rId14"/>
    <p:sldLayoutId id="2147483657" r:id="rId15"/>
    <p:sldLayoutId id="2147483658" r:id="rId16"/>
    <p:sldLayoutId id="2147483669" r:id="rId17"/>
    <p:sldLayoutId id="2147483670" r:id="rId18"/>
    <p:sldLayoutId id="2147483659" r:id="rId19"/>
    <p:sldLayoutId id="2147483649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1BDE16-2563-CC4E-B46D-AE3C1013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D983B6A8-C408-174A-A7E3-4992D0EA3D0E}" type="datetime1">
              <a:rPr lang="ja-JP" altLang="en-US" smtClean="0"/>
              <a:pPr/>
              <a:t>2025/1/29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1E13D-A87C-3648-A9AB-E93C42CD9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ja-JP" dirty="0"/>
              <a:t>(C) Recruit □□□□□□□□ Co., Ltd. All rights reserved. 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B2531D-EAC6-5942-9D27-77A0A4E75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0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1" lang="ja-JP" altLang="en-US" sz="12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B5CB7BD-B8BD-0947-BB8F-325DA399EB1F}" type="slidenum">
              <a:rPr lang="en-US" altLang="ja-JP" smtClean="0"/>
              <a:pPr/>
              <a:t>‹#›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45662ED-81BD-8A4D-B6E0-1230C25BD5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9574" y="68263"/>
            <a:ext cx="1124454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200" kern="1200">
                <a:solidFill>
                  <a:schemeClr val="accent1">
                    <a:lumMod val="75000"/>
                  </a:schemeClr>
                </a:solidFill>
                <a:latin typeface="Osaka Regular-Mono" panose="020B0600000000000000" pitchFamily="34" charset="-128"/>
                <a:ea typeface="Osaka Regular-Mono" panose="020B0600000000000000" pitchFamily="34" charset="-128"/>
                <a:cs typeface="+mj-cs"/>
              </a:defRPr>
            </a:lvl1pPr>
          </a:lstStyle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マスタ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タイトルの書式設定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D136FC-D046-CD47-A63B-98971FC2A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933360"/>
            <a:ext cx="11244542" cy="51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マスタ</a:t>
            </a:r>
            <a:r>
              <a:rPr kumimoji="1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</a:t>
            </a: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テキストの書式設定</a:t>
            </a:r>
            <a:endParaRPr kumimoji="1" lang="en-US" altLang="ja-JP" sz="32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2 </a:t>
            </a:r>
            <a:r>
              <a:rPr kumimoji="1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3 </a:t>
            </a:r>
            <a:r>
              <a:rPr kumimoji="1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4 </a:t>
            </a: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  <a:endParaRPr kumimoji="1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Arial"/>
              <a:ea typeface="Osaka"/>
            </a:endParaRP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第</a:t>
            </a:r>
            <a:r>
              <a:rPr kumimoji="1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 5 </a:t>
            </a: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Arial"/>
                <a:ea typeface="Osaka"/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82879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ＭＳ ゴシック" panose="020B0609070205080204" pitchFamily="49" charset="-128"/>
          <a:ea typeface="ＭＳ ゴシック" panose="020B0609070205080204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randsite.recruit.jp/ad_pr/56.html" TargetMode="External"/><Relationship Id="rId2" Type="http://schemas.openxmlformats.org/officeDocument/2006/relationships/hyperlink" Target="mailto:RAG_shinsya_madoguchi@waku-2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cocorou.sharepoint.com/sites/cocorabo/recruit/site010/SiteAssets/Lists/List/NewForm/IRP%EF%BC%8FIRT%20%E3%83%91%E3%83%AF%E3%83%BC%E3%83%9D%E3%82%A4%E3%83%B3%E3%83%88%E3%83%86%E3%83%B3%E3%83%97%E3%83%AC%E3%83%BC%E3%83%88.zip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corou.sharepoint.com/sites/cocorabo/recruit/site016/site003/SitePages/Home.aspx" TargetMode="External"/><Relationship Id="rId2" Type="http://schemas.openxmlformats.org/officeDocument/2006/relationships/hyperlink" Target="https://cocorou.sharepoint.com/sites/cocorabo/recruit/site010/SiteAssets/Lists/List/NewForm/%E3%80%90%E5%8F%82%E8%80%83%E8%B3%87%E6%96%99%E3%80%91_%20IRP%E3%83%BBIRT%E3%81%AB%E3%81%8A%E3%81%91%E3%82%8B%E4%BC%9A%E7%A4%BE%E5%90%8D_%E3%83%BB%E4%BC%9A%E7%A4%BE%E3%83%AD%E3%82%B4%E5%B7%AE%E3%81%97%E6%9B%BF%E3%81%88_%E5%A4%89%E6%9B%B4%E3%82%A4%E3%83%A1%E3%83%BC%E3%82%B8_0122%E6%9B%B4%E6%96%B0.pdf" TargetMode="Externa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brandsite.recruit.jp/download.html" TargetMode="External"/><Relationship Id="rId7" Type="http://schemas.openxmlformats.org/officeDocument/2006/relationships/hyperlink" Target="https://www.recruit.co.jp/privacy/personaldat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www.recruit.co.jp/license-epb/" TargetMode="External"/><Relationship Id="rId5" Type="http://schemas.openxmlformats.org/officeDocument/2006/relationships/hyperlink" Target="https://cocorou.sharepoint.com/sites/cocorabo/recruit/site010/SiteAssets/Lists/List/NewForm/IRP%EF%BC%8FIRT%20%E3%83%91%E3%83%AF%E3%83%BC%E3%83%9D%E3%82%A4%E3%83%B3%E3%83%88%E3%83%86%E3%83%B3%E3%83%97%E3%83%AC%E3%83%BC%E3%83%88.zip" TargetMode="External"/><Relationship Id="rId10" Type="http://schemas.openxmlformats.org/officeDocument/2006/relationships/hyperlink" Target="http://brandsite.recruit.jp/download/IRP_IRT_Brand_Guidelines_JP.zip" TargetMode="External"/><Relationship Id="rId4" Type="http://schemas.openxmlformats.org/officeDocument/2006/relationships/hyperlink" Target="http://brandsite.recruit.jp/ad_pr/56.html" TargetMode="Externa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corou.sharepoint.com/sites/cocorabo/group00103/site007/Lists/List12/Attachments/152/RAG_logo_manual_Ver.1.0_cs5_171116.pdf" TargetMode="External"/><Relationship Id="rId2" Type="http://schemas.openxmlformats.org/officeDocument/2006/relationships/hyperlink" Target="https://www.r-agent.com/" TargetMode="Externa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5" Type="http://schemas.openxmlformats.org/officeDocument/2006/relationships/hyperlink" Target="https://directscout.recruit.co.jp/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corou.sharepoint.com/sites/cocorabo/recruit/site010/SiteAssets/Lists/List/NewForm/%E3%80%90%E5%8F%82%E8%80%83%E8%B3%87%E6%96%99%E3%80%91_%20IRP%E3%83%BBIRT%E3%81%AB%E3%81%8A%E3%81%91%E3%82%8B%E4%BC%9A%E7%A4%BE%E5%90%8D_%E3%83%BB%E4%BC%9A%E7%A4%BE%E3%83%AD%E3%82%B4%E5%B7%AE%E3%81%97%E6%9B%BF%E3%81%88_%E5%A4%89%E6%9B%B4%E3%82%A4%E3%83%A1%E3%83%BC%E3%82%B8_0122%E6%9B%B4%E6%96%B0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ocorou.sharepoint.com/sites/cocorabo/recruit/site010/SiteAssets/Lists/List/NewForm/%E3%80%90%E5%8F%82%E8%80%83%E8%B3%87%E6%96%99%E3%80%91_%20IRP%E3%83%BBIRT%E3%81%AB%E3%81%8A%E3%81%91%E3%82%8B%E4%BC%9A%E7%A4%BE%E5%90%8D_%E3%83%BB%E4%BC%9A%E7%A4%BE%E3%83%AD%E3%82%B4%E5%B7%AE%E3%81%97%E6%9B%BF%E3%81%88_%E5%A4%89%E6%9B%B4%E3%82%A4%E3%83%A1%E3%83%BC%E3%82%B8_0122%E6%9B%B4%E6%96%B0.pdf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CB519B-764C-3B95-61A3-F823A46C4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" altLang="ja-JP" dirty="0"/>
              <a:t>(C) Recruit Co., Ltd. All rights reserved. 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DD8DC1-96E4-E81E-D431-31984F436B8E}"/>
              </a:ext>
            </a:extLst>
          </p:cNvPr>
          <p:cNvSpPr/>
          <p:nvPr/>
        </p:nvSpPr>
        <p:spPr>
          <a:xfrm>
            <a:off x="330896" y="1600200"/>
            <a:ext cx="7238304" cy="5011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sz="11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案件概要</a:t>
            </a:r>
            <a:endParaRPr kumimoji="1" lang="en-US" altLang="ja-JP" sz="110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月の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SBU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再編に伴う会社名・会社ロゴ等の対応方針が出ており、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原則現リクルートの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HR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事業に関し、会社名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会社ロゴ（リクルート）を掲出している場所は、全て新会社名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新会社ロゴ（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IRP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）に差し替えが必要となります。</a:t>
            </a: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現時点で判明している項目は主には以下。</a:t>
            </a: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6194221-440C-5E30-87C9-AD16C233F5BD}"/>
              </a:ext>
            </a:extLst>
          </p:cNvPr>
          <p:cNvSpPr/>
          <p:nvPr/>
        </p:nvSpPr>
        <p:spPr>
          <a:xfrm>
            <a:off x="7894748" y="1591671"/>
            <a:ext cx="4181921" cy="2102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■起案背景</a:t>
            </a:r>
            <a:endParaRPr lang="en-US" altLang="ja-JP" sz="110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SBU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再編に伴う会社名・会社ロゴ等に関して方針が出たため、対応を進めたい。</a:t>
            </a: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05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■本起案で決めたい事項</a:t>
            </a:r>
            <a:endParaRPr lang="en-US" altLang="ja-JP" sz="110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周知の為無</a:t>
            </a:r>
            <a:endParaRPr kumimoji="1"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ソリュ統対象組織：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SR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推進部、リクルートダイレクトスカウト部、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HR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ソリューション部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ED567C-A376-19C4-9226-BC602E1B68BC}"/>
              </a:ext>
            </a:extLst>
          </p:cNvPr>
          <p:cNvSpPr/>
          <p:nvPr/>
        </p:nvSpPr>
        <p:spPr>
          <a:xfrm>
            <a:off x="5151340" y="376111"/>
            <a:ext cx="874322" cy="21022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64B35F-8FD3-AD33-BF85-2CF4AE5F6F1F}"/>
              </a:ext>
            </a:extLst>
          </p:cNvPr>
          <p:cNvSpPr/>
          <p:nvPr/>
        </p:nvSpPr>
        <p:spPr>
          <a:xfrm>
            <a:off x="8877877" y="81240"/>
            <a:ext cx="3198791" cy="19626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501EEDE-2D76-E71F-BD94-4A6A9B9D9BC7}"/>
              </a:ext>
            </a:extLst>
          </p:cNvPr>
          <p:cNvSpPr/>
          <p:nvPr/>
        </p:nvSpPr>
        <p:spPr>
          <a:xfrm>
            <a:off x="4038600" y="1181493"/>
            <a:ext cx="767862" cy="23300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AC6D0AE-0305-EED3-10E5-3301C5C36D65}"/>
              </a:ext>
            </a:extLst>
          </p:cNvPr>
          <p:cNvSpPr/>
          <p:nvPr/>
        </p:nvSpPr>
        <p:spPr>
          <a:xfrm>
            <a:off x="7894748" y="5266329"/>
            <a:ext cx="4181921" cy="1345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組織で管理する顧客向け資料は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本方針に沿って対応を進めていただきたい。</a:t>
            </a:r>
            <a:endParaRPr kumimoji="1"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※CL/CS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統括部には、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CL/CS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サービス統括部、ハイグロ１～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部に対しては、今後の予定を別途広報します。</a:t>
            </a:r>
            <a:endParaRPr kumimoji="1"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問合せ先：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HR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_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新社対応窓口 </a:t>
            </a:r>
            <a:r>
              <a:rPr kumimoji="1"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RAG_shinsya_madoguchi@waku-2.com</a:t>
            </a:r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kumimoji="1"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F5FAE4B-99AD-D622-25E0-6AB66FAEF994}"/>
              </a:ext>
            </a:extLst>
          </p:cNvPr>
          <p:cNvSpPr/>
          <p:nvPr/>
        </p:nvSpPr>
        <p:spPr>
          <a:xfrm>
            <a:off x="9226724" y="715563"/>
            <a:ext cx="2849945" cy="207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池田 優子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1F34B0-472D-57EA-1D76-43C5C364E2C2}"/>
              </a:ext>
            </a:extLst>
          </p:cNvPr>
          <p:cNvSpPr/>
          <p:nvPr/>
        </p:nvSpPr>
        <p:spPr>
          <a:xfrm>
            <a:off x="9226724" y="923544"/>
            <a:ext cx="2849945" cy="207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山本 沙織</a:t>
            </a:r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3B12252-ACFC-25CF-3411-5D1A9EFD07A5}"/>
              </a:ext>
            </a:extLst>
          </p:cNvPr>
          <p:cNvSpPr/>
          <p:nvPr/>
        </p:nvSpPr>
        <p:spPr>
          <a:xfrm>
            <a:off x="9226724" y="1131525"/>
            <a:ext cx="2849945" cy="207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CA6C7BB-8700-C30A-8A09-96025254D21E}"/>
              </a:ext>
            </a:extLst>
          </p:cNvPr>
          <p:cNvSpPr/>
          <p:nvPr/>
        </p:nvSpPr>
        <p:spPr>
          <a:xfrm>
            <a:off x="9226724" y="1339506"/>
            <a:ext cx="2849945" cy="207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顧客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推進部品質管理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 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岸 慶比古　</a:t>
            </a:r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23120B4-F338-3691-A80E-B8B80A382E69}"/>
              </a:ext>
            </a:extLst>
          </p:cNvPr>
          <p:cNvSpPr/>
          <p:nvPr/>
        </p:nvSpPr>
        <p:spPr>
          <a:xfrm>
            <a:off x="330896" y="715563"/>
            <a:ext cx="7163440" cy="415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周知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】2025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月の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SBU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再編に伴う会社名・会社ロゴ等の変更対応</a:t>
            </a:r>
            <a:endParaRPr kumimoji="1" lang="ja-JP" altLang="en-US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A3238D-F2BF-B8F5-F47A-EC957064ABA6}"/>
              </a:ext>
            </a:extLst>
          </p:cNvPr>
          <p:cNvSpPr/>
          <p:nvPr/>
        </p:nvSpPr>
        <p:spPr>
          <a:xfrm>
            <a:off x="7894747" y="3773831"/>
            <a:ext cx="4181921" cy="1441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kumimoji="1" lang="ja-JP" altLang="en-US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BA08E19-14B1-8F50-EDA8-07270D4684ED}"/>
              </a:ext>
            </a:extLst>
          </p:cNvPr>
          <p:cNvSpPr/>
          <p:nvPr/>
        </p:nvSpPr>
        <p:spPr>
          <a:xfrm>
            <a:off x="330896" y="1131524"/>
            <a:ext cx="1635064" cy="41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31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kumimoji="1"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F584DFA3-34EE-D7BA-25A7-58EFE3876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143906"/>
              </p:ext>
            </p:extLst>
          </p:nvPr>
        </p:nvGraphicFramePr>
        <p:xfrm>
          <a:off x="367174" y="2351607"/>
          <a:ext cx="7163440" cy="2304260"/>
        </p:xfrm>
        <a:graphic>
          <a:graphicData uri="http://schemas.openxmlformats.org/drawingml/2006/table">
            <a:tbl>
              <a:tblPr firstRow="1" bandRow="1"/>
              <a:tblGrid>
                <a:gridCol w="1036796">
                  <a:extLst>
                    <a:ext uri="{9D8B030D-6E8A-4147-A177-3AD203B41FA5}">
                      <a16:colId xmlns:a16="http://schemas.microsoft.com/office/drawing/2014/main" val="263971825"/>
                    </a:ext>
                  </a:extLst>
                </a:gridCol>
                <a:gridCol w="2790093">
                  <a:extLst>
                    <a:ext uri="{9D8B030D-6E8A-4147-A177-3AD203B41FA5}">
                      <a16:colId xmlns:a16="http://schemas.microsoft.com/office/drawing/2014/main" val="206192391"/>
                    </a:ext>
                  </a:extLst>
                </a:gridCol>
                <a:gridCol w="3336551">
                  <a:extLst>
                    <a:ext uri="{9D8B030D-6E8A-4147-A177-3AD203B41FA5}">
                      <a16:colId xmlns:a16="http://schemas.microsoft.com/office/drawing/2014/main" val="3525707985"/>
                    </a:ext>
                  </a:extLst>
                </a:gridCol>
              </a:tblGrid>
              <a:tr h="25425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kumimoji="1" lang="ja-JP" altLang="en-US" sz="10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項目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tx2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</a:t>
                      </a:r>
                      <a:endParaRPr lang="en-US" altLang="ja-JP" sz="1000" b="1" i="0" u="none" strike="noStrike" dirty="0">
                        <a:solidFill>
                          <a:schemeClr val="tx2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bg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tx2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新（</a:t>
                      </a:r>
                      <a:r>
                        <a:rPr lang="en-US" altLang="ja-JP" sz="1000" u="none" strike="noStrike" dirty="0">
                          <a:solidFill>
                            <a:schemeClr val="tx2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4/1</a:t>
                      </a:r>
                      <a:r>
                        <a:rPr lang="ja-JP" altLang="en-US" sz="1000" u="none" strike="noStrike" dirty="0">
                          <a:solidFill>
                            <a:schemeClr val="tx2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以降）</a:t>
                      </a:r>
                      <a:endParaRPr lang="ja-JP" altLang="en-US" sz="1000" b="1" i="0" u="none" strike="noStrike" dirty="0">
                        <a:solidFill>
                          <a:schemeClr val="tx2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11009"/>
                  </a:ext>
                </a:extLst>
              </a:tr>
              <a:tr h="38286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株式会社リクルート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株式会社インディードリクルートパートナーズ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998750"/>
                  </a:ext>
                </a:extLst>
              </a:tr>
              <a:tr h="4513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会社ロゴ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622539"/>
                  </a:ext>
                </a:extLst>
              </a:tr>
              <a:tr h="343918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各種制作物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のフッター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(C) Recruit Co., Ltd.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All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rights reserved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※</a:t>
                      </a:r>
                      <a:r>
                        <a:rPr lang="ja-JP" altLang="en-US" sz="1000" dirty="0"/>
                        <a:t>著作権表記の記載方法は以下いずれか</a:t>
                      </a:r>
                      <a:endParaRPr lang="en-US" altLang="ja-JP" sz="1000" dirty="0"/>
                    </a:p>
                    <a:p>
                      <a:pPr algn="ctr" fontAlgn="ctr"/>
                      <a:r>
                        <a:rPr lang="ja-JP" altLang="en-US" sz="1000" dirty="0"/>
                        <a:t>（</a:t>
                      </a:r>
                      <a:r>
                        <a:rPr lang="en-US" altLang="ja-JP" sz="1000" dirty="0"/>
                        <a:t>HR</a:t>
                      </a:r>
                      <a:r>
                        <a:rPr lang="ja-JP" altLang="en-US" sz="1000" dirty="0"/>
                        <a:t>エージェント</a:t>
                      </a:r>
                      <a:r>
                        <a:rPr lang="en-US" altLang="ja-JP" sz="1000" dirty="0"/>
                        <a:t>Div</a:t>
                      </a:r>
                      <a:r>
                        <a:rPr lang="ja-JP" altLang="en-US" sz="1000" dirty="0"/>
                        <a:t>では西暦無推奨）</a:t>
                      </a:r>
                      <a:endParaRPr lang="en-US" altLang="ja-JP" sz="1000" dirty="0"/>
                    </a:p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例）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© 2025 Indeed Recruit Partners</a:t>
                      </a:r>
                    </a:p>
                    <a:p>
                      <a:pPr algn="ctr" fontAlgn="ctr"/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例）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(C) Indeed Recruit Partners Co., Ltd. All rights reserved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077539"/>
                  </a:ext>
                </a:extLst>
              </a:tr>
              <a:tr h="45380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パワーポイント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フォーマット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http://brandsite.recruit.jp/ad_pr/56.html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游ゴシック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kumimoji="1" lang="en-US" altLang="ja-JP" sz="1000" u="sng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  <a:hlinkClick r:id="rId4"/>
                        </a:rPr>
                        <a:t>IRP／IRT パワーポイントテンプレート.zip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990403"/>
                  </a:ext>
                </a:extLst>
              </a:tr>
            </a:tbl>
          </a:graphicData>
        </a:graphic>
      </p:graphicFrame>
      <p:pic>
        <p:nvPicPr>
          <p:cNvPr id="17" name="図 16">
            <a:extLst>
              <a:ext uri="{FF2B5EF4-FFF2-40B4-BE49-F238E27FC236}">
                <a16:creationId xmlns:a16="http://schemas.microsoft.com/office/drawing/2014/main" id="{010D1999-9348-6D03-991A-A8FF4117A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104" y="3052438"/>
            <a:ext cx="1886927" cy="335562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498A168-0C3B-B2B1-6B3D-B55D5C7ED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479" y="3016063"/>
            <a:ext cx="1289783" cy="371937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455BC0E-2103-BA41-8B2D-9D219189C2B1}"/>
              </a:ext>
            </a:extLst>
          </p:cNvPr>
          <p:cNvSpPr txBox="1"/>
          <p:nvPr/>
        </p:nvSpPr>
        <p:spPr>
          <a:xfrm>
            <a:off x="367174" y="4816153"/>
            <a:ext cx="7238303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■お願いしたいこと　</a:t>
            </a:r>
            <a:endParaRPr lang="en-US" altLang="ja-JP" sz="1050" b="1" dirty="0">
              <a:solidFill>
                <a:schemeClr val="tx2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・補足資料をご確認の上</a:t>
            </a:r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月末までに、各部にて変更対応が必要な対象の洗い出し、変更準備を進めてください。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実際の利用は</a:t>
            </a:r>
            <a:r>
              <a:rPr lang="en-US" altLang="ja-JP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4/1</a:t>
            </a:r>
            <a:r>
              <a:rPr lang="ja-JP" altLang="en-US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から開始ください。</a:t>
            </a:r>
            <a:r>
              <a:rPr lang="en-US" altLang="ja-JP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05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月中の新社名でのサービス提供は職業紹介の免許の問題により禁止です。</a:t>
            </a:r>
            <a:endParaRPr lang="en-US" altLang="ja-JP" sz="105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50" b="1" dirty="0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■ご認識いただきたいこと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現時点では未定の内容もありますので、分かり次第追って広報予定（詳細は次頁以降参照） 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エージェントジャッジ会・ソリュ統ジャッジ会・コミュレビュ会など起案対象のものについては、ホワイトリスト対応を検討中、追って広報予定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従業員の個人単位の差し替え（名乗り含む）は、</a:t>
            </a:r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月中に決議の上</a:t>
            </a:r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月上旬までに全体広報・周知予定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25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3">
            <a:extLst>
              <a:ext uri="{FF2B5EF4-FFF2-40B4-BE49-F238E27FC236}">
                <a16:creationId xmlns:a16="http://schemas.microsoft.com/office/drawing/2014/main" id="{2F6A987C-57E1-F642-8603-1C9842942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3892" y="5895774"/>
            <a:ext cx="3632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rgbClr val="33464D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2025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年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1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月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31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日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33464D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顧客ロイヤルティ推進部　品質管理</a:t>
            </a: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33464D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G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5B9AE1-075F-3140-B1A5-4B19C485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3494ACBB-E556-2D7B-FB39-F560C58E5A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501898" y="1543050"/>
            <a:ext cx="6080502" cy="23876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SBU</a:t>
            </a:r>
            <a:r>
              <a:rPr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再編に伴う</a:t>
            </a:r>
            <a:br>
              <a:rPr lang="en-US" altLang="ja-JP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新社名・ロゴなどに関する変更対応</a:t>
            </a:r>
          </a:p>
        </p:txBody>
      </p:sp>
    </p:spTree>
    <p:extLst>
      <p:ext uri="{BB962C8B-B14F-4D97-AF65-F5344CB8AC3E}">
        <p14:creationId xmlns:p14="http://schemas.microsoft.com/office/powerpoint/2010/main" val="176124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95983"/>
            <a:ext cx="11244543" cy="365125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SBU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再編に向けた会社名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会社ロゴ等の変更について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D3B9DB-78DD-F250-DC2F-4F0C1628321B}"/>
              </a:ext>
            </a:extLst>
          </p:cNvPr>
          <p:cNvSpPr txBox="1"/>
          <p:nvPr/>
        </p:nvSpPr>
        <p:spPr>
          <a:xfrm>
            <a:off x="372975" y="654260"/>
            <a:ext cx="11446050" cy="588968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＜ご対応いただきたいこと＞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月末までに、各部にて変更対応が必要な対象の洗い出し、変更準備を進めてください。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※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実際の利用は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4/1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から開始ください。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月中の新社名でのサービス提供は職業紹介の免許の問題により禁止です。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4/1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までの変更対応が難しい場合、対応期限は</a:t>
            </a:r>
            <a:r>
              <a:rPr kumimoji="1" lang="en-US" altLang="ja-JP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6/30</a:t>
            </a:r>
            <a:r>
              <a:rPr kumimoji="1" lang="ja-JP" alt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まで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としてください。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※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現時点で未定のものについては、決まり次第追って広報します。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●対応変更が必要なもの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原則：現リクルートの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HR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事業に関し、会社名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会社ロゴ（リクルート）を掲出している場所は、全て新会社名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新会社ロゴ（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IRP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）に差し替え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例）・昨年末にプロダクトからの依頼を受けて洗い出したもの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・ここらぼに掲載している汎用資料・共通ツール類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・メルマガ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・パンフレット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・営業資料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・共通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個人メールテンプレおよびメール署名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※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現時点では未定の内容もあります。（詳細は次頁以降参照）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※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エージェントジャッジ会・ソリュ統ジャッジ会・コミュレビュ会など起案対象のものについては、ホワイトリスト対応を検討中（追って広報します）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※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従業員の個人単位の差し替え（名乗り含む）は、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月中に決議の上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月上旬までに全体広報・周知予定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参考資料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】 IRP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IRT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における、 会社名 ・会社ロゴ差し替え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_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変更イメージ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＜問合せ先＞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HR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エージェント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_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新社対応窓口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&lt;RAG_shinsya_madoguchi@waku-2.com&gt;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参考：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2025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年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4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月の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SBU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再編についてのお知らせ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もご確認ください。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44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95983"/>
            <a:ext cx="11244543" cy="365125"/>
          </a:xfrm>
        </p:spPr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■現リクルートの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HR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事業に関わるサービスにおける変更事項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～共通～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E1F17F6-582A-4494-B4CB-B79CD24A5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288506"/>
              </p:ext>
            </p:extLst>
          </p:nvPr>
        </p:nvGraphicFramePr>
        <p:xfrm>
          <a:off x="409574" y="888328"/>
          <a:ext cx="11480427" cy="531996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31993">
                  <a:extLst>
                    <a:ext uri="{9D8B030D-6E8A-4147-A177-3AD203B41FA5}">
                      <a16:colId xmlns:a16="http://schemas.microsoft.com/office/drawing/2014/main" val="3525425399"/>
                    </a:ext>
                  </a:extLst>
                </a:gridCol>
                <a:gridCol w="1852381">
                  <a:extLst>
                    <a:ext uri="{9D8B030D-6E8A-4147-A177-3AD203B41FA5}">
                      <a16:colId xmlns:a16="http://schemas.microsoft.com/office/drawing/2014/main" val="3401279893"/>
                    </a:ext>
                  </a:extLst>
                </a:gridCol>
                <a:gridCol w="2767116">
                  <a:extLst>
                    <a:ext uri="{9D8B030D-6E8A-4147-A177-3AD203B41FA5}">
                      <a16:colId xmlns:a16="http://schemas.microsoft.com/office/drawing/2014/main" val="2711513302"/>
                    </a:ext>
                  </a:extLst>
                </a:gridCol>
                <a:gridCol w="3425580">
                  <a:extLst>
                    <a:ext uri="{9D8B030D-6E8A-4147-A177-3AD203B41FA5}">
                      <a16:colId xmlns:a16="http://schemas.microsoft.com/office/drawing/2014/main" val="1422785948"/>
                    </a:ext>
                  </a:extLst>
                </a:gridCol>
                <a:gridCol w="2703357">
                  <a:extLst>
                    <a:ext uri="{9D8B030D-6E8A-4147-A177-3AD203B41FA5}">
                      <a16:colId xmlns:a16="http://schemas.microsoft.com/office/drawing/2014/main" val="4126434885"/>
                    </a:ext>
                  </a:extLst>
                </a:gridCol>
              </a:tblGrid>
              <a:tr h="352758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</a:t>
                      </a:r>
                      <a:endParaRPr lang="en-US" altLang="ja-JP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新（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4/1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以降）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参照先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482874"/>
                  </a:ext>
                </a:extLst>
              </a:tr>
              <a:tr h="35275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名乗り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リクルート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CS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はサービス名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未定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決まり次第、広報します。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94184"/>
                  </a:ext>
                </a:extLst>
              </a:tr>
              <a:tr h="33275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企業サイト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https://www.recruit.co.jp/</a:t>
                      </a:r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982981"/>
                  </a:ext>
                </a:extLst>
              </a:tr>
              <a:tr h="32141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株式会社リクルート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株式会社インディードリクルートパートナーズ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248389"/>
                  </a:ext>
                </a:extLst>
              </a:tr>
              <a:tr h="462941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会社ロゴ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http://brandsite.recruit.jp/download.html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よりダウンロードしてご利用ください。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331557"/>
                  </a:ext>
                </a:extLst>
              </a:tr>
              <a:tr h="462941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商品・サービスサイト</a:t>
                      </a:r>
                      <a:endParaRPr lang="en-US" altLang="ja-JP" sz="1000" b="1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フッター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RECRUIT (C) Recruit Co., Ltd. </a:t>
                      </a:r>
                    </a:p>
                    <a:p>
                      <a:pPr algn="ctr" fontAlgn="ctr"/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遷移先：株式会社リクルートコーポレートサイト</a:t>
                      </a:r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RECRUIT (C) Indeed Recruit Partners Co., Ltd. </a:t>
                      </a:r>
                    </a:p>
                    <a:p>
                      <a:pPr algn="ctr" fontAlgn="ctr"/>
                      <a:r>
                        <a:rPr lang="en-US" altLang="ja-JP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遷移先：株式会社インディードリクルートパートナーズコーポレートサイト</a:t>
                      </a:r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003964"/>
                  </a:ext>
                </a:extLst>
              </a:tr>
              <a:tr h="73168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各種制作物のフッター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(C) Recruit Co., Ltd.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All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rights reserved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※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著作権表記の記載方法は以下いずれか</a:t>
                      </a:r>
                      <a:endParaRPr kumimoji="1" lang="en-US" altLang="ja-JP" sz="1000" u="none" strike="noStrike" kern="1200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HR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エージェント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Div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では西暦無推奨）</a:t>
                      </a:r>
                      <a:endParaRPr kumimoji="1" lang="en-US" altLang="ja-JP" sz="1000" u="none" strike="noStrike" kern="1200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+mn-cs"/>
                      </a:endParaRPr>
                    </a:p>
                    <a:p>
                      <a:pPr algn="ctr" fontAlgn="ctr"/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例）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© 2025 Indeed Recruit Partners</a:t>
                      </a:r>
                    </a:p>
                    <a:p>
                      <a:pPr algn="ctr" fontAlgn="ctr"/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 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例）</a:t>
                      </a:r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(C) Indeed Recruit Partners Co., Ltd. All rights reserved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© 2025 Indeed Recruit Partners </a:t>
                      </a:r>
                      <a:r>
                        <a:rPr kumimoji="1" lang="ja-JP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の場合毎年更新が必要となります。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137111"/>
                  </a:ext>
                </a:extLst>
              </a:tr>
              <a:tr h="416742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パワーポイント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フォーマット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http://brandsite.recruit.jp/ad_pr/56.html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ja-JP" sz="1000" u="sng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  <a:hlinkClick r:id="rId5"/>
                        </a:rPr>
                        <a:t>IRP／IRT パワーポイントテンプレート.zip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左記のリンク先より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ダウンロードしてご利用ください。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711211"/>
                  </a:ext>
                </a:extLst>
              </a:tr>
              <a:tr h="45678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個人情報管理責任者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株式会社リクルート </a:t>
                      </a:r>
                    </a:p>
                    <a:p>
                      <a:pPr algn="ctr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本サービス担当員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決まり次第、広報します。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許可番号は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月末確定予定。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406615"/>
                  </a:ext>
                </a:extLst>
              </a:tr>
              <a:tr h="298668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許可番号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ja-JP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第</a:t>
                      </a:r>
                      <a:r>
                        <a:rPr kumimoji="1" lang="en-US" altLang="ja-JP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2304010(01)</a:t>
                      </a:r>
                      <a:r>
                        <a:rPr kumimoji="1" lang="ja-JP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+mn-cs"/>
                        </a:rPr>
                        <a:t>号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114488"/>
                  </a:ext>
                </a:extLst>
              </a:tr>
              <a:tr h="34461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事業許可内容</a:t>
                      </a:r>
                      <a:r>
                        <a:rPr lang="en-US" altLang="zh-TW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6"/>
                        </a:rPr>
                        <a:t>https://www.recruit.co.jp/license-epb/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961805"/>
                  </a:ext>
                </a:extLst>
              </a:tr>
              <a:tr h="755590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パーソナルデータ指針の</a:t>
                      </a:r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7"/>
                        </a:rPr>
                        <a:t>https://www.recruit.co.jp/privacy/personaldata/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242127"/>
                  </a:ext>
                </a:extLst>
              </a:tr>
            </a:tbl>
          </a:graphicData>
        </a:graphic>
      </p:graphicFrame>
      <p:pic>
        <p:nvPicPr>
          <p:cNvPr id="9" name="図 8">
            <a:extLst>
              <a:ext uri="{FF2B5EF4-FFF2-40B4-BE49-F238E27FC236}">
                <a16:creationId xmlns:a16="http://schemas.microsoft.com/office/drawing/2014/main" id="{062EED9D-1AAD-4D49-C14A-40F4ACCB57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680" y="2346914"/>
            <a:ext cx="1886927" cy="33556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C0721DC-CFF3-CB37-145E-28966E16B3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9431" y="2310539"/>
            <a:ext cx="1289783" cy="37193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A43D41-E16D-772F-ADB2-667C8D8C3EBB}"/>
              </a:ext>
            </a:extLst>
          </p:cNvPr>
          <p:cNvSpPr txBox="1"/>
          <p:nvPr/>
        </p:nvSpPr>
        <p:spPr>
          <a:xfrm>
            <a:off x="6772760" y="6233239"/>
            <a:ext cx="5069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ブランドロゴ等の利用に際しては必ず</a:t>
            </a:r>
            <a:r>
              <a:rPr kumimoji="1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10"/>
              </a:rPr>
              <a:t>「ブランドガイドラン」</a:t>
            </a:r>
            <a:r>
              <a:rPr kumimoji="1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を確認してください。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33587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95983"/>
            <a:ext cx="11244543" cy="365125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現リクルートの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HR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事業に関わるサービスにおける変更事項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～共通～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E3DE9A44-F9FC-F16F-4911-971BDB62A160}"/>
              </a:ext>
            </a:extLst>
          </p:cNvPr>
          <p:cNvGraphicFramePr>
            <a:graphicFrameLocks noGrp="1"/>
          </p:cNvGraphicFramePr>
          <p:nvPr/>
        </p:nvGraphicFramePr>
        <p:xfrm>
          <a:off x="361950" y="962896"/>
          <a:ext cx="11446050" cy="200563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29801">
                  <a:extLst>
                    <a:ext uri="{9D8B030D-6E8A-4147-A177-3AD203B41FA5}">
                      <a16:colId xmlns:a16="http://schemas.microsoft.com/office/drawing/2014/main" val="3525425399"/>
                    </a:ext>
                  </a:extLst>
                </a:gridCol>
                <a:gridCol w="2167264">
                  <a:extLst>
                    <a:ext uri="{9D8B030D-6E8A-4147-A177-3AD203B41FA5}">
                      <a16:colId xmlns:a16="http://schemas.microsoft.com/office/drawing/2014/main" val="3401279893"/>
                    </a:ext>
                  </a:extLst>
                </a:gridCol>
                <a:gridCol w="3087077">
                  <a:extLst>
                    <a:ext uri="{9D8B030D-6E8A-4147-A177-3AD203B41FA5}">
                      <a16:colId xmlns:a16="http://schemas.microsoft.com/office/drawing/2014/main" val="2711513302"/>
                    </a:ext>
                  </a:extLst>
                </a:gridCol>
                <a:gridCol w="2868246">
                  <a:extLst>
                    <a:ext uri="{9D8B030D-6E8A-4147-A177-3AD203B41FA5}">
                      <a16:colId xmlns:a16="http://schemas.microsoft.com/office/drawing/2014/main" val="1422785948"/>
                    </a:ext>
                  </a:extLst>
                </a:gridCol>
                <a:gridCol w="2593662">
                  <a:extLst>
                    <a:ext uri="{9D8B030D-6E8A-4147-A177-3AD203B41FA5}">
                      <a16:colId xmlns:a16="http://schemas.microsoft.com/office/drawing/2014/main" val="41264348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</a:t>
                      </a:r>
                      <a:endParaRPr lang="en-US" altLang="ja-JP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新（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4/1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以降）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参照先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482874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サイトの</a:t>
                      </a:r>
                      <a:r>
                        <a:rPr 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https://www.r-agent.com/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変更なし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94184"/>
                  </a:ext>
                </a:extLst>
              </a:tr>
              <a:tr h="4724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サービスロゴ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変更なし</a:t>
                      </a:r>
                      <a:b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サービスサイトは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</a:t>
                      </a:r>
                      <a:r>
                        <a:rPr 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RODUCED BY</a:t>
                      </a:r>
                      <a:r>
                        <a:rPr 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RECRUIT</a:t>
                      </a:r>
                      <a:r>
                        <a:rPr 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」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が必須です。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参考：サービスロゴマニュアル</a:t>
                      </a:r>
                      <a:r>
                        <a:rPr lang="en-US" altLang="ja-JP" sz="1000" dirty="0">
                          <a:hlinkClick r:id="rId3"/>
                        </a:rPr>
                        <a:t>RAG_logomanual_Ver.0.1_cs5_0509 2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331557"/>
                  </a:ext>
                </a:extLst>
              </a:tr>
              <a:tr h="5236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CS</a:t>
                      </a:r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CL</a:t>
                      </a:r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向け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各種規約・プライバシー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</a:t>
                      </a:r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未定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決まり次第、広報します。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836715"/>
                  </a:ext>
                </a:extLst>
              </a:tr>
            </a:tbl>
          </a:graphicData>
        </a:graphic>
      </p:graphicFrame>
      <p:pic>
        <p:nvPicPr>
          <p:cNvPr id="8" name="図 7">
            <a:extLst>
              <a:ext uri="{FF2B5EF4-FFF2-40B4-BE49-F238E27FC236}">
                <a16:creationId xmlns:a16="http://schemas.microsoft.com/office/drawing/2014/main" id="{F1E6685F-6970-BC6C-AFB2-1B3BC801B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840" y="1862046"/>
            <a:ext cx="2742468" cy="370015"/>
          </a:xfrm>
          <a:prstGeom prst="rect">
            <a:avLst/>
          </a:prstGeom>
        </p:spPr>
      </p:pic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C52A58F-B227-6229-2E65-B99C1816DEAF}"/>
              </a:ext>
            </a:extLst>
          </p:cNvPr>
          <p:cNvGraphicFramePr>
            <a:graphicFrameLocks noGrp="1"/>
          </p:cNvGraphicFramePr>
          <p:nvPr/>
        </p:nvGraphicFramePr>
        <p:xfrm>
          <a:off x="361950" y="3429000"/>
          <a:ext cx="11446050" cy="196246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29801">
                  <a:extLst>
                    <a:ext uri="{9D8B030D-6E8A-4147-A177-3AD203B41FA5}">
                      <a16:colId xmlns:a16="http://schemas.microsoft.com/office/drawing/2014/main" val="3525425399"/>
                    </a:ext>
                  </a:extLst>
                </a:gridCol>
                <a:gridCol w="2228210">
                  <a:extLst>
                    <a:ext uri="{9D8B030D-6E8A-4147-A177-3AD203B41FA5}">
                      <a16:colId xmlns:a16="http://schemas.microsoft.com/office/drawing/2014/main" val="3401279893"/>
                    </a:ext>
                  </a:extLst>
                </a:gridCol>
                <a:gridCol w="3026131">
                  <a:extLst>
                    <a:ext uri="{9D8B030D-6E8A-4147-A177-3AD203B41FA5}">
                      <a16:colId xmlns:a16="http://schemas.microsoft.com/office/drawing/2014/main" val="2711513302"/>
                    </a:ext>
                  </a:extLst>
                </a:gridCol>
                <a:gridCol w="2868246">
                  <a:extLst>
                    <a:ext uri="{9D8B030D-6E8A-4147-A177-3AD203B41FA5}">
                      <a16:colId xmlns:a16="http://schemas.microsoft.com/office/drawing/2014/main" val="1422785948"/>
                    </a:ext>
                  </a:extLst>
                </a:gridCol>
                <a:gridCol w="2593662">
                  <a:extLst>
                    <a:ext uri="{9D8B030D-6E8A-4147-A177-3AD203B41FA5}">
                      <a16:colId xmlns:a16="http://schemas.microsoft.com/office/drawing/2014/main" val="412643488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現在</a:t>
                      </a:r>
                      <a:endParaRPr lang="en-US" altLang="ja-JP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新（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4/1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以降）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備考</a:t>
                      </a:r>
                      <a:r>
                        <a:rPr lang="en-US" altLang="ja-JP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lang="ja-JP" altLang="en-US" sz="1000" u="none" strike="noStrike" dirty="0">
                          <a:solidFill>
                            <a:schemeClr val="accent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参照先</a:t>
                      </a:r>
                      <a:endParaRPr lang="ja-JP" altLang="en-US" sz="1000" b="1" i="0" u="none" strike="noStrike" dirty="0">
                        <a:solidFill>
                          <a:schemeClr val="accent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482874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サイトの</a:t>
                      </a:r>
                      <a:r>
                        <a:rPr 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u="sng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https://directscout.recruit.co.jp/</a:t>
                      </a:r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変更なし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94184"/>
                  </a:ext>
                </a:extLst>
              </a:tr>
              <a:tr h="718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サービスロゴ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ja-JP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※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変更なし</a:t>
                      </a:r>
                      <a:b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サービスサイトは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</a:t>
                      </a:r>
                      <a:r>
                        <a:rPr lang="en-US" altLang="ja-JP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PRODUCED BY RECRUIT」</a:t>
                      </a: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が必須です。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331557"/>
                  </a:ext>
                </a:extLst>
              </a:tr>
              <a:tr h="52363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CS</a:t>
                      </a:r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CL</a:t>
                      </a:r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向け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各種規約・プライバシー</a:t>
                      </a:r>
                      <a:endParaRPr lang="en-US" altLang="ja-JP" sz="1000" b="1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</a:t>
                      </a:r>
                      <a:r>
                        <a:rPr lang="en-US" altLang="ja-JP" sz="1000" b="1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URL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未定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sng" strike="noStrike" dirty="0">
                        <a:solidFill>
                          <a:srgbClr val="0563C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u="none" strike="noStrike" dirty="0"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決まり次第、広報します。</a:t>
                      </a:r>
                      <a:endParaRPr lang="en-US" altLang="ja-JP" sz="1000" u="none" strike="noStrike" dirty="0"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836715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B7EF203-DC45-C7DE-600E-7E4F4EB12C98}"/>
              </a:ext>
            </a:extLst>
          </p:cNvPr>
          <p:cNvSpPr txBox="1"/>
          <p:nvPr/>
        </p:nvSpPr>
        <p:spPr>
          <a:xfrm>
            <a:off x="361950" y="663212"/>
            <a:ext cx="8745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▼リクルートエージェント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FC716D-4E0B-6017-236B-180C7FA4944B}"/>
              </a:ext>
            </a:extLst>
          </p:cNvPr>
          <p:cNvSpPr txBox="1"/>
          <p:nvPr/>
        </p:nvSpPr>
        <p:spPr>
          <a:xfrm>
            <a:off x="361950" y="3127125"/>
            <a:ext cx="8745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▼リクルートダイレクトスカウト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8BEE58E-2745-26BB-0340-BC47922E0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427" y="4250050"/>
            <a:ext cx="3453669" cy="58247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6393A8-831F-3BD7-AF48-F6FD57061C6A}"/>
              </a:ext>
            </a:extLst>
          </p:cNvPr>
          <p:cNvSpPr txBox="1"/>
          <p:nvPr/>
        </p:nvSpPr>
        <p:spPr>
          <a:xfrm>
            <a:off x="361950" y="5535799"/>
            <a:ext cx="11446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※RPO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、マチリク、サンカク、</a:t>
            </a:r>
            <a:r>
              <a:rPr lang="en-US" altLang="ja-JP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 HELP MAN!JAPAN</a:t>
            </a:r>
            <a:r>
              <a:rPr lang="ja-JP" altLang="en-US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、ふるさと副業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リクナビ</a:t>
            </a:r>
            <a:r>
              <a:rPr lang="en-US" altLang="ja-JP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HRTech</a:t>
            </a:r>
            <a:r>
              <a:rPr lang="ja-JP" altLang="en-US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転職スカウト、リクナビ就職エージェント、リクナビ</a:t>
            </a:r>
            <a:r>
              <a:rPr lang="en-US" altLang="ja-JP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HRTech</a:t>
            </a:r>
            <a:r>
              <a:rPr lang="ja-JP" altLang="en-US" sz="1400" b="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採用管理も対象となります。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決まり次第広報します。</a:t>
            </a:r>
            <a:endParaRPr lang="ja-JP" altLang="en-US" sz="1400" b="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963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95983"/>
            <a:ext cx="11244543" cy="365125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■参考：差し替えイメージ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633AD30-FBF5-E86A-E6D7-DF903F63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92" y="604538"/>
            <a:ext cx="11403106" cy="5648923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434193C-0B37-215E-C003-679D470513E5}"/>
              </a:ext>
            </a:extLst>
          </p:cNvPr>
          <p:cNvSpPr txBox="1"/>
          <p:nvPr/>
        </p:nvSpPr>
        <p:spPr>
          <a:xfrm>
            <a:off x="6589059" y="6253461"/>
            <a:ext cx="5495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 IRP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IRT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における、 会社名 ・会社ロゴ差し替え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_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3"/>
              </a:rPr>
              <a:t>変更イメージ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918F139-082F-4E43-BB0E-414A650E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ja-JP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游ゴシック" panose="020B0400000000000000" pitchFamily="50" charset="-128"/>
                <a:cs typeface="Arial" panose="020B0604020202020204" pitchFamily="34" charset="0"/>
              </a:rPr>
              <a:t>(C) Recruit Co., Ltd. All rights reserved. 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37A42DC-63FA-0743-B907-BFF179B74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95983"/>
            <a:ext cx="11244543" cy="365125"/>
          </a:xfrm>
        </p:spPr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■参考：差し替えイメージ②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434193C-0B37-215E-C003-679D470513E5}"/>
              </a:ext>
            </a:extLst>
          </p:cNvPr>
          <p:cNvSpPr txBox="1"/>
          <p:nvPr/>
        </p:nvSpPr>
        <p:spPr>
          <a:xfrm>
            <a:off x="6589059" y="6253461"/>
            <a:ext cx="5495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 IRP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IRT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における、 会社名 ・会社ロゴ差し替え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_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hlinkClick r:id="rId2"/>
              </a:rPr>
              <a:t>変更イメージ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077FE3D-95F3-77C1-DE91-095B242D1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95" y="744703"/>
            <a:ext cx="11244543" cy="545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45118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RAG営業用">
      <a:dk1>
        <a:srgbClr val="000000"/>
      </a:dk1>
      <a:lt1>
        <a:srgbClr val="FFFFFF"/>
      </a:lt1>
      <a:dk2>
        <a:srgbClr val="1156BD"/>
      </a:dk2>
      <a:lt2>
        <a:srgbClr val="F7FAFF"/>
      </a:lt2>
      <a:accent1>
        <a:srgbClr val="FF6400"/>
      </a:accent1>
      <a:accent2>
        <a:srgbClr val="E1E8F6"/>
      </a:accent2>
      <a:accent3>
        <a:srgbClr val="EB4D3C"/>
      </a:accent3>
      <a:accent4>
        <a:srgbClr val="FFE2EB"/>
      </a:accent4>
      <a:accent5>
        <a:srgbClr val="51BD69"/>
      </a:accent5>
      <a:accent6>
        <a:srgbClr val="DCF6E1"/>
      </a:accent6>
      <a:hlink>
        <a:srgbClr val="0563C1"/>
      </a:hlink>
      <a:folHlink>
        <a:srgbClr val="B1D0FF"/>
      </a:folHlink>
    </a:clrScheme>
    <a:fontScheme name="ユーザー定義 2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t"/>
      <a:lstStyle>
        <a:defPPr algn="l">
          <a:defRPr kumimoji="1" sz="1050">
            <a:solidFill>
              <a:schemeClr val="tx1"/>
            </a:solidFill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105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72c044-5a23-4047-ac55-2adb851a487a">
      <Terms xmlns="http://schemas.microsoft.com/office/infopath/2007/PartnerControls"/>
    </lcf76f155ced4ddcb4097134ff3c332f>
    <TaxCatchAll xmlns="109efd2a-5ae1-4d27-ae0d-63ce2557e69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FD0AFF6C71526438426B79249598A99" ma:contentTypeVersion="12" ma:contentTypeDescription="新しいドキュメントを作成します。" ma:contentTypeScope="" ma:versionID="e23a3d9dc8f242f244cea2a387cfa5a4">
  <xsd:schema xmlns:xsd="http://www.w3.org/2001/XMLSchema" xmlns:xs="http://www.w3.org/2001/XMLSchema" xmlns:p="http://schemas.microsoft.com/office/2006/metadata/properties" xmlns:ns2="a772c044-5a23-4047-ac55-2adb851a487a" xmlns:ns3="109efd2a-5ae1-4d27-ae0d-63ce2557e69e" targetNamespace="http://schemas.microsoft.com/office/2006/metadata/properties" ma:root="true" ma:fieldsID="8d18146073a9d797543fdd42005ccb7e" ns2:_="" ns3:_="">
    <xsd:import namespace="a772c044-5a23-4047-ac55-2adb851a487a"/>
    <xsd:import namespace="109efd2a-5ae1-4d27-ae0d-63ce2557e6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2c044-5a23-4047-ac55-2adb851a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a3a9e2b4-bd26-462e-b1d1-efb57a7163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9efd2a-5ae1-4d27-ae0d-63ce2557e69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488246b-304d-47f3-9751-de3430ce6f66}" ma:internalName="TaxCatchAll" ma:showField="CatchAllData" ma:web="109efd2a-5ae1-4d27-ae0d-63ce2557e6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A315C-5273-473B-90CD-B7E951C5CA14}">
  <ds:schemaRefs>
    <ds:schemaRef ds:uri="http://purl.org/dc/terms/"/>
    <ds:schemaRef ds:uri="http://schemas.microsoft.com/office/2006/documentManagement/types"/>
    <ds:schemaRef ds:uri="46f89e91-4177-4dfc-b126-53cab80f7e91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77165350-b900-4255-9c17-6258343fa7d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A3FFFF9-5E31-4A02-A95B-D36DC8B829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A75117-DC49-4A73-B16B-F639FA5B940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</TotalTime>
  <Words>1452</Words>
  <Application>Microsoft Office PowerPoint</Application>
  <PresentationFormat>ワイド画面</PresentationFormat>
  <Paragraphs>189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Meiryo UI</vt:lpstr>
      <vt:lpstr>ＭＳ ゴシック</vt:lpstr>
      <vt:lpstr>Meiryo</vt:lpstr>
      <vt:lpstr>Meiryo</vt:lpstr>
      <vt:lpstr>游ゴシック</vt:lpstr>
      <vt:lpstr>Arial</vt:lpstr>
      <vt:lpstr>デザインの設定</vt:lpstr>
      <vt:lpstr>Office テーマ</vt:lpstr>
      <vt:lpstr>PowerPoint プレゼンテーション</vt:lpstr>
      <vt:lpstr>2025年4月SBU再編に伴う 新社名・ロゴなどに関する変更対応</vt:lpstr>
      <vt:lpstr>■2025年4月SBU再編に向けた会社名/会社ロゴ等の変更について</vt:lpstr>
      <vt:lpstr>■現リクルートのHR事業に関わるサービスにおける変更事項～共通～</vt:lpstr>
      <vt:lpstr>■現リクルートのHR事業に関わるサービスにおける変更事項～共通～</vt:lpstr>
      <vt:lpstr>■参考：差し替えイメージ</vt:lpstr>
      <vt:lpstr>■参考：差し替えイメージ②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村井 貴行</dc:creator>
  <cp:lastModifiedBy>山本 沙織</cp:lastModifiedBy>
  <cp:revision>22</cp:revision>
  <dcterms:created xsi:type="dcterms:W3CDTF">2023-01-31T13:46:09Z</dcterms:created>
  <dcterms:modified xsi:type="dcterms:W3CDTF">2025-01-29T04:24:28Z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0x0101003FD0AFF6C71526438426B79249598A99</vt:lpwstr>
  </property>
  <property fmtid="{D5CDD505-2E9C-101B-9397-08002B2CF9AE}" pid="3" name="MediaServiceImageTags">
    <vt:lpwstr/>
  </property>
  <property fmtid="{D5CDD505-2E9C-101B-9397-08002B2CF9AE}" pid="4" name="Order">
    <vt:r8>194100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